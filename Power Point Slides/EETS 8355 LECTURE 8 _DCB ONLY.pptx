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44"/>
  </p:notesMasterIdLst>
  <p:handoutMasterIdLst>
    <p:handoutMasterId r:id="rId45"/>
  </p:handoutMasterIdLst>
  <p:sldIdLst>
    <p:sldId id="258" r:id="rId2"/>
    <p:sldId id="470" r:id="rId3"/>
    <p:sldId id="538" r:id="rId4"/>
    <p:sldId id="539" r:id="rId5"/>
    <p:sldId id="540" r:id="rId6"/>
    <p:sldId id="542" r:id="rId7"/>
    <p:sldId id="541" r:id="rId8"/>
    <p:sldId id="543" r:id="rId9"/>
    <p:sldId id="544" r:id="rId10"/>
    <p:sldId id="545" r:id="rId11"/>
    <p:sldId id="546" r:id="rId12"/>
    <p:sldId id="547" r:id="rId13"/>
    <p:sldId id="632" r:id="rId14"/>
    <p:sldId id="626" r:id="rId15"/>
    <p:sldId id="613" r:id="rId16"/>
    <p:sldId id="559" r:id="rId17"/>
    <p:sldId id="560" r:id="rId18"/>
    <p:sldId id="561" r:id="rId19"/>
    <p:sldId id="562" r:id="rId20"/>
    <p:sldId id="563" r:id="rId21"/>
    <p:sldId id="564" r:id="rId22"/>
    <p:sldId id="565" r:id="rId23"/>
    <p:sldId id="566" r:id="rId24"/>
    <p:sldId id="567" r:id="rId25"/>
    <p:sldId id="570" r:id="rId26"/>
    <p:sldId id="569" r:id="rId27"/>
    <p:sldId id="571" r:id="rId28"/>
    <p:sldId id="572" r:id="rId29"/>
    <p:sldId id="630" r:id="rId30"/>
    <p:sldId id="574" r:id="rId31"/>
    <p:sldId id="575" r:id="rId32"/>
    <p:sldId id="576" r:id="rId33"/>
    <p:sldId id="631" r:id="rId34"/>
    <p:sldId id="577" r:id="rId35"/>
    <p:sldId id="578" r:id="rId36"/>
    <p:sldId id="579" r:id="rId37"/>
    <p:sldId id="580" r:id="rId38"/>
    <p:sldId id="582" r:id="rId39"/>
    <p:sldId id="583" r:id="rId40"/>
    <p:sldId id="586" r:id="rId41"/>
    <p:sldId id="587" r:id="rId42"/>
    <p:sldId id="588" r:id="rId43"/>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04">
          <p15:clr>
            <a:srgbClr val="A4A3A4"/>
          </p15:clr>
        </p15:guide>
        <p15:guide id="3" orient="horz" pos="4136">
          <p15:clr>
            <a:srgbClr val="A4A3A4"/>
          </p15:clr>
        </p15:guide>
        <p15:guide id="4" pos="2880">
          <p15:clr>
            <a:srgbClr val="A4A3A4"/>
          </p15:clr>
        </p15:guide>
        <p15:guide id="5" pos="144">
          <p15:clr>
            <a:srgbClr val="A4A3A4"/>
          </p15:clr>
        </p15:guide>
        <p15:guide id="6" pos="5568">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EA6A"/>
    <a:srgbClr val="16DE0C"/>
    <a:srgbClr val="FFFF00"/>
    <a:srgbClr val="1F09BF"/>
    <a:srgbClr val="FBFBFB"/>
    <a:srgbClr val="2A3A68"/>
    <a:srgbClr val="FFFFFF"/>
    <a:srgbClr val="FFFFCC"/>
    <a:srgbClr val="CC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00" autoAdjust="0"/>
    <p:restoredTop sz="86834" autoAdjust="0"/>
  </p:normalViewPr>
  <p:slideViewPr>
    <p:cSldViewPr>
      <p:cViewPr varScale="1">
        <p:scale>
          <a:sx n="96" d="100"/>
          <a:sy n="96" d="100"/>
        </p:scale>
        <p:origin x="2214" y="72"/>
      </p:cViewPr>
      <p:guideLst>
        <p:guide orient="horz" pos="2160"/>
        <p:guide orient="horz" pos="4004"/>
        <p:guide orient="horz" pos="4136"/>
        <p:guide pos="2880"/>
        <p:guide pos="144"/>
        <p:guide pos="55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0" d="100"/>
          <a:sy n="120" d="100"/>
        </p:scale>
        <p:origin x="-1472" y="-10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bwMode="auto">
          <a:xfrm>
            <a:off x="2" y="0"/>
            <a:ext cx="3037840" cy="464820"/>
          </a:xfrm>
          <a:prstGeom prst="rect">
            <a:avLst/>
          </a:prstGeom>
          <a:noFill/>
          <a:ln w="9525">
            <a:noFill/>
            <a:miter lim="800000"/>
            <a:headEnd/>
            <a:tailEnd/>
          </a:ln>
          <a:effectLst/>
        </p:spPr>
        <p:txBody>
          <a:bodyPr vert="horz" wrap="square" lIns="93169" tIns="46585" rIns="93169" bIns="46585" numCol="1" anchor="t" anchorCtr="0" compatLnSpc="1">
            <a:prstTxWarp prst="textNoShape">
              <a:avLst/>
            </a:prstTxWarp>
          </a:bodyPr>
          <a:lstStyle>
            <a:lvl1pPr>
              <a:defRPr sz="1200"/>
            </a:lvl1pPr>
          </a:lstStyle>
          <a:p>
            <a:endParaRPr lang="en-US" dirty="0"/>
          </a:p>
        </p:txBody>
      </p:sp>
      <p:sp>
        <p:nvSpPr>
          <p:cNvPr id="89091" name="Rectangle 3"/>
          <p:cNvSpPr>
            <a:spLocks noGrp="1" noChangeArrowheads="1"/>
          </p:cNvSpPr>
          <p:nvPr>
            <p:ph type="dt" sz="quarter" idx="1"/>
          </p:nvPr>
        </p:nvSpPr>
        <p:spPr bwMode="auto">
          <a:xfrm>
            <a:off x="3972561" y="0"/>
            <a:ext cx="3037840" cy="464820"/>
          </a:xfrm>
          <a:prstGeom prst="rect">
            <a:avLst/>
          </a:prstGeom>
          <a:noFill/>
          <a:ln w="9525">
            <a:noFill/>
            <a:miter lim="800000"/>
            <a:headEnd/>
            <a:tailEnd/>
          </a:ln>
          <a:effectLst/>
        </p:spPr>
        <p:txBody>
          <a:bodyPr vert="horz" wrap="square" lIns="93169" tIns="46585" rIns="93169" bIns="46585" numCol="1" anchor="t" anchorCtr="0" compatLnSpc="1">
            <a:prstTxWarp prst="textNoShape">
              <a:avLst/>
            </a:prstTxWarp>
          </a:bodyPr>
          <a:lstStyle>
            <a:lvl1pPr algn="r">
              <a:defRPr sz="1200"/>
            </a:lvl1pPr>
          </a:lstStyle>
          <a:p>
            <a:endParaRPr lang="en-US" dirty="0"/>
          </a:p>
        </p:txBody>
      </p:sp>
      <p:sp>
        <p:nvSpPr>
          <p:cNvPr id="89092" name="Rectangle 4"/>
          <p:cNvSpPr>
            <a:spLocks noGrp="1" noChangeArrowheads="1"/>
          </p:cNvSpPr>
          <p:nvPr>
            <p:ph type="ftr" sz="quarter" idx="2"/>
          </p:nvPr>
        </p:nvSpPr>
        <p:spPr bwMode="auto">
          <a:xfrm>
            <a:off x="2" y="8831580"/>
            <a:ext cx="3037840" cy="464820"/>
          </a:xfrm>
          <a:prstGeom prst="rect">
            <a:avLst/>
          </a:prstGeom>
          <a:noFill/>
          <a:ln w="9525">
            <a:noFill/>
            <a:miter lim="800000"/>
            <a:headEnd/>
            <a:tailEnd/>
          </a:ln>
          <a:effectLst/>
        </p:spPr>
        <p:txBody>
          <a:bodyPr vert="horz" wrap="square" lIns="93169" tIns="46585" rIns="93169" bIns="46585" numCol="1" anchor="b" anchorCtr="0" compatLnSpc="1">
            <a:prstTxWarp prst="textNoShape">
              <a:avLst/>
            </a:prstTxWarp>
          </a:bodyPr>
          <a:lstStyle>
            <a:lvl1pPr>
              <a:defRPr sz="1200"/>
            </a:lvl1pPr>
          </a:lstStyle>
          <a:p>
            <a:endParaRPr lang="en-US" dirty="0"/>
          </a:p>
        </p:txBody>
      </p:sp>
      <p:sp>
        <p:nvSpPr>
          <p:cNvPr id="89093" name="Rectangle 5"/>
          <p:cNvSpPr>
            <a:spLocks noGrp="1" noChangeArrowheads="1"/>
          </p:cNvSpPr>
          <p:nvPr>
            <p:ph type="sldNum" sz="quarter" idx="3"/>
          </p:nvPr>
        </p:nvSpPr>
        <p:spPr bwMode="auto">
          <a:xfrm>
            <a:off x="3972561" y="8831580"/>
            <a:ext cx="3037840" cy="464820"/>
          </a:xfrm>
          <a:prstGeom prst="rect">
            <a:avLst/>
          </a:prstGeom>
          <a:noFill/>
          <a:ln w="9525">
            <a:noFill/>
            <a:miter lim="800000"/>
            <a:headEnd/>
            <a:tailEnd/>
          </a:ln>
          <a:effectLst/>
        </p:spPr>
        <p:txBody>
          <a:bodyPr vert="horz" wrap="square" lIns="93169" tIns="46585" rIns="93169" bIns="46585" numCol="1" anchor="b" anchorCtr="0" compatLnSpc="1">
            <a:prstTxWarp prst="textNoShape">
              <a:avLst/>
            </a:prstTxWarp>
          </a:bodyPr>
          <a:lstStyle>
            <a:lvl1pPr algn="r">
              <a:defRPr sz="1200"/>
            </a:lvl1pPr>
          </a:lstStyle>
          <a:p>
            <a:fld id="{D8B8FAEF-4EC0-46B6-842C-DD1E8A8FDD9A}" type="slidenum">
              <a:rPr lang="en-US"/>
              <a:pPr/>
              <a:t>‹#›</a:t>
            </a:fld>
            <a:endParaRPr lang="en-US" dirty="0"/>
          </a:p>
        </p:txBody>
      </p:sp>
    </p:spTree>
    <p:extLst>
      <p:ext uri="{BB962C8B-B14F-4D97-AF65-F5344CB8AC3E}">
        <p14:creationId xmlns:p14="http://schemas.microsoft.com/office/powerpoint/2010/main" val="21013833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2" y="0"/>
            <a:ext cx="3037840" cy="464820"/>
          </a:xfrm>
          <a:prstGeom prst="rect">
            <a:avLst/>
          </a:prstGeom>
          <a:noFill/>
          <a:ln w="9525">
            <a:noFill/>
            <a:miter lim="800000"/>
            <a:headEnd/>
            <a:tailEnd/>
          </a:ln>
          <a:effectLst/>
        </p:spPr>
        <p:txBody>
          <a:bodyPr vert="horz" wrap="square" lIns="93169" tIns="46585" rIns="93169" bIns="46585" numCol="1" anchor="t" anchorCtr="0" compatLnSpc="1">
            <a:prstTxWarp prst="textNoShape">
              <a:avLst/>
            </a:prstTxWarp>
          </a:bodyPr>
          <a:lstStyle>
            <a:lvl1pPr>
              <a:defRPr sz="1200" b="0"/>
            </a:lvl1pPr>
          </a:lstStyle>
          <a:p>
            <a:endParaRPr lang="en-US" dirty="0"/>
          </a:p>
        </p:txBody>
      </p:sp>
      <p:sp>
        <p:nvSpPr>
          <p:cNvPr id="6147" name="Rectangle 3"/>
          <p:cNvSpPr>
            <a:spLocks noGrp="1" noChangeArrowheads="1"/>
          </p:cNvSpPr>
          <p:nvPr>
            <p:ph type="dt" idx="1"/>
          </p:nvPr>
        </p:nvSpPr>
        <p:spPr bwMode="auto">
          <a:xfrm>
            <a:off x="3970940" y="0"/>
            <a:ext cx="3037840" cy="464820"/>
          </a:xfrm>
          <a:prstGeom prst="rect">
            <a:avLst/>
          </a:prstGeom>
          <a:noFill/>
          <a:ln w="9525">
            <a:noFill/>
            <a:miter lim="800000"/>
            <a:headEnd/>
            <a:tailEnd/>
          </a:ln>
          <a:effectLst/>
        </p:spPr>
        <p:txBody>
          <a:bodyPr vert="horz" wrap="square" lIns="93169" tIns="46585" rIns="93169" bIns="46585" numCol="1" anchor="t" anchorCtr="0" compatLnSpc="1">
            <a:prstTxWarp prst="textNoShape">
              <a:avLst/>
            </a:prstTxWarp>
          </a:bodyPr>
          <a:lstStyle>
            <a:lvl1pPr algn="r">
              <a:defRPr sz="1200" b="0"/>
            </a:lvl1pPr>
          </a:lstStyle>
          <a:p>
            <a:endParaRPr lang="en-US" dirty="0"/>
          </a:p>
        </p:txBody>
      </p:sp>
      <p:sp>
        <p:nvSpPr>
          <p:cNvPr id="6148" name="Rectangle 4"/>
          <p:cNvSpPr>
            <a:spLocks noGrp="1" noRot="1" noChangeAspect="1" noChangeArrowheads="1" noTextEdit="1"/>
          </p:cNvSpPr>
          <p:nvPr>
            <p:ph type="sldImg" idx="2"/>
          </p:nvPr>
        </p:nvSpPr>
        <p:spPr bwMode="auto">
          <a:xfrm>
            <a:off x="1181100" y="696913"/>
            <a:ext cx="4649788" cy="3486150"/>
          </a:xfrm>
          <a:prstGeom prst="rect">
            <a:avLst/>
          </a:prstGeom>
          <a:noFill/>
          <a:ln w="9525">
            <a:solidFill>
              <a:srgbClr val="000000"/>
            </a:solidFill>
            <a:miter lim="800000"/>
            <a:headEnd/>
            <a:tailEnd/>
          </a:ln>
          <a:effectLst/>
        </p:spPr>
      </p:sp>
      <p:sp>
        <p:nvSpPr>
          <p:cNvPr id="6149" name="Rectangle 5"/>
          <p:cNvSpPr>
            <a:spLocks noGrp="1" noChangeArrowheads="1"/>
          </p:cNvSpPr>
          <p:nvPr>
            <p:ph type="body" sz="quarter" idx="3"/>
          </p:nvPr>
        </p:nvSpPr>
        <p:spPr bwMode="auto">
          <a:xfrm>
            <a:off x="701040" y="4415790"/>
            <a:ext cx="5608320" cy="4183380"/>
          </a:xfrm>
          <a:prstGeom prst="rect">
            <a:avLst/>
          </a:prstGeom>
          <a:noFill/>
          <a:ln w="9525">
            <a:noFill/>
            <a:miter lim="800000"/>
            <a:headEnd/>
            <a:tailEnd/>
          </a:ln>
          <a:effectLst/>
        </p:spPr>
        <p:txBody>
          <a:bodyPr vert="horz" wrap="square" lIns="93169" tIns="46585" rIns="93169" bIns="4658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150" name="Rectangle 6"/>
          <p:cNvSpPr>
            <a:spLocks noGrp="1" noChangeArrowheads="1"/>
          </p:cNvSpPr>
          <p:nvPr>
            <p:ph type="ftr" sz="quarter" idx="4"/>
          </p:nvPr>
        </p:nvSpPr>
        <p:spPr bwMode="auto">
          <a:xfrm>
            <a:off x="2" y="8829967"/>
            <a:ext cx="3037840" cy="464820"/>
          </a:xfrm>
          <a:prstGeom prst="rect">
            <a:avLst/>
          </a:prstGeom>
          <a:noFill/>
          <a:ln w="9525">
            <a:noFill/>
            <a:miter lim="800000"/>
            <a:headEnd/>
            <a:tailEnd/>
          </a:ln>
          <a:effectLst/>
        </p:spPr>
        <p:txBody>
          <a:bodyPr vert="horz" wrap="square" lIns="93169" tIns="46585" rIns="93169" bIns="46585" numCol="1" anchor="b" anchorCtr="0" compatLnSpc="1">
            <a:prstTxWarp prst="textNoShape">
              <a:avLst/>
            </a:prstTxWarp>
          </a:bodyPr>
          <a:lstStyle>
            <a:lvl1pPr>
              <a:defRPr sz="1200" b="0"/>
            </a:lvl1pPr>
          </a:lstStyle>
          <a:p>
            <a:endParaRPr lang="en-US" dirty="0"/>
          </a:p>
        </p:txBody>
      </p:sp>
      <p:sp>
        <p:nvSpPr>
          <p:cNvPr id="6151" name="Rectangle 7"/>
          <p:cNvSpPr>
            <a:spLocks noGrp="1" noChangeArrowheads="1"/>
          </p:cNvSpPr>
          <p:nvPr>
            <p:ph type="sldNum" sz="quarter" idx="5"/>
          </p:nvPr>
        </p:nvSpPr>
        <p:spPr bwMode="auto">
          <a:xfrm>
            <a:off x="3970940" y="8829967"/>
            <a:ext cx="3037840" cy="464820"/>
          </a:xfrm>
          <a:prstGeom prst="rect">
            <a:avLst/>
          </a:prstGeom>
          <a:noFill/>
          <a:ln w="9525">
            <a:noFill/>
            <a:miter lim="800000"/>
            <a:headEnd/>
            <a:tailEnd/>
          </a:ln>
          <a:effectLst/>
        </p:spPr>
        <p:txBody>
          <a:bodyPr vert="horz" wrap="square" lIns="93169" tIns="46585" rIns="93169" bIns="46585" numCol="1" anchor="b" anchorCtr="0" compatLnSpc="1">
            <a:prstTxWarp prst="textNoShape">
              <a:avLst/>
            </a:prstTxWarp>
          </a:bodyPr>
          <a:lstStyle>
            <a:lvl1pPr algn="r">
              <a:defRPr sz="1200" b="0"/>
            </a:lvl1pPr>
          </a:lstStyle>
          <a:p>
            <a:fld id="{461950BF-5E6A-4CD6-97CF-B82A16459836}" type="slidenum">
              <a:rPr lang="en-US"/>
              <a:pPr/>
              <a:t>‹#›</a:t>
            </a:fld>
            <a:endParaRPr lang="en-US" dirty="0"/>
          </a:p>
        </p:txBody>
      </p:sp>
    </p:spTree>
    <p:extLst>
      <p:ext uri="{BB962C8B-B14F-4D97-AF65-F5344CB8AC3E}">
        <p14:creationId xmlns:p14="http://schemas.microsoft.com/office/powerpoint/2010/main" val="292270770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0</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12</a:t>
            </a:fld>
            <a:endParaRPr lang="en-US" dirty="0"/>
          </a:p>
        </p:txBody>
      </p:sp>
    </p:spTree>
    <p:extLst>
      <p:ext uri="{BB962C8B-B14F-4D97-AF65-F5344CB8AC3E}">
        <p14:creationId xmlns:p14="http://schemas.microsoft.com/office/powerpoint/2010/main" val="670664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19</a:t>
            </a:fld>
            <a:endParaRPr lang="en-US" dirty="0"/>
          </a:p>
        </p:txBody>
      </p:sp>
    </p:spTree>
    <p:extLst>
      <p:ext uri="{BB962C8B-B14F-4D97-AF65-F5344CB8AC3E}">
        <p14:creationId xmlns:p14="http://schemas.microsoft.com/office/powerpoint/2010/main" val="559035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20</a:t>
            </a:fld>
            <a:endParaRPr lang="en-US" dirty="0"/>
          </a:p>
        </p:txBody>
      </p:sp>
    </p:spTree>
    <p:extLst>
      <p:ext uri="{BB962C8B-B14F-4D97-AF65-F5344CB8AC3E}">
        <p14:creationId xmlns:p14="http://schemas.microsoft.com/office/powerpoint/2010/main" val="3406531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21</a:t>
            </a:fld>
            <a:endParaRPr lang="en-US" dirty="0"/>
          </a:p>
        </p:txBody>
      </p:sp>
    </p:spTree>
    <p:extLst>
      <p:ext uri="{BB962C8B-B14F-4D97-AF65-F5344CB8AC3E}">
        <p14:creationId xmlns:p14="http://schemas.microsoft.com/office/powerpoint/2010/main" val="3590199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22</a:t>
            </a:fld>
            <a:endParaRPr lang="en-US" dirty="0"/>
          </a:p>
        </p:txBody>
      </p:sp>
    </p:spTree>
    <p:extLst>
      <p:ext uri="{BB962C8B-B14F-4D97-AF65-F5344CB8AC3E}">
        <p14:creationId xmlns:p14="http://schemas.microsoft.com/office/powerpoint/2010/main" val="457251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23</a:t>
            </a:fld>
            <a:endParaRPr lang="en-US" dirty="0"/>
          </a:p>
        </p:txBody>
      </p:sp>
    </p:spTree>
    <p:extLst>
      <p:ext uri="{BB962C8B-B14F-4D97-AF65-F5344CB8AC3E}">
        <p14:creationId xmlns:p14="http://schemas.microsoft.com/office/powerpoint/2010/main" val="1201911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24</a:t>
            </a:fld>
            <a:endParaRPr lang="en-US" dirty="0"/>
          </a:p>
        </p:txBody>
      </p:sp>
    </p:spTree>
    <p:extLst>
      <p:ext uri="{BB962C8B-B14F-4D97-AF65-F5344CB8AC3E}">
        <p14:creationId xmlns:p14="http://schemas.microsoft.com/office/powerpoint/2010/main" val="3362889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25</a:t>
            </a:fld>
            <a:endParaRPr lang="en-US" dirty="0"/>
          </a:p>
        </p:txBody>
      </p:sp>
    </p:spTree>
    <p:extLst>
      <p:ext uri="{BB962C8B-B14F-4D97-AF65-F5344CB8AC3E}">
        <p14:creationId xmlns:p14="http://schemas.microsoft.com/office/powerpoint/2010/main" val="4149539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26</a:t>
            </a:fld>
            <a:endParaRPr lang="en-US" dirty="0"/>
          </a:p>
        </p:txBody>
      </p:sp>
    </p:spTree>
    <p:extLst>
      <p:ext uri="{BB962C8B-B14F-4D97-AF65-F5344CB8AC3E}">
        <p14:creationId xmlns:p14="http://schemas.microsoft.com/office/powerpoint/2010/main" val="9476808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27</a:t>
            </a:fld>
            <a:endParaRPr lang="en-US" dirty="0"/>
          </a:p>
        </p:txBody>
      </p:sp>
    </p:spTree>
    <p:extLst>
      <p:ext uri="{BB962C8B-B14F-4D97-AF65-F5344CB8AC3E}">
        <p14:creationId xmlns:p14="http://schemas.microsoft.com/office/powerpoint/2010/main" val="2689969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28</a:t>
            </a:fld>
            <a:endParaRPr lang="en-US" dirty="0"/>
          </a:p>
        </p:txBody>
      </p:sp>
    </p:spTree>
    <p:extLst>
      <p:ext uri="{BB962C8B-B14F-4D97-AF65-F5344CB8AC3E}">
        <p14:creationId xmlns:p14="http://schemas.microsoft.com/office/powerpoint/2010/main" val="1042868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29</a:t>
            </a:fld>
            <a:endParaRPr lang="en-US" dirty="0"/>
          </a:p>
        </p:txBody>
      </p:sp>
    </p:spTree>
    <p:extLst>
      <p:ext uri="{BB962C8B-B14F-4D97-AF65-F5344CB8AC3E}">
        <p14:creationId xmlns:p14="http://schemas.microsoft.com/office/powerpoint/2010/main" val="3861111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30</a:t>
            </a:fld>
            <a:endParaRPr lang="en-US" dirty="0"/>
          </a:p>
        </p:txBody>
      </p:sp>
    </p:spTree>
    <p:extLst>
      <p:ext uri="{BB962C8B-B14F-4D97-AF65-F5344CB8AC3E}">
        <p14:creationId xmlns:p14="http://schemas.microsoft.com/office/powerpoint/2010/main" val="30065033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31</a:t>
            </a:fld>
            <a:endParaRPr lang="en-US" dirty="0"/>
          </a:p>
        </p:txBody>
      </p:sp>
    </p:spTree>
    <p:extLst>
      <p:ext uri="{BB962C8B-B14F-4D97-AF65-F5344CB8AC3E}">
        <p14:creationId xmlns:p14="http://schemas.microsoft.com/office/powerpoint/2010/main" val="37312326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32</a:t>
            </a:fld>
            <a:endParaRPr lang="en-US" dirty="0"/>
          </a:p>
        </p:txBody>
      </p:sp>
    </p:spTree>
    <p:extLst>
      <p:ext uri="{BB962C8B-B14F-4D97-AF65-F5344CB8AC3E}">
        <p14:creationId xmlns:p14="http://schemas.microsoft.com/office/powerpoint/2010/main" val="183821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33</a:t>
            </a:fld>
            <a:endParaRPr lang="en-US" dirty="0"/>
          </a:p>
        </p:txBody>
      </p:sp>
    </p:spTree>
    <p:extLst>
      <p:ext uri="{BB962C8B-B14F-4D97-AF65-F5344CB8AC3E}">
        <p14:creationId xmlns:p14="http://schemas.microsoft.com/office/powerpoint/2010/main" val="30764272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34</a:t>
            </a:fld>
            <a:endParaRPr lang="en-US" dirty="0"/>
          </a:p>
        </p:txBody>
      </p:sp>
    </p:spTree>
    <p:extLst>
      <p:ext uri="{BB962C8B-B14F-4D97-AF65-F5344CB8AC3E}">
        <p14:creationId xmlns:p14="http://schemas.microsoft.com/office/powerpoint/2010/main" val="921446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35</a:t>
            </a:fld>
            <a:endParaRPr lang="en-US" dirty="0"/>
          </a:p>
        </p:txBody>
      </p:sp>
    </p:spTree>
    <p:extLst>
      <p:ext uri="{BB962C8B-B14F-4D97-AF65-F5344CB8AC3E}">
        <p14:creationId xmlns:p14="http://schemas.microsoft.com/office/powerpoint/2010/main" val="18686786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36</a:t>
            </a:fld>
            <a:endParaRPr lang="en-US" dirty="0"/>
          </a:p>
        </p:txBody>
      </p:sp>
    </p:spTree>
    <p:extLst>
      <p:ext uri="{BB962C8B-B14F-4D97-AF65-F5344CB8AC3E}">
        <p14:creationId xmlns:p14="http://schemas.microsoft.com/office/powerpoint/2010/main" val="19635820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37</a:t>
            </a:fld>
            <a:endParaRPr lang="en-US" dirty="0"/>
          </a:p>
        </p:txBody>
      </p:sp>
    </p:spTree>
    <p:extLst>
      <p:ext uri="{BB962C8B-B14F-4D97-AF65-F5344CB8AC3E}">
        <p14:creationId xmlns:p14="http://schemas.microsoft.com/office/powerpoint/2010/main" val="1949416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38</a:t>
            </a:fld>
            <a:endParaRPr lang="en-US" dirty="0"/>
          </a:p>
        </p:txBody>
      </p:sp>
    </p:spTree>
    <p:extLst>
      <p:ext uri="{BB962C8B-B14F-4D97-AF65-F5344CB8AC3E}">
        <p14:creationId xmlns:p14="http://schemas.microsoft.com/office/powerpoint/2010/main" val="34544649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39</a:t>
            </a:fld>
            <a:endParaRPr lang="en-US" dirty="0"/>
          </a:p>
        </p:txBody>
      </p:sp>
    </p:spTree>
    <p:extLst>
      <p:ext uri="{BB962C8B-B14F-4D97-AF65-F5344CB8AC3E}">
        <p14:creationId xmlns:p14="http://schemas.microsoft.com/office/powerpoint/2010/main" val="20158791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40</a:t>
            </a:fld>
            <a:endParaRPr lang="en-US" dirty="0"/>
          </a:p>
        </p:txBody>
      </p:sp>
    </p:spTree>
    <p:extLst>
      <p:ext uri="{BB962C8B-B14F-4D97-AF65-F5344CB8AC3E}">
        <p14:creationId xmlns:p14="http://schemas.microsoft.com/office/powerpoint/2010/main" val="23335241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61950BF-5E6A-4CD6-97CF-B82A16459836}" type="slidenum">
              <a:rPr lang="en-US" smtClean="0"/>
              <a:pPr/>
              <a:t>41</a:t>
            </a:fld>
            <a:endParaRPr lang="en-US" dirty="0"/>
          </a:p>
        </p:txBody>
      </p:sp>
    </p:spTree>
    <p:extLst>
      <p:ext uri="{BB962C8B-B14F-4D97-AF65-F5344CB8AC3E}">
        <p14:creationId xmlns:p14="http://schemas.microsoft.com/office/powerpoint/2010/main" val="25419670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204" name="Picture 36" descr="stmntpg_bkgrd2"/>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7171" name="Rectangle 3"/>
          <p:cNvSpPr>
            <a:spLocks noGrp="1" noChangeArrowheads="1"/>
          </p:cNvSpPr>
          <p:nvPr>
            <p:ph type="ctrTitle"/>
          </p:nvPr>
        </p:nvSpPr>
        <p:spPr>
          <a:xfrm>
            <a:off x="533401" y="1931988"/>
            <a:ext cx="8153400" cy="887412"/>
          </a:xfrm>
        </p:spPr>
        <p:txBody>
          <a:bodyPr/>
          <a:lstStyle>
            <a:lvl1pPr algn="ctr">
              <a:defRPr sz="5400" cap="small" baseline="0">
                <a:solidFill>
                  <a:schemeClr val="bg1"/>
                </a:solidFill>
                <a:effectLst>
                  <a:outerShdw blurRad="38100" dist="38100" dir="2700000" algn="tl">
                    <a:srgbClr val="000000"/>
                  </a:outerShdw>
                </a:effectLst>
                <a:latin typeface="Calibri" pitchFamily="34" charset="0"/>
              </a:defRPr>
            </a:lvl1pPr>
          </a:lstStyle>
          <a:p>
            <a:r>
              <a:rPr lang="en-US" dirty="0"/>
              <a:t>Click to edit Master title style</a:t>
            </a:r>
          </a:p>
        </p:txBody>
      </p:sp>
      <p:sp>
        <p:nvSpPr>
          <p:cNvPr id="7172" name="Rectangle 4"/>
          <p:cNvSpPr>
            <a:spLocks noGrp="1" noChangeArrowheads="1"/>
          </p:cNvSpPr>
          <p:nvPr>
            <p:ph type="subTitle" idx="1"/>
          </p:nvPr>
        </p:nvSpPr>
        <p:spPr>
          <a:xfrm>
            <a:off x="631825" y="2898775"/>
            <a:ext cx="7851775" cy="3121025"/>
          </a:xfrm>
        </p:spPr>
        <p:txBody>
          <a:bodyPr/>
          <a:lstStyle>
            <a:lvl1pPr marL="0" indent="0" algn="ctr">
              <a:buFontTx/>
              <a:buNone/>
              <a:defRPr sz="3200" i="0">
                <a:solidFill>
                  <a:schemeClr val="bg1"/>
                </a:solidFill>
                <a:effectLst>
                  <a:outerShdw blurRad="38100" dist="38100" dir="2700000" algn="tl">
                    <a:srgbClr val="000000"/>
                  </a:outerShdw>
                </a:effectLst>
                <a:latin typeface="Calibri" pitchFamily="34" charset="0"/>
              </a:defRPr>
            </a:lvl1pPr>
          </a:lstStyle>
          <a:p>
            <a:r>
              <a:rPr lang="en-US" dirty="0"/>
              <a:t>Click to edit Master subtitle style</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22237"/>
            <a:ext cx="8686800" cy="563563"/>
          </a:xfrm>
        </p:spPr>
        <p:txBody>
          <a:bodyPr/>
          <a:lstStyle>
            <a:lvl1pPr>
              <a:defRPr sz="3600" b="0">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81000" y="990600"/>
            <a:ext cx="8382000" cy="4953000"/>
          </a:xfrm>
        </p:spPr>
        <p:txBody>
          <a:bodyPr/>
          <a:lstStyle>
            <a:lvl1pPr>
              <a:buClr>
                <a:schemeClr val="tx2"/>
              </a:buClr>
              <a:defRPr sz="3200">
                <a:latin typeface="Calibri" pitchFamily="34" charset="0"/>
              </a:defRPr>
            </a:lvl1pPr>
            <a:lvl2pPr>
              <a:buClr>
                <a:srgbClr val="C00000"/>
              </a:buClr>
              <a:buFont typeface="Wingdings" pitchFamily="2" charset="2"/>
              <a:buChar char="§"/>
              <a:defRPr sz="2800">
                <a:latin typeface="Calibri" pitchFamily="34" charset="0"/>
              </a:defRPr>
            </a:lvl2pPr>
            <a:lvl3pPr>
              <a:defRPr sz="2400">
                <a:latin typeface="Calibri" pitchFamily="34" charset="0"/>
              </a:defRPr>
            </a:lvl3pPr>
            <a:lvl4pPr>
              <a:defRPr sz="2400">
                <a:latin typeface="Calibri" pitchFamily="34" charset="0"/>
              </a:defRPr>
            </a:lvl4pPr>
            <a:lvl5pPr>
              <a:defRPr sz="2400">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fld id="{1C0FA7A3-0FBF-4EC3-BE45-825983E95E58}" type="slidenum">
              <a:rPr lang="en-US"/>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800" b="1" cap="small" baseline="0">
                <a:solidFill>
                  <a:schemeClr val="tx1"/>
                </a:solidFi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Slide Number Placeholder 3"/>
          <p:cNvSpPr>
            <a:spLocks noGrp="1"/>
          </p:cNvSpPr>
          <p:nvPr>
            <p:ph type="sldNum" sz="quarter" idx="10"/>
          </p:nvPr>
        </p:nvSpPr>
        <p:spPr>
          <a:xfrm>
            <a:off x="8686800" y="6400800"/>
            <a:ext cx="155575" cy="152400"/>
          </a:xfrm>
        </p:spPr>
        <p:txBody>
          <a:bodyPr/>
          <a:lstStyle>
            <a:lvl1pPr>
              <a:defRPr/>
            </a:lvl1pPr>
          </a:lstStyle>
          <a:p>
            <a:fld id="{340D0772-A24E-4F60-87C6-1B8FABEC81BE}" type="slidenum">
              <a:rPr lang="en-US"/>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2286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2672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fld id="{30D1CA97-B344-4217-90AD-1773C9A60CA6}" type="slidenum">
              <a:rPr lang="en-US"/>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 y="46038"/>
            <a:ext cx="8229600" cy="563562"/>
          </a:xfrm>
        </p:spPr>
        <p:txBody>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457200" y="9144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1676400"/>
            <a:ext cx="4040188"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9144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1676400"/>
            <a:ext cx="4041775" cy="4449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0"/>
          </p:nvPr>
        </p:nvSpPr>
        <p:spPr>
          <a:xfrm>
            <a:off x="8686800" y="6400800"/>
            <a:ext cx="155575" cy="152400"/>
          </a:xfrm>
        </p:spPr>
        <p:txBody>
          <a:bodyPr/>
          <a:lstStyle>
            <a:lvl1pPr>
              <a:defRPr/>
            </a:lvl1pPr>
          </a:lstStyle>
          <a:p>
            <a:fld id="{AA73854A-5C14-47C3-B598-1F673C68FB47}" type="slidenum">
              <a:rPr lang="en-US"/>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Slide Number Placeholder 2"/>
          <p:cNvSpPr>
            <a:spLocks noGrp="1"/>
          </p:cNvSpPr>
          <p:nvPr>
            <p:ph type="sldNum" sz="quarter" idx="10"/>
          </p:nvPr>
        </p:nvSpPr>
        <p:spPr>
          <a:xfrm>
            <a:off x="8686800" y="6400800"/>
            <a:ext cx="155575" cy="152400"/>
          </a:xfrm>
        </p:spPr>
        <p:txBody>
          <a:bodyPr/>
          <a:lstStyle>
            <a:lvl1pPr>
              <a:defRPr/>
            </a:lvl1pPr>
          </a:lstStyle>
          <a:p>
            <a:fld id="{CDC70ED7-27EA-4514-903C-D4A37184F7C2}" type="slidenum">
              <a:rPr lang="en-US"/>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8686800" y="6400800"/>
            <a:ext cx="155575" cy="152400"/>
          </a:xfrm>
        </p:spPr>
        <p:txBody>
          <a:bodyPr/>
          <a:lstStyle>
            <a:lvl1pPr>
              <a:defRPr/>
            </a:lvl1pPr>
          </a:lstStyle>
          <a:p>
            <a:fld id="{8361A7F4-E54E-4223-9BAA-A5DFCE9EB1E4}" type="slidenum">
              <a:rPr lang="en-US"/>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8686800" y="6400800"/>
            <a:ext cx="155575" cy="152400"/>
          </a:xfrm>
        </p:spPr>
        <p:txBody>
          <a:bodyPr/>
          <a:lstStyle>
            <a:lvl1pPr>
              <a:defRPr/>
            </a:lvl1pPr>
          </a:lstStyle>
          <a:p>
            <a:fld id="{C9188CC7-1F86-4711-BAA0-C20CBBAA9A13}" type="slidenum">
              <a:rPr lang="en-US"/>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8839200" y="6400800"/>
            <a:ext cx="155575" cy="152400"/>
          </a:xfrm>
        </p:spPr>
        <p:txBody>
          <a:bodyPr/>
          <a:lstStyle>
            <a:lvl1pPr>
              <a:defRPr/>
            </a:lvl1pPr>
          </a:lstStyle>
          <a:p>
            <a:fld id="{A23425AD-99C3-4D67-BAAA-9EF149E2BC6E}" type="slidenum">
              <a:rPr lang="en-US"/>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1CAF9A4D-BF2E-454A-8E48-0BE3BF83C625}" type="slidenum">
              <a:rPr lang="en-US"/>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685800"/>
            <a:ext cx="2171700" cy="5181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685800"/>
            <a:ext cx="6362700" cy="518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78D09FAD-2610-4BCF-8A6E-D3BAB9283AB4}" type="slidenum">
              <a:rPr lang="en-US"/>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0518207C-D3B4-4E49-8C59-E267A7D5C2C0}" type="slidenum">
              <a:rPr lang="en-US" smtClean="0"/>
              <a:pPr/>
              <a:t>‹#›</a:t>
            </a:fld>
            <a:endParaRPr lang="en-US" dirty="0"/>
          </a:p>
        </p:txBody>
      </p:sp>
      <p:pic>
        <p:nvPicPr>
          <p:cNvPr id="4" name="Picture 21" descr="textpg_bkgrd2b2"/>
          <p:cNvPicPr>
            <a:picLocks noChangeAspect="1" noChangeArrowheads="1"/>
          </p:cNvPicPr>
          <p:nvPr userDrawn="1"/>
        </p:nvPicPr>
        <p:blipFill>
          <a:blip r:embed="rId2" cstate="print"/>
          <a:srcRect r="8560" b="8560"/>
          <a:stretch>
            <a:fillRect/>
          </a:stretch>
        </p:blipFill>
        <p:spPr bwMode="auto">
          <a:xfrm>
            <a:off x="0" y="0"/>
            <a:ext cx="9144000" cy="6858000"/>
          </a:xfrm>
          <a:prstGeom prst="rect">
            <a:avLst/>
          </a:prstGeom>
          <a:noFill/>
        </p:spPr>
      </p:pic>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gi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folHlink"/>
        </a:solidFill>
        <a:effectLst/>
      </p:bgPr>
    </p:bg>
    <p:spTree>
      <p:nvGrpSpPr>
        <p:cNvPr id="1" name=""/>
        <p:cNvGrpSpPr/>
        <p:nvPr/>
      </p:nvGrpSpPr>
      <p:grpSpPr>
        <a:xfrm>
          <a:off x="0" y="0"/>
          <a:ext cx="0" cy="0"/>
          <a:chOff x="0" y="0"/>
          <a:chExt cx="0" cy="0"/>
        </a:xfrm>
      </p:grpSpPr>
      <p:sp>
        <p:nvSpPr>
          <p:cNvPr id="1032" name="Rectangle 8"/>
          <p:cNvSpPr>
            <a:spLocks noGrp="1" noChangeArrowheads="1"/>
          </p:cNvSpPr>
          <p:nvPr>
            <p:ph type="sldNum" sz="quarter" idx="4"/>
          </p:nvPr>
        </p:nvSpPr>
        <p:spPr bwMode="auto">
          <a:xfrm>
            <a:off x="6245225" y="6400800"/>
            <a:ext cx="155575" cy="152400"/>
          </a:xfrm>
          <a:prstGeom prst="rect">
            <a:avLst/>
          </a:prstGeom>
          <a:noFill/>
          <a:ln w="9525">
            <a:noFill/>
            <a:miter lim="800000"/>
            <a:headEnd/>
            <a:tailEnd/>
          </a:ln>
          <a:effectLst/>
        </p:spPr>
        <p:txBody>
          <a:bodyPr vert="horz" wrap="none" lIns="0" tIns="0" rIns="0" bIns="0" numCol="1" anchor="ctr" anchorCtr="1" compatLnSpc="1">
            <a:prstTxWarp prst="textNoShape">
              <a:avLst/>
            </a:prstTxWarp>
            <a:spAutoFit/>
          </a:bodyPr>
          <a:lstStyle>
            <a:lvl1pPr>
              <a:defRPr sz="1000" b="0">
                <a:solidFill>
                  <a:schemeClr val="tx2"/>
                </a:solidFill>
              </a:defRPr>
            </a:lvl1pPr>
          </a:lstStyle>
          <a:p>
            <a:fld id="{0518207C-D3B4-4E49-8C59-E267A7D5C2C0}" type="slidenum">
              <a:rPr lang="en-US"/>
              <a:pPr/>
              <a:t>‹#›</a:t>
            </a:fld>
            <a:endParaRPr lang="en-US" dirty="0"/>
          </a:p>
        </p:txBody>
      </p:sp>
      <p:pic>
        <p:nvPicPr>
          <p:cNvPr id="1045" name="Picture 21" descr="textpg_bkgrd2b2"/>
          <p:cNvPicPr>
            <a:picLocks noChangeAspect="1" noChangeArrowheads="1"/>
          </p:cNvPicPr>
          <p:nvPr/>
        </p:nvPicPr>
        <p:blipFill>
          <a:blip r:embed="rId14" cstate="print"/>
          <a:srcRect r="5512" b="5512"/>
          <a:stretch>
            <a:fillRect/>
          </a:stretch>
        </p:blipFill>
        <p:spPr bwMode="auto">
          <a:xfrm>
            <a:off x="0" y="0"/>
            <a:ext cx="9144000" cy="6858000"/>
          </a:xfrm>
          <a:prstGeom prst="rect">
            <a:avLst/>
          </a:prstGeom>
          <a:noFill/>
        </p:spPr>
      </p:pic>
      <p:sp>
        <p:nvSpPr>
          <p:cNvPr id="1026" name="Rectangle 2"/>
          <p:cNvSpPr>
            <a:spLocks noGrp="1" noChangeArrowheads="1"/>
          </p:cNvSpPr>
          <p:nvPr>
            <p:ph type="title"/>
          </p:nvPr>
        </p:nvSpPr>
        <p:spPr bwMode="auto">
          <a:xfrm>
            <a:off x="228600" y="0"/>
            <a:ext cx="8686800" cy="639763"/>
          </a:xfrm>
          <a:prstGeom prst="rect">
            <a:avLst/>
          </a:prstGeom>
          <a:noFill/>
          <a:ln w="9525" algn="ctr">
            <a:noFill/>
            <a:miter lim="800000"/>
            <a:headEnd/>
            <a:tailEnd/>
          </a:ln>
          <a:effectLst/>
        </p:spPr>
        <p:txBody>
          <a:bodyPr vert="horz" wrap="square" lIns="0" tIns="0" rIns="0" bIns="0" numCol="1" anchor="b"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228600" y="838200"/>
            <a:ext cx="8686800" cy="5029200"/>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99" name="Rectangle 75"/>
          <p:cNvSpPr>
            <a:spLocks noChangeArrowheads="1"/>
          </p:cNvSpPr>
          <p:nvPr/>
        </p:nvSpPr>
        <p:spPr bwMode="auto">
          <a:xfrm>
            <a:off x="0" y="6248400"/>
            <a:ext cx="9144000" cy="609600"/>
          </a:xfrm>
          <a:prstGeom prst="rect">
            <a:avLst/>
          </a:prstGeom>
          <a:solidFill>
            <a:schemeClr val="bg1"/>
          </a:solidFill>
          <a:ln w="9525">
            <a:noFill/>
            <a:miter lim="800000"/>
            <a:headEnd/>
            <a:tailEnd/>
          </a:ln>
          <a:effectLst/>
        </p:spPr>
        <p:txBody>
          <a:bodyPr wrap="none" anchor="ctr"/>
          <a:lstStyle/>
          <a:p>
            <a:endParaRPr lang="en-US" dirty="0"/>
          </a:p>
        </p:txBody>
      </p:sp>
      <p:pic>
        <p:nvPicPr>
          <p:cNvPr id="1098" name="Picture 74"/>
          <p:cNvPicPr>
            <a:picLocks noChangeAspect="1" noChangeArrowheads="1"/>
          </p:cNvPicPr>
          <p:nvPr/>
        </p:nvPicPr>
        <p:blipFill>
          <a:blip r:embed="rId15" cstate="print"/>
          <a:stretch>
            <a:fillRect/>
          </a:stretch>
        </p:blipFill>
        <p:spPr bwMode="auto">
          <a:xfrm>
            <a:off x="127000" y="6324600"/>
            <a:ext cx="2971800" cy="460200"/>
          </a:xfrm>
          <a:prstGeom prst="rect">
            <a:avLst/>
          </a:prstGeom>
          <a:solidFill>
            <a:srgbClr val="FFFFFF">
              <a:shade val="85000"/>
            </a:srgbClr>
          </a:solidFill>
          <a:ln w="88900" cap="sq">
            <a:noFill/>
            <a:miter lim="800000"/>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hdr="0" ftr="0" dt="0"/>
  <p:txStyles>
    <p:titleStyle>
      <a:lvl1pPr algn="l" rtl="0" fontAlgn="base">
        <a:spcBef>
          <a:spcPct val="0"/>
        </a:spcBef>
        <a:spcAft>
          <a:spcPct val="0"/>
        </a:spcAft>
        <a:defRPr sz="3200" cap="small" baseline="0">
          <a:solidFill>
            <a:schemeClr val="bg1"/>
          </a:solidFill>
          <a:latin typeface="Calibri" pitchFamily="34" charset="0"/>
          <a:ea typeface="+mj-ea"/>
          <a:cs typeface="+mj-cs"/>
        </a:defRPr>
      </a:lvl1pPr>
      <a:lvl2pPr algn="l" rtl="0" fontAlgn="base">
        <a:spcBef>
          <a:spcPct val="0"/>
        </a:spcBef>
        <a:spcAft>
          <a:spcPct val="0"/>
        </a:spcAft>
        <a:defRPr sz="2400">
          <a:solidFill>
            <a:schemeClr val="tx1"/>
          </a:solidFill>
          <a:latin typeface="Arial" charset="0"/>
        </a:defRPr>
      </a:lvl2pPr>
      <a:lvl3pPr algn="l" rtl="0" fontAlgn="base">
        <a:spcBef>
          <a:spcPct val="0"/>
        </a:spcBef>
        <a:spcAft>
          <a:spcPct val="0"/>
        </a:spcAft>
        <a:defRPr sz="2400">
          <a:solidFill>
            <a:schemeClr val="tx1"/>
          </a:solidFill>
          <a:latin typeface="Arial" charset="0"/>
        </a:defRPr>
      </a:lvl3pPr>
      <a:lvl4pPr algn="l" rtl="0" fontAlgn="base">
        <a:spcBef>
          <a:spcPct val="0"/>
        </a:spcBef>
        <a:spcAft>
          <a:spcPct val="0"/>
        </a:spcAft>
        <a:defRPr sz="2400">
          <a:solidFill>
            <a:schemeClr val="tx1"/>
          </a:solidFill>
          <a:latin typeface="Arial" charset="0"/>
        </a:defRPr>
      </a:lvl4pPr>
      <a:lvl5pPr algn="l" rtl="0" fontAlgn="base">
        <a:spcBef>
          <a:spcPct val="0"/>
        </a:spcBef>
        <a:spcAft>
          <a:spcPct val="0"/>
        </a:spcAft>
        <a:defRPr sz="2400">
          <a:solidFill>
            <a:schemeClr val="tx1"/>
          </a:solidFill>
          <a:latin typeface="Arial" charset="0"/>
        </a:defRPr>
      </a:lvl5pPr>
      <a:lvl6pPr marL="457200" algn="l" rtl="0" fontAlgn="base">
        <a:spcBef>
          <a:spcPct val="0"/>
        </a:spcBef>
        <a:spcAft>
          <a:spcPct val="0"/>
        </a:spcAft>
        <a:defRPr sz="2400">
          <a:solidFill>
            <a:schemeClr val="tx1"/>
          </a:solidFill>
          <a:latin typeface="Arial" charset="0"/>
        </a:defRPr>
      </a:lvl6pPr>
      <a:lvl7pPr marL="914400" algn="l" rtl="0" fontAlgn="base">
        <a:spcBef>
          <a:spcPct val="0"/>
        </a:spcBef>
        <a:spcAft>
          <a:spcPct val="0"/>
        </a:spcAft>
        <a:defRPr sz="2400">
          <a:solidFill>
            <a:schemeClr val="tx1"/>
          </a:solidFill>
          <a:latin typeface="Arial" charset="0"/>
        </a:defRPr>
      </a:lvl7pPr>
      <a:lvl8pPr marL="1371600" algn="l" rtl="0" fontAlgn="base">
        <a:spcBef>
          <a:spcPct val="0"/>
        </a:spcBef>
        <a:spcAft>
          <a:spcPct val="0"/>
        </a:spcAft>
        <a:defRPr sz="2400">
          <a:solidFill>
            <a:schemeClr val="tx1"/>
          </a:solidFill>
          <a:latin typeface="Arial" charset="0"/>
        </a:defRPr>
      </a:lvl8pPr>
      <a:lvl9pPr marL="1828800" algn="l" rtl="0" fontAlgn="base">
        <a:spcBef>
          <a:spcPct val="0"/>
        </a:spcBef>
        <a:spcAft>
          <a:spcPct val="0"/>
        </a:spcAft>
        <a:defRPr sz="2400">
          <a:solidFill>
            <a:schemeClr val="tx1"/>
          </a:solidFill>
          <a:latin typeface="Arial" charset="0"/>
        </a:defRPr>
      </a:lvl9pPr>
    </p:titleStyle>
    <p:bodyStyle>
      <a:lvl1pPr marL="228600" indent="-228600" algn="l" rtl="0" fontAlgn="base">
        <a:spcBef>
          <a:spcPct val="20000"/>
        </a:spcBef>
        <a:spcAft>
          <a:spcPct val="0"/>
        </a:spcAft>
        <a:buClr>
          <a:schemeClr val="hlink"/>
        </a:buClr>
        <a:buChar char="•"/>
        <a:defRPr sz="2000">
          <a:solidFill>
            <a:schemeClr val="tx1"/>
          </a:solidFill>
          <a:latin typeface="+mn-lt"/>
          <a:ea typeface="+mn-ea"/>
          <a:cs typeface="+mn-cs"/>
        </a:defRPr>
      </a:lvl1pPr>
      <a:lvl2pPr marL="565150" indent="-222250" algn="l" rtl="0" fontAlgn="base">
        <a:spcBef>
          <a:spcPct val="20000"/>
        </a:spcBef>
        <a:spcAft>
          <a:spcPct val="0"/>
        </a:spcAft>
        <a:buClr>
          <a:schemeClr val="tx2"/>
        </a:buClr>
        <a:buFont typeface="Arial" charset="0"/>
        <a:buChar char="–"/>
        <a:defRPr>
          <a:solidFill>
            <a:schemeClr val="tx1"/>
          </a:solidFill>
          <a:latin typeface="+mn-lt"/>
        </a:defRPr>
      </a:lvl2pPr>
      <a:lvl3pPr marL="908050" indent="-228600" algn="l" rtl="0" fontAlgn="base">
        <a:spcBef>
          <a:spcPct val="20000"/>
        </a:spcBef>
        <a:spcAft>
          <a:spcPct val="0"/>
        </a:spcAft>
        <a:buClr>
          <a:srgbClr val="918C5A"/>
        </a:buClr>
        <a:buChar char="•"/>
        <a:defRPr sz="1600">
          <a:solidFill>
            <a:schemeClr val="tx1"/>
          </a:solidFill>
          <a:latin typeface="+mn-lt"/>
        </a:defRPr>
      </a:lvl3pPr>
      <a:lvl4pPr marL="1250950" indent="-228600" algn="l" rtl="0" fontAlgn="base">
        <a:spcBef>
          <a:spcPct val="20000"/>
        </a:spcBef>
        <a:spcAft>
          <a:spcPct val="0"/>
        </a:spcAft>
        <a:buClr>
          <a:srgbClr val="918C5A"/>
        </a:buClr>
        <a:buChar char="•"/>
        <a:defRPr sz="1600">
          <a:solidFill>
            <a:schemeClr val="tx1"/>
          </a:solidFill>
          <a:latin typeface="+mn-lt"/>
        </a:defRPr>
      </a:lvl4pPr>
      <a:lvl5pPr marL="1593850" indent="-228600" algn="l" rtl="0" fontAlgn="base">
        <a:spcBef>
          <a:spcPct val="20000"/>
        </a:spcBef>
        <a:spcAft>
          <a:spcPct val="0"/>
        </a:spcAft>
        <a:buClr>
          <a:srgbClr val="918C5A"/>
        </a:buClr>
        <a:buChar char="•"/>
        <a:defRPr sz="1600">
          <a:solidFill>
            <a:schemeClr val="tx1"/>
          </a:solidFill>
          <a:latin typeface="+mn-lt"/>
        </a:defRPr>
      </a:lvl5pPr>
      <a:lvl6pPr marL="2051050" indent="-228600" algn="l" rtl="0" fontAlgn="base">
        <a:spcBef>
          <a:spcPct val="20000"/>
        </a:spcBef>
        <a:spcAft>
          <a:spcPct val="0"/>
        </a:spcAft>
        <a:buClr>
          <a:srgbClr val="918C5A"/>
        </a:buClr>
        <a:buChar char="•"/>
        <a:defRPr sz="1600">
          <a:solidFill>
            <a:schemeClr val="tx1"/>
          </a:solidFill>
          <a:latin typeface="+mn-lt"/>
        </a:defRPr>
      </a:lvl6pPr>
      <a:lvl7pPr marL="2508250" indent="-228600" algn="l" rtl="0" fontAlgn="base">
        <a:spcBef>
          <a:spcPct val="20000"/>
        </a:spcBef>
        <a:spcAft>
          <a:spcPct val="0"/>
        </a:spcAft>
        <a:buClr>
          <a:srgbClr val="918C5A"/>
        </a:buClr>
        <a:buChar char="•"/>
        <a:defRPr sz="1600">
          <a:solidFill>
            <a:schemeClr val="tx1"/>
          </a:solidFill>
          <a:latin typeface="+mn-lt"/>
        </a:defRPr>
      </a:lvl7pPr>
      <a:lvl8pPr marL="2965450" indent="-228600" algn="l" rtl="0" fontAlgn="base">
        <a:spcBef>
          <a:spcPct val="20000"/>
        </a:spcBef>
        <a:spcAft>
          <a:spcPct val="0"/>
        </a:spcAft>
        <a:buClr>
          <a:srgbClr val="918C5A"/>
        </a:buClr>
        <a:buChar char="•"/>
        <a:defRPr sz="1600">
          <a:solidFill>
            <a:schemeClr val="tx1"/>
          </a:solidFill>
          <a:latin typeface="+mn-lt"/>
        </a:defRPr>
      </a:lvl8pPr>
      <a:lvl9pPr marL="3422650" indent="-228600" algn="l" rtl="0" fontAlgn="base">
        <a:spcBef>
          <a:spcPct val="20000"/>
        </a:spcBef>
        <a:spcAft>
          <a:spcPct val="0"/>
        </a:spcAft>
        <a:buClr>
          <a:srgbClr val="918C5A"/>
        </a:buClr>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safaribooksonline.com/library/view/cloud-networking/9780128007280/B9780128007280000084.x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safaribooksonline.com/library/view/cloud-networking/9780128007280/B9780128007280000084.x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safaribooksonline.com/library/view/cloud-networking/9780128007280/B9780128007280000059.xhtml#f0015"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safaribooksonline.com/library/view/cloud-networking/9780128007280/B9780128007280000059.xhtml#f0030"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safaribooksonline.com/library/view/cloud-networking/9780128007280/B9780128007280000059.xhtml#f0035"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2" name="Rectangle 10"/>
          <p:cNvSpPr>
            <a:spLocks noGrp="1" noChangeArrowheads="1"/>
          </p:cNvSpPr>
          <p:nvPr>
            <p:ph type="ctrTitle"/>
          </p:nvPr>
        </p:nvSpPr>
        <p:spPr>
          <a:xfrm>
            <a:off x="685800" y="1371600"/>
            <a:ext cx="7851775" cy="1725612"/>
          </a:xfrm>
        </p:spPr>
        <p:txBody>
          <a:bodyPr/>
          <a:lstStyle/>
          <a:p>
            <a:r>
              <a:rPr lang="en-US" sz="4000" dirty="0"/>
              <a:t>EETS 8390: data center network engineering</a:t>
            </a:r>
          </a:p>
        </p:txBody>
      </p:sp>
      <p:sp>
        <p:nvSpPr>
          <p:cNvPr id="44043" name="Rectangle 11"/>
          <p:cNvSpPr>
            <a:spLocks noGrp="1" noChangeArrowheads="1"/>
          </p:cNvSpPr>
          <p:nvPr>
            <p:ph type="subTitle" idx="1"/>
          </p:nvPr>
        </p:nvSpPr>
        <p:spPr>
          <a:xfrm>
            <a:off x="631825" y="3657600"/>
            <a:ext cx="7851775" cy="1597025"/>
          </a:xfrm>
        </p:spPr>
        <p:txBody>
          <a:bodyPr/>
          <a:lstStyle/>
          <a:p>
            <a:r>
              <a:rPr lang="en-US" sz="3600" i="0" dirty="0">
                <a:latin typeface="Calibri" pitchFamily="34" charset="0"/>
              </a:rPr>
              <a:t>M. Scott Kingsley</a:t>
            </a:r>
            <a:endParaRPr lang="en-US" i="0" dirty="0">
              <a:latin typeface="Calibri" pitchFamily="34" charset="0"/>
            </a:endParaRPr>
          </a:p>
          <a:p>
            <a:endParaRPr lang="en-US" sz="2800" dirty="0"/>
          </a:p>
          <a:p>
            <a:r>
              <a:rPr lang="en-US" sz="2800" i="0" dirty="0">
                <a:latin typeface="Calibri" pitchFamily="34" charset="0"/>
              </a:rPr>
              <a:t>CHAPTER </a:t>
            </a:r>
            <a:r>
              <a:rPr lang="en-US" sz="2800" dirty="0"/>
              <a:t>5: </a:t>
            </a:r>
            <a:r>
              <a:rPr lang="en-US" sz="2800" dirty="0">
                <a:effectLst>
                  <a:outerShdw blurRad="38100" dist="38100" dir="2700000" algn="tl">
                    <a:srgbClr val="000000">
                      <a:alpha val="43137"/>
                    </a:srgbClr>
                  </a:outerShdw>
                </a:effectLst>
              </a:rPr>
              <a:t>Data Center </a:t>
            </a:r>
            <a:r>
              <a:rPr lang="en-US" sz="2800">
                <a:effectLst>
                  <a:outerShdw blurRad="38100" dist="38100" dir="2700000" algn="tl">
                    <a:srgbClr val="000000">
                      <a:alpha val="43137"/>
                    </a:srgbClr>
                  </a:outerShdw>
                </a:effectLst>
              </a:rPr>
              <a:t>Networking Standards</a:t>
            </a:r>
            <a:endParaRPr lang="en-US" sz="2800" dirty="0">
              <a:effectLst>
                <a:outerShdw blurRad="38100" dist="38100" dir="2700000" algn="tl">
                  <a:srgbClr val="000000">
                    <a:alpha val="43137"/>
                  </a:srgbClr>
                </a:outerShdw>
              </a:effectLst>
            </a:endParaRPr>
          </a:p>
          <a:p>
            <a:endParaRPr lang="en-US" sz="2400" i="0" dirty="0">
              <a:latin typeface="Calibri"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2800" dirty="0">
                <a:effectLst/>
              </a:rPr>
              <a:t>Chapter 5: Cloud Data Center Networking Standards</a:t>
            </a:r>
          </a:p>
        </p:txBody>
      </p:sp>
      <p:sp>
        <p:nvSpPr>
          <p:cNvPr id="2" name="Content Placeholder 1"/>
          <p:cNvSpPr>
            <a:spLocks noGrp="1"/>
          </p:cNvSpPr>
          <p:nvPr>
            <p:ph idx="1"/>
          </p:nvPr>
        </p:nvSpPr>
        <p:spPr>
          <a:xfrm>
            <a:off x="335280" y="685800"/>
            <a:ext cx="8382000" cy="7391400"/>
          </a:xfrm>
        </p:spPr>
        <p:txBody>
          <a:bodyPr/>
          <a:lstStyle/>
          <a:p>
            <a:r>
              <a:rPr lang="en-US" dirty="0"/>
              <a:t>In this chapter, we describe several types of networking standards that are important in cloud data center networks. </a:t>
            </a:r>
          </a:p>
          <a:p>
            <a:r>
              <a:rPr lang="en-US" dirty="0"/>
              <a:t>We describe how the new Ethernet data rate standards have improved data center network connectivity. </a:t>
            </a:r>
          </a:p>
          <a:p>
            <a:r>
              <a:rPr lang="en-US" dirty="0"/>
              <a:t>We also describe the virtual local area network header, which is relevant to many other data center networking standards that are described in this book.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a:t>
            </a:fld>
            <a:endParaRPr lang="en-US" dirty="0"/>
          </a:p>
        </p:txBody>
      </p:sp>
    </p:spTree>
    <p:extLst>
      <p:ext uri="{BB962C8B-B14F-4D97-AF65-F5344CB8AC3E}">
        <p14:creationId xmlns:p14="http://schemas.microsoft.com/office/powerpoint/2010/main" val="3709086850"/>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2800" dirty="0">
                <a:effectLst/>
              </a:rPr>
              <a:t>Chapter 5: Cloud Data Center Networking Standards</a:t>
            </a:r>
          </a:p>
        </p:txBody>
      </p:sp>
      <p:sp>
        <p:nvSpPr>
          <p:cNvPr id="2" name="Content Placeholder 1"/>
          <p:cNvSpPr>
            <a:spLocks noGrp="1"/>
          </p:cNvSpPr>
          <p:nvPr>
            <p:ph idx="1"/>
          </p:nvPr>
        </p:nvSpPr>
        <p:spPr>
          <a:xfrm>
            <a:off x="335280" y="685800"/>
            <a:ext cx="8382000" cy="7391400"/>
          </a:xfrm>
        </p:spPr>
        <p:txBody>
          <a:bodyPr/>
          <a:lstStyle/>
          <a:p>
            <a:r>
              <a:rPr lang="en-US" dirty="0"/>
              <a:t>Next, we provide some information about data center bridging, which is key for running converged storage, and data on the same network. </a:t>
            </a:r>
          </a:p>
          <a:p>
            <a:r>
              <a:rPr lang="en-US" dirty="0"/>
              <a:t>We also describe standards to improve data center network bandwidth utilization. </a:t>
            </a:r>
          </a:p>
          <a:p>
            <a:r>
              <a:rPr lang="en-US" dirty="0"/>
              <a:t>Finally, we provide an overview of remote direct memory access as a way to improve application-to-application performance in data center networks.</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a:t>
            </a:fld>
            <a:endParaRPr lang="en-US" dirty="0"/>
          </a:p>
        </p:txBody>
      </p:sp>
    </p:spTree>
    <p:extLst>
      <p:ext uri="{BB962C8B-B14F-4D97-AF65-F5344CB8AC3E}">
        <p14:creationId xmlns:p14="http://schemas.microsoft.com/office/powerpoint/2010/main" val="300392740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2800" dirty="0">
                <a:effectLst/>
              </a:rPr>
              <a:t>Chapter 5: Cloud Data Center Networking Standards</a:t>
            </a:r>
          </a:p>
        </p:txBody>
      </p:sp>
      <p:sp>
        <p:nvSpPr>
          <p:cNvPr id="2" name="Content Placeholder 1"/>
          <p:cNvSpPr>
            <a:spLocks noGrp="1"/>
          </p:cNvSpPr>
          <p:nvPr>
            <p:ph idx="1"/>
          </p:nvPr>
        </p:nvSpPr>
        <p:spPr>
          <a:xfrm>
            <a:off x="335280" y="685800"/>
            <a:ext cx="8382000" cy="7391400"/>
          </a:xfrm>
        </p:spPr>
        <p:txBody>
          <a:bodyPr/>
          <a:lstStyle/>
          <a:p>
            <a:r>
              <a:rPr lang="en-US" dirty="0"/>
              <a:t>Cloud data center network administrators do not want to be locked into a single network equipment vendor. </a:t>
            </a:r>
          </a:p>
          <a:p>
            <a:r>
              <a:rPr lang="en-US" dirty="0"/>
              <a:t>This requires networking equipment from a given vendor that can efficiently interoperate with equipment from other vendors, not only at the physical interconnect level but at the functional level. </a:t>
            </a:r>
          </a:p>
          <a:p>
            <a:r>
              <a:rPr lang="en-US" dirty="0"/>
              <a:t>This is why industry standard specifications for networking equipment are established.</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a:t>
            </a:fld>
            <a:endParaRPr lang="en-US" dirty="0"/>
          </a:p>
        </p:txBody>
      </p:sp>
    </p:spTree>
    <p:extLst>
      <p:ext uri="{BB962C8B-B14F-4D97-AF65-F5344CB8AC3E}">
        <p14:creationId xmlns:p14="http://schemas.microsoft.com/office/powerpoint/2010/main" val="367933431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2800" dirty="0">
                <a:effectLst/>
              </a:rPr>
              <a:t>Chapter 5: Cloud Data Center Networking Standards</a:t>
            </a:r>
          </a:p>
        </p:txBody>
      </p:sp>
      <p:sp>
        <p:nvSpPr>
          <p:cNvPr id="2" name="Content Placeholder 1"/>
          <p:cNvSpPr>
            <a:spLocks noGrp="1"/>
          </p:cNvSpPr>
          <p:nvPr>
            <p:ph idx="1"/>
          </p:nvPr>
        </p:nvSpPr>
        <p:spPr>
          <a:xfrm>
            <a:off x="382587" y="1447800"/>
            <a:ext cx="8382000" cy="7391400"/>
          </a:xfrm>
        </p:spPr>
        <p:txBody>
          <a:bodyPr/>
          <a:lstStyle/>
          <a:p>
            <a:r>
              <a:rPr lang="en-US" dirty="0"/>
              <a:t>IETF</a:t>
            </a:r>
          </a:p>
          <a:p>
            <a:r>
              <a:rPr lang="en-US" dirty="0"/>
              <a:t>IEEE</a:t>
            </a:r>
          </a:p>
        </p:txBody>
      </p:sp>
      <p:sp>
        <p:nvSpPr>
          <p:cNvPr id="4" name="Slide Number Placeholder 3"/>
          <p:cNvSpPr>
            <a:spLocks noGrp="1"/>
          </p:cNvSpPr>
          <p:nvPr>
            <p:ph type="sldNum" sz="quarter" idx="10"/>
          </p:nvPr>
        </p:nvSpPr>
        <p:spPr/>
        <p:txBody>
          <a:bodyPr/>
          <a:lstStyle/>
          <a:p>
            <a:fld id="{1C0FA7A3-0FBF-4EC3-BE45-825983E95E58}" type="slidenum">
              <a:rPr lang="en-US" smtClean="0"/>
              <a:pPr/>
              <a:t>4</a:t>
            </a:fld>
            <a:endParaRPr lang="en-US" dirty="0"/>
          </a:p>
        </p:txBody>
      </p:sp>
    </p:spTree>
    <p:extLst>
      <p:ext uri="{BB962C8B-B14F-4D97-AF65-F5344CB8AC3E}">
        <p14:creationId xmlns:p14="http://schemas.microsoft.com/office/powerpoint/2010/main" val="208315388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2800" dirty="0">
                <a:effectLst/>
              </a:rPr>
              <a:t>Chapter 5: Cloud Data Center Networking Standards</a:t>
            </a:r>
          </a:p>
        </p:txBody>
      </p:sp>
      <p:sp>
        <p:nvSpPr>
          <p:cNvPr id="2" name="Content Placeholder 1"/>
          <p:cNvSpPr>
            <a:spLocks noGrp="1"/>
          </p:cNvSpPr>
          <p:nvPr>
            <p:ph idx="1"/>
          </p:nvPr>
        </p:nvSpPr>
        <p:spPr>
          <a:xfrm>
            <a:off x="382587" y="1447800"/>
            <a:ext cx="8382000" cy="7391400"/>
          </a:xfrm>
        </p:spPr>
        <p:txBody>
          <a:bodyPr/>
          <a:lstStyle/>
          <a:p>
            <a:r>
              <a:rPr lang="en-US" dirty="0"/>
              <a:t>In this chapter, we first discuss several physical layer Ethernet standards that are used extensively within large cloud data center networks. </a:t>
            </a:r>
          </a:p>
          <a:p>
            <a:r>
              <a:rPr lang="en-US" dirty="0"/>
              <a:t>The next section will cover the virtual local area network (VLAN) specification that is widely used in Ethernet networks today.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5</a:t>
            </a:fld>
            <a:endParaRPr lang="en-US" dirty="0"/>
          </a:p>
        </p:txBody>
      </p:sp>
    </p:spTree>
    <p:extLst>
      <p:ext uri="{BB962C8B-B14F-4D97-AF65-F5344CB8AC3E}">
        <p14:creationId xmlns:p14="http://schemas.microsoft.com/office/powerpoint/2010/main" val="84075843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sz="2800" dirty="0">
                <a:effectLst/>
              </a:rPr>
              <a:t>Chapter 5: Cloud Data Center Networking Standards</a:t>
            </a:r>
          </a:p>
        </p:txBody>
      </p:sp>
      <p:sp>
        <p:nvSpPr>
          <p:cNvPr id="2" name="Content Placeholder 1"/>
          <p:cNvSpPr>
            <a:spLocks noGrp="1"/>
          </p:cNvSpPr>
          <p:nvPr>
            <p:ph idx="1"/>
          </p:nvPr>
        </p:nvSpPr>
        <p:spPr>
          <a:xfrm>
            <a:off x="382587" y="762000"/>
            <a:ext cx="8382000" cy="7391400"/>
          </a:xfrm>
        </p:spPr>
        <p:txBody>
          <a:bodyPr/>
          <a:lstStyle/>
          <a:p>
            <a:r>
              <a:rPr lang="en-US" dirty="0"/>
              <a:t>We will then discuss DCB, which encompasses a key set of standards for converging storage and data traffic in the same network. </a:t>
            </a:r>
          </a:p>
          <a:p>
            <a:r>
              <a:rPr lang="en-US" dirty="0"/>
              <a:t>Next, various standards for optimizing data center network bandwidth will be discussed, followed by a section on standards for efficiently moving data throughout the data center. </a:t>
            </a:r>
          </a:p>
          <a:p>
            <a:r>
              <a:rPr lang="en-US" dirty="0"/>
              <a:t>Other standards for server virtualization, network virtualization, storage networking, and software-defined networking will be covered in later chapters of this book.</a:t>
            </a:r>
          </a:p>
        </p:txBody>
      </p:sp>
      <p:sp>
        <p:nvSpPr>
          <p:cNvPr id="4" name="Slide Number Placeholder 3"/>
          <p:cNvSpPr>
            <a:spLocks noGrp="1"/>
          </p:cNvSpPr>
          <p:nvPr>
            <p:ph type="sldNum" sz="quarter" idx="10"/>
          </p:nvPr>
        </p:nvSpPr>
        <p:spPr/>
        <p:txBody>
          <a:bodyPr/>
          <a:lstStyle/>
          <a:p>
            <a:fld id="{1C0FA7A3-0FBF-4EC3-BE45-825983E95E58}" type="slidenum">
              <a:rPr lang="en-US" smtClean="0"/>
              <a:pPr/>
              <a:t>6</a:t>
            </a:fld>
            <a:endParaRPr lang="en-US" dirty="0"/>
          </a:p>
        </p:txBody>
      </p:sp>
    </p:spTree>
    <p:extLst>
      <p:ext uri="{BB962C8B-B14F-4D97-AF65-F5344CB8AC3E}">
        <p14:creationId xmlns:p14="http://schemas.microsoft.com/office/powerpoint/2010/main" val="37464562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Ethernet data rate standards</a:t>
            </a:r>
          </a:p>
        </p:txBody>
      </p:sp>
      <p:sp>
        <p:nvSpPr>
          <p:cNvPr id="2" name="Content Placeholder 1"/>
          <p:cNvSpPr>
            <a:spLocks noGrp="1"/>
          </p:cNvSpPr>
          <p:nvPr>
            <p:ph idx="1"/>
          </p:nvPr>
        </p:nvSpPr>
        <p:spPr>
          <a:xfrm>
            <a:off x="382587" y="762000"/>
            <a:ext cx="8382000" cy="7391400"/>
          </a:xfrm>
        </p:spPr>
        <p:txBody>
          <a:bodyPr/>
          <a:lstStyle/>
          <a:p>
            <a:r>
              <a:rPr lang="en-US" dirty="0"/>
              <a:t>In the 1990s and early 2000s, Ethernet was behind in the bandwidth race. </a:t>
            </a:r>
          </a:p>
          <a:p>
            <a:r>
              <a:rPr lang="en-US" dirty="0"/>
              <a:t>During that time Synchronous Optical Network/Synchronous Digital Hierarchy (SONET/SDH) carrier networks were running at 2.5Gbps and 10Gbps, while storage network protocols such as </a:t>
            </a:r>
            <a:r>
              <a:rPr lang="en-US" dirty="0" err="1"/>
              <a:t>Fibre</a:t>
            </a:r>
            <a:r>
              <a:rPr lang="en-US" dirty="0"/>
              <a:t> Channel were moving from 1Gbps to 2Gbps and 4Gbps. </a:t>
            </a:r>
          </a:p>
          <a:p>
            <a:r>
              <a:rPr lang="en-US" dirty="0"/>
              <a:t>At the same time, 1GbE was just coming into its own.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7</a:t>
            </a:fld>
            <a:endParaRPr lang="en-US" dirty="0"/>
          </a:p>
        </p:txBody>
      </p:sp>
    </p:spTree>
    <p:extLst>
      <p:ext uri="{BB962C8B-B14F-4D97-AF65-F5344CB8AC3E}">
        <p14:creationId xmlns:p14="http://schemas.microsoft.com/office/powerpoint/2010/main" val="10034612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Ethernet data rate standards</a:t>
            </a:r>
          </a:p>
        </p:txBody>
      </p:sp>
      <p:sp>
        <p:nvSpPr>
          <p:cNvPr id="2" name="Content Placeholder 1"/>
          <p:cNvSpPr>
            <a:spLocks noGrp="1"/>
          </p:cNvSpPr>
          <p:nvPr>
            <p:ph idx="1"/>
          </p:nvPr>
        </p:nvSpPr>
        <p:spPr>
          <a:xfrm>
            <a:off x="382587" y="762000"/>
            <a:ext cx="8382000" cy="7391400"/>
          </a:xfrm>
        </p:spPr>
        <p:txBody>
          <a:bodyPr/>
          <a:lstStyle/>
          <a:p>
            <a:r>
              <a:rPr lang="en-US" dirty="0"/>
              <a:t>It wasn’t until 2003 that companies like Intel started to develop 10GbE network controllers and 10GbE switches didn’t start appearing until around 2006. </a:t>
            </a:r>
          </a:p>
          <a:p>
            <a:r>
              <a:rPr lang="en-US" dirty="0"/>
              <a:t>In 2012, 10GbE shipments started ramping into high volumes, including Ethernet controllers used to connect servers to the network and top of rack switches.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8</a:t>
            </a:fld>
            <a:endParaRPr lang="en-US" dirty="0"/>
          </a:p>
        </p:txBody>
      </p:sp>
    </p:spTree>
    <p:extLst>
      <p:ext uri="{BB962C8B-B14F-4D97-AF65-F5344CB8AC3E}">
        <p14:creationId xmlns:p14="http://schemas.microsoft.com/office/powerpoint/2010/main" val="244419598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Ethernet data rate standards</a:t>
            </a:r>
          </a:p>
        </p:txBody>
      </p:sp>
      <p:sp>
        <p:nvSpPr>
          <p:cNvPr id="2" name="Content Placeholder 1"/>
          <p:cNvSpPr>
            <a:spLocks noGrp="1"/>
          </p:cNvSpPr>
          <p:nvPr>
            <p:ph idx="1"/>
          </p:nvPr>
        </p:nvSpPr>
        <p:spPr>
          <a:xfrm>
            <a:off x="382587" y="762000"/>
            <a:ext cx="8382000" cy="7391400"/>
          </a:xfrm>
        </p:spPr>
        <p:txBody>
          <a:bodyPr/>
          <a:lstStyle/>
          <a:p>
            <a:r>
              <a:rPr lang="en-US" dirty="0"/>
              <a:t>Because Ethernet now provides both low cost and high bandwidth solutions, it has become the standard transport protocol in data center networks and carrier networks, and is making strong inroads into storage networks with protocols such as </a:t>
            </a:r>
            <a:r>
              <a:rPr lang="en-US" dirty="0" err="1"/>
              <a:t>Fibre</a:t>
            </a:r>
            <a:r>
              <a:rPr lang="en-US" dirty="0"/>
              <a:t> Channel over Ethernet (</a:t>
            </a:r>
            <a:r>
              <a:rPr lang="en-US" dirty="0" err="1"/>
              <a:t>FCoE</a:t>
            </a:r>
            <a:r>
              <a:rPr lang="en-US" dirty="0"/>
              <a:t>) which will be covered in </a:t>
            </a:r>
            <a:r>
              <a:rPr lang="en-US" dirty="0">
                <a:hlinkClick r:id="rId2"/>
              </a:rPr>
              <a:t>Chapter 8</a:t>
            </a:r>
            <a:r>
              <a:rPr lang="en-US" dirty="0"/>
              <a:t>.</a:t>
            </a:r>
          </a:p>
        </p:txBody>
      </p:sp>
      <p:sp>
        <p:nvSpPr>
          <p:cNvPr id="4" name="Slide Number Placeholder 3"/>
          <p:cNvSpPr>
            <a:spLocks noGrp="1"/>
          </p:cNvSpPr>
          <p:nvPr>
            <p:ph type="sldNum" sz="quarter" idx="10"/>
          </p:nvPr>
        </p:nvSpPr>
        <p:spPr/>
        <p:txBody>
          <a:bodyPr/>
          <a:lstStyle/>
          <a:p>
            <a:fld id="{1C0FA7A3-0FBF-4EC3-BE45-825983E95E58}" type="slidenum">
              <a:rPr lang="en-US" smtClean="0"/>
              <a:pPr/>
              <a:t>9</a:t>
            </a:fld>
            <a:endParaRPr lang="en-US" dirty="0"/>
          </a:p>
        </p:txBody>
      </p:sp>
    </p:spTree>
    <p:extLst>
      <p:ext uri="{BB962C8B-B14F-4D97-AF65-F5344CB8AC3E}">
        <p14:creationId xmlns:p14="http://schemas.microsoft.com/office/powerpoint/2010/main" val="182253256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t>10GE</a:t>
            </a:r>
            <a:endParaRPr lang="en-US" cap="all" dirty="0">
              <a:effectLst/>
            </a:endParaRPr>
          </a:p>
        </p:txBody>
      </p:sp>
      <p:sp>
        <p:nvSpPr>
          <p:cNvPr id="2" name="Content Placeholder 1"/>
          <p:cNvSpPr>
            <a:spLocks noGrp="1"/>
          </p:cNvSpPr>
          <p:nvPr>
            <p:ph idx="1"/>
          </p:nvPr>
        </p:nvSpPr>
        <p:spPr>
          <a:xfrm>
            <a:off x="382587" y="762000"/>
            <a:ext cx="8382000" cy="7391400"/>
          </a:xfrm>
        </p:spPr>
        <p:txBody>
          <a:bodyPr/>
          <a:lstStyle/>
          <a:p>
            <a:r>
              <a:rPr lang="en-US" dirty="0"/>
              <a:t>Because Ethernet now provides both low cost and high bandwidth solutions, it has become the standard transport protocol in data center networks and carrier networks, and is making strong inroads into storage networks with protocols such as </a:t>
            </a:r>
            <a:r>
              <a:rPr lang="en-US" dirty="0" err="1"/>
              <a:t>Fibre</a:t>
            </a:r>
            <a:r>
              <a:rPr lang="en-US" dirty="0"/>
              <a:t> Channel over Ethernet (</a:t>
            </a:r>
            <a:r>
              <a:rPr lang="en-US" dirty="0" err="1"/>
              <a:t>FCoE</a:t>
            </a:r>
            <a:r>
              <a:rPr lang="en-US" dirty="0"/>
              <a:t>) which will be covered in </a:t>
            </a:r>
            <a:r>
              <a:rPr lang="en-US" dirty="0">
                <a:hlinkClick r:id="rId2"/>
              </a:rPr>
              <a:t>Chapter 8</a:t>
            </a:r>
            <a:r>
              <a:rPr lang="en-US" dirty="0"/>
              <a:t>.</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10</a:t>
            </a:fld>
            <a:endParaRPr lang="en-US" dirty="0"/>
          </a:p>
        </p:txBody>
      </p:sp>
    </p:spTree>
    <p:extLst>
      <p:ext uri="{BB962C8B-B14F-4D97-AF65-F5344CB8AC3E}">
        <p14:creationId xmlns:p14="http://schemas.microsoft.com/office/powerpoint/2010/main" val="157771602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t>10GbE</a:t>
            </a:r>
            <a:endParaRPr lang="en-US" cap="all" dirty="0">
              <a:effectLst/>
            </a:endParaRPr>
          </a:p>
        </p:txBody>
      </p:sp>
      <p:sp>
        <p:nvSpPr>
          <p:cNvPr id="2" name="Content Placeholder 1"/>
          <p:cNvSpPr>
            <a:spLocks noGrp="1"/>
          </p:cNvSpPr>
          <p:nvPr>
            <p:ph idx="1"/>
          </p:nvPr>
        </p:nvSpPr>
        <p:spPr>
          <a:xfrm>
            <a:off x="382587" y="762000"/>
            <a:ext cx="8382000" cy="7391400"/>
          </a:xfrm>
        </p:spPr>
        <p:txBody>
          <a:bodyPr/>
          <a:lstStyle/>
          <a:p>
            <a:r>
              <a:rPr lang="en-US" dirty="0"/>
              <a:t>The IEEE started working a new 10GbE specification in 2002 which has resulted in a series of new IEEE 802.3 standards. </a:t>
            </a:r>
          </a:p>
          <a:p>
            <a:r>
              <a:rPr lang="en-US" dirty="0"/>
              <a:t>As we mentioned above, 10GbE has been around for a while, but has finally started shipping in high volume, and it is having a large impact in cloud data center networks.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11</a:t>
            </a:fld>
            <a:endParaRPr lang="en-US" dirty="0"/>
          </a:p>
        </p:txBody>
      </p:sp>
    </p:spTree>
    <p:extLst>
      <p:ext uri="{BB962C8B-B14F-4D97-AF65-F5344CB8AC3E}">
        <p14:creationId xmlns:p14="http://schemas.microsoft.com/office/powerpoint/2010/main" val="139366375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42" name="Rectangle 10"/>
          <p:cNvSpPr>
            <a:spLocks noGrp="1" noChangeArrowheads="1"/>
          </p:cNvSpPr>
          <p:nvPr>
            <p:ph type="ctrTitle"/>
          </p:nvPr>
        </p:nvSpPr>
        <p:spPr>
          <a:xfrm>
            <a:off x="685800" y="1371600"/>
            <a:ext cx="7851775" cy="1725612"/>
          </a:xfrm>
        </p:spPr>
        <p:txBody>
          <a:bodyPr/>
          <a:lstStyle/>
          <a:p>
            <a:r>
              <a:rPr lang="en-US" sz="4000" dirty="0"/>
              <a:t>EETS 8390: data center network engineering</a:t>
            </a:r>
          </a:p>
        </p:txBody>
      </p:sp>
      <p:sp>
        <p:nvSpPr>
          <p:cNvPr id="44043" name="Rectangle 11"/>
          <p:cNvSpPr>
            <a:spLocks noGrp="1" noChangeArrowheads="1"/>
          </p:cNvSpPr>
          <p:nvPr>
            <p:ph type="subTitle" idx="1"/>
          </p:nvPr>
        </p:nvSpPr>
        <p:spPr>
          <a:xfrm>
            <a:off x="631825" y="3657600"/>
            <a:ext cx="7851775" cy="1597025"/>
          </a:xfrm>
        </p:spPr>
        <p:txBody>
          <a:bodyPr/>
          <a:lstStyle/>
          <a:p>
            <a:r>
              <a:rPr lang="en-US" sz="3600" i="0" dirty="0">
                <a:latin typeface="Calibri" pitchFamily="34" charset="0"/>
              </a:rPr>
              <a:t>M. Scott Kingsley</a:t>
            </a:r>
            <a:endParaRPr lang="en-US" i="0" dirty="0">
              <a:latin typeface="Calibri" pitchFamily="34" charset="0"/>
            </a:endParaRPr>
          </a:p>
          <a:p>
            <a:endParaRPr lang="en-US" sz="2800" dirty="0"/>
          </a:p>
          <a:p>
            <a:r>
              <a:rPr lang="en-US" sz="2800" dirty="0">
                <a:effectLst>
                  <a:outerShdw blurRad="38100" dist="38100" dir="2700000" algn="tl">
                    <a:srgbClr val="000000">
                      <a:alpha val="43137"/>
                    </a:srgbClr>
                  </a:outerShdw>
                </a:effectLst>
              </a:rPr>
              <a:t>Data Center Bridging</a:t>
            </a:r>
            <a:endParaRPr lang="en-US" sz="2400" i="0" dirty="0">
              <a:latin typeface="Calibri" pitchFamily="34" charset="0"/>
            </a:endParaRPr>
          </a:p>
        </p:txBody>
      </p:sp>
    </p:spTree>
    <p:extLst>
      <p:ext uri="{BB962C8B-B14F-4D97-AF65-F5344CB8AC3E}">
        <p14:creationId xmlns:p14="http://schemas.microsoft.com/office/powerpoint/2010/main" val="232982446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Data center bridging (DCB)</a:t>
            </a:r>
          </a:p>
        </p:txBody>
      </p:sp>
      <p:sp>
        <p:nvSpPr>
          <p:cNvPr id="2" name="Content Placeholder 1"/>
          <p:cNvSpPr>
            <a:spLocks noGrp="1"/>
          </p:cNvSpPr>
          <p:nvPr>
            <p:ph idx="1"/>
          </p:nvPr>
        </p:nvSpPr>
        <p:spPr>
          <a:xfrm>
            <a:off x="382587" y="1066800"/>
            <a:ext cx="8382000" cy="7391400"/>
          </a:xfrm>
        </p:spPr>
        <p:txBody>
          <a:bodyPr/>
          <a:lstStyle/>
          <a:p>
            <a:r>
              <a:rPr lang="en-US" sz="2800" dirty="0"/>
              <a:t>IEEE DCB builds on classical Ethernet's strengths, adds several crucial extensions to provide the next-generation infrastructure for data center networks, and delivers unified fabric.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13</a:t>
            </a:fld>
            <a:endParaRPr lang="en-US" dirty="0"/>
          </a:p>
        </p:txBody>
      </p:sp>
    </p:spTree>
    <p:extLst>
      <p:ext uri="{BB962C8B-B14F-4D97-AF65-F5344CB8AC3E}">
        <p14:creationId xmlns:p14="http://schemas.microsoft.com/office/powerpoint/2010/main" val="305635177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p:txBody>
          <a:bodyPr/>
          <a:lstStyle/>
          <a:p>
            <a:r>
              <a:rPr lang="en-US" dirty="0">
                <a:effectLst/>
              </a:rPr>
              <a:t>Data center bridging (DCB)</a:t>
            </a:r>
          </a:p>
        </p:txBody>
      </p:sp>
      <p:sp>
        <p:nvSpPr>
          <p:cNvPr id="7" name="Content Placeholder 6"/>
          <p:cNvSpPr>
            <a:spLocks noGrp="1"/>
          </p:cNvSpPr>
          <p:nvPr>
            <p:ph idx="1"/>
          </p:nvPr>
        </p:nvSpPr>
        <p:spPr>
          <a:xfrm>
            <a:off x="335280" y="838200"/>
            <a:ext cx="8382000" cy="4953000"/>
          </a:xfrm>
        </p:spPr>
        <p:txBody>
          <a:bodyPr/>
          <a:lstStyle/>
          <a:p>
            <a:endParaRPr lang="en-US" sz="2400" dirty="0"/>
          </a:p>
          <a:p>
            <a:r>
              <a:rPr lang="en-US" sz="2400" b="1" dirty="0"/>
              <a:t>Priority-based Flow control (PFC; IEEE 802.1 </a:t>
            </a:r>
            <a:r>
              <a:rPr lang="en-US" sz="2400" b="1" dirty="0" err="1"/>
              <a:t>Qbb</a:t>
            </a:r>
            <a:r>
              <a:rPr lang="en-US" sz="2400" b="1" dirty="0"/>
              <a:t>): </a:t>
            </a:r>
            <a:r>
              <a:rPr lang="en-US" sz="2400" dirty="0"/>
              <a:t>Provides capability to manage </a:t>
            </a:r>
            <a:r>
              <a:rPr lang="en-US" sz="2400" dirty="0" err="1"/>
              <a:t>bursty</a:t>
            </a:r>
            <a:r>
              <a:rPr lang="en-US" sz="2400" dirty="0"/>
              <a:t>, single traffic source on a multiprotocol link. 	</a:t>
            </a:r>
          </a:p>
          <a:p>
            <a:r>
              <a:rPr lang="en-US" sz="2400" b="1" dirty="0"/>
              <a:t>Enhanced transmission selection (ETS; IEEE 802.1 </a:t>
            </a:r>
            <a:r>
              <a:rPr lang="en-US" sz="2400" b="1" dirty="0" err="1"/>
              <a:t>Qaz</a:t>
            </a:r>
            <a:r>
              <a:rPr lang="en-US" sz="2400" b="1" dirty="0"/>
              <a:t>): </a:t>
            </a:r>
            <a:r>
              <a:rPr lang="en-US" sz="2400" dirty="0"/>
              <a:t>Enables bandwidth management between traffic types for multiprotocol links. 	</a:t>
            </a:r>
          </a:p>
          <a:p>
            <a:r>
              <a:rPr lang="en-US" sz="2400" b="1" dirty="0"/>
              <a:t>Congestion notification (IEEE 802.1 </a:t>
            </a:r>
            <a:r>
              <a:rPr lang="en-US" sz="2400" b="1" dirty="0" err="1"/>
              <a:t>Qau</a:t>
            </a:r>
            <a:r>
              <a:rPr lang="en-US" sz="2400" b="1" dirty="0"/>
              <a:t>) </a:t>
            </a:r>
            <a:r>
              <a:rPr lang="en-US" sz="2400" dirty="0"/>
              <a:t>	Addresses the problem of sustained congestion by moving corrective action to the network edge. 	</a:t>
            </a:r>
          </a:p>
          <a:p>
            <a:r>
              <a:rPr lang="en-US" sz="2400" b="1" dirty="0"/>
              <a:t>Data Center Bridging Exchange (DCBX) Protocol </a:t>
            </a:r>
            <a:r>
              <a:rPr lang="en-US" sz="2400" dirty="0"/>
              <a:t>	Allows </a:t>
            </a:r>
            <a:r>
              <a:rPr lang="en-US" sz="2400" dirty="0" err="1"/>
              <a:t>autoexchange</a:t>
            </a:r>
            <a:r>
              <a:rPr lang="en-US" sz="2400" dirty="0"/>
              <a:t> of Ethernet parameters between switches and endpoints.	</a:t>
            </a:r>
          </a:p>
          <a:p>
            <a:endParaRPr lang="en-US" sz="2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14</a:t>
            </a:fld>
            <a:endParaRPr lang="en-US" dirty="0"/>
          </a:p>
        </p:txBody>
      </p:sp>
    </p:spTree>
    <p:extLst>
      <p:ext uri="{BB962C8B-B14F-4D97-AF65-F5344CB8AC3E}">
        <p14:creationId xmlns:p14="http://schemas.microsoft.com/office/powerpoint/2010/main" val="355533800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Data Center Bridging (DCB)</a:t>
            </a:r>
          </a:p>
        </p:txBody>
      </p:sp>
      <p:sp>
        <p:nvSpPr>
          <p:cNvPr id="2" name="Content Placeholder 1"/>
          <p:cNvSpPr>
            <a:spLocks noGrp="1"/>
          </p:cNvSpPr>
          <p:nvPr>
            <p:ph idx="1"/>
          </p:nvPr>
        </p:nvSpPr>
        <p:spPr>
          <a:xfrm>
            <a:off x="382587" y="1066800"/>
            <a:ext cx="8382000" cy="7391400"/>
          </a:xfrm>
        </p:spPr>
        <p:txBody>
          <a:bodyPr/>
          <a:lstStyle/>
          <a:p>
            <a:r>
              <a:rPr lang="en-US" dirty="0"/>
              <a:t>As enterprise data centers evolved, separate fabrics were used for data and storage. </a:t>
            </a:r>
          </a:p>
          <a:p>
            <a:r>
              <a:rPr lang="en-US" dirty="0"/>
              <a:t>A server may utilize a network interface controller (NIC) for connecting to the Ethernet fabric or a host bus adapter (HBA) for connecting to the storage network. </a:t>
            </a:r>
          </a:p>
          <a:p>
            <a:r>
              <a:rPr lang="en-US" dirty="0"/>
              <a:t>Large data centers cannot afford to support two separate fabrics and, therefore, send both data and storage traffic across a single unified Ethernet network. </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15</a:t>
            </a:fld>
            <a:endParaRPr lang="en-US" dirty="0"/>
          </a:p>
        </p:txBody>
      </p:sp>
    </p:spTree>
    <p:extLst>
      <p:ext uri="{BB962C8B-B14F-4D97-AF65-F5344CB8AC3E}">
        <p14:creationId xmlns:p14="http://schemas.microsoft.com/office/powerpoint/2010/main" val="51385858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Data Center Bridging (DCB)</a:t>
            </a:r>
          </a:p>
        </p:txBody>
      </p:sp>
      <p:sp>
        <p:nvSpPr>
          <p:cNvPr id="2" name="Content Placeholder 1"/>
          <p:cNvSpPr>
            <a:spLocks noGrp="1"/>
          </p:cNvSpPr>
          <p:nvPr>
            <p:ph idx="1"/>
          </p:nvPr>
        </p:nvSpPr>
        <p:spPr>
          <a:xfrm>
            <a:off x="445135" y="685800"/>
            <a:ext cx="8382000" cy="7391400"/>
          </a:xfrm>
        </p:spPr>
        <p:txBody>
          <a:bodyPr/>
          <a:lstStyle/>
          <a:p>
            <a:r>
              <a:rPr lang="en-US" dirty="0"/>
              <a:t>Traditional Ethernet switches have been designed to drop packets during periods of high congestion with the assumption that these packets will be retransmitted at the TCP layer.</a:t>
            </a:r>
          </a:p>
          <a:p>
            <a:r>
              <a:rPr lang="en-US" dirty="0"/>
              <a:t>But certain traffic types, such as video and storage, cannot tolerate the high latency variations caused by retransmission time-out values. </a:t>
            </a:r>
          </a:p>
          <a:p>
            <a:r>
              <a:rPr lang="en-US" dirty="0"/>
              <a:t>Because of this, the IEEE has developed several new standards that are collectively known as data center bridging (DCB).</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16</a:t>
            </a:fld>
            <a:endParaRPr lang="en-US" dirty="0"/>
          </a:p>
        </p:txBody>
      </p:sp>
    </p:spTree>
    <p:extLst>
      <p:ext uri="{BB962C8B-B14F-4D97-AF65-F5344CB8AC3E}">
        <p14:creationId xmlns:p14="http://schemas.microsoft.com/office/powerpoint/2010/main" val="107389703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Data Center Bridging (DCB)</a:t>
            </a:r>
          </a:p>
        </p:txBody>
      </p:sp>
      <p:sp>
        <p:nvSpPr>
          <p:cNvPr id="2" name="Content Placeholder 1"/>
          <p:cNvSpPr>
            <a:spLocks noGrp="1"/>
          </p:cNvSpPr>
          <p:nvPr>
            <p:ph idx="1"/>
          </p:nvPr>
        </p:nvSpPr>
        <p:spPr>
          <a:xfrm>
            <a:off x="304800" y="838200"/>
            <a:ext cx="8382000" cy="838200"/>
          </a:xfrm>
        </p:spPr>
        <p:txBody>
          <a:bodyPr/>
          <a:lstStyle/>
          <a:p>
            <a:r>
              <a:rPr lang="en-US" b="1" cap="all" dirty="0"/>
              <a:t>FIGURE 5.2</a:t>
            </a:r>
            <a:r>
              <a:rPr lang="en-US" dirty="0"/>
              <a:t> DCB overview</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17</a:t>
            </a:fld>
            <a:endParaRPr lang="en-US" dirty="0"/>
          </a:p>
        </p:txBody>
      </p:sp>
      <p:pic>
        <p:nvPicPr>
          <p:cNvPr id="2050" name="Picture 2" descr="https://www.safaribooksonline.com/library/view/cloud-networking/9780128007280/images/B9780128007280000059/f05-02-9780128007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20557"/>
            <a:ext cx="7467600" cy="3413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33975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Data Center Bridging (DCB)</a:t>
            </a:r>
          </a:p>
        </p:txBody>
      </p:sp>
      <p:sp>
        <p:nvSpPr>
          <p:cNvPr id="2" name="Content Placeholder 1"/>
          <p:cNvSpPr>
            <a:spLocks noGrp="1"/>
          </p:cNvSpPr>
          <p:nvPr>
            <p:ph idx="1"/>
          </p:nvPr>
        </p:nvSpPr>
        <p:spPr>
          <a:xfrm>
            <a:off x="429895" y="1219200"/>
            <a:ext cx="8382000" cy="4267200"/>
          </a:xfrm>
        </p:spPr>
        <p:txBody>
          <a:bodyPr/>
          <a:lstStyle/>
          <a:p>
            <a:r>
              <a:rPr lang="en-US" dirty="0">
                <a:hlinkClick r:id="rId2"/>
              </a:rPr>
              <a:t>Figure 5.2</a:t>
            </a:r>
            <a:r>
              <a:rPr lang="en-US" dirty="0"/>
              <a:t> is a pictorial representation of a device, such as a NIC, sending ingress data into the fabric which consists of two switching stages.</a:t>
            </a:r>
          </a:p>
          <a:p>
            <a:r>
              <a:rPr lang="en-US" dirty="0"/>
              <a:t>Memory partitions on the switch are allocated for certain traffic classes, and, as they fill up, priority-based flow control (PFC) messages are sent to the transmitting device.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18</a:t>
            </a:fld>
            <a:endParaRPr lang="en-US" dirty="0"/>
          </a:p>
        </p:txBody>
      </p:sp>
    </p:spTree>
    <p:extLst>
      <p:ext uri="{BB962C8B-B14F-4D97-AF65-F5344CB8AC3E}">
        <p14:creationId xmlns:p14="http://schemas.microsoft.com/office/powerpoint/2010/main" val="642337848"/>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Data Center Bridging (DCB)</a:t>
            </a:r>
          </a:p>
        </p:txBody>
      </p:sp>
      <p:sp>
        <p:nvSpPr>
          <p:cNvPr id="2" name="Content Placeholder 1"/>
          <p:cNvSpPr>
            <a:spLocks noGrp="1"/>
          </p:cNvSpPr>
          <p:nvPr>
            <p:ph idx="1"/>
          </p:nvPr>
        </p:nvSpPr>
        <p:spPr>
          <a:xfrm>
            <a:off x="413067" y="1379061"/>
            <a:ext cx="8382000" cy="4267200"/>
          </a:xfrm>
        </p:spPr>
        <p:txBody>
          <a:bodyPr/>
          <a:lstStyle/>
          <a:p>
            <a:r>
              <a:rPr lang="en-US" dirty="0"/>
              <a:t>Multilevel schedulers are employed to provide minimum bandwidth guarantees using the enhanced transmission selection (ETS) protocol.</a:t>
            </a:r>
          </a:p>
          <a:p>
            <a:r>
              <a:rPr lang="en-US" dirty="0"/>
              <a:t>If congestion occurs somewhere within the fabric, quantized congestion notification (QCN) messages are sent back to throttle the source of the traffic.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19</a:t>
            </a:fld>
            <a:endParaRPr lang="en-US" dirty="0"/>
          </a:p>
        </p:txBody>
      </p:sp>
    </p:spTree>
    <p:extLst>
      <p:ext uri="{BB962C8B-B14F-4D97-AF65-F5344CB8AC3E}">
        <p14:creationId xmlns:p14="http://schemas.microsoft.com/office/powerpoint/2010/main" val="193689786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Data Center Bridging (DCB)</a:t>
            </a:r>
          </a:p>
        </p:txBody>
      </p:sp>
      <p:sp>
        <p:nvSpPr>
          <p:cNvPr id="2" name="Content Placeholder 1"/>
          <p:cNvSpPr>
            <a:spLocks noGrp="1"/>
          </p:cNvSpPr>
          <p:nvPr>
            <p:ph idx="1"/>
          </p:nvPr>
        </p:nvSpPr>
        <p:spPr>
          <a:xfrm>
            <a:off x="413067" y="1379061"/>
            <a:ext cx="8382000" cy="4267200"/>
          </a:xfrm>
        </p:spPr>
        <p:txBody>
          <a:bodyPr/>
          <a:lstStyle/>
          <a:p>
            <a:r>
              <a:rPr lang="en-US" dirty="0"/>
              <a:t>The switches also can exchange information such as the number of traffic classes supported through the data center bridging exchange (</a:t>
            </a:r>
            <a:r>
              <a:rPr lang="en-US" dirty="0" err="1"/>
              <a:t>DCBx</a:t>
            </a:r>
            <a:r>
              <a:rPr lang="en-US" dirty="0"/>
              <a:t>) protocol. </a:t>
            </a:r>
          </a:p>
          <a:p>
            <a:r>
              <a:rPr lang="en-US" dirty="0"/>
              <a:t>In this section, we will provide more details behind each of these standards.</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20</a:t>
            </a:fld>
            <a:endParaRPr lang="en-US" dirty="0"/>
          </a:p>
        </p:txBody>
      </p:sp>
    </p:spTree>
    <p:extLst>
      <p:ext uri="{BB962C8B-B14F-4D97-AF65-F5344CB8AC3E}">
        <p14:creationId xmlns:p14="http://schemas.microsoft.com/office/powerpoint/2010/main" val="62818750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Priority-Based Flow Control (PBF)</a:t>
            </a:r>
            <a:endParaRPr lang="en-US" cap="all" dirty="0">
              <a:effectLst/>
            </a:endParaRPr>
          </a:p>
        </p:txBody>
      </p:sp>
      <p:sp>
        <p:nvSpPr>
          <p:cNvPr id="2" name="Content Placeholder 1"/>
          <p:cNvSpPr>
            <a:spLocks noGrp="1"/>
          </p:cNvSpPr>
          <p:nvPr>
            <p:ph idx="1"/>
          </p:nvPr>
        </p:nvSpPr>
        <p:spPr>
          <a:xfrm>
            <a:off x="320040" y="914400"/>
            <a:ext cx="8382000" cy="1295400"/>
          </a:xfrm>
        </p:spPr>
        <p:txBody>
          <a:bodyPr/>
          <a:lstStyle/>
          <a:p>
            <a:r>
              <a:rPr lang="en-US" b="1" cap="all" dirty="0"/>
              <a:t>FIGURE 5.3</a:t>
            </a:r>
            <a:r>
              <a:rPr lang="en-US" dirty="0"/>
              <a:t> Priority-based flow control block diagram.</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21</a:t>
            </a:fld>
            <a:endParaRPr lang="en-US" dirty="0"/>
          </a:p>
        </p:txBody>
      </p:sp>
      <p:pic>
        <p:nvPicPr>
          <p:cNvPr id="3074" name="Picture 2" descr="https://www.safaribooksonline.com/library/view/cloud-networking/9780128007280/images/B9780128007280000059/f05-03-97801280072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981200"/>
            <a:ext cx="58674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959694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Priority-Based Flow Control (PBF)</a:t>
            </a:r>
            <a:endParaRPr lang="en-US" cap="all" dirty="0">
              <a:effectLst/>
            </a:endParaRPr>
          </a:p>
        </p:txBody>
      </p:sp>
      <p:sp>
        <p:nvSpPr>
          <p:cNvPr id="2" name="Content Placeholder 1"/>
          <p:cNvSpPr>
            <a:spLocks noGrp="1"/>
          </p:cNvSpPr>
          <p:nvPr>
            <p:ph idx="1"/>
          </p:nvPr>
        </p:nvSpPr>
        <p:spPr>
          <a:xfrm>
            <a:off x="382587" y="1066800"/>
            <a:ext cx="8382000" cy="7162800"/>
          </a:xfrm>
        </p:spPr>
        <p:txBody>
          <a:bodyPr/>
          <a:lstStyle/>
          <a:p>
            <a:r>
              <a:rPr lang="en-US" dirty="0"/>
              <a:t>PBF is used to provide lossless operation for certain types of data center traffic, such as storage.</a:t>
            </a:r>
            <a:endParaRPr lang="en-US" sz="2800" dirty="0"/>
          </a:p>
          <a:p>
            <a:r>
              <a:rPr lang="en-US" dirty="0"/>
              <a:t>Up to eight priority levels are supported with PFC, but typical implementations may use only two or three. </a:t>
            </a:r>
          </a:p>
          <a:p>
            <a:r>
              <a:rPr lang="en-US" dirty="0"/>
              <a:t>In this example, the second switch stage uses traffic-class-based memory partitions with programmable watermarks. </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22</a:t>
            </a:fld>
            <a:endParaRPr lang="en-US" dirty="0"/>
          </a:p>
        </p:txBody>
      </p:sp>
    </p:spTree>
    <p:extLst>
      <p:ext uri="{BB962C8B-B14F-4D97-AF65-F5344CB8AC3E}">
        <p14:creationId xmlns:p14="http://schemas.microsoft.com/office/powerpoint/2010/main" val="181185151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Priority-Based Flow Control (PBF)</a:t>
            </a:r>
            <a:endParaRPr lang="en-US" cap="all" dirty="0">
              <a:effectLst/>
            </a:endParaRPr>
          </a:p>
        </p:txBody>
      </p:sp>
      <p:sp>
        <p:nvSpPr>
          <p:cNvPr id="2" name="Content Placeholder 1"/>
          <p:cNvSpPr>
            <a:spLocks noGrp="1"/>
          </p:cNvSpPr>
          <p:nvPr>
            <p:ph idx="1"/>
          </p:nvPr>
        </p:nvSpPr>
        <p:spPr>
          <a:xfrm>
            <a:off x="382587" y="1066800"/>
            <a:ext cx="8382000" cy="7162800"/>
          </a:xfrm>
        </p:spPr>
        <p:txBody>
          <a:bodyPr/>
          <a:lstStyle/>
          <a:p>
            <a:r>
              <a:rPr lang="en-US" dirty="0"/>
              <a:t>If an allocated memory partition starts to fill up and a watermark is crossed, a priority flow control message is generated and sent to the transmitting switch, which then stops sending frames assigned to that particular traffic class for a specified pause time included in the frame.</a:t>
            </a:r>
          </a:p>
          <a:p>
            <a:r>
              <a:rPr lang="en-US" dirty="0"/>
              <a:t>Transmission is resumed when the pause time expires. </a:t>
            </a:r>
          </a:p>
          <a:p>
            <a:r>
              <a:rPr lang="en-US" dirty="0"/>
              <a:t>This ensures that other non-congested traffic is not paused and, therefore, remains unaffected. </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23</a:t>
            </a:fld>
            <a:endParaRPr lang="en-US" dirty="0"/>
          </a:p>
        </p:txBody>
      </p:sp>
    </p:spTree>
    <p:extLst>
      <p:ext uri="{BB962C8B-B14F-4D97-AF65-F5344CB8AC3E}">
        <p14:creationId xmlns:p14="http://schemas.microsoft.com/office/powerpoint/2010/main" val="249240662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Priority-Based Flow Control (PBF)</a:t>
            </a:r>
            <a:endParaRPr lang="en-US" cap="all" dirty="0">
              <a:effectLst/>
            </a:endParaRPr>
          </a:p>
        </p:txBody>
      </p:sp>
      <p:sp>
        <p:nvSpPr>
          <p:cNvPr id="2" name="Content Placeholder 1"/>
          <p:cNvSpPr>
            <a:spLocks noGrp="1"/>
          </p:cNvSpPr>
          <p:nvPr>
            <p:ph idx="1"/>
          </p:nvPr>
        </p:nvSpPr>
        <p:spPr>
          <a:xfrm>
            <a:off x="382587" y="1066800"/>
            <a:ext cx="8382000" cy="7162800"/>
          </a:xfrm>
        </p:spPr>
        <p:txBody>
          <a:bodyPr/>
          <a:lstStyle/>
          <a:p>
            <a:r>
              <a:rPr lang="en-US" dirty="0"/>
              <a:t>Keep in mind that a single memory partition in a shared memory switch may be receiving data from multiple switch ports and, therefore, will need to send PFC messages to all of these ports once a watermark level is exceeded.</a:t>
            </a:r>
            <a:endParaRPr lang="en-US" sz="2800" dirty="0"/>
          </a:p>
          <a:p>
            <a:pPr marL="0" indent="0">
              <a:buNone/>
            </a:pP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24</a:t>
            </a:fld>
            <a:endParaRPr lang="en-US" dirty="0"/>
          </a:p>
        </p:txBody>
      </p:sp>
    </p:spTree>
    <p:extLst>
      <p:ext uri="{BB962C8B-B14F-4D97-AF65-F5344CB8AC3E}">
        <p14:creationId xmlns:p14="http://schemas.microsoft.com/office/powerpoint/2010/main" val="61271680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Priority-Based Flow Control (PBF)</a:t>
            </a:r>
            <a:endParaRPr lang="en-US" cap="all" dirty="0">
              <a:effectLst/>
            </a:endParaRPr>
          </a:p>
        </p:txBody>
      </p:sp>
      <p:sp>
        <p:nvSpPr>
          <p:cNvPr id="2" name="Content Placeholder 1"/>
          <p:cNvSpPr>
            <a:spLocks noGrp="1"/>
          </p:cNvSpPr>
          <p:nvPr>
            <p:ph idx="1"/>
          </p:nvPr>
        </p:nvSpPr>
        <p:spPr>
          <a:xfrm>
            <a:off x="274320" y="914400"/>
            <a:ext cx="8382000" cy="914400"/>
          </a:xfrm>
        </p:spPr>
        <p:txBody>
          <a:bodyPr/>
          <a:lstStyle/>
          <a:p>
            <a:r>
              <a:rPr lang="fr-FR" b="1" cap="all" dirty="0"/>
              <a:t>FIGURE 5.4</a:t>
            </a:r>
            <a:r>
              <a:rPr lang="fr-FR" dirty="0"/>
              <a:t> </a:t>
            </a:r>
            <a:r>
              <a:rPr lang="en-US" dirty="0"/>
              <a:t>IEEE 802.1Qbb </a:t>
            </a:r>
            <a:r>
              <a:rPr lang="fr-FR" dirty="0"/>
              <a:t>PFC frame format.</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25</a:t>
            </a:fld>
            <a:endParaRPr lang="en-US" dirty="0"/>
          </a:p>
        </p:txBody>
      </p:sp>
      <p:pic>
        <p:nvPicPr>
          <p:cNvPr id="4098" name="Picture 2" descr="https://www.safaribooksonline.com/library/view/cloud-networking/9780128007280/images/B9780128007280000059/f05-04-97801280072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820" y="2118678"/>
            <a:ext cx="7239000" cy="2910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55457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Priority-Based Flow Control (PBF)</a:t>
            </a:r>
            <a:endParaRPr lang="en-US" cap="all" dirty="0">
              <a:effectLst/>
            </a:endParaRPr>
          </a:p>
        </p:txBody>
      </p:sp>
      <p:sp>
        <p:nvSpPr>
          <p:cNvPr id="2" name="Content Placeholder 1"/>
          <p:cNvSpPr>
            <a:spLocks noGrp="1"/>
          </p:cNvSpPr>
          <p:nvPr>
            <p:ph idx="1"/>
          </p:nvPr>
        </p:nvSpPr>
        <p:spPr>
          <a:xfrm>
            <a:off x="228600" y="1066800"/>
            <a:ext cx="8775066" cy="7162800"/>
          </a:xfrm>
        </p:spPr>
        <p:txBody>
          <a:bodyPr/>
          <a:lstStyle/>
          <a:p>
            <a:r>
              <a:rPr lang="en-US" dirty="0"/>
              <a:t>This is effectively a standard Ethernet frame but with some predefined fields and a special payload. The important fields are defined as follows:</a:t>
            </a:r>
          </a:p>
          <a:p>
            <a:pPr lvl="1"/>
            <a:r>
              <a:rPr lang="en-US" i="1" dirty="0"/>
              <a:t>Destination MAC address:</a:t>
            </a:r>
            <a:r>
              <a:rPr lang="en-US" dirty="0"/>
              <a:t> This field is set to a specially reserved multicast address of 0x0180C2000001 in order to identify the frame as an IEEE 802.1Qbb PFC frame.</a:t>
            </a:r>
          </a:p>
          <a:p>
            <a:pPr lvl="1"/>
            <a:r>
              <a:rPr lang="en-US" i="1" dirty="0"/>
              <a:t>Source MAC address:</a:t>
            </a:r>
            <a:r>
              <a:rPr lang="en-US" dirty="0"/>
              <a:t> This is set to the MAC address of the sending device.</a:t>
            </a:r>
          </a:p>
          <a:p>
            <a:pPr lvl="1"/>
            <a:r>
              <a:rPr lang="en-US" i="1" dirty="0"/>
              <a:t>Ethernet type:</a:t>
            </a:r>
            <a:r>
              <a:rPr lang="en-US" dirty="0"/>
              <a:t> This is set to 0x8808 for this type of frame.</a:t>
            </a:r>
          </a:p>
        </p:txBody>
      </p:sp>
      <p:sp>
        <p:nvSpPr>
          <p:cNvPr id="4" name="Slide Number Placeholder 3"/>
          <p:cNvSpPr>
            <a:spLocks noGrp="1"/>
          </p:cNvSpPr>
          <p:nvPr>
            <p:ph type="sldNum" sz="quarter" idx="10"/>
          </p:nvPr>
        </p:nvSpPr>
        <p:spPr/>
        <p:txBody>
          <a:bodyPr/>
          <a:lstStyle/>
          <a:p>
            <a:fld id="{1C0FA7A3-0FBF-4EC3-BE45-825983E95E58}" type="slidenum">
              <a:rPr lang="en-US" smtClean="0"/>
              <a:pPr/>
              <a:t>26</a:t>
            </a:fld>
            <a:endParaRPr lang="en-US" dirty="0"/>
          </a:p>
        </p:txBody>
      </p:sp>
    </p:spTree>
    <p:extLst>
      <p:ext uri="{BB962C8B-B14F-4D97-AF65-F5344CB8AC3E}">
        <p14:creationId xmlns:p14="http://schemas.microsoft.com/office/powerpoint/2010/main" val="321721509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Priority-Based Flow Control (PBF)</a:t>
            </a:r>
            <a:endParaRPr lang="en-US" cap="all" dirty="0">
              <a:effectLst/>
            </a:endParaRPr>
          </a:p>
        </p:txBody>
      </p:sp>
      <p:sp>
        <p:nvSpPr>
          <p:cNvPr id="2" name="Content Placeholder 1"/>
          <p:cNvSpPr>
            <a:spLocks noGrp="1"/>
          </p:cNvSpPr>
          <p:nvPr>
            <p:ph idx="1"/>
          </p:nvPr>
        </p:nvSpPr>
        <p:spPr>
          <a:xfrm>
            <a:off x="338454" y="1219200"/>
            <a:ext cx="8775066" cy="7162800"/>
          </a:xfrm>
        </p:spPr>
        <p:txBody>
          <a:bodyPr/>
          <a:lstStyle/>
          <a:p>
            <a:pPr lvl="1"/>
            <a:r>
              <a:rPr lang="en-US" i="1" dirty="0"/>
              <a:t>Class-enable bits:</a:t>
            </a:r>
            <a:r>
              <a:rPr lang="en-US" dirty="0"/>
              <a:t> These bits represent traffic classes 0–7. If a bit is set high, pause is enabled for that class.</a:t>
            </a:r>
          </a:p>
          <a:p>
            <a:pPr lvl="1"/>
            <a:r>
              <a:rPr lang="en-US" i="1" dirty="0"/>
              <a:t>Class time fields:</a:t>
            </a:r>
            <a:r>
              <a:rPr lang="en-US" dirty="0"/>
              <a:t> For each class-enable bit that is set, these 16-bit values specify the length of time to enable pausing of the particular traffic class. A value of zero tells the sender to un-pause that particular traffic class.</a:t>
            </a:r>
          </a:p>
          <a:p>
            <a:pPr marL="0" indent="0">
              <a:buNone/>
            </a:pP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27</a:t>
            </a:fld>
            <a:endParaRPr lang="en-US" dirty="0"/>
          </a:p>
        </p:txBody>
      </p:sp>
    </p:spTree>
    <p:extLst>
      <p:ext uri="{BB962C8B-B14F-4D97-AF65-F5344CB8AC3E}">
        <p14:creationId xmlns:p14="http://schemas.microsoft.com/office/powerpoint/2010/main" val="177682926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Priority-Based Flow Control (PBF)</a:t>
            </a:r>
            <a:endParaRPr lang="en-US" cap="all"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28</a:t>
            </a:fld>
            <a:endParaRPr lang="en-US" dirty="0"/>
          </a:p>
        </p:txBody>
      </p:sp>
      <p:sp>
        <p:nvSpPr>
          <p:cNvPr id="3" name="Content Placeholder 2"/>
          <p:cNvSpPr>
            <a:spLocks noGrp="1"/>
          </p:cNvSpPr>
          <p:nvPr>
            <p:ph idx="1"/>
          </p:nvPr>
        </p:nvSpPr>
        <p:spPr/>
        <p:txBody>
          <a:bodyPr/>
          <a:lstStyle/>
          <a:p>
            <a:r>
              <a:rPr lang="en-US" dirty="0"/>
              <a:t>https://www.youtube.com/watch?v=2yv2mvSgZkY&amp;t=174s</a:t>
            </a:r>
          </a:p>
        </p:txBody>
      </p:sp>
    </p:spTree>
    <p:extLst>
      <p:ext uri="{BB962C8B-B14F-4D97-AF65-F5344CB8AC3E}">
        <p14:creationId xmlns:p14="http://schemas.microsoft.com/office/powerpoint/2010/main" val="336430679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685800" y="60959"/>
            <a:ext cx="8915400" cy="563563"/>
          </a:xfrm>
        </p:spPr>
        <p:txBody>
          <a:bodyPr/>
          <a:lstStyle/>
          <a:p>
            <a:r>
              <a:rPr lang="en-US" dirty="0">
                <a:effectLst/>
              </a:rPr>
              <a:t>DCB: Enhanced Transmission Selection (ETS)</a:t>
            </a:r>
            <a:endParaRPr lang="en-US" cap="all" dirty="0">
              <a:effectLst/>
            </a:endParaRPr>
          </a:p>
        </p:txBody>
      </p:sp>
      <p:sp>
        <p:nvSpPr>
          <p:cNvPr id="2" name="Content Placeholder 1"/>
          <p:cNvSpPr>
            <a:spLocks noGrp="1"/>
          </p:cNvSpPr>
          <p:nvPr>
            <p:ph idx="1"/>
          </p:nvPr>
        </p:nvSpPr>
        <p:spPr>
          <a:xfrm>
            <a:off x="382587" y="1066800"/>
            <a:ext cx="8382000" cy="7162800"/>
          </a:xfrm>
        </p:spPr>
        <p:txBody>
          <a:bodyPr/>
          <a:lstStyle/>
          <a:p>
            <a:r>
              <a:rPr lang="en-US" dirty="0"/>
              <a:t>One way to minimize congestion for certain traffic classes is to allocate and/or limit bandwidth using schedulers and shapers similar to the ones used in traffic managers.</a:t>
            </a:r>
          </a:p>
          <a:p>
            <a:r>
              <a:rPr lang="en-US" dirty="0"/>
              <a:t>For applications using DCB, the IEEE developed the 802.1Qaz specification known as Enhanced Transmission Selection (ETS). </a:t>
            </a:r>
          </a:p>
          <a:p>
            <a:r>
              <a:rPr lang="en-US" dirty="0">
                <a:hlinkClick r:id="rId3"/>
              </a:rPr>
              <a:t>Figure 5.5</a:t>
            </a:r>
            <a:r>
              <a:rPr lang="en-US" dirty="0"/>
              <a:t> is an example of an ETS scheduler that may be found at each egress port of data center NICs or switches.</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29</a:t>
            </a:fld>
            <a:endParaRPr lang="en-US" dirty="0"/>
          </a:p>
        </p:txBody>
      </p:sp>
    </p:spTree>
    <p:extLst>
      <p:ext uri="{BB962C8B-B14F-4D97-AF65-F5344CB8AC3E}">
        <p14:creationId xmlns:p14="http://schemas.microsoft.com/office/powerpoint/2010/main" val="290079258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533400" y="60959"/>
            <a:ext cx="8915400" cy="563563"/>
          </a:xfrm>
        </p:spPr>
        <p:txBody>
          <a:bodyPr/>
          <a:lstStyle/>
          <a:p>
            <a:r>
              <a:rPr lang="en-US" dirty="0">
                <a:effectLst/>
              </a:rPr>
              <a:t>DCB: Enhanced Transmission Selection (ETS)</a:t>
            </a:r>
            <a:endParaRPr lang="en-US" cap="all" dirty="0">
              <a:effectLst/>
            </a:endParaRPr>
          </a:p>
        </p:txBody>
      </p:sp>
      <p:sp>
        <p:nvSpPr>
          <p:cNvPr id="2" name="Content Placeholder 1"/>
          <p:cNvSpPr>
            <a:spLocks noGrp="1"/>
          </p:cNvSpPr>
          <p:nvPr>
            <p:ph idx="1"/>
          </p:nvPr>
        </p:nvSpPr>
        <p:spPr>
          <a:xfrm>
            <a:off x="460375" y="990600"/>
            <a:ext cx="8382000" cy="838200"/>
          </a:xfrm>
        </p:spPr>
        <p:txBody>
          <a:bodyPr/>
          <a:lstStyle/>
          <a:p>
            <a:r>
              <a:rPr lang="en-US" b="1" cap="all" dirty="0"/>
              <a:t>FIGURE 5.5</a:t>
            </a:r>
            <a:r>
              <a:rPr lang="en-US" dirty="0"/>
              <a:t> Example ETS scheduler.</a:t>
            </a:r>
            <a:endParaRPr lang="en-US" sz="28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30</a:t>
            </a:fld>
            <a:endParaRPr lang="en-US" dirty="0"/>
          </a:p>
        </p:txBody>
      </p:sp>
      <p:pic>
        <p:nvPicPr>
          <p:cNvPr id="5122" name="Picture 2" descr="https://www.safaribooksonline.com/library/view/cloud-networking/9780128007280/images/B9780128007280000059/f05-05-97801280072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981200"/>
            <a:ext cx="6248400" cy="3505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219200" y="5515992"/>
            <a:ext cx="6827510" cy="646331"/>
          </a:xfrm>
          <a:prstGeom prst="rect">
            <a:avLst/>
          </a:prstGeom>
          <a:noFill/>
        </p:spPr>
        <p:txBody>
          <a:bodyPr wrap="none" rtlCol="0">
            <a:spAutoFit/>
          </a:bodyPr>
          <a:lstStyle/>
          <a:p>
            <a:r>
              <a:rPr lang="en-US" dirty="0"/>
              <a:t>DRR = Deficit Round Robin </a:t>
            </a:r>
          </a:p>
          <a:p>
            <a:r>
              <a:rPr lang="en-US" dirty="0"/>
              <a:t>DRR gives a minimum bandwidth guarantee to a traffic class,</a:t>
            </a:r>
          </a:p>
        </p:txBody>
      </p:sp>
    </p:spTree>
    <p:extLst>
      <p:ext uri="{BB962C8B-B14F-4D97-AF65-F5344CB8AC3E}">
        <p14:creationId xmlns:p14="http://schemas.microsoft.com/office/powerpoint/2010/main" val="2552341860"/>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382587" y="0"/>
            <a:ext cx="8915400" cy="563563"/>
          </a:xfrm>
        </p:spPr>
        <p:txBody>
          <a:bodyPr/>
          <a:lstStyle/>
          <a:p>
            <a:r>
              <a:rPr lang="en-US" dirty="0">
                <a:effectLst/>
              </a:rPr>
              <a:t>DCB: Enhanced Transmission Selection (ETS)</a:t>
            </a:r>
            <a:endParaRPr lang="en-US" cap="all" dirty="0">
              <a:effectLst/>
            </a:endParaRPr>
          </a:p>
        </p:txBody>
      </p:sp>
      <p:sp>
        <p:nvSpPr>
          <p:cNvPr id="2" name="Content Placeholder 1"/>
          <p:cNvSpPr>
            <a:spLocks noGrp="1"/>
          </p:cNvSpPr>
          <p:nvPr>
            <p:ph idx="1"/>
          </p:nvPr>
        </p:nvSpPr>
        <p:spPr>
          <a:xfrm>
            <a:off x="382587" y="762000"/>
            <a:ext cx="8382000" cy="7162800"/>
          </a:xfrm>
        </p:spPr>
        <p:txBody>
          <a:bodyPr/>
          <a:lstStyle/>
          <a:p>
            <a:r>
              <a:rPr lang="en-US" sz="2800" dirty="0"/>
              <a:t>Ethernet frames may be assigned to traffic classes in one of two ways. </a:t>
            </a:r>
          </a:p>
          <a:p>
            <a:r>
              <a:rPr lang="en-US" sz="2800" dirty="0"/>
              <a:t>Various frame header fields may be examined, including MAC addresses, IP addresses, and frame types, to determine to which traffic class the frame should be assigned. </a:t>
            </a:r>
          </a:p>
          <a:p>
            <a:r>
              <a:rPr lang="en-US" sz="2800" dirty="0"/>
              <a:t>This can be done using Access Control List rules which are implemented in a CAM or TCAM memory structure. </a:t>
            </a:r>
          </a:p>
          <a:p>
            <a:r>
              <a:rPr lang="en-US" sz="2800" dirty="0"/>
              <a:t>A second way is to simply examine the 3-bit PCP field in the VLAN tag. Once the frames are classified, they can be assigned to queues where bandwidth allocation and shaping are applied.</a:t>
            </a:r>
            <a:endParaRPr lang="en-US" sz="2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31</a:t>
            </a:fld>
            <a:endParaRPr lang="en-US" dirty="0"/>
          </a:p>
        </p:txBody>
      </p:sp>
    </p:spTree>
    <p:extLst>
      <p:ext uri="{BB962C8B-B14F-4D97-AF65-F5344CB8AC3E}">
        <p14:creationId xmlns:p14="http://schemas.microsoft.com/office/powerpoint/2010/main" val="369766802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382587" y="0"/>
            <a:ext cx="8915400" cy="563563"/>
          </a:xfrm>
        </p:spPr>
        <p:txBody>
          <a:bodyPr/>
          <a:lstStyle/>
          <a:p>
            <a:r>
              <a:rPr lang="en-US" dirty="0">
                <a:effectLst/>
              </a:rPr>
              <a:t>DCB: Enhanced Transmission Selection (ETS)</a:t>
            </a:r>
            <a:endParaRPr lang="en-US" cap="all" dirty="0">
              <a:effectLst/>
            </a:endParaRPr>
          </a:p>
        </p:txBody>
      </p:sp>
      <p:sp>
        <p:nvSpPr>
          <p:cNvPr id="4" name="Slide Number Placeholder 3"/>
          <p:cNvSpPr>
            <a:spLocks noGrp="1"/>
          </p:cNvSpPr>
          <p:nvPr>
            <p:ph type="sldNum" sz="quarter" idx="10"/>
          </p:nvPr>
        </p:nvSpPr>
        <p:spPr/>
        <p:txBody>
          <a:bodyPr/>
          <a:lstStyle/>
          <a:p>
            <a:fld id="{1C0FA7A3-0FBF-4EC3-BE45-825983E95E58}" type="slidenum">
              <a:rPr lang="en-US" smtClean="0"/>
              <a:pPr/>
              <a:t>32</a:t>
            </a:fld>
            <a:endParaRPr lang="en-US" dirty="0"/>
          </a:p>
        </p:txBody>
      </p:sp>
      <p:pic>
        <p:nvPicPr>
          <p:cNvPr id="1026" name="Picture 2" descr="ME60 V800R010C10SPC500 Feature Description - LAN Access and MAN Access 01-  Huawe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00200"/>
            <a:ext cx="72390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71446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30480"/>
            <a:ext cx="8915400" cy="563563"/>
          </a:xfrm>
        </p:spPr>
        <p:txBody>
          <a:bodyPr/>
          <a:lstStyle/>
          <a:p>
            <a:r>
              <a:rPr lang="en-US" dirty="0">
                <a:effectLst/>
              </a:rPr>
              <a:t>DCB: Enhanced Transmission Selection (ETS)</a:t>
            </a:r>
            <a:endParaRPr lang="en-US" cap="all" dirty="0">
              <a:effectLst/>
            </a:endParaRPr>
          </a:p>
        </p:txBody>
      </p:sp>
      <p:sp>
        <p:nvSpPr>
          <p:cNvPr id="2" name="Content Placeholder 1"/>
          <p:cNvSpPr>
            <a:spLocks noGrp="1"/>
          </p:cNvSpPr>
          <p:nvPr>
            <p:ph idx="1"/>
          </p:nvPr>
        </p:nvSpPr>
        <p:spPr>
          <a:xfrm>
            <a:off x="0" y="762000"/>
            <a:ext cx="9144000" cy="7162800"/>
          </a:xfrm>
        </p:spPr>
        <p:txBody>
          <a:bodyPr/>
          <a:lstStyle/>
          <a:p>
            <a:r>
              <a:rPr lang="en-US" dirty="0"/>
              <a:t>The following is required to be compliant with the ETS specification.</a:t>
            </a:r>
          </a:p>
          <a:p>
            <a:pPr lvl="1"/>
            <a:r>
              <a:rPr lang="en-US" dirty="0"/>
              <a:t>Support for at least three traffic classes.</a:t>
            </a:r>
          </a:p>
          <a:p>
            <a:pPr lvl="1"/>
            <a:r>
              <a:rPr lang="en-US" dirty="0"/>
              <a:t>The granularity of bandwidth allocation must be 10% or finer. For example, 20% to class 0, 40% to class 1, and 40% to class 2.</a:t>
            </a:r>
          </a:p>
          <a:p>
            <a:pPr lvl="1"/>
            <a:r>
              <a:rPr lang="en-US" dirty="0"/>
              <a:t>The granularity of traffic shaping must be 1% or finer.</a:t>
            </a:r>
          </a:p>
          <a:p>
            <a:pPr lvl="1"/>
            <a:r>
              <a:rPr lang="en-US" dirty="0"/>
              <a:t>Support for a transmission selection policy such that if one of the traffic classes does not consume its allocated bandwidth, then any unused bandwidth is available to other traffic classes.</a:t>
            </a:r>
          </a:p>
          <a:p>
            <a:pPr marL="342900" lvl="1" indent="0">
              <a:buNone/>
            </a:pPr>
            <a:r>
              <a:rPr lang="en-US" dirty="0"/>
              <a:t>.</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33</a:t>
            </a:fld>
            <a:endParaRPr lang="en-US" dirty="0"/>
          </a:p>
        </p:txBody>
      </p:sp>
    </p:spTree>
    <p:extLst>
      <p:ext uri="{BB962C8B-B14F-4D97-AF65-F5344CB8AC3E}">
        <p14:creationId xmlns:p14="http://schemas.microsoft.com/office/powerpoint/2010/main" val="297035049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59080" y="152400"/>
            <a:ext cx="8915400" cy="563563"/>
          </a:xfrm>
        </p:spPr>
        <p:txBody>
          <a:bodyPr/>
          <a:lstStyle/>
          <a:p>
            <a:r>
              <a:rPr lang="en-US" dirty="0">
                <a:effectLst/>
              </a:rPr>
              <a:t>DCB: Quantized Congestion Notification (QCN)</a:t>
            </a:r>
            <a:endParaRPr lang="en-US" cap="all" dirty="0">
              <a:effectLst/>
            </a:endParaRPr>
          </a:p>
        </p:txBody>
      </p:sp>
      <p:sp>
        <p:nvSpPr>
          <p:cNvPr id="2" name="Content Placeholder 1"/>
          <p:cNvSpPr>
            <a:spLocks noGrp="1"/>
          </p:cNvSpPr>
          <p:nvPr>
            <p:ph idx="1"/>
          </p:nvPr>
        </p:nvSpPr>
        <p:spPr>
          <a:xfrm>
            <a:off x="304800" y="1219200"/>
            <a:ext cx="8382000" cy="7162800"/>
          </a:xfrm>
        </p:spPr>
        <p:txBody>
          <a:bodyPr/>
          <a:lstStyle/>
          <a:p>
            <a:r>
              <a:rPr lang="en-US" dirty="0"/>
              <a:t>Even when using PFC and ETS to provide lossless operation and bandwidth guarantees, congestion hot spots can occur in these large multistage fabrics, which can cause unpredictable fabric performance. </a:t>
            </a:r>
          </a:p>
          <a:p>
            <a:r>
              <a:rPr lang="en-US" dirty="0"/>
              <a:t>In an attempt to minimize these congestion hot spots, the IEEE developed the QCN specification 802.1Qau.</a:t>
            </a:r>
            <a:endParaRPr lang="en-US" sz="2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34</a:t>
            </a:fld>
            <a:endParaRPr lang="en-US" dirty="0"/>
          </a:p>
        </p:txBody>
      </p:sp>
    </p:spTree>
    <p:extLst>
      <p:ext uri="{BB962C8B-B14F-4D97-AF65-F5344CB8AC3E}">
        <p14:creationId xmlns:p14="http://schemas.microsoft.com/office/powerpoint/2010/main" val="330990475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228600" y="0"/>
            <a:ext cx="8915400" cy="563563"/>
          </a:xfrm>
        </p:spPr>
        <p:txBody>
          <a:bodyPr/>
          <a:lstStyle/>
          <a:p>
            <a:r>
              <a:rPr lang="en-US" dirty="0">
                <a:effectLst/>
              </a:rPr>
              <a:t>DCB: Quantized Congestion Notification (QCN)</a:t>
            </a:r>
            <a:endParaRPr lang="en-US" cap="all" dirty="0">
              <a:effectLst/>
            </a:endParaRPr>
          </a:p>
        </p:txBody>
      </p:sp>
      <p:sp>
        <p:nvSpPr>
          <p:cNvPr id="2" name="Content Placeholder 1"/>
          <p:cNvSpPr>
            <a:spLocks noGrp="1"/>
          </p:cNvSpPr>
          <p:nvPr>
            <p:ph idx="1"/>
          </p:nvPr>
        </p:nvSpPr>
        <p:spPr>
          <a:xfrm>
            <a:off x="304800" y="1219200"/>
            <a:ext cx="8382000" cy="7162800"/>
          </a:xfrm>
        </p:spPr>
        <p:txBody>
          <a:bodyPr/>
          <a:lstStyle/>
          <a:p>
            <a:r>
              <a:rPr lang="en-US" dirty="0">
                <a:hlinkClick r:id="rId3"/>
              </a:rPr>
              <a:t>Figure 5.6</a:t>
            </a:r>
            <a:r>
              <a:rPr lang="en-US" dirty="0"/>
              <a:t> provides a high level view of how QCN operates in a layer 2 subnetwork. </a:t>
            </a:r>
          </a:p>
          <a:p>
            <a:r>
              <a:rPr lang="en-US" dirty="0"/>
              <a:t>The QCN congestion points are typically located in the second and third switch fabric stages and contain functions that periodically sample frames in their queues using a sample period based on recent congestion levels.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35</a:t>
            </a:fld>
            <a:endParaRPr lang="en-US" dirty="0"/>
          </a:p>
        </p:txBody>
      </p:sp>
    </p:spTree>
    <p:extLst>
      <p:ext uri="{BB962C8B-B14F-4D97-AF65-F5344CB8AC3E}">
        <p14:creationId xmlns:p14="http://schemas.microsoft.com/office/powerpoint/2010/main" val="250528717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31127" y="30479"/>
            <a:ext cx="8915400" cy="563563"/>
          </a:xfrm>
        </p:spPr>
        <p:txBody>
          <a:bodyPr/>
          <a:lstStyle/>
          <a:p>
            <a:r>
              <a:rPr lang="en-US" dirty="0">
                <a:effectLst/>
              </a:rPr>
              <a:t>DCB: Quantized Congestion Notification (QCN)</a:t>
            </a:r>
            <a:endParaRPr lang="en-US" cap="all" dirty="0">
              <a:effectLst/>
            </a:endParaRPr>
          </a:p>
        </p:txBody>
      </p:sp>
      <p:sp>
        <p:nvSpPr>
          <p:cNvPr id="2" name="Content Placeholder 1"/>
          <p:cNvSpPr>
            <a:spLocks noGrp="1"/>
          </p:cNvSpPr>
          <p:nvPr>
            <p:ph idx="1"/>
          </p:nvPr>
        </p:nvSpPr>
        <p:spPr>
          <a:xfrm>
            <a:off x="397827" y="914400"/>
            <a:ext cx="8382000" cy="838200"/>
          </a:xfrm>
        </p:spPr>
        <p:txBody>
          <a:bodyPr/>
          <a:lstStyle/>
          <a:p>
            <a:r>
              <a:rPr lang="en-US" b="1" cap="all" dirty="0"/>
              <a:t>FIGURE 5.6</a:t>
            </a:r>
            <a:r>
              <a:rPr lang="en-US" dirty="0"/>
              <a:t> QCN operation example</a:t>
            </a:r>
            <a:endParaRPr lang="en-US" sz="2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36</a:t>
            </a:fld>
            <a:endParaRPr lang="en-US" dirty="0"/>
          </a:p>
        </p:txBody>
      </p:sp>
      <p:pic>
        <p:nvPicPr>
          <p:cNvPr id="6146" name="Picture 2" descr="https://www.safaribooksonline.com/library/view/cloud-networking/9780128007280/images/B9780128007280000059/f05-06-978012800728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072958"/>
            <a:ext cx="6629400" cy="3565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50438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0375" y="990600"/>
            <a:ext cx="8382000" cy="7162800"/>
          </a:xfrm>
        </p:spPr>
        <p:txBody>
          <a:bodyPr/>
          <a:lstStyle/>
          <a:p>
            <a:r>
              <a:rPr lang="en-US" sz="2800" dirty="0"/>
              <a:t>Keep in mind that each layer 2 frame also includes a source MAC address that can be used as a return address to the traffic source. When a frame is sampled at a given sampling rate, the congestion point:</a:t>
            </a:r>
          </a:p>
          <a:p>
            <a:pPr lvl="1"/>
            <a:r>
              <a:rPr lang="en-US" sz="2400" dirty="0"/>
              <a:t>Reads the queue length from the switch</a:t>
            </a:r>
          </a:p>
          <a:p>
            <a:pPr lvl="1"/>
            <a:r>
              <a:rPr lang="en-US" sz="2400" dirty="0"/>
              <a:t>Calculates a feedback value based on the queue fill level information</a:t>
            </a:r>
          </a:p>
          <a:p>
            <a:pPr lvl="1"/>
            <a:r>
              <a:rPr lang="en-US" sz="2400" dirty="0"/>
              <a:t>Formats a special QCN frame containing the feedback value which is forwarded back to the reaction point using the source MAC address</a:t>
            </a:r>
          </a:p>
          <a:p>
            <a:pPr lvl="1"/>
            <a:r>
              <a:rPr lang="en-US" sz="2400" dirty="0"/>
              <a:t>Updates the queue sampling rate according to the dynamics specified by the QCN algorithm</a:t>
            </a:r>
          </a:p>
          <a:p>
            <a:endParaRPr lang="en-US" sz="20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37</a:t>
            </a:fld>
            <a:endParaRPr lang="en-US" dirty="0"/>
          </a:p>
        </p:txBody>
      </p:sp>
      <p:sp>
        <p:nvSpPr>
          <p:cNvPr id="7" name="Title 4"/>
          <p:cNvSpPr>
            <a:spLocks noGrp="1"/>
          </p:cNvSpPr>
          <p:nvPr>
            <p:ph type="title"/>
          </p:nvPr>
        </p:nvSpPr>
        <p:spPr>
          <a:xfrm>
            <a:off x="259080" y="152400"/>
            <a:ext cx="8915400" cy="563563"/>
          </a:xfrm>
        </p:spPr>
        <p:txBody>
          <a:bodyPr/>
          <a:lstStyle/>
          <a:p>
            <a:r>
              <a:rPr lang="en-US" dirty="0">
                <a:effectLst/>
              </a:rPr>
              <a:t>DCB: Quantized Congestion Notification (QCN)</a:t>
            </a:r>
            <a:endParaRPr lang="en-US" cap="all" dirty="0">
              <a:effectLst/>
            </a:endParaRPr>
          </a:p>
        </p:txBody>
      </p:sp>
    </p:spTree>
    <p:extLst>
      <p:ext uri="{BB962C8B-B14F-4D97-AF65-F5344CB8AC3E}">
        <p14:creationId xmlns:p14="http://schemas.microsoft.com/office/powerpoint/2010/main" val="2834245372"/>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0375" y="685800"/>
            <a:ext cx="8382000" cy="7162800"/>
          </a:xfrm>
        </p:spPr>
        <p:txBody>
          <a:bodyPr/>
          <a:lstStyle/>
          <a:p>
            <a:r>
              <a:rPr lang="en-US" dirty="0"/>
              <a:t>At the reaction point, when a special QCN frame is received from the congestion point, the feedback value is used to rate limit the appropriate ingress (source) queue. </a:t>
            </a:r>
          </a:p>
          <a:p>
            <a:r>
              <a:rPr lang="en-US" dirty="0"/>
              <a:t>The rate is decreased based on the feedback value, but then slowly increases again based on mechanisms described in the QCN standard until the initial rate is again achieved.</a:t>
            </a:r>
          </a:p>
          <a:p>
            <a:r>
              <a:rPr lang="en-US" dirty="0"/>
              <a:t>Although QCN was originally driven in the IEEE standards body by companies like Cisco, it is rarely implemented in data centers today.</a:t>
            </a:r>
            <a:endParaRPr lang="en-US" sz="20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38</a:t>
            </a:fld>
            <a:endParaRPr lang="en-US" dirty="0"/>
          </a:p>
        </p:txBody>
      </p:sp>
      <p:sp>
        <p:nvSpPr>
          <p:cNvPr id="8" name="Title 4"/>
          <p:cNvSpPr>
            <a:spLocks noGrp="1"/>
          </p:cNvSpPr>
          <p:nvPr>
            <p:ph type="title"/>
          </p:nvPr>
        </p:nvSpPr>
        <p:spPr>
          <a:xfrm>
            <a:off x="259080" y="152400"/>
            <a:ext cx="8915400" cy="563563"/>
          </a:xfrm>
        </p:spPr>
        <p:txBody>
          <a:bodyPr/>
          <a:lstStyle/>
          <a:p>
            <a:r>
              <a:rPr lang="en-US" dirty="0">
                <a:effectLst/>
              </a:rPr>
              <a:t>DCB: Quantized Congestion Notification (QCN)</a:t>
            </a:r>
            <a:endParaRPr lang="en-US" cap="all" dirty="0">
              <a:effectLst/>
            </a:endParaRPr>
          </a:p>
        </p:txBody>
      </p:sp>
    </p:spTree>
    <p:extLst>
      <p:ext uri="{BB962C8B-B14F-4D97-AF65-F5344CB8AC3E}">
        <p14:creationId xmlns:p14="http://schemas.microsoft.com/office/powerpoint/2010/main" val="347303447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Exchange Protocol</a:t>
            </a:r>
            <a:endParaRPr lang="en-US" cap="all" dirty="0">
              <a:effectLst/>
            </a:endParaRPr>
          </a:p>
        </p:txBody>
      </p:sp>
      <p:sp>
        <p:nvSpPr>
          <p:cNvPr id="2" name="Content Placeholder 1"/>
          <p:cNvSpPr>
            <a:spLocks noGrp="1"/>
          </p:cNvSpPr>
          <p:nvPr>
            <p:ph idx="1"/>
          </p:nvPr>
        </p:nvSpPr>
        <p:spPr>
          <a:xfrm>
            <a:off x="397827" y="1143000"/>
            <a:ext cx="8382000" cy="7162800"/>
          </a:xfrm>
        </p:spPr>
        <p:txBody>
          <a:bodyPr/>
          <a:lstStyle/>
          <a:p>
            <a:r>
              <a:rPr lang="en-US" sz="3600" dirty="0"/>
              <a:t>As you can see by reading this section, the implementation of PFC and ETS require some level of coordination between neighboring devices. </a:t>
            </a:r>
          </a:p>
          <a:p>
            <a:r>
              <a:rPr lang="en-US" sz="3600" dirty="0"/>
              <a:t>For example, PFC requires that link partners understand the number of priorities, or traffic classes, that each other support. </a:t>
            </a:r>
          </a:p>
        </p:txBody>
      </p:sp>
      <p:sp>
        <p:nvSpPr>
          <p:cNvPr id="4" name="Slide Number Placeholder 3"/>
          <p:cNvSpPr>
            <a:spLocks noGrp="1"/>
          </p:cNvSpPr>
          <p:nvPr>
            <p:ph type="sldNum" sz="quarter" idx="10"/>
          </p:nvPr>
        </p:nvSpPr>
        <p:spPr/>
        <p:txBody>
          <a:bodyPr/>
          <a:lstStyle/>
          <a:p>
            <a:fld id="{1C0FA7A3-0FBF-4EC3-BE45-825983E95E58}" type="slidenum">
              <a:rPr lang="en-US" smtClean="0"/>
              <a:pPr/>
              <a:t>39</a:t>
            </a:fld>
            <a:endParaRPr lang="en-US" dirty="0"/>
          </a:p>
        </p:txBody>
      </p:sp>
    </p:spTree>
    <p:extLst>
      <p:ext uri="{BB962C8B-B14F-4D97-AF65-F5344CB8AC3E}">
        <p14:creationId xmlns:p14="http://schemas.microsoft.com/office/powerpoint/2010/main" val="283075670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Exchange Protocol</a:t>
            </a:r>
            <a:endParaRPr lang="en-US" cap="all" dirty="0">
              <a:effectLst/>
            </a:endParaRPr>
          </a:p>
        </p:txBody>
      </p:sp>
      <p:sp>
        <p:nvSpPr>
          <p:cNvPr id="2" name="Content Placeholder 1"/>
          <p:cNvSpPr>
            <a:spLocks noGrp="1"/>
          </p:cNvSpPr>
          <p:nvPr>
            <p:ph idx="1"/>
          </p:nvPr>
        </p:nvSpPr>
        <p:spPr>
          <a:xfrm>
            <a:off x="397827" y="1143000"/>
            <a:ext cx="8382000" cy="7162800"/>
          </a:xfrm>
        </p:spPr>
        <p:txBody>
          <a:bodyPr/>
          <a:lstStyle/>
          <a:p>
            <a:r>
              <a:rPr lang="en-US" sz="3600" dirty="0"/>
              <a:t>In addition to the number of traffic classes, ETS also needs to know the type of bandwidth granularity and shaping granularity that each switch can support in order to provide consistent operation across the network.</a:t>
            </a:r>
            <a:endParaRPr lang="en-US" sz="2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40</a:t>
            </a:fld>
            <a:endParaRPr lang="en-US" dirty="0"/>
          </a:p>
        </p:txBody>
      </p:sp>
    </p:spTree>
    <p:extLst>
      <p:ext uri="{BB962C8B-B14F-4D97-AF65-F5344CB8AC3E}">
        <p14:creationId xmlns:p14="http://schemas.microsoft.com/office/powerpoint/2010/main" val="46796917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p:cNvSpPr>
            <a:spLocks noGrp="1"/>
          </p:cNvSpPr>
          <p:nvPr>
            <p:ph type="title"/>
          </p:nvPr>
        </p:nvSpPr>
        <p:spPr>
          <a:xfrm>
            <a:off x="1143000" y="60959"/>
            <a:ext cx="8915400" cy="563563"/>
          </a:xfrm>
        </p:spPr>
        <p:txBody>
          <a:bodyPr/>
          <a:lstStyle/>
          <a:p>
            <a:r>
              <a:rPr lang="en-US" dirty="0">
                <a:effectLst/>
              </a:rPr>
              <a:t>DCB Exchange Protocol</a:t>
            </a:r>
            <a:endParaRPr lang="en-US" cap="all" dirty="0">
              <a:effectLst/>
            </a:endParaRPr>
          </a:p>
        </p:txBody>
      </p:sp>
      <p:sp>
        <p:nvSpPr>
          <p:cNvPr id="2" name="Content Placeholder 1"/>
          <p:cNvSpPr>
            <a:spLocks noGrp="1"/>
          </p:cNvSpPr>
          <p:nvPr>
            <p:ph idx="1"/>
          </p:nvPr>
        </p:nvSpPr>
        <p:spPr>
          <a:xfrm>
            <a:off x="382587" y="762000"/>
            <a:ext cx="8382000" cy="7162800"/>
          </a:xfrm>
        </p:spPr>
        <p:txBody>
          <a:bodyPr/>
          <a:lstStyle/>
          <a:p>
            <a:r>
              <a:rPr lang="en-US" dirty="0" err="1"/>
              <a:t>DCBx</a:t>
            </a:r>
            <a:r>
              <a:rPr lang="en-US" dirty="0"/>
              <a:t> protocol uses the IEEE 802.1AB standard to exchange capabilities and configuration information of DCB features between neighboring devices in order to provide consistent operation across the data center network. </a:t>
            </a:r>
          </a:p>
          <a:p>
            <a:r>
              <a:rPr lang="en-US" dirty="0"/>
              <a:t>With </a:t>
            </a:r>
            <a:r>
              <a:rPr lang="en-US" dirty="0" err="1"/>
              <a:t>DCBx</a:t>
            </a:r>
            <a:r>
              <a:rPr lang="en-US" dirty="0"/>
              <a:t>, link-level discovery protocol (LLDP) Ethernet frames are sent at a periodic rate between link partners that contain the information necessary to properly configure a DCB capable device. </a:t>
            </a:r>
            <a:endParaRPr lang="en-US" sz="2400" dirty="0"/>
          </a:p>
        </p:txBody>
      </p:sp>
      <p:sp>
        <p:nvSpPr>
          <p:cNvPr id="4" name="Slide Number Placeholder 3"/>
          <p:cNvSpPr>
            <a:spLocks noGrp="1"/>
          </p:cNvSpPr>
          <p:nvPr>
            <p:ph type="sldNum" sz="quarter" idx="10"/>
          </p:nvPr>
        </p:nvSpPr>
        <p:spPr/>
        <p:txBody>
          <a:bodyPr/>
          <a:lstStyle/>
          <a:p>
            <a:fld id="{1C0FA7A3-0FBF-4EC3-BE45-825983E95E58}" type="slidenum">
              <a:rPr lang="en-US" smtClean="0"/>
              <a:pPr/>
              <a:t>41</a:t>
            </a:fld>
            <a:endParaRPr lang="en-US" dirty="0"/>
          </a:p>
        </p:txBody>
      </p:sp>
    </p:spTree>
    <p:extLst>
      <p:ext uri="{BB962C8B-B14F-4D97-AF65-F5344CB8AC3E}">
        <p14:creationId xmlns:p14="http://schemas.microsoft.com/office/powerpoint/2010/main" val="2612509779"/>
      </p:ext>
    </p:extLst>
  </p:cSld>
  <p:clrMapOvr>
    <a:masterClrMapping/>
  </p:clrMapOvr>
  <p:transition/>
</p:sld>
</file>

<file path=ppt/theme/theme1.xml><?xml version="1.0" encoding="utf-8"?>
<a:theme xmlns:a="http://schemas.openxmlformats.org/drawingml/2006/main" name="Default Design">
  <a:themeElements>
    <a:clrScheme name="">
      <a:dk1>
        <a:srgbClr val="000000"/>
      </a:dk1>
      <a:lt1>
        <a:srgbClr val="FFFFFF"/>
      </a:lt1>
      <a:dk2>
        <a:srgbClr val="0B3D91"/>
      </a:dk2>
      <a:lt2>
        <a:srgbClr val="000066"/>
      </a:lt2>
      <a:accent1>
        <a:srgbClr val="97A8D9"/>
      </a:accent1>
      <a:accent2>
        <a:srgbClr val="C7D2F5"/>
      </a:accent2>
      <a:accent3>
        <a:srgbClr val="FFFFFF"/>
      </a:accent3>
      <a:accent4>
        <a:srgbClr val="000000"/>
      </a:accent4>
      <a:accent5>
        <a:srgbClr val="C9D1E9"/>
      </a:accent5>
      <a:accent6>
        <a:srgbClr val="B4BEDE"/>
      </a:accent6>
      <a:hlink>
        <a:srgbClr val="DC241F"/>
      </a:hlink>
      <a:folHlink>
        <a:srgbClr val="CCCC99"/>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alpha val="50000"/>
          </a:schemeClr>
        </a:solidFill>
        <a:ln w="9525" cap="flat" cmpd="sng" algn="ctr">
          <a:solidFill>
            <a:srgbClr val="FFFF0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66"/>
        </a:dk2>
        <a:lt2>
          <a:srgbClr val="808080"/>
        </a:lt2>
        <a:accent1>
          <a:srgbClr val="CCCC99"/>
        </a:accent1>
        <a:accent2>
          <a:srgbClr val="DC241F"/>
        </a:accent2>
        <a:accent3>
          <a:srgbClr val="FFFFFF"/>
        </a:accent3>
        <a:accent4>
          <a:srgbClr val="000000"/>
        </a:accent4>
        <a:accent5>
          <a:srgbClr val="E2E2CA"/>
        </a:accent5>
        <a:accent6>
          <a:srgbClr val="C7201B"/>
        </a:accent6>
        <a:hlink>
          <a:srgbClr val="0035AD"/>
        </a:hlink>
        <a:folHlink>
          <a:srgbClr val="918C5A"/>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B3D91"/>
        </a:dk2>
        <a:lt2>
          <a:srgbClr val="000066"/>
        </a:lt2>
        <a:accent1>
          <a:srgbClr val="70B2F4"/>
        </a:accent1>
        <a:accent2>
          <a:srgbClr val="C3EAFD"/>
        </a:accent2>
        <a:accent3>
          <a:srgbClr val="FFFFFF"/>
        </a:accent3>
        <a:accent4>
          <a:srgbClr val="000000"/>
        </a:accent4>
        <a:accent5>
          <a:srgbClr val="BBD5F8"/>
        </a:accent5>
        <a:accent6>
          <a:srgbClr val="B0D4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B3D91"/>
        </a:dk2>
        <a:lt2>
          <a:srgbClr val="000066"/>
        </a:lt2>
        <a:accent1>
          <a:srgbClr val="70B2F4"/>
        </a:accent1>
        <a:accent2>
          <a:srgbClr val="C3DCFD"/>
        </a:accent2>
        <a:accent3>
          <a:srgbClr val="FFFFFF"/>
        </a:accent3>
        <a:accent4>
          <a:srgbClr val="000000"/>
        </a:accent4>
        <a:accent5>
          <a:srgbClr val="BBD5F8"/>
        </a:accent5>
        <a:accent6>
          <a:srgbClr val="B0C7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
      <a:clrScheme name="Default Design 16">
        <a:dk1>
          <a:srgbClr val="000000"/>
        </a:dk1>
        <a:lt1>
          <a:srgbClr val="FFFFFF"/>
        </a:lt1>
        <a:dk2>
          <a:srgbClr val="0B3D91"/>
        </a:dk2>
        <a:lt2>
          <a:srgbClr val="000066"/>
        </a:lt2>
        <a:accent1>
          <a:srgbClr val="70B2F4"/>
        </a:accent1>
        <a:accent2>
          <a:srgbClr val="C3E4FD"/>
        </a:accent2>
        <a:accent3>
          <a:srgbClr val="FFFFFF"/>
        </a:accent3>
        <a:accent4>
          <a:srgbClr val="000000"/>
        </a:accent4>
        <a:accent5>
          <a:srgbClr val="BBD5F8"/>
        </a:accent5>
        <a:accent6>
          <a:srgbClr val="B0CFE5"/>
        </a:accent6>
        <a:hlink>
          <a:srgbClr val="DC241F"/>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11644</TotalTime>
  <Words>2455</Words>
  <Application>Microsoft Office PowerPoint</Application>
  <PresentationFormat>On-screen Show (4:3)</PresentationFormat>
  <Paragraphs>207</Paragraphs>
  <Slides>42</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Wingdings</vt:lpstr>
      <vt:lpstr>Default Design</vt:lpstr>
      <vt:lpstr>EETS 8390: data center network engineering</vt:lpstr>
      <vt:lpstr>Chapter 5: Cloud Data Center Networking Standards</vt:lpstr>
      <vt:lpstr>Chapter 5: Cloud Data Center Networking Standards</vt:lpstr>
      <vt:lpstr>Chapter 5: Cloud Data Center Networking Standards</vt:lpstr>
      <vt:lpstr>Chapter 5: Cloud Data Center Networking Standards</vt:lpstr>
      <vt:lpstr>Chapter 5: Cloud Data Center Networking Standards</vt:lpstr>
      <vt:lpstr>Chapter 5: Cloud Data Center Networking Standards</vt:lpstr>
      <vt:lpstr>Ethernet data rate standards</vt:lpstr>
      <vt:lpstr>Ethernet data rate standards</vt:lpstr>
      <vt:lpstr>Ethernet data rate standards</vt:lpstr>
      <vt:lpstr>10GE</vt:lpstr>
      <vt:lpstr>10GbE</vt:lpstr>
      <vt:lpstr>EETS 8390: data center network engineering</vt:lpstr>
      <vt:lpstr>Data center bridging (DCB)</vt:lpstr>
      <vt:lpstr>Data center bridging (DCB)</vt:lpstr>
      <vt:lpstr>Data Center Bridging (DCB)</vt:lpstr>
      <vt:lpstr>Data Center Bridging (DCB)</vt:lpstr>
      <vt:lpstr>Data Center Bridging (DCB)</vt:lpstr>
      <vt:lpstr>Data Center Bridging (DCB)</vt:lpstr>
      <vt:lpstr>Data Center Bridging (DCB)</vt:lpstr>
      <vt:lpstr>Data Center Bridging (DCB)</vt:lpstr>
      <vt:lpstr>DCB Priority-Based Flow Control (PBF)</vt:lpstr>
      <vt:lpstr>DCB Priority-Based Flow Control (PBF)</vt:lpstr>
      <vt:lpstr>DCB Priority-Based Flow Control (PBF)</vt:lpstr>
      <vt:lpstr>DCB Priority-Based Flow Control (PBF)</vt:lpstr>
      <vt:lpstr>DCB Priority-Based Flow Control (PBF)</vt:lpstr>
      <vt:lpstr>DCB Priority-Based Flow Control (PBF)</vt:lpstr>
      <vt:lpstr>DCB: Priority-Based Flow Control (PBF)</vt:lpstr>
      <vt:lpstr>DCB: Priority-Based Flow Control (PBF)</vt:lpstr>
      <vt:lpstr>DCB: Enhanced Transmission Selection (ETS)</vt:lpstr>
      <vt:lpstr>DCB: Enhanced Transmission Selection (ETS)</vt:lpstr>
      <vt:lpstr>DCB: Enhanced Transmission Selection (ETS)</vt:lpstr>
      <vt:lpstr>DCB: Enhanced Transmission Selection (ETS)</vt:lpstr>
      <vt:lpstr>DCB: Enhanced Transmission Selection (ETS)</vt:lpstr>
      <vt:lpstr>DCB: Quantized Congestion Notification (QCN)</vt:lpstr>
      <vt:lpstr>DCB: Quantized Congestion Notification (QCN)</vt:lpstr>
      <vt:lpstr>DCB: Quantized Congestion Notification (QCN)</vt:lpstr>
      <vt:lpstr>DCB: Quantized Congestion Notification (QCN)</vt:lpstr>
      <vt:lpstr>DCB: Quantized Congestion Notification (QCN)</vt:lpstr>
      <vt:lpstr>DCB Exchange Protocol</vt:lpstr>
      <vt:lpstr>DCB Exchange Protocol</vt:lpstr>
      <vt:lpstr>DCB Exchange Protocol</vt:lpstr>
    </vt:vector>
  </TitlesOfParts>
  <Company>SMU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SMU Generic Template: Blue</dc:title>
  <dc:creator>Marlin Kingsley</dc:creator>
  <cp:lastModifiedBy>Rogers, Darrell</cp:lastModifiedBy>
  <cp:revision>804</cp:revision>
  <cp:lastPrinted>2020-02-05T03:26:27Z</cp:lastPrinted>
  <dcterms:created xsi:type="dcterms:W3CDTF">2004-08-08T18:58:35Z</dcterms:created>
  <dcterms:modified xsi:type="dcterms:W3CDTF">2026-02-25T23:38:10Z</dcterms:modified>
</cp:coreProperties>
</file>