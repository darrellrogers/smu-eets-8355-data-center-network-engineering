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20"/>
  </p:notesMasterIdLst>
  <p:handoutMasterIdLst>
    <p:handoutMasterId r:id="rId21"/>
  </p:handoutMasterIdLst>
  <p:sldIdLst>
    <p:sldId id="258" r:id="rId2"/>
    <p:sldId id="470" r:id="rId3"/>
    <p:sldId id="503" r:id="rId4"/>
    <p:sldId id="471" r:id="rId5"/>
    <p:sldId id="472" r:id="rId6"/>
    <p:sldId id="474" r:id="rId7"/>
    <p:sldId id="473" r:id="rId8"/>
    <p:sldId id="475" r:id="rId9"/>
    <p:sldId id="476" r:id="rId10"/>
    <p:sldId id="477" r:id="rId11"/>
    <p:sldId id="512" r:id="rId12"/>
    <p:sldId id="513" r:id="rId13"/>
    <p:sldId id="514" r:id="rId14"/>
    <p:sldId id="515" r:id="rId15"/>
    <p:sldId id="516" r:id="rId16"/>
    <p:sldId id="478" r:id="rId17"/>
    <p:sldId id="504" r:id="rId18"/>
    <p:sldId id="505" r:id="rId19"/>
  </p:sldIdLst>
  <p:sldSz cx="9144000" cy="6858000" type="screen4x3"/>
  <p:notesSz cx="7102475" cy="9388475"/>
  <p:defaultTex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04">
          <p15:clr>
            <a:srgbClr val="A4A3A4"/>
          </p15:clr>
        </p15:guide>
        <p15:guide id="3" orient="horz" pos="4136">
          <p15:clr>
            <a:srgbClr val="A4A3A4"/>
          </p15:clr>
        </p15:guide>
        <p15:guide id="4" pos="2880">
          <p15:clr>
            <a:srgbClr val="A4A3A4"/>
          </p15:clr>
        </p15:guide>
        <p15:guide id="5" pos="144">
          <p15:clr>
            <a:srgbClr val="A4A3A4"/>
          </p15:clr>
        </p15:guide>
        <p15:guide id="6" pos="5568">
          <p15:clr>
            <a:srgbClr val="A4A3A4"/>
          </p15:clr>
        </p15:guide>
      </p15:sldGuideLst>
    </p:ext>
    <p:ext uri="{2D200454-40CA-4A62-9FC3-DE9A4176ACB9}">
      <p15:notesGuideLst xmlns:p15="http://schemas.microsoft.com/office/powerpoint/2012/main">
        <p15:guide id="1" orient="horz" pos="2957">
          <p15:clr>
            <a:srgbClr val="A4A3A4"/>
          </p15:clr>
        </p15:guide>
        <p15:guide id="2" pos="223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6D97"/>
    <a:srgbClr val="00EA6A"/>
    <a:srgbClr val="16DE0C"/>
    <a:srgbClr val="FFFF00"/>
    <a:srgbClr val="1F09BF"/>
    <a:srgbClr val="FBFBFB"/>
    <a:srgbClr val="2A3A6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92" autoAdjust="0"/>
    <p:restoredTop sz="86834" autoAdjust="0"/>
  </p:normalViewPr>
  <p:slideViewPr>
    <p:cSldViewPr>
      <p:cViewPr varScale="1">
        <p:scale>
          <a:sx n="75" d="100"/>
          <a:sy n="75" d="100"/>
        </p:scale>
        <p:origin x="1483" y="53"/>
      </p:cViewPr>
      <p:guideLst>
        <p:guide orient="horz" pos="2160"/>
        <p:guide orient="horz" pos="4004"/>
        <p:guide orient="horz" pos="4136"/>
        <p:guide pos="2880"/>
        <p:guide pos="144"/>
        <p:guide pos="55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0" d="100"/>
          <a:sy n="120" d="100"/>
        </p:scale>
        <p:origin x="-1472" y="-104"/>
      </p:cViewPr>
      <p:guideLst>
        <p:guide orient="horz" pos="2957"/>
        <p:guide pos="22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0" y="0"/>
            <a:ext cx="3078163"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eaLnBrk="1" hangingPunct="1">
              <a:defRPr sz="1200" dirty="0">
                <a:latin typeface="Arial" charset="0"/>
              </a:defRPr>
            </a:lvl1pPr>
          </a:lstStyle>
          <a:p>
            <a:pPr>
              <a:defRPr/>
            </a:pPr>
            <a:endParaRPr lang="en-US"/>
          </a:p>
        </p:txBody>
      </p:sp>
      <p:sp>
        <p:nvSpPr>
          <p:cNvPr id="89091" name="Rectangle 3"/>
          <p:cNvSpPr>
            <a:spLocks noGrp="1" noChangeArrowheads="1"/>
          </p:cNvSpPr>
          <p:nvPr>
            <p:ph type="dt" sz="quarter" idx="1"/>
          </p:nvPr>
        </p:nvSpPr>
        <p:spPr bwMode="auto">
          <a:xfrm>
            <a:off x="4024313" y="0"/>
            <a:ext cx="3078162"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algn="r" eaLnBrk="1" hangingPunct="1">
              <a:defRPr sz="1200" dirty="0">
                <a:latin typeface="Arial" charset="0"/>
              </a:defRPr>
            </a:lvl1pPr>
          </a:lstStyle>
          <a:p>
            <a:pPr>
              <a:defRPr/>
            </a:pPr>
            <a:endParaRPr lang="en-US"/>
          </a:p>
        </p:txBody>
      </p:sp>
      <p:sp>
        <p:nvSpPr>
          <p:cNvPr id="89092" name="Rectangle 4"/>
          <p:cNvSpPr>
            <a:spLocks noGrp="1" noChangeArrowheads="1"/>
          </p:cNvSpPr>
          <p:nvPr>
            <p:ph type="ftr" sz="quarter" idx="2"/>
          </p:nvPr>
        </p:nvSpPr>
        <p:spPr bwMode="auto">
          <a:xfrm>
            <a:off x="0" y="8918575"/>
            <a:ext cx="3078163"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eaLnBrk="1" hangingPunct="1">
              <a:defRPr sz="1200" dirty="0">
                <a:latin typeface="Arial" charset="0"/>
              </a:defRPr>
            </a:lvl1pPr>
          </a:lstStyle>
          <a:p>
            <a:pPr>
              <a:defRPr/>
            </a:pPr>
            <a:endParaRPr lang="en-US"/>
          </a:p>
        </p:txBody>
      </p:sp>
      <p:sp>
        <p:nvSpPr>
          <p:cNvPr id="89093" name="Rectangle 5"/>
          <p:cNvSpPr>
            <a:spLocks noGrp="1" noChangeArrowheads="1"/>
          </p:cNvSpPr>
          <p:nvPr>
            <p:ph type="sldNum" sz="quarter" idx="3"/>
          </p:nvPr>
        </p:nvSpPr>
        <p:spPr bwMode="auto">
          <a:xfrm>
            <a:off x="4024313" y="8918575"/>
            <a:ext cx="3078162"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algn="r" eaLnBrk="1" hangingPunct="1">
              <a:defRPr sz="1200">
                <a:latin typeface="Arial" charset="0"/>
              </a:defRPr>
            </a:lvl1pPr>
          </a:lstStyle>
          <a:p>
            <a:pPr>
              <a:defRPr/>
            </a:pPr>
            <a:fld id="{D050DC76-FC5E-4F8B-997E-1308AC4D3335}" type="slidenum">
              <a:rPr lang="en-US"/>
              <a:pPr>
                <a:defRPr/>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8163"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eaLnBrk="1" hangingPunct="1">
              <a:defRPr sz="1200" b="0" dirty="0">
                <a:latin typeface="Arial" charset="0"/>
              </a:defRPr>
            </a:lvl1pPr>
          </a:lstStyle>
          <a:p>
            <a:pPr>
              <a:defRPr/>
            </a:pPr>
            <a:endParaRPr lang="en-US"/>
          </a:p>
        </p:txBody>
      </p:sp>
      <p:sp>
        <p:nvSpPr>
          <p:cNvPr id="6147" name="Rectangle 3"/>
          <p:cNvSpPr>
            <a:spLocks noGrp="1" noChangeArrowheads="1"/>
          </p:cNvSpPr>
          <p:nvPr>
            <p:ph type="dt" idx="1"/>
          </p:nvPr>
        </p:nvSpPr>
        <p:spPr bwMode="auto">
          <a:xfrm>
            <a:off x="4022725" y="0"/>
            <a:ext cx="3078163"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algn="r" eaLnBrk="1" hangingPunct="1">
              <a:defRPr sz="1200" b="0" dirty="0">
                <a:latin typeface="Arial"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1204913" y="704850"/>
            <a:ext cx="4692650" cy="35194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709613" y="4459288"/>
            <a:ext cx="5683250" cy="4224337"/>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916988"/>
            <a:ext cx="3078163"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eaLnBrk="1" hangingPunct="1">
              <a:defRPr sz="1200" b="0" dirty="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4022725" y="8916988"/>
            <a:ext cx="3078163"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algn="r" eaLnBrk="1" hangingPunct="1">
              <a:defRPr sz="1200" b="0">
                <a:latin typeface="Arial" charset="0"/>
              </a:defRPr>
            </a:lvl1pPr>
          </a:lstStyle>
          <a:p>
            <a:pPr>
              <a:defRPr/>
            </a:pPr>
            <a:fld id="{7B6B034A-5078-40D3-9861-2B202EA0628C}"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a:ln/>
        </p:spPr>
      </p:sp>
      <p:sp>
        <p:nvSpPr>
          <p:cNvPr id="15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15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DFEB540D-CD5C-451D-9B88-59F386634183}" type="slidenum">
              <a:rPr lang="en-US" altLang="en-US" b="0" smtClean="0"/>
              <a:pPr/>
              <a:t>0</a:t>
            </a:fld>
            <a:endParaRPr lang="en-US" altLang="en-US" b="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174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F74669C3-A4A8-498E-8F85-13A349889BE3}" type="slidenum">
              <a:rPr lang="en-US" altLang="en-US" b="0" smtClean="0"/>
              <a:pPr/>
              <a:t>1</a:t>
            </a:fld>
            <a:endParaRPr lang="en-US" altLang="en-US"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B6B034A-5078-40D3-9861-2B202EA0628C}" type="slidenum">
              <a:rPr lang="en-US" smtClean="0"/>
              <a:pPr>
                <a:defRPr/>
              </a:pPr>
              <a:t>15</a:t>
            </a:fld>
            <a:endParaRPr lang="en-US" dirty="0"/>
          </a:p>
        </p:txBody>
      </p:sp>
    </p:spTree>
    <p:extLst>
      <p:ext uri="{BB962C8B-B14F-4D97-AF65-F5344CB8AC3E}">
        <p14:creationId xmlns:p14="http://schemas.microsoft.com/office/powerpoint/2010/main" val="1857956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BCE7C9F8-E40A-4EAC-8E12-66C0EDEFF5CC}" type="slidenum">
              <a:rPr lang="en-US" altLang="en-US" b="0" smtClean="0"/>
              <a:pPr/>
              <a:t>17</a:t>
            </a:fld>
            <a:endParaRPr lang="en-US" altLang="en-US"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6" descr="stmntpg_bkgrd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a:spLocks noGrp="1" noChangeArrowheads="1"/>
          </p:cNvSpPr>
          <p:nvPr>
            <p:ph type="ctrTitle"/>
          </p:nvPr>
        </p:nvSpPr>
        <p:spPr>
          <a:xfrm>
            <a:off x="533401" y="1931988"/>
            <a:ext cx="8153400" cy="887412"/>
          </a:xfrm>
        </p:spPr>
        <p:txBody>
          <a:bodyPr/>
          <a:lstStyle>
            <a:lvl1pPr algn="ctr">
              <a:defRPr sz="5400" cap="small" baseline="0">
                <a:solidFill>
                  <a:schemeClr val="bg1"/>
                </a:solidFill>
                <a:effectLst>
                  <a:outerShdw blurRad="38100" dist="38100" dir="2700000" algn="tl">
                    <a:srgbClr val="000000"/>
                  </a:outerShdw>
                </a:effectLst>
                <a:latin typeface="Calibri" pitchFamily="34" charset="0"/>
              </a:defRPr>
            </a:lvl1pPr>
          </a:lstStyle>
          <a:p>
            <a:r>
              <a:rPr lang="en-US" dirty="0"/>
              <a:t>Click to edit Master title style</a:t>
            </a:r>
          </a:p>
        </p:txBody>
      </p:sp>
      <p:sp>
        <p:nvSpPr>
          <p:cNvPr id="7172" name="Rectangle 4"/>
          <p:cNvSpPr>
            <a:spLocks noGrp="1" noChangeArrowheads="1"/>
          </p:cNvSpPr>
          <p:nvPr>
            <p:ph type="subTitle" idx="1"/>
          </p:nvPr>
        </p:nvSpPr>
        <p:spPr>
          <a:xfrm>
            <a:off x="631825" y="2898775"/>
            <a:ext cx="7851775" cy="3121025"/>
          </a:xfrm>
        </p:spPr>
        <p:txBody>
          <a:bodyPr/>
          <a:lstStyle>
            <a:lvl1pPr marL="0" indent="0" algn="ctr">
              <a:buFontTx/>
              <a:buNone/>
              <a:defRPr sz="3200" i="0">
                <a:solidFill>
                  <a:schemeClr val="bg1"/>
                </a:solidFill>
                <a:effectLst>
                  <a:outerShdw blurRad="38100" dist="38100" dir="2700000" algn="tl">
                    <a:srgbClr val="000000"/>
                  </a:outerShdw>
                </a:effectLst>
                <a:latin typeface="Calibri" pitchFamily="34" charset="0"/>
              </a:defRPr>
            </a:lvl1pPr>
          </a:lstStyle>
          <a:p>
            <a:r>
              <a:rPr lang="en-US" dirty="0"/>
              <a:t>Click to edit Master subtitle style</a:t>
            </a:r>
          </a:p>
        </p:txBody>
      </p:sp>
    </p:spTree>
    <p:extLst>
      <p:ext uri="{BB962C8B-B14F-4D97-AF65-F5344CB8AC3E}">
        <p14:creationId xmlns:p14="http://schemas.microsoft.com/office/powerpoint/2010/main" val="124410301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22237"/>
            <a:ext cx="8686800" cy="563563"/>
          </a:xfrm>
        </p:spPr>
        <p:txBody>
          <a:bodyPr/>
          <a:lstStyle>
            <a:lvl1pPr>
              <a:defRPr sz="3600" b="0">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81000" y="990600"/>
            <a:ext cx="8382000" cy="4953000"/>
          </a:xfrm>
        </p:spPr>
        <p:txBody>
          <a:bodyPr/>
          <a:lstStyle>
            <a:lvl1pPr>
              <a:buClr>
                <a:schemeClr val="tx2"/>
              </a:buClr>
              <a:defRPr sz="3200">
                <a:latin typeface="Calibri" pitchFamily="34" charset="0"/>
              </a:defRPr>
            </a:lvl1pPr>
            <a:lvl2pPr>
              <a:buClr>
                <a:srgbClr val="C00000"/>
              </a:buClr>
              <a:buFont typeface="Wingdings" pitchFamily="2" charset="2"/>
              <a:buChar char="§"/>
              <a:defRPr sz="2800">
                <a:latin typeface="Calibri" pitchFamily="34" charset="0"/>
              </a:defRPr>
            </a:lvl2pPr>
            <a:lvl3pPr>
              <a:defRPr sz="2400">
                <a:latin typeface="Calibri" pitchFamily="34" charset="0"/>
              </a:defRPr>
            </a:lvl3pPr>
            <a:lvl4pPr>
              <a:defRPr sz="2400">
                <a:latin typeface="Calibri" pitchFamily="34" charset="0"/>
              </a:defRPr>
            </a:lvl4pPr>
            <a:lvl5pPr>
              <a:defRPr sz="2400">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pPr>
              <a:defRPr/>
            </a:pPr>
            <a:fld id="{D42554F3-2247-495E-B785-7A00E492535A}" type="slidenum">
              <a:rPr lang="en-US"/>
              <a:pPr>
                <a:defRPr/>
              </a:pPr>
              <a:t>‹#›</a:t>
            </a:fld>
            <a:endParaRPr lang="en-US" dirty="0"/>
          </a:p>
        </p:txBody>
      </p:sp>
    </p:spTree>
    <p:extLst>
      <p:ext uri="{BB962C8B-B14F-4D97-AF65-F5344CB8AC3E}">
        <p14:creationId xmlns:p14="http://schemas.microsoft.com/office/powerpoint/2010/main" val="111921138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800" b="1" cap="small" baseline="0">
                <a:solidFill>
                  <a:schemeClr val="tx1"/>
                </a:solidFill>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pPr>
              <a:defRPr/>
            </a:pPr>
            <a:fld id="{E825289E-5323-4D4A-8450-E1785AC1E5C0}" type="slidenum">
              <a:rPr lang="en-US"/>
              <a:pPr>
                <a:defRPr/>
              </a:pPr>
              <a:t>‹#›</a:t>
            </a:fld>
            <a:endParaRPr lang="en-US" dirty="0"/>
          </a:p>
        </p:txBody>
      </p:sp>
    </p:spTree>
    <p:extLst>
      <p:ext uri="{BB962C8B-B14F-4D97-AF65-F5344CB8AC3E}">
        <p14:creationId xmlns:p14="http://schemas.microsoft.com/office/powerpoint/2010/main" val="122404098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2286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pPr>
              <a:defRPr/>
            </a:pPr>
            <a:fld id="{8D45BBC7-0292-4151-8392-21D511628C15}" type="slidenum">
              <a:rPr lang="en-US"/>
              <a:pPr>
                <a:defRPr/>
              </a:pPr>
              <a:t>‹#›</a:t>
            </a:fld>
            <a:endParaRPr lang="en-US" dirty="0"/>
          </a:p>
        </p:txBody>
      </p:sp>
    </p:spTree>
    <p:extLst>
      <p:ext uri="{BB962C8B-B14F-4D97-AF65-F5344CB8AC3E}">
        <p14:creationId xmlns:p14="http://schemas.microsoft.com/office/powerpoint/2010/main" val="50702192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8600" y="46038"/>
            <a:ext cx="8229600" cy="563562"/>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457200" y="91440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676400"/>
            <a:ext cx="4040188"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91440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676400"/>
            <a:ext cx="4041775"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0"/>
          </p:nvPr>
        </p:nvSpPr>
        <p:spPr>
          <a:xfrm>
            <a:off x="8686800" y="6400800"/>
            <a:ext cx="155575" cy="152400"/>
          </a:xfrm>
        </p:spPr>
        <p:txBody>
          <a:bodyPr/>
          <a:lstStyle>
            <a:lvl1pPr>
              <a:defRPr/>
            </a:lvl1pPr>
          </a:lstStyle>
          <a:p>
            <a:pPr>
              <a:defRPr/>
            </a:pPr>
            <a:fld id="{AE1EFBFF-4D83-4284-BAB7-5476676BE466}" type="slidenum">
              <a:rPr lang="en-US"/>
              <a:pPr>
                <a:defRPr/>
              </a:pPr>
              <a:t>‹#›</a:t>
            </a:fld>
            <a:endParaRPr lang="en-US" dirty="0"/>
          </a:p>
        </p:txBody>
      </p:sp>
    </p:spTree>
    <p:extLst>
      <p:ext uri="{BB962C8B-B14F-4D97-AF65-F5344CB8AC3E}">
        <p14:creationId xmlns:p14="http://schemas.microsoft.com/office/powerpoint/2010/main" val="165725840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Slide Number Placeholder 2"/>
          <p:cNvSpPr>
            <a:spLocks noGrp="1"/>
          </p:cNvSpPr>
          <p:nvPr>
            <p:ph type="sldNum" sz="quarter" idx="10"/>
          </p:nvPr>
        </p:nvSpPr>
        <p:spPr>
          <a:xfrm>
            <a:off x="8686800" y="6400800"/>
            <a:ext cx="155575" cy="152400"/>
          </a:xfrm>
        </p:spPr>
        <p:txBody>
          <a:bodyPr/>
          <a:lstStyle>
            <a:lvl1pPr>
              <a:defRPr/>
            </a:lvl1pPr>
          </a:lstStyle>
          <a:p>
            <a:pPr>
              <a:defRPr/>
            </a:pPr>
            <a:fld id="{4096A9EA-9B1B-4080-AA37-CCFD660ED6A5}" type="slidenum">
              <a:rPr lang="en-US"/>
              <a:pPr>
                <a:defRPr/>
              </a:pPr>
              <a:t>‹#›</a:t>
            </a:fld>
            <a:endParaRPr lang="en-US" dirty="0"/>
          </a:p>
        </p:txBody>
      </p:sp>
    </p:spTree>
    <p:extLst>
      <p:ext uri="{BB962C8B-B14F-4D97-AF65-F5344CB8AC3E}">
        <p14:creationId xmlns:p14="http://schemas.microsoft.com/office/powerpoint/2010/main" val="222226985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8686800" y="6400800"/>
            <a:ext cx="155575" cy="152400"/>
          </a:xfrm>
        </p:spPr>
        <p:txBody>
          <a:bodyPr/>
          <a:lstStyle>
            <a:lvl1pPr>
              <a:defRPr/>
            </a:lvl1pPr>
          </a:lstStyle>
          <a:p>
            <a:pPr>
              <a:defRPr/>
            </a:pPr>
            <a:fld id="{26DB0CF5-EC80-41AC-985E-69E453EA20A2}" type="slidenum">
              <a:rPr lang="en-US"/>
              <a:pPr>
                <a:defRPr/>
              </a:pPr>
              <a:t>‹#›</a:t>
            </a:fld>
            <a:endParaRPr lang="en-US" dirty="0"/>
          </a:p>
        </p:txBody>
      </p:sp>
    </p:spTree>
    <p:extLst>
      <p:ext uri="{BB962C8B-B14F-4D97-AF65-F5344CB8AC3E}">
        <p14:creationId xmlns:p14="http://schemas.microsoft.com/office/powerpoint/2010/main" val="76208228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pPr>
              <a:defRPr/>
            </a:pPr>
            <a:fld id="{5592F265-22E2-4623-BCB4-1BACE19AC27F}" type="slidenum">
              <a:rPr lang="en-US"/>
              <a:pPr>
                <a:defRPr/>
              </a:pPr>
              <a:t>‹#›</a:t>
            </a:fld>
            <a:endParaRPr lang="en-US" dirty="0"/>
          </a:p>
        </p:txBody>
      </p:sp>
    </p:spTree>
    <p:extLst>
      <p:ext uri="{BB962C8B-B14F-4D97-AF65-F5344CB8AC3E}">
        <p14:creationId xmlns:p14="http://schemas.microsoft.com/office/powerpoint/2010/main" val="388811244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8839200" y="6400800"/>
            <a:ext cx="155575" cy="152400"/>
          </a:xfrm>
        </p:spPr>
        <p:txBody>
          <a:bodyPr/>
          <a:lstStyle>
            <a:lvl1pPr>
              <a:defRPr/>
            </a:lvl1pPr>
          </a:lstStyle>
          <a:p>
            <a:pPr>
              <a:defRPr/>
            </a:pPr>
            <a:fld id="{201F65C0-A23D-48F4-BA7E-DE7571147ACC}" type="slidenum">
              <a:rPr lang="en-US"/>
              <a:pPr>
                <a:defRPr/>
              </a:pPr>
              <a:t>‹#›</a:t>
            </a:fld>
            <a:endParaRPr lang="en-US" dirty="0"/>
          </a:p>
        </p:txBody>
      </p:sp>
    </p:spTree>
    <p:extLst>
      <p:ext uri="{BB962C8B-B14F-4D97-AF65-F5344CB8AC3E}">
        <p14:creationId xmlns:p14="http://schemas.microsoft.com/office/powerpoint/2010/main" val="164643863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sldNum" sz="quarter" idx="10"/>
          </p:nvPr>
        </p:nvSpPr>
        <p:spPr>
          <a:ln/>
        </p:spPr>
        <p:txBody>
          <a:bodyPr/>
          <a:lstStyle>
            <a:lvl1pPr>
              <a:defRPr/>
            </a:lvl1pPr>
          </a:lstStyle>
          <a:p>
            <a:pPr>
              <a:defRPr/>
            </a:pPr>
            <a:fld id="{9F1916DF-5994-4DE0-A3C3-74D1C0B70CCE}" type="slidenum">
              <a:rPr lang="en-US"/>
              <a:pPr>
                <a:defRPr/>
              </a:pPr>
              <a:t>‹#›</a:t>
            </a:fld>
            <a:endParaRPr lang="en-US" dirty="0"/>
          </a:p>
        </p:txBody>
      </p:sp>
    </p:spTree>
    <p:extLst>
      <p:ext uri="{BB962C8B-B14F-4D97-AF65-F5344CB8AC3E}">
        <p14:creationId xmlns:p14="http://schemas.microsoft.com/office/powerpoint/2010/main" val="174762143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685800"/>
            <a:ext cx="2171700" cy="5181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685800"/>
            <a:ext cx="6362700" cy="5181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sldNum" sz="quarter" idx="10"/>
          </p:nvPr>
        </p:nvSpPr>
        <p:spPr>
          <a:ln/>
        </p:spPr>
        <p:txBody>
          <a:bodyPr/>
          <a:lstStyle>
            <a:lvl1pPr>
              <a:defRPr/>
            </a:lvl1pPr>
          </a:lstStyle>
          <a:p>
            <a:pPr>
              <a:defRPr/>
            </a:pPr>
            <a:fld id="{AD661B54-0998-47AB-9514-BCC9B0D444D6}" type="slidenum">
              <a:rPr lang="en-US"/>
              <a:pPr>
                <a:defRPr/>
              </a:pPr>
              <a:t>‹#›</a:t>
            </a:fld>
            <a:endParaRPr lang="en-US" dirty="0"/>
          </a:p>
        </p:txBody>
      </p:sp>
    </p:spTree>
    <p:extLst>
      <p:ext uri="{BB962C8B-B14F-4D97-AF65-F5344CB8AC3E}">
        <p14:creationId xmlns:p14="http://schemas.microsoft.com/office/powerpoint/2010/main" val="7530540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1" descr="textpg_bkgrd2b2"/>
          <p:cNvPicPr>
            <a:picLocks noChangeAspect="1" noChangeArrowheads="1"/>
          </p:cNvPicPr>
          <p:nvPr userDrawn="1"/>
        </p:nvPicPr>
        <p:blipFill>
          <a:blip r:embed="rId2">
            <a:extLst>
              <a:ext uri="{28A0092B-C50C-407E-A947-70E740481C1C}">
                <a14:useLocalDpi xmlns:a14="http://schemas.microsoft.com/office/drawing/2010/main" val="0"/>
              </a:ext>
            </a:extLst>
          </a:blip>
          <a:srcRect r="8560" b="8560"/>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Slide Number Placeholder 2"/>
          <p:cNvSpPr>
            <a:spLocks noGrp="1"/>
          </p:cNvSpPr>
          <p:nvPr>
            <p:ph type="sldNum" sz="quarter" idx="10"/>
          </p:nvPr>
        </p:nvSpPr>
        <p:spPr/>
        <p:txBody>
          <a:bodyPr/>
          <a:lstStyle>
            <a:lvl1pPr>
              <a:defRPr smtClean="0"/>
            </a:lvl1pPr>
          </a:lstStyle>
          <a:p>
            <a:pPr>
              <a:defRPr/>
            </a:pPr>
            <a:fld id="{961ED743-21CE-4F42-9288-B644160D50EA}" type="slidenum">
              <a:rPr lang="en-US"/>
              <a:pPr>
                <a:defRPr/>
              </a:pPr>
              <a:t>‹#›</a:t>
            </a:fld>
            <a:endParaRPr lang="en-US" dirty="0"/>
          </a:p>
        </p:txBody>
      </p:sp>
    </p:spTree>
    <p:extLst>
      <p:ext uri="{BB962C8B-B14F-4D97-AF65-F5344CB8AC3E}">
        <p14:creationId xmlns:p14="http://schemas.microsoft.com/office/powerpoint/2010/main" val="319287372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folHlink"/>
        </a:solidFill>
        <a:effectLst/>
      </p:bgPr>
    </p:bg>
    <p:spTree>
      <p:nvGrpSpPr>
        <p:cNvPr id="1" name=""/>
        <p:cNvGrpSpPr/>
        <p:nvPr/>
      </p:nvGrpSpPr>
      <p:grpSpPr>
        <a:xfrm>
          <a:off x="0" y="0"/>
          <a:ext cx="0" cy="0"/>
          <a:chOff x="0" y="0"/>
          <a:chExt cx="0" cy="0"/>
        </a:xfrm>
      </p:grpSpPr>
      <p:sp>
        <p:nvSpPr>
          <p:cNvPr id="1032" name="Rectangle 8"/>
          <p:cNvSpPr>
            <a:spLocks noGrp="1" noChangeArrowheads="1"/>
          </p:cNvSpPr>
          <p:nvPr>
            <p:ph type="sldNum" sz="quarter" idx="4"/>
          </p:nvPr>
        </p:nvSpPr>
        <p:spPr bwMode="auto">
          <a:xfrm>
            <a:off x="6245225" y="6400800"/>
            <a:ext cx="155575" cy="152400"/>
          </a:xfrm>
          <a:prstGeom prst="rect">
            <a:avLst/>
          </a:prstGeom>
          <a:noFill/>
          <a:ln w="9525">
            <a:noFill/>
            <a:miter lim="800000"/>
            <a:headEnd/>
            <a:tailEnd/>
          </a:ln>
          <a:effectLst/>
        </p:spPr>
        <p:txBody>
          <a:bodyPr vert="horz" wrap="none" lIns="0" tIns="0" rIns="0" bIns="0" numCol="1" anchor="ctr" anchorCtr="1" compatLnSpc="1">
            <a:prstTxWarp prst="textNoShape">
              <a:avLst/>
            </a:prstTxWarp>
            <a:spAutoFit/>
          </a:bodyPr>
          <a:lstStyle>
            <a:lvl1pPr eaLnBrk="1" hangingPunct="1">
              <a:defRPr sz="1000" b="0">
                <a:solidFill>
                  <a:schemeClr val="tx2"/>
                </a:solidFill>
                <a:latin typeface="Arial" charset="0"/>
              </a:defRPr>
            </a:lvl1pPr>
          </a:lstStyle>
          <a:p>
            <a:pPr>
              <a:defRPr/>
            </a:pPr>
            <a:fld id="{31FA1111-62B6-43AD-B419-791441CDE495}" type="slidenum">
              <a:rPr lang="en-US"/>
              <a:pPr>
                <a:defRPr/>
              </a:pPr>
              <a:t>‹#›</a:t>
            </a:fld>
            <a:endParaRPr lang="en-US" dirty="0"/>
          </a:p>
        </p:txBody>
      </p:sp>
      <p:pic>
        <p:nvPicPr>
          <p:cNvPr id="1027" name="Picture 21" descr="textpg_bkgrd2b2"/>
          <p:cNvPicPr>
            <a:picLocks noChangeAspect="1" noChangeArrowheads="1"/>
          </p:cNvPicPr>
          <p:nvPr/>
        </p:nvPicPr>
        <p:blipFill>
          <a:blip r:embed="rId14">
            <a:extLst>
              <a:ext uri="{28A0092B-C50C-407E-A947-70E740481C1C}">
                <a14:useLocalDpi xmlns:a14="http://schemas.microsoft.com/office/drawing/2010/main" val="0"/>
              </a:ext>
            </a:extLst>
          </a:blip>
          <a:srcRect r="5511" b="5511"/>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 name="Rectangle 2"/>
          <p:cNvSpPr>
            <a:spLocks noGrp="1" noChangeArrowheads="1"/>
          </p:cNvSpPr>
          <p:nvPr>
            <p:ph type="title"/>
          </p:nvPr>
        </p:nvSpPr>
        <p:spPr bwMode="auto">
          <a:xfrm>
            <a:off x="228600" y="0"/>
            <a:ext cx="8686800" cy="639763"/>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p>
            <a:pPr lvl="0"/>
            <a:r>
              <a:rPr lang="en-US" dirty="0"/>
              <a:t>Click to edit Master title style</a:t>
            </a:r>
          </a:p>
        </p:txBody>
      </p:sp>
      <p:sp>
        <p:nvSpPr>
          <p:cNvPr id="1029" name="Rectangle 3"/>
          <p:cNvSpPr>
            <a:spLocks noGrp="1" noChangeArrowheads="1"/>
          </p:cNvSpPr>
          <p:nvPr>
            <p:ph type="body" idx="1"/>
          </p:nvPr>
        </p:nvSpPr>
        <p:spPr bwMode="auto">
          <a:xfrm>
            <a:off x="228600" y="838200"/>
            <a:ext cx="86868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75"/>
          <p:cNvSpPr>
            <a:spLocks noChangeArrowheads="1"/>
          </p:cNvSpPr>
          <p:nvPr/>
        </p:nvSpPr>
        <p:spPr bwMode="auto">
          <a:xfrm>
            <a:off x="0" y="6248400"/>
            <a:ext cx="9144000" cy="609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en-US" altLang="en-US"/>
          </a:p>
        </p:txBody>
      </p:sp>
      <p:pic>
        <p:nvPicPr>
          <p:cNvPr id="1031" name="Picture 7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7000" y="6324600"/>
            <a:ext cx="2971800" cy="460375"/>
          </a:xfrm>
          <a:prstGeom prst="rect">
            <a:avLst/>
          </a:prstGeom>
          <a:solidFill>
            <a:srgbClr val="EDEDED"/>
          </a:solidFill>
          <a:ln>
            <a:noFill/>
          </a:ln>
          <a:extLst>
            <a:ext uri="{91240B29-F687-4F45-9708-019B960494DF}">
              <a14:hiddenLine xmlns:a14="http://schemas.microsoft.com/office/drawing/2010/main" w="88900" cap="sq">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71" r:id="rId10"/>
    <p:sldLayoutId id="2147483672" r:id="rId11"/>
    <p:sldLayoutId id="2147483682" r:id="rId12"/>
  </p:sldLayoutIdLst>
  <p:transition/>
  <p:hf hdr="0" ftr="0" dt="0"/>
  <p:txStyles>
    <p:titleStyle>
      <a:lvl1pPr algn="l" rtl="0" eaLnBrk="0" fontAlgn="base" hangingPunct="0">
        <a:spcBef>
          <a:spcPct val="0"/>
        </a:spcBef>
        <a:spcAft>
          <a:spcPct val="0"/>
        </a:spcAft>
        <a:defRPr sz="3200" cap="small">
          <a:solidFill>
            <a:schemeClr val="bg1"/>
          </a:solidFill>
          <a:latin typeface="Calibri" pitchFamily="34" charset="0"/>
          <a:ea typeface="+mj-ea"/>
          <a:cs typeface="+mj-cs"/>
        </a:defRPr>
      </a:lvl1pPr>
      <a:lvl2pPr algn="l" rtl="0" eaLnBrk="0" fontAlgn="base" hangingPunct="0">
        <a:spcBef>
          <a:spcPct val="0"/>
        </a:spcBef>
        <a:spcAft>
          <a:spcPct val="0"/>
        </a:spcAft>
        <a:defRPr sz="3200">
          <a:solidFill>
            <a:schemeClr val="bg1"/>
          </a:solidFill>
          <a:latin typeface="Calibri" panose="020F0502020204030204" pitchFamily="34" charset="0"/>
        </a:defRPr>
      </a:lvl2pPr>
      <a:lvl3pPr algn="l" rtl="0" eaLnBrk="0" fontAlgn="base" hangingPunct="0">
        <a:spcBef>
          <a:spcPct val="0"/>
        </a:spcBef>
        <a:spcAft>
          <a:spcPct val="0"/>
        </a:spcAft>
        <a:defRPr sz="3200">
          <a:solidFill>
            <a:schemeClr val="bg1"/>
          </a:solidFill>
          <a:latin typeface="Calibri" panose="020F0502020204030204" pitchFamily="34" charset="0"/>
        </a:defRPr>
      </a:lvl3pPr>
      <a:lvl4pPr algn="l" rtl="0" eaLnBrk="0" fontAlgn="base" hangingPunct="0">
        <a:spcBef>
          <a:spcPct val="0"/>
        </a:spcBef>
        <a:spcAft>
          <a:spcPct val="0"/>
        </a:spcAft>
        <a:defRPr sz="3200">
          <a:solidFill>
            <a:schemeClr val="bg1"/>
          </a:solidFill>
          <a:latin typeface="Calibri" panose="020F0502020204030204" pitchFamily="34" charset="0"/>
        </a:defRPr>
      </a:lvl4pPr>
      <a:lvl5pPr algn="l" rtl="0" eaLnBrk="0" fontAlgn="base" hangingPunct="0">
        <a:spcBef>
          <a:spcPct val="0"/>
        </a:spcBef>
        <a:spcAft>
          <a:spcPct val="0"/>
        </a:spcAft>
        <a:defRPr sz="3200">
          <a:solidFill>
            <a:schemeClr val="bg1"/>
          </a:solidFill>
          <a:latin typeface="Calibri" panose="020F0502020204030204" pitchFamily="34"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p:titleStyle>
    <p:bodyStyle>
      <a:lvl1pPr marL="228600" indent="-228600" algn="l" rtl="0" eaLnBrk="0" fontAlgn="base" hangingPunct="0">
        <a:spcBef>
          <a:spcPct val="20000"/>
        </a:spcBef>
        <a:spcAft>
          <a:spcPct val="0"/>
        </a:spcAft>
        <a:buClr>
          <a:schemeClr val="hlink"/>
        </a:buClr>
        <a:buChar char="•"/>
        <a:defRPr sz="2000">
          <a:solidFill>
            <a:schemeClr val="tx1"/>
          </a:solidFill>
          <a:latin typeface="+mn-lt"/>
          <a:ea typeface="+mn-ea"/>
          <a:cs typeface="+mn-cs"/>
        </a:defRPr>
      </a:lvl1pPr>
      <a:lvl2pPr marL="565150" indent="-222250" algn="l" rtl="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mn-lt"/>
        </a:defRPr>
      </a:lvl2pPr>
      <a:lvl3pPr marL="908050" indent="-228600" algn="l" rtl="0" eaLnBrk="0" fontAlgn="base" hangingPunct="0">
        <a:spcBef>
          <a:spcPct val="20000"/>
        </a:spcBef>
        <a:spcAft>
          <a:spcPct val="0"/>
        </a:spcAft>
        <a:buClr>
          <a:srgbClr val="918C5A"/>
        </a:buClr>
        <a:buChar char="•"/>
        <a:defRPr sz="1600">
          <a:solidFill>
            <a:schemeClr val="tx1"/>
          </a:solidFill>
          <a:latin typeface="+mn-lt"/>
        </a:defRPr>
      </a:lvl3pPr>
      <a:lvl4pPr marL="1250950" indent="-228600" algn="l" rtl="0" eaLnBrk="0" fontAlgn="base" hangingPunct="0">
        <a:spcBef>
          <a:spcPct val="20000"/>
        </a:spcBef>
        <a:spcAft>
          <a:spcPct val="0"/>
        </a:spcAft>
        <a:buClr>
          <a:srgbClr val="918C5A"/>
        </a:buClr>
        <a:buChar char="•"/>
        <a:defRPr sz="1600">
          <a:solidFill>
            <a:schemeClr val="tx1"/>
          </a:solidFill>
          <a:latin typeface="+mn-lt"/>
        </a:defRPr>
      </a:lvl4pPr>
      <a:lvl5pPr marL="1593850" indent="-228600" algn="l" rtl="0" eaLnBrk="0" fontAlgn="base" hangingPunct="0">
        <a:spcBef>
          <a:spcPct val="20000"/>
        </a:spcBef>
        <a:spcAft>
          <a:spcPct val="0"/>
        </a:spcAft>
        <a:buClr>
          <a:srgbClr val="918C5A"/>
        </a:buClr>
        <a:buChar char="•"/>
        <a:defRPr sz="1600">
          <a:solidFill>
            <a:schemeClr val="tx1"/>
          </a:solidFill>
          <a:latin typeface="+mn-lt"/>
        </a:defRPr>
      </a:lvl5pPr>
      <a:lvl6pPr marL="2051050" indent="-228600" algn="l" rtl="0" fontAlgn="base">
        <a:spcBef>
          <a:spcPct val="20000"/>
        </a:spcBef>
        <a:spcAft>
          <a:spcPct val="0"/>
        </a:spcAft>
        <a:buClr>
          <a:srgbClr val="918C5A"/>
        </a:buClr>
        <a:buChar char="•"/>
        <a:defRPr sz="1600">
          <a:solidFill>
            <a:schemeClr val="tx1"/>
          </a:solidFill>
          <a:latin typeface="+mn-lt"/>
        </a:defRPr>
      </a:lvl6pPr>
      <a:lvl7pPr marL="2508250" indent="-228600" algn="l" rtl="0" fontAlgn="base">
        <a:spcBef>
          <a:spcPct val="20000"/>
        </a:spcBef>
        <a:spcAft>
          <a:spcPct val="0"/>
        </a:spcAft>
        <a:buClr>
          <a:srgbClr val="918C5A"/>
        </a:buClr>
        <a:buChar char="•"/>
        <a:defRPr sz="1600">
          <a:solidFill>
            <a:schemeClr val="tx1"/>
          </a:solidFill>
          <a:latin typeface="+mn-lt"/>
        </a:defRPr>
      </a:lvl7pPr>
      <a:lvl8pPr marL="2965450" indent="-228600" algn="l" rtl="0" fontAlgn="base">
        <a:spcBef>
          <a:spcPct val="20000"/>
        </a:spcBef>
        <a:spcAft>
          <a:spcPct val="0"/>
        </a:spcAft>
        <a:buClr>
          <a:srgbClr val="918C5A"/>
        </a:buClr>
        <a:buChar char="•"/>
        <a:defRPr sz="1600">
          <a:solidFill>
            <a:schemeClr val="tx1"/>
          </a:solidFill>
          <a:latin typeface="+mn-lt"/>
        </a:defRPr>
      </a:lvl8pPr>
      <a:lvl9pPr marL="3422650" indent="-228600" algn="l" rtl="0" fontAlgn="base">
        <a:spcBef>
          <a:spcPct val="20000"/>
        </a:spcBef>
        <a:spcAft>
          <a:spcPct val="0"/>
        </a:spcAft>
        <a:buClr>
          <a:srgbClr val="918C5A"/>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jjr8aIIRkYc&amp;list=PLDQaRcbiSnqFe6pyaSy-Hwj8XRFPgZ5h8&amp;index=2"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42" name="Rectangle 10"/>
          <p:cNvSpPr>
            <a:spLocks noGrp="1" noChangeArrowheads="1"/>
          </p:cNvSpPr>
          <p:nvPr>
            <p:ph type="ctrTitle"/>
          </p:nvPr>
        </p:nvSpPr>
        <p:spPr>
          <a:xfrm>
            <a:off x="685800" y="1371600"/>
            <a:ext cx="7851775" cy="1725613"/>
          </a:xfrm>
        </p:spPr>
        <p:txBody>
          <a:bodyPr/>
          <a:lstStyle/>
          <a:p>
            <a:pPr eaLnBrk="1" hangingPunct="1">
              <a:defRPr/>
            </a:pPr>
            <a:r>
              <a:rPr lang="en-US" sz="4000" dirty="0"/>
              <a:t>EETS 8355: data center network engineering</a:t>
            </a:r>
          </a:p>
        </p:txBody>
      </p:sp>
      <p:sp>
        <p:nvSpPr>
          <p:cNvPr id="44043" name="Rectangle 11"/>
          <p:cNvSpPr>
            <a:spLocks noGrp="1" noChangeArrowheads="1"/>
          </p:cNvSpPr>
          <p:nvPr>
            <p:ph type="subTitle" idx="1"/>
          </p:nvPr>
        </p:nvSpPr>
        <p:spPr>
          <a:xfrm>
            <a:off x="631825" y="3657600"/>
            <a:ext cx="7851775" cy="1597025"/>
          </a:xfrm>
        </p:spPr>
        <p:txBody>
          <a:bodyPr/>
          <a:lstStyle/>
          <a:p>
            <a:pPr eaLnBrk="1" hangingPunct="1">
              <a:defRPr/>
            </a:pPr>
            <a:r>
              <a:rPr lang="en-US" sz="3600" dirty="0"/>
              <a:t>Dr. M. Scott Kingsley</a:t>
            </a:r>
            <a:endParaRPr lang="en-US" dirty="0"/>
          </a:p>
          <a:p>
            <a:pPr eaLnBrk="1" hangingPunct="1">
              <a:defRPr/>
            </a:pPr>
            <a:endParaRPr lang="en-US" sz="2800" dirty="0"/>
          </a:p>
          <a:p>
            <a:pPr eaLnBrk="1" hangingPunct="1">
              <a:defRPr/>
            </a:pPr>
            <a:r>
              <a:rPr lang="en-US" sz="2800" dirty="0"/>
              <a:t>Virtual Extensible LAN (VXLAN)</a:t>
            </a:r>
            <a:endParaRPr lang="en-US" sz="2800" dirty="0">
              <a:effectLst>
                <a:outerShdw blurRad="38100" dist="38100" dir="2700000" algn="tl">
                  <a:srgbClr val="000000">
                    <a:alpha val="43137"/>
                  </a:srgbClr>
                </a:outerShdw>
              </a:effectLst>
            </a:endParaRPr>
          </a:p>
          <a:p>
            <a:pPr eaLnBrk="1" hangingPunct="1">
              <a:defRPr/>
            </a:pPr>
            <a:endParaRPr lang="en-US" sz="24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DATA CENTER OVERLAY EVOLUTION</a:t>
            </a:r>
          </a:p>
        </p:txBody>
      </p:sp>
      <p:sp>
        <p:nvSpPr>
          <p:cNvPr id="16387"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10BF0E66-6CA3-409B-AB56-77A48619051E}" type="slidenum">
              <a:rPr lang="en-US" altLang="en-US" b="0" smtClean="0">
                <a:solidFill>
                  <a:schemeClr val="tx2"/>
                </a:solidFill>
              </a:rPr>
              <a:pPr/>
              <a:t>1</a:t>
            </a:fld>
            <a:endParaRPr lang="en-US" altLang="en-US" b="0">
              <a:solidFill>
                <a:schemeClr val="tx2"/>
              </a:solidFill>
            </a:endParaRPr>
          </a:p>
        </p:txBody>
      </p:sp>
      <p:pic>
        <p:nvPicPr>
          <p:cNvPr id="1638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2750" y="993671"/>
            <a:ext cx="8451850" cy="4492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Rectangle 8"/>
          <p:cNvSpPr>
            <a:spLocks noChangeArrowheads="1"/>
          </p:cNvSpPr>
          <p:nvPr/>
        </p:nvSpPr>
        <p:spPr bwMode="auto">
          <a:xfrm>
            <a:off x="533400" y="4114800"/>
            <a:ext cx="838200" cy="457200"/>
          </a:xfrm>
          <a:prstGeom prst="rect">
            <a:avLst/>
          </a:prstGeom>
          <a:solidFill>
            <a:schemeClr val="bg1">
              <a:alpha val="50195"/>
            </a:schemeClr>
          </a:solidFill>
          <a:ln w="9525" algn="ctr">
            <a:solidFill>
              <a:srgbClr val="FFFF00"/>
            </a:solidFill>
            <a:round/>
            <a:headEnd/>
            <a:tailEnd/>
          </a:ln>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en-US" altLang="en-US"/>
          </a:p>
        </p:txBody>
      </p:sp>
      <p:sp>
        <p:nvSpPr>
          <p:cNvPr id="16390" name="TextBox 10"/>
          <p:cNvSpPr txBox="1">
            <a:spLocks noChangeArrowheads="1"/>
          </p:cNvSpPr>
          <p:nvPr/>
        </p:nvSpPr>
        <p:spPr bwMode="auto">
          <a:xfrm>
            <a:off x="1905000" y="3962400"/>
            <a:ext cx="762000" cy="523875"/>
          </a:xfrm>
          <a:prstGeom prst="rect">
            <a:avLst/>
          </a:prstGeom>
          <a:solidFill>
            <a:srgbClr val="296D97"/>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en-US" sz="1400" b="0">
                <a:solidFill>
                  <a:schemeClr val="bg1"/>
                </a:solidFill>
              </a:rPr>
              <a:t>Cisco </a:t>
            </a:r>
          </a:p>
          <a:p>
            <a:pPr eaLnBrk="1" hangingPunct="1"/>
            <a:r>
              <a:rPr lang="en-US" altLang="en-US" sz="1400" b="0">
                <a:solidFill>
                  <a:schemeClr val="bg1"/>
                </a:solidFill>
              </a:rPr>
              <a:t>ACI</a:t>
            </a:r>
          </a:p>
        </p:txBody>
      </p:sp>
      <p:sp>
        <p:nvSpPr>
          <p:cNvPr id="16391" name="TextBox 6"/>
          <p:cNvSpPr txBox="1">
            <a:spLocks noChangeArrowheads="1"/>
          </p:cNvSpPr>
          <p:nvPr/>
        </p:nvSpPr>
        <p:spPr bwMode="auto">
          <a:xfrm>
            <a:off x="8020050" y="3925888"/>
            <a:ext cx="685800" cy="646112"/>
          </a:xfrm>
          <a:prstGeom prst="rect">
            <a:avLst/>
          </a:prstGeom>
          <a:solidFill>
            <a:srgbClr val="296D97"/>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r>
              <a:rPr lang="en-US" altLang="en-US" sz="1200" b="0">
                <a:solidFill>
                  <a:schemeClr val="bg1"/>
                </a:solidFill>
              </a:rPr>
              <a:t>VXLAN/BGP</a:t>
            </a:r>
          </a:p>
          <a:p>
            <a:pPr eaLnBrk="1" hangingPunct="1"/>
            <a:r>
              <a:rPr lang="en-US" altLang="en-US" sz="1200" b="0">
                <a:solidFill>
                  <a:schemeClr val="bg1"/>
                </a:solidFill>
              </a:rPr>
              <a:t>/EVPN</a:t>
            </a:r>
          </a:p>
        </p:txBody>
      </p:sp>
      <p:sp>
        <p:nvSpPr>
          <p:cNvPr id="2" name="TextBox 1">
            <a:extLst>
              <a:ext uri="{FF2B5EF4-FFF2-40B4-BE49-F238E27FC236}">
                <a16:creationId xmlns:a16="http://schemas.microsoft.com/office/drawing/2014/main" id="{21E519D2-D841-4685-8470-C9303A5A1666}"/>
              </a:ext>
            </a:extLst>
          </p:cNvPr>
          <p:cNvSpPr txBox="1"/>
          <p:nvPr/>
        </p:nvSpPr>
        <p:spPr>
          <a:xfrm>
            <a:off x="2438400" y="5679663"/>
            <a:ext cx="4544834" cy="369332"/>
          </a:xfrm>
          <a:prstGeom prst="rect">
            <a:avLst/>
          </a:prstGeom>
          <a:noFill/>
        </p:spPr>
        <p:txBody>
          <a:bodyPr wrap="none" rtlCol="0">
            <a:spAutoFit/>
          </a:bodyPr>
          <a:lstStyle/>
          <a:p>
            <a:r>
              <a:rPr lang="en-US" dirty="0"/>
              <a:t>Figure 1: Data Center Overlay Evolution</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OVERVIEW</a:t>
            </a:r>
          </a:p>
        </p:txBody>
      </p:sp>
      <p:sp>
        <p:nvSpPr>
          <p:cNvPr id="18435" name="Content Placeholder 1"/>
          <p:cNvSpPr>
            <a:spLocks noGrp="1"/>
          </p:cNvSpPr>
          <p:nvPr>
            <p:ph idx="1"/>
          </p:nvPr>
        </p:nvSpPr>
        <p:spPr>
          <a:xfrm>
            <a:off x="334963" y="914400"/>
            <a:ext cx="8382000" cy="7391400"/>
          </a:xfrm>
        </p:spPr>
        <p:txBody>
          <a:bodyPr/>
          <a:lstStyle/>
          <a:p>
            <a:pPr eaLnBrk="1" hangingPunct="1"/>
            <a:r>
              <a:rPr lang="en-US" altLang="en-US" sz="2800"/>
              <a:t>Traditional network segmentation has been provided by VLANs that are standardized under the IEEE 802.1Q group. </a:t>
            </a:r>
          </a:p>
          <a:p>
            <a:pPr eaLnBrk="1" hangingPunct="1"/>
            <a:r>
              <a:rPr lang="en-US" altLang="en-US" sz="2800"/>
              <a:t>VLANs provide logical segmentation of Layer 2 boundaries or broadcast domains. </a:t>
            </a:r>
          </a:p>
          <a:p>
            <a:pPr eaLnBrk="1" hangingPunct="1"/>
            <a:r>
              <a:rPr lang="en-US" altLang="en-US" sz="2800"/>
              <a:t>However, due to the inefficient use of available network links with VLAN use, rigid requirements on device placements in the data center network, and the limited scalability to a maximum 4094 VLANs, using VLANs has become a limiting factor to IT departments and cloud providers as they build large multitenant data centers.</a:t>
            </a:r>
          </a:p>
        </p:txBody>
      </p:sp>
      <p:sp>
        <p:nvSpPr>
          <p:cNvPr id="1843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009DF8F8-01A8-4FF7-AAF6-D114719E1EE3}" type="slidenum">
              <a:rPr lang="en-US" altLang="en-US" b="0" smtClean="0">
                <a:solidFill>
                  <a:schemeClr val="tx2"/>
                </a:solidFill>
              </a:rPr>
              <a:pPr/>
              <a:t>2</a:t>
            </a:fld>
            <a:endParaRPr lang="en-US" altLang="en-US" b="0">
              <a:solidFill>
                <a:schemeClr val="tx2"/>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OVERVIEW</a:t>
            </a:r>
          </a:p>
        </p:txBody>
      </p:sp>
      <p:sp>
        <p:nvSpPr>
          <p:cNvPr id="19459" name="Content Placeholder 1"/>
          <p:cNvSpPr>
            <a:spLocks noGrp="1"/>
          </p:cNvSpPr>
          <p:nvPr>
            <p:ph idx="1"/>
          </p:nvPr>
        </p:nvSpPr>
        <p:spPr>
          <a:xfrm>
            <a:off x="304800" y="1143000"/>
            <a:ext cx="8382000" cy="7391400"/>
          </a:xfrm>
        </p:spPr>
        <p:txBody>
          <a:bodyPr/>
          <a:lstStyle/>
          <a:p>
            <a:pPr eaLnBrk="1" hangingPunct="1"/>
            <a:r>
              <a:rPr lang="en-US" altLang="en-US"/>
              <a:t>Cisco, in partnership with other leading vendors, proposed the Virtual Extensible LAN (VXLAN) standard to the IETF as a solution to the data center network challenges posed by traditional VLAN technology. </a:t>
            </a:r>
          </a:p>
          <a:p>
            <a:pPr eaLnBrk="1" hangingPunct="1"/>
            <a:r>
              <a:rPr lang="en-US" altLang="en-US"/>
              <a:t>The VXLAN standard provides for the elastic workload placement and higher scalability of Layer2 segmentation that is required by today’s application demands.</a:t>
            </a:r>
          </a:p>
        </p:txBody>
      </p:sp>
      <p:sp>
        <p:nvSpPr>
          <p:cNvPr id="1946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602462F0-8ABE-4CDA-A710-27850C2EB5DC}" type="slidenum">
              <a:rPr lang="en-US" altLang="en-US" b="0" smtClean="0">
                <a:solidFill>
                  <a:schemeClr val="tx2"/>
                </a:solidFill>
              </a:rPr>
              <a:pPr/>
              <a:t>3</a:t>
            </a:fld>
            <a:endParaRPr lang="en-US" altLang="en-US" b="0">
              <a:solidFill>
                <a:schemeClr val="tx2"/>
              </a:solidFill>
            </a:endParaRPr>
          </a:p>
        </p:txBody>
      </p:sp>
      <p:sp>
        <p:nvSpPr>
          <p:cNvPr id="19461" name="TextBox 4"/>
          <p:cNvSpPr txBox="1">
            <a:spLocks noChangeArrowheads="1"/>
          </p:cNvSpPr>
          <p:nvPr/>
        </p:nvSpPr>
        <p:spPr bwMode="auto">
          <a:xfrm>
            <a:off x="3962400" y="6313488"/>
            <a:ext cx="5489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en-US" altLang="en-US" sz="1600" b="0"/>
          </a:p>
          <a:p>
            <a:pPr eaLnBrk="1" hangingPunct="1"/>
            <a:r>
              <a:rPr lang="en-US" altLang="en-US" sz="1600" b="0"/>
              <a:t> VXLAN Overview: Cisco Nexus 9000 Series Switches</a:t>
            </a:r>
            <a:endParaRPr lang="en-US" altLang="en-US" sz="160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OVERVIEW</a:t>
            </a:r>
          </a:p>
        </p:txBody>
      </p:sp>
      <p:sp>
        <p:nvSpPr>
          <p:cNvPr id="20483" name="Content Placeholder 1"/>
          <p:cNvSpPr>
            <a:spLocks noGrp="1"/>
          </p:cNvSpPr>
          <p:nvPr>
            <p:ph idx="1"/>
          </p:nvPr>
        </p:nvSpPr>
        <p:spPr>
          <a:xfrm>
            <a:off x="460375" y="990600"/>
            <a:ext cx="8382000" cy="7391400"/>
          </a:xfrm>
        </p:spPr>
        <p:txBody>
          <a:bodyPr/>
          <a:lstStyle/>
          <a:p>
            <a:pPr eaLnBrk="1" hangingPunct="1"/>
            <a:r>
              <a:rPr lang="en-US" altLang="en-US" sz="2800"/>
              <a:t>Cisco Nexus 9000 Series Switches can run in ACI mode or NX-OS mode. In ACI mode Cisco Nexus 9000 Series Switches when used in combination with the Cisco Application Policy Infrastructure Controller (APIC) provide an application centric infrastructure. </a:t>
            </a:r>
          </a:p>
          <a:p>
            <a:pPr eaLnBrk="1" hangingPunct="1"/>
            <a:r>
              <a:rPr lang="en-US" altLang="en-US" sz="2800"/>
              <a:t>In NX-OS mode Cisco Nexus 9000 Series Switches function as classic switches.</a:t>
            </a:r>
          </a:p>
          <a:p>
            <a:pPr eaLnBrk="1" hangingPunct="1"/>
            <a:r>
              <a:rPr lang="en-US" altLang="en-US" sz="2800"/>
              <a:t>The VXLAN implementations on Cisco Nexus 9000 Series switches differ between ACI mode and NX-OS mode. This is  an overview of VXLAN on Cisco Nexus 9000 Series Switches in NX-OS mode.</a:t>
            </a:r>
          </a:p>
        </p:txBody>
      </p:sp>
      <p:sp>
        <p:nvSpPr>
          <p:cNvPr id="2048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D622A278-0991-486A-BF99-D9AFFA538182}" type="slidenum">
              <a:rPr lang="en-US" altLang="en-US" b="0" smtClean="0">
                <a:solidFill>
                  <a:schemeClr val="tx2"/>
                </a:solidFill>
              </a:rPr>
              <a:pPr/>
              <a:t>4</a:t>
            </a:fld>
            <a:endParaRPr lang="en-US" altLang="en-US" b="0">
              <a:solidFill>
                <a:schemeClr val="tx2"/>
              </a:solidFill>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OVERVIEW</a:t>
            </a:r>
          </a:p>
        </p:txBody>
      </p:sp>
      <p:sp>
        <p:nvSpPr>
          <p:cNvPr id="21507" name="Content Placeholder 1"/>
          <p:cNvSpPr>
            <a:spLocks noGrp="1"/>
          </p:cNvSpPr>
          <p:nvPr>
            <p:ph idx="1"/>
          </p:nvPr>
        </p:nvSpPr>
        <p:spPr>
          <a:xfrm>
            <a:off x="319088" y="990600"/>
            <a:ext cx="8382000" cy="7391400"/>
          </a:xfrm>
        </p:spPr>
        <p:txBody>
          <a:bodyPr/>
          <a:lstStyle/>
          <a:p>
            <a:pPr eaLnBrk="1" hangingPunct="1"/>
            <a:r>
              <a:rPr lang="en-US" altLang="en-US"/>
              <a:t>As its name indicates, VXLAN is designed to provide the same Ethernet Layer 2 network services as VLAN does today, but with greater extensibility and flexibility. Compared to VLAN, VXLAN offers the following benefits: </a:t>
            </a:r>
          </a:p>
          <a:p>
            <a:pPr lvl="1" eaLnBrk="1" hangingPunct="1"/>
            <a:r>
              <a:rPr lang="en-US" altLang="en-US"/>
              <a:t>Flexible placement of multitenant segments throughout the data center: It provides a solution to extend Layer 2 segments over the underlying shared network infrastructure so that tenant workload can be placed across physical pods in the data center. </a:t>
            </a:r>
          </a:p>
        </p:txBody>
      </p:sp>
      <p:sp>
        <p:nvSpPr>
          <p:cNvPr id="2150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A5D527F7-0CE6-46B9-B44C-703D419F3DF0}" type="slidenum">
              <a:rPr lang="en-US" altLang="en-US" b="0" smtClean="0">
                <a:solidFill>
                  <a:schemeClr val="tx2"/>
                </a:solidFill>
              </a:rPr>
              <a:pPr/>
              <a:t>5</a:t>
            </a:fld>
            <a:endParaRPr lang="en-US" altLang="en-US" b="0">
              <a:solidFill>
                <a:schemeClr val="tx2"/>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OVERVIEW</a:t>
            </a:r>
          </a:p>
        </p:txBody>
      </p:sp>
      <p:sp>
        <p:nvSpPr>
          <p:cNvPr id="22531" name="Content Placeholder 1"/>
          <p:cNvSpPr>
            <a:spLocks noGrp="1"/>
          </p:cNvSpPr>
          <p:nvPr>
            <p:ph idx="1"/>
          </p:nvPr>
        </p:nvSpPr>
        <p:spPr>
          <a:xfrm>
            <a:off x="382588" y="1066800"/>
            <a:ext cx="8382000" cy="7391400"/>
          </a:xfrm>
        </p:spPr>
        <p:txBody>
          <a:bodyPr/>
          <a:lstStyle/>
          <a:p>
            <a:pPr lvl="1" eaLnBrk="1" hangingPunct="1"/>
            <a:r>
              <a:rPr lang="en-US" altLang="en-US" sz="3200"/>
              <a:t>Higher scalability to address more Layer 2 segments: VLANs use a 12-bit VLAN ID to address Layer 2 segments, which results in limiting scalability of only 4094 VLANs. VXLAN uses a 24-bit segment ID known as the VXLAN network identifier (VNID), which enables up to 16 million VXLAN segments to coexist in the same administrative domain. </a:t>
            </a:r>
          </a:p>
        </p:txBody>
      </p:sp>
      <p:sp>
        <p:nvSpPr>
          <p:cNvPr id="2253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EACE9413-BF84-4E40-9667-C72962811E1D}" type="slidenum">
              <a:rPr lang="en-US" altLang="en-US" b="0" smtClean="0">
                <a:solidFill>
                  <a:schemeClr val="tx2"/>
                </a:solidFill>
              </a:rPr>
              <a:pPr/>
              <a:t>6</a:t>
            </a:fld>
            <a:endParaRPr lang="en-US" altLang="en-US" b="0">
              <a:solidFill>
                <a:schemeClr val="tx2"/>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OVERVIEW</a:t>
            </a:r>
          </a:p>
        </p:txBody>
      </p:sp>
      <p:sp>
        <p:nvSpPr>
          <p:cNvPr id="23555" name="Content Placeholder 1"/>
          <p:cNvSpPr>
            <a:spLocks noGrp="1"/>
          </p:cNvSpPr>
          <p:nvPr>
            <p:ph idx="1"/>
          </p:nvPr>
        </p:nvSpPr>
        <p:spPr>
          <a:xfrm>
            <a:off x="-228600" y="914400"/>
            <a:ext cx="9223375" cy="7391400"/>
          </a:xfrm>
        </p:spPr>
        <p:txBody>
          <a:bodyPr/>
          <a:lstStyle/>
          <a:p>
            <a:pPr lvl="1" eaLnBrk="1" hangingPunct="1"/>
            <a:r>
              <a:rPr lang="en-US" altLang="en-US" sz="3200"/>
              <a:t>Better utilization of available network paths in the underlying infrastructure: VLAN uses the Spanning Tree Protocol for loop prevention, which ends up not using half of the network links in a network by blocking redundant paths. </a:t>
            </a:r>
          </a:p>
          <a:p>
            <a:pPr lvl="1" eaLnBrk="1" hangingPunct="1"/>
            <a:r>
              <a:rPr lang="en-US" altLang="en-US" sz="3200"/>
              <a:t>In contrast, VXLAN packets are transferred through the underlying network based on its Layer 3 header and can take complete advantage of Layer 3 routing, equal-cost multipath (ECMP) routing, and link aggregation protocols to use all available paths.</a:t>
            </a:r>
          </a:p>
        </p:txBody>
      </p:sp>
      <p:sp>
        <p:nvSpPr>
          <p:cNvPr id="2355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A39D275E-764E-4724-97DA-413B34F5B4E3}" type="slidenum">
              <a:rPr lang="en-US" altLang="en-US" b="0" smtClean="0">
                <a:solidFill>
                  <a:schemeClr val="tx2"/>
                </a:solidFill>
              </a:rPr>
              <a:pPr/>
              <a:t>7</a:t>
            </a:fld>
            <a:endParaRPr lang="en-US" altLang="en-US" b="0">
              <a:solidFill>
                <a:schemeClr val="tx2"/>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ENCAPSULATION AND PACKET FORMAT</a:t>
            </a:r>
          </a:p>
        </p:txBody>
      </p:sp>
      <p:sp>
        <p:nvSpPr>
          <p:cNvPr id="24579" name="Content Placeholder 1"/>
          <p:cNvSpPr>
            <a:spLocks noGrp="1"/>
          </p:cNvSpPr>
          <p:nvPr>
            <p:ph idx="1"/>
          </p:nvPr>
        </p:nvSpPr>
        <p:spPr>
          <a:xfrm>
            <a:off x="493713" y="914400"/>
            <a:ext cx="8385175" cy="4038600"/>
          </a:xfrm>
        </p:spPr>
        <p:txBody>
          <a:bodyPr/>
          <a:lstStyle/>
          <a:p>
            <a:pPr eaLnBrk="1" hangingPunct="1"/>
            <a:r>
              <a:rPr lang="en-US" altLang="en-US"/>
              <a:t>VXLAN is a Layer 2 overlay scheme over a Layer 3 network. </a:t>
            </a:r>
          </a:p>
          <a:p>
            <a:pPr eaLnBrk="1" hangingPunct="1"/>
            <a:r>
              <a:rPr lang="en-US" altLang="en-US"/>
              <a:t>It uses MAC Address-in-User Datagram Protocol (MAC-in-UDP) encapsulation to provide a means to extend Layer 2 segments across the data center network. </a:t>
            </a:r>
          </a:p>
          <a:p>
            <a:pPr eaLnBrk="1" hangingPunct="1"/>
            <a:r>
              <a:rPr lang="en-US" altLang="en-US"/>
              <a:t>VXLAN is a solution to support a flexible, large-scale multitenant environment over a shared common physical infrastructure. </a:t>
            </a:r>
          </a:p>
        </p:txBody>
      </p:sp>
      <p:sp>
        <p:nvSpPr>
          <p:cNvPr id="2458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25B55AEA-DF70-4D7C-85CA-DE90E67841A8}" type="slidenum">
              <a:rPr lang="en-US" altLang="en-US" b="0" smtClean="0">
                <a:solidFill>
                  <a:schemeClr val="tx2"/>
                </a:solidFill>
              </a:rPr>
              <a:pPr/>
              <a:t>8</a:t>
            </a:fld>
            <a:endParaRPr lang="en-US" altLang="en-US" b="0">
              <a:solidFill>
                <a:schemeClr val="tx2"/>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ENCAPSULATION AND PACKET FORMAT</a:t>
            </a:r>
          </a:p>
        </p:txBody>
      </p:sp>
      <p:sp>
        <p:nvSpPr>
          <p:cNvPr id="25603" name="Content Placeholder 1"/>
          <p:cNvSpPr>
            <a:spLocks noGrp="1"/>
          </p:cNvSpPr>
          <p:nvPr>
            <p:ph idx="1"/>
          </p:nvPr>
        </p:nvSpPr>
        <p:spPr>
          <a:xfrm>
            <a:off x="493713" y="1066800"/>
            <a:ext cx="8385175" cy="4038600"/>
          </a:xfrm>
        </p:spPr>
        <p:txBody>
          <a:bodyPr/>
          <a:lstStyle/>
          <a:p>
            <a:pPr eaLnBrk="1" hangingPunct="1"/>
            <a:r>
              <a:rPr lang="en-US" altLang="en-US" dirty="0"/>
              <a:t>The transport protocol over the physical data center network is IP plus UDP. </a:t>
            </a:r>
          </a:p>
          <a:p>
            <a:pPr eaLnBrk="1" hangingPunct="1"/>
            <a:r>
              <a:rPr lang="en-US" altLang="en-US" dirty="0"/>
              <a:t>VXLAN defines a MAC-in-UDP encapsulation scheme where the original Layer 2 frame has a VXLAN header added and is then placed in a UDP-IP packet. </a:t>
            </a:r>
          </a:p>
          <a:p>
            <a:pPr eaLnBrk="1" hangingPunct="1"/>
            <a:r>
              <a:rPr lang="en-US" altLang="en-US" dirty="0"/>
              <a:t>With this MAC-in-UDP encapsulation, VXLAN tunnels Layer 2 network over Layer 3 network. </a:t>
            </a:r>
          </a:p>
          <a:p>
            <a:pPr eaLnBrk="1" hangingPunct="1"/>
            <a:r>
              <a:rPr lang="en-US" altLang="en-US" dirty="0"/>
              <a:t>The VXLAN packet format is shown in Figure 2.</a:t>
            </a:r>
          </a:p>
        </p:txBody>
      </p:sp>
      <p:sp>
        <p:nvSpPr>
          <p:cNvPr id="2560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3FFB8D3E-7902-444E-A802-D3F81EF344DD}" type="slidenum">
              <a:rPr lang="en-US" altLang="en-US" b="0" smtClean="0">
                <a:solidFill>
                  <a:schemeClr val="tx2"/>
                </a:solidFill>
              </a:rPr>
              <a:pPr/>
              <a:t>9</a:t>
            </a:fld>
            <a:endParaRPr lang="en-US" altLang="en-US" b="0">
              <a:solidFill>
                <a:schemeClr val="tx2"/>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ENCAPSULATION AND PACKET FORMAT</a:t>
            </a:r>
          </a:p>
        </p:txBody>
      </p:sp>
      <p:sp>
        <p:nvSpPr>
          <p:cNvPr id="26627" name="Content Placeholder 1"/>
          <p:cNvSpPr>
            <a:spLocks noGrp="1"/>
          </p:cNvSpPr>
          <p:nvPr>
            <p:ph idx="1"/>
          </p:nvPr>
        </p:nvSpPr>
        <p:spPr>
          <a:xfrm>
            <a:off x="493713" y="1066800"/>
            <a:ext cx="8385175" cy="4038600"/>
          </a:xfrm>
        </p:spPr>
        <p:txBody>
          <a:bodyPr/>
          <a:lstStyle/>
          <a:p>
            <a:pPr eaLnBrk="1" hangingPunct="1"/>
            <a:r>
              <a:rPr lang="en-US" altLang="en-US"/>
              <a:t>VXLAN uses VXLAN tunnel endpoint (VTEP) devices to map tenants’ end devices to VXLAN segments and to perform VXLAN encapsulation and de-encapsulation. </a:t>
            </a:r>
          </a:p>
          <a:p>
            <a:pPr eaLnBrk="1" hangingPunct="1"/>
            <a:r>
              <a:rPr lang="en-US" altLang="en-US"/>
              <a:t>Each VTEP function has two interfaces: </a:t>
            </a:r>
          </a:p>
          <a:p>
            <a:pPr lvl="1" eaLnBrk="1" hangingPunct="1"/>
            <a:r>
              <a:rPr lang="en-US" altLang="en-US"/>
              <a:t>One is a switch interface on the local LAN segment to support local endpoint communication through bridging. </a:t>
            </a:r>
          </a:p>
          <a:p>
            <a:pPr lvl="1" eaLnBrk="1" hangingPunct="1"/>
            <a:r>
              <a:rPr lang="en-US" altLang="en-US"/>
              <a:t>The other is an IP interface to the transport IP network. </a:t>
            </a:r>
          </a:p>
        </p:txBody>
      </p:sp>
      <p:sp>
        <p:nvSpPr>
          <p:cNvPr id="2662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1BF50FA4-5C3B-4093-8E05-3165F55D5548}" type="slidenum">
              <a:rPr lang="en-US" altLang="en-US" b="0" smtClean="0">
                <a:solidFill>
                  <a:schemeClr val="tx2"/>
                </a:solidFill>
              </a:rPr>
              <a:pPr/>
              <a:t>10</a:t>
            </a:fld>
            <a:endParaRPr lang="en-US" altLang="en-US" b="0">
              <a:solidFill>
                <a:schemeClr val="tx2"/>
              </a:solidFill>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ENCAPSULATION AND PACKET FORMAT</a:t>
            </a:r>
          </a:p>
        </p:txBody>
      </p:sp>
      <p:sp>
        <p:nvSpPr>
          <p:cNvPr id="27651" name="Content Placeholder 1"/>
          <p:cNvSpPr>
            <a:spLocks noGrp="1"/>
          </p:cNvSpPr>
          <p:nvPr>
            <p:ph idx="1"/>
          </p:nvPr>
        </p:nvSpPr>
        <p:spPr>
          <a:xfrm>
            <a:off x="441325" y="1295400"/>
            <a:ext cx="8385175" cy="4038600"/>
          </a:xfrm>
        </p:spPr>
        <p:txBody>
          <a:bodyPr/>
          <a:lstStyle/>
          <a:p>
            <a:pPr eaLnBrk="1" hangingPunct="1"/>
            <a:r>
              <a:rPr lang="en-US" altLang="en-US"/>
              <a:t>The IP interface has a unique IP address that identifies the VTEP device on the transport IP network known as the infrastructure VLAN. </a:t>
            </a:r>
          </a:p>
          <a:p>
            <a:pPr eaLnBrk="1" hangingPunct="1"/>
            <a:r>
              <a:rPr lang="en-US" altLang="en-US"/>
              <a:t>The VTEP device uses this IP address to encapsulate Ethernet frames and transmits the encapsulated packets to the transport network through the IP interface. </a:t>
            </a:r>
          </a:p>
        </p:txBody>
      </p:sp>
      <p:sp>
        <p:nvSpPr>
          <p:cNvPr id="2765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C9FA901F-C1DF-4806-B452-D291CF48D960}" type="slidenum">
              <a:rPr lang="en-US" altLang="en-US" b="0" smtClean="0">
                <a:solidFill>
                  <a:schemeClr val="tx2"/>
                </a:solidFill>
              </a:rPr>
              <a:pPr/>
              <a:t>11</a:t>
            </a:fld>
            <a:endParaRPr lang="en-US" altLang="en-US" b="0">
              <a:solidFill>
                <a:schemeClr val="tx2"/>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TUNNEL ENDPOINT (VTEP)</a:t>
            </a:r>
          </a:p>
        </p:txBody>
      </p:sp>
      <p:sp>
        <p:nvSpPr>
          <p:cNvPr id="28675" name="Content Placeholder 1"/>
          <p:cNvSpPr>
            <a:spLocks noGrp="1"/>
          </p:cNvSpPr>
          <p:nvPr>
            <p:ph idx="1"/>
          </p:nvPr>
        </p:nvSpPr>
        <p:spPr>
          <a:xfrm>
            <a:off x="441325" y="1295400"/>
            <a:ext cx="8385175" cy="4038600"/>
          </a:xfrm>
        </p:spPr>
        <p:txBody>
          <a:bodyPr/>
          <a:lstStyle/>
          <a:p>
            <a:pPr eaLnBrk="1" hangingPunct="1"/>
            <a:r>
              <a:rPr lang="en-US" altLang="en-US" dirty="0"/>
              <a:t>A VTEP device also discovers the remote VTEPs for its VXLAN segments and learns remote MAC Address-to-VTEP mappings through its IP interface. </a:t>
            </a:r>
          </a:p>
          <a:p>
            <a:pPr eaLnBrk="1" hangingPunct="1"/>
            <a:r>
              <a:rPr lang="en-US" altLang="en-US" dirty="0"/>
              <a:t>The functional components of VTEPs and the logical topology that is created for Layer 2 connectivity across the transport IP network is shown in Figure 2 on the next slide. </a:t>
            </a:r>
          </a:p>
        </p:txBody>
      </p:sp>
      <p:sp>
        <p:nvSpPr>
          <p:cNvPr id="2867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957D9BC2-29E1-4E7F-A5AF-C57F00B3D6CA}" type="slidenum">
              <a:rPr lang="en-US" altLang="en-US" b="0" smtClean="0">
                <a:solidFill>
                  <a:schemeClr val="tx2"/>
                </a:solidFill>
              </a:rPr>
              <a:pPr/>
              <a:t>12</a:t>
            </a:fld>
            <a:endParaRPr lang="en-US" altLang="en-US" b="0">
              <a:solidFill>
                <a:schemeClr val="tx2"/>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122238"/>
            <a:ext cx="8686800" cy="563562"/>
          </a:xfrm>
        </p:spPr>
        <p:txBody>
          <a:bodyPr/>
          <a:lstStyle/>
          <a:p>
            <a:pPr eaLnBrk="1" hangingPunct="1">
              <a:defRPr/>
            </a:pPr>
            <a:r>
              <a:rPr lang="en-US" dirty="0">
                <a:effectLst/>
              </a:rPr>
              <a:t>VXLAN TUNNEL ENDPOINT (VTEP)</a:t>
            </a:r>
          </a:p>
        </p:txBody>
      </p:sp>
      <p:sp>
        <p:nvSpPr>
          <p:cNvPr id="29699"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E54460F8-3475-48EA-8575-AE25B53DBB60}" type="slidenum">
              <a:rPr lang="en-US" altLang="en-US" b="0" smtClean="0">
                <a:solidFill>
                  <a:schemeClr val="tx2"/>
                </a:solidFill>
              </a:rPr>
              <a:pPr/>
              <a:t>13</a:t>
            </a:fld>
            <a:endParaRPr lang="en-US" altLang="en-US" b="0">
              <a:solidFill>
                <a:schemeClr val="tx2"/>
              </a:solidFill>
            </a:endParaRPr>
          </a:p>
        </p:txBody>
      </p:sp>
      <p:pic>
        <p:nvPicPr>
          <p:cNvPr id="29700"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990600"/>
            <a:ext cx="5933104"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1EC727BA-862E-4F8C-B3DF-5152BA8AEE60}"/>
              </a:ext>
            </a:extLst>
          </p:cNvPr>
          <p:cNvSpPr txBox="1"/>
          <p:nvPr/>
        </p:nvSpPr>
        <p:spPr>
          <a:xfrm>
            <a:off x="3352800" y="5758934"/>
            <a:ext cx="3322384" cy="369332"/>
          </a:xfrm>
          <a:prstGeom prst="rect">
            <a:avLst/>
          </a:prstGeom>
          <a:noFill/>
        </p:spPr>
        <p:txBody>
          <a:bodyPr wrap="none" rtlCol="0">
            <a:spAutoFit/>
          </a:bodyPr>
          <a:lstStyle/>
          <a:p>
            <a:r>
              <a:rPr lang="en-US" dirty="0"/>
              <a:t>Figure 2: VTEP Functionality</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122238"/>
            <a:ext cx="8686800" cy="563562"/>
          </a:xfrm>
        </p:spPr>
        <p:txBody>
          <a:bodyPr/>
          <a:lstStyle/>
          <a:p>
            <a:pPr eaLnBrk="1" hangingPunct="1">
              <a:defRPr/>
            </a:pPr>
            <a:r>
              <a:rPr lang="en-US" dirty="0">
                <a:effectLst/>
              </a:rPr>
              <a:t>VXLAN TUNNEL ENDPOINT (VTEP)</a:t>
            </a:r>
          </a:p>
        </p:txBody>
      </p:sp>
      <p:sp>
        <p:nvSpPr>
          <p:cNvPr id="30723" name="Content Placeholder 6"/>
          <p:cNvSpPr>
            <a:spLocks noGrp="1"/>
          </p:cNvSpPr>
          <p:nvPr>
            <p:ph idx="1"/>
          </p:nvPr>
        </p:nvSpPr>
        <p:spPr/>
        <p:txBody>
          <a:bodyPr/>
          <a:lstStyle/>
          <a:p>
            <a:pPr eaLnBrk="1" hangingPunct="1"/>
            <a:r>
              <a:rPr lang="en-US" altLang="en-US" dirty="0"/>
              <a:t>The VXLAN segments are independent of the underlying network topology; conversely, the underlying IP network between VTEPs is independent of the VXLAN overlay. </a:t>
            </a:r>
          </a:p>
          <a:p>
            <a:pPr eaLnBrk="1" hangingPunct="1"/>
            <a:r>
              <a:rPr lang="en-US" altLang="en-US" dirty="0"/>
              <a:t>It routes the encapsulated packets based on the outer IP address header, which has the initiating VTEP as the source IP address and the terminating VTEP as the destination IP address (Figures 3 and 4). </a:t>
            </a:r>
          </a:p>
        </p:txBody>
      </p:sp>
      <p:sp>
        <p:nvSpPr>
          <p:cNvPr id="3072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7873E6D1-5D44-4EE4-BD55-FF4B07B21EDE}" type="slidenum">
              <a:rPr lang="en-US" altLang="en-US" b="0" smtClean="0">
                <a:solidFill>
                  <a:schemeClr val="tx2"/>
                </a:solidFill>
              </a:rPr>
              <a:pPr/>
              <a:t>14</a:t>
            </a:fld>
            <a:endParaRPr lang="en-US" altLang="en-US" b="0">
              <a:solidFill>
                <a:schemeClr val="tx2"/>
              </a:solidFill>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ENCAPSULATION AND PACKET FORMAT</a:t>
            </a:r>
          </a:p>
        </p:txBody>
      </p:sp>
      <p:sp>
        <p:nvSpPr>
          <p:cNvPr id="31747"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49E550B7-6BDD-4540-8529-32567B37FE0F}" type="slidenum">
              <a:rPr lang="en-US" altLang="en-US" b="0" smtClean="0">
                <a:solidFill>
                  <a:schemeClr val="tx2"/>
                </a:solidFill>
              </a:rPr>
              <a:pPr/>
              <a:t>15</a:t>
            </a:fld>
            <a:endParaRPr lang="en-US" altLang="en-US" b="0">
              <a:solidFill>
                <a:schemeClr val="tx2"/>
              </a:solidFill>
            </a:endParaRPr>
          </a:p>
        </p:txBody>
      </p:sp>
      <p:pic>
        <p:nvPicPr>
          <p:cNvPr id="31748"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7038" y="1066800"/>
            <a:ext cx="8415337"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FA714359-22FC-475B-A70A-603B065BCB1C}"/>
              </a:ext>
            </a:extLst>
          </p:cNvPr>
          <p:cNvSpPr txBox="1"/>
          <p:nvPr/>
        </p:nvSpPr>
        <p:spPr>
          <a:xfrm>
            <a:off x="3276600" y="5775881"/>
            <a:ext cx="3647152" cy="369332"/>
          </a:xfrm>
          <a:prstGeom prst="rect">
            <a:avLst/>
          </a:prstGeom>
          <a:noFill/>
        </p:spPr>
        <p:txBody>
          <a:bodyPr wrap="none" rtlCol="0">
            <a:spAutoFit/>
          </a:bodyPr>
          <a:lstStyle/>
          <a:p>
            <a:r>
              <a:rPr lang="en-US" dirty="0"/>
              <a:t>Figure 3: VXLAN Encapsulation</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ENCAPSULATION AND PACKET FORMAT</a:t>
            </a:r>
          </a:p>
        </p:txBody>
      </p:sp>
      <p:sp>
        <p:nvSpPr>
          <p:cNvPr id="32771"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D9054AEA-D285-4666-8F4B-16248C3AF2F6}" type="slidenum">
              <a:rPr lang="en-US" altLang="en-US" b="0" smtClean="0">
                <a:solidFill>
                  <a:schemeClr val="tx2"/>
                </a:solidFill>
              </a:rPr>
              <a:pPr/>
              <a:t>16</a:t>
            </a:fld>
            <a:endParaRPr lang="en-US" altLang="en-US" b="0">
              <a:solidFill>
                <a:schemeClr val="tx2"/>
              </a:solidFill>
            </a:endParaRPr>
          </a:p>
        </p:txBody>
      </p:sp>
      <p:pic>
        <p:nvPicPr>
          <p:cNvPr id="3277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550" y="977900"/>
            <a:ext cx="8739188" cy="496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8B222C68-7625-4438-BB37-414E5CBCCEFE}"/>
              </a:ext>
            </a:extLst>
          </p:cNvPr>
          <p:cNvSpPr txBox="1"/>
          <p:nvPr/>
        </p:nvSpPr>
        <p:spPr>
          <a:xfrm>
            <a:off x="2819400" y="5933440"/>
            <a:ext cx="4339650" cy="369332"/>
          </a:xfrm>
          <a:prstGeom prst="rect">
            <a:avLst/>
          </a:prstGeom>
          <a:noFill/>
        </p:spPr>
        <p:txBody>
          <a:bodyPr wrap="none" rtlCol="0">
            <a:spAutoFit/>
          </a:bodyPr>
          <a:lstStyle/>
          <a:p>
            <a:r>
              <a:rPr lang="en-US" dirty="0"/>
              <a:t>Figure 4: VXLAN Encapsulation Detail</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D1EC71A2-F385-4B69-BD68-9879B2A93542}" type="slidenum">
              <a:rPr lang="en-US" altLang="en-US" b="0" smtClean="0">
                <a:solidFill>
                  <a:schemeClr val="tx2"/>
                </a:solidFill>
              </a:rPr>
              <a:pPr/>
              <a:t>17</a:t>
            </a:fld>
            <a:endParaRPr lang="en-US" altLang="en-US" b="0">
              <a:solidFill>
                <a:schemeClr val="tx2"/>
              </a:solidFill>
            </a:endParaRPr>
          </a:p>
        </p:txBody>
      </p:sp>
      <p:sp>
        <p:nvSpPr>
          <p:cNvPr id="5" name="Content Placeholder 4"/>
          <p:cNvSpPr>
            <a:spLocks noGrp="1"/>
          </p:cNvSpPr>
          <p:nvPr>
            <p:ph idx="1"/>
          </p:nvPr>
        </p:nvSpPr>
        <p:spPr>
          <a:xfrm>
            <a:off x="152400" y="838200"/>
            <a:ext cx="8382000" cy="4953000"/>
          </a:xfrm>
        </p:spPr>
        <p:txBody>
          <a:bodyPr/>
          <a:lstStyle/>
          <a:p>
            <a:pPr eaLnBrk="1" hangingPunct="1">
              <a:defRPr/>
            </a:pPr>
            <a:r>
              <a:rPr lang="en-US" dirty="0"/>
              <a:t>Header format</a:t>
            </a:r>
          </a:p>
          <a:p>
            <a:pPr marL="0" indent="0" eaLnBrk="1" hangingPunct="1">
              <a:buFontTx/>
              <a:buNone/>
              <a:defRPr/>
            </a:pPr>
            <a:r>
              <a:rPr lang="en-US" dirty="0">
                <a:hlinkClick r:id="rId3"/>
              </a:rPr>
              <a:t>https://www.youtube.com/watch?v=jjr8aIIRkYc&amp;list=PLDQaRcbiSnqFe6pyaSy-Hwj8XRFPgZ5h8&amp;index=2</a:t>
            </a:r>
            <a:endParaRPr lang="en-US" dirty="0"/>
          </a:p>
          <a:p>
            <a:pPr marL="0" indent="0" eaLnBrk="1" hangingPunct="1">
              <a:buFontTx/>
              <a:buNone/>
              <a:defRPr/>
            </a:pPr>
            <a:endParaRPr lang="en-US" dirty="0"/>
          </a:p>
          <a:p>
            <a:pPr marL="0" indent="0" eaLnBrk="1" hangingPunct="1">
              <a:buFontTx/>
              <a:buNone/>
              <a:defRPr/>
            </a:pPr>
            <a:endParaRPr lang="en-US" dirty="0"/>
          </a:p>
          <a:p>
            <a:pPr marL="0" indent="0" eaLnBrk="1" hangingPunct="1">
              <a:buFontTx/>
              <a:buNone/>
              <a:defRPr/>
            </a:pPr>
            <a:endParaRPr lang="en-US" dirty="0"/>
          </a:p>
        </p:txBody>
      </p:sp>
      <p:sp>
        <p:nvSpPr>
          <p:cNvPr id="7" name="Title 6"/>
          <p:cNvSpPr>
            <a:spLocks noGrp="1"/>
          </p:cNvSpPr>
          <p:nvPr>
            <p:ph type="title"/>
          </p:nvPr>
        </p:nvSpPr>
        <p:spPr>
          <a:xfrm>
            <a:off x="228600" y="122238"/>
            <a:ext cx="8686800" cy="563562"/>
          </a:xfrm>
        </p:spPr>
        <p:txBody>
          <a:bodyPr/>
          <a:lstStyle/>
          <a:p>
            <a:pPr eaLnBrk="1" hangingPunct="1">
              <a:defRPr/>
            </a:pPr>
            <a:r>
              <a:rPr lang="en-US" dirty="0"/>
              <a:t>Homework</a:t>
            </a:r>
          </a:p>
        </p:txBody>
      </p:sp>
    </p:spTree>
  </p:cSld>
  <p:clrMapOvr>
    <a:masterClrMapping/>
  </p:clrMapOvr>
  <p:transition/>
</p:sld>
</file>

<file path=ppt/theme/theme1.xml><?xml version="1.0" encoding="utf-8"?>
<a:theme xmlns:a="http://schemas.openxmlformats.org/drawingml/2006/main" name="Default Design">
  <a:themeElements>
    <a:clrScheme name="">
      <a:dk1>
        <a:srgbClr val="000000"/>
      </a:dk1>
      <a:lt1>
        <a:srgbClr val="FFFFFF"/>
      </a:lt1>
      <a:dk2>
        <a:srgbClr val="0B3D91"/>
      </a:dk2>
      <a:lt2>
        <a:srgbClr val="000066"/>
      </a:lt2>
      <a:accent1>
        <a:srgbClr val="97A8D9"/>
      </a:accent1>
      <a:accent2>
        <a:srgbClr val="C7D2F5"/>
      </a:accent2>
      <a:accent3>
        <a:srgbClr val="FFFFFF"/>
      </a:accent3>
      <a:accent4>
        <a:srgbClr val="000000"/>
      </a:accent4>
      <a:accent5>
        <a:srgbClr val="C9D1E9"/>
      </a:accent5>
      <a:accent6>
        <a:srgbClr val="B4BEDE"/>
      </a:accent6>
      <a:hlink>
        <a:srgbClr val="DC241F"/>
      </a:hlink>
      <a:folHlink>
        <a:srgbClr val="CCCC99"/>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alpha val="50000"/>
          </a:schemeClr>
        </a:solidFill>
        <a:ln w="9525" cap="flat" cmpd="sng" algn="ctr">
          <a:solidFill>
            <a:srgbClr val="FFFF00"/>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66"/>
        </a:dk2>
        <a:lt2>
          <a:srgbClr val="808080"/>
        </a:lt2>
        <a:accent1>
          <a:srgbClr val="CCCC99"/>
        </a:accent1>
        <a:accent2>
          <a:srgbClr val="DC241F"/>
        </a:accent2>
        <a:accent3>
          <a:srgbClr val="FFFFFF"/>
        </a:accent3>
        <a:accent4>
          <a:srgbClr val="000000"/>
        </a:accent4>
        <a:accent5>
          <a:srgbClr val="E2E2CA"/>
        </a:accent5>
        <a:accent6>
          <a:srgbClr val="C7201B"/>
        </a:accent6>
        <a:hlink>
          <a:srgbClr val="0035AD"/>
        </a:hlink>
        <a:folHlink>
          <a:srgbClr val="918C5A"/>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B3D91"/>
        </a:dk2>
        <a:lt2>
          <a:srgbClr val="000066"/>
        </a:lt2>
        <a:accent1>
          <a:srgbClr val="70B2F4"/>
        </a:accent1>
        <a:accent2>
          <a:srgbClr val="C3EAFD"/>
        </a:accent2>
        <a:accent3>
          <a:srgbClr val="FFFFFF"/>
        </a:accent3>
        <a:accent4>
          <a:srgbClr val="000000"/>
        </a:accent4>
        <a:accent5>
          <a:srgbClr val="BBD5F8"/>
        </a:accent5>
        <a:accent6>
          <a:srgbClr val="B0D4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FFFFFF"/>
        </a:lt1>
        <a:dk2>
          <a:srgbClr val="0B3D91"/>
        </a:dk2>
        <a:lt2>
          <a:srgbClr val="000066"/>
        </a:lt2>
        <a:accent1>
          <a:srgbClr val="70B2F4"/>
        </a:accent1>
        <a:accent2>
          <a:srgbClr val="C3DCFD"/>
        </a:accent2>
        <a:accent3>
          <a:srgbClr val="FFFFFF"/>
        </a:accent3>
        <a:accent4>
          <a:srgbClr val="000000"/>
        </a:accent4>
        <a:accent5>
          <a:srgbClr val="BBD5F8"/>
        </a:accent5>
        <a:accent6>
          <a:srgbClr val="B0C7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6">
        <a:dk1>
          <a:srgbClr val="000000"/>
        </a:dk1>
        <a:lt1>
          <a:srgbClr val="FFFFFF"/>
        </a:lt1>
        <a:dk2>
          <a:srgbClr val="0B3D91"/>
        </a:dk2>
        <a:lt2>
          <a:srgbClr val="000066"/>
        </a:lt2>
        <a:accent1>
          <a:srgbClr val="70B2F4"/>
        </a:accent1>
        <a:accent2>
          <a:srgbClr val="C3E4FD"/>
        </a:accent2>
        <a:accent3>
          <a:srgbClr val="FFFFFF"/>
        </a:accent3>
        <a:accent4>
          <a:srgbClr val="000000"/>
        </a:accent4>
        <a:accent5>
          <a:srgbClr val="BBD5F8"/>
        </a:accent5>
        <a:accent6>
          <a:srgbClr val="B0CF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12247</TotalTime>
  <Words>976</Words>
  <Application>Microsoft Office PowerPoint</Application>
  <PresentationFormat>On-screen Show (4:3)</PresentationFormat>
  <Paragraphs>85</Paragraphs>
  <Slides>18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Wingdings</vt:lpstr>
      <vt:lpstr>Default Design</vt:lpstr>
      <vt:lpstr>EETS 8355: data center network engineering</vt:lpstr>
      <vt:lpstr>DATA CENTER OVERLAY EVOLUTION</vt:lpstr>
      <vt:lpstr>VXLAN OVERVIEW</vt:lpstr>
      <vt:lpstr>VXLAN OVERVIEW</vt:lpstr>
      <vt:lpstr>VXLAN OVERVIEW</vt:lpstr>
      <vt:lpstr>VXLAN OVERVIEW</vt:lpstr>
      <vt:lpstr>VXLAN OVERVIEW</vt:lpstr>
      <vt:lpstr>VXLAN OVERVIEW</vt:lpstr>
      <vt:lpstr>VXLAN ENCAPSULATION AND PACKET FORMAT</vt:lpstr>
      <vt:lpstr>VXLAN ENCAPSULATION AND PACKET FORMAT</vt:lpstr>
      <vt:lpstr>VXLAN ENCAPSULATION AND PACKET FORMAT</vt:lpstr>
      <vt:lpstr>VXLAN ENCAPSULATION AND PACKET FORMAT</vt:lpstr>
      <vt:lpstr>VXLAN TUNNEL ENDPOINT (VTEP)</vt:lpstr>
      <vt:lpstr>VXLAN TUNNEL ENDPOINT (VTEP)</vt:lpstr>
      <vt:lpstr>VXLAN TUNNEL ENDPOINT (VTEP)</vt:lpstr>
      <vt:lpstr>VXLAN ENCAPSULATION AND PACKET FORMAT</vt:lpstr>
      <vt:lpstr>VXLAN ENCAPSULATION AND PACKET FORMAT</vt:lpstr>
      <vt:lpstr>Homework</vt:lpstr>
    </vt:vector>
  </TitlesOfParts>
  <Company>SMU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SMU Generic Template: Blue</dc:title>
  <dc:creator>Marlin Kingsley</dc:creator>
  <cp:lastModifiedBy>Scott Kingsley</cp:lastModifiedBy>
  <cp:revision>790</cp:revision>
  <cp:lastPrinted>2021-03-09T21:44:55Z</cp:lastPrinted>
  <dcterms:created xsi:type="dcterms:W3CDTF">2004-08-08T18:58:35Z</dcterms:created>
  <dcterms:modified xsi:type="dcterms:W3CDTF">2022-12-12T00:39:24Z</dcterms:modified>
</cp:coreProperties>
</file>