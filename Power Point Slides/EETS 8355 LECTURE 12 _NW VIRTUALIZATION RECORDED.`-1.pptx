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48" r:id="rId1"/>
  </p:sldMasterIdLst>
  <p:notesMasterIdLst>
    <p:notesMasterId r:id="rId45"/>
  </p:notesMasterIdLst>
  <p:handoutMasterIdLst>
    <p:handoutMasterId r:id="rId46"/>
  </p:handoutMasterIdLst>
  <p:sldIdLst>
    <p:sldId id="258" r:id="rId2"/>
    <p:sldId id="470" r:id="rId3"/>
    <p:sldId id="471" r:id="rId4"/>
    <p:sldId id="472" r:id="rId5"/>
    <p:sldId id="473" r:id="rId6"/>
    <p:sldId id="474" r:id="rId7"/>
    <p:sldId id="475" r:id="rId8"/>
    <p:sldId id="476" r:id="rId9"/>
    <p:sldId id="477" r:id="rId10"/>
    <p:sldId id="478" r:id="rId11"/>
    <p:sldId id="479" r:id="rId12"/>
    <p:sldId id="480" r:id="rId13"/>
    <p:sldId id="481" r:id="rId14"/>
    <p:sldId id="482" r:id="rId15"/>
    <p:sldId id="483" r:id="rId16"/>
    <p:sldId id="484" r:id="rId17"/>
    <p:sldId id="485" r:id="rId18"/>
    <p:sldId id="486" r:id="rId19"/>
    <p:sldId id="487" r:id="rId20"/>
    <p:sldId id="488" r:id="rId21"/>
    <p:sldId id="489" r:id="rId22"/>
    <p:sldId id="490" r:id="rId23"/>
    <p:sldId id="491" r:id="rId24"/>
    <p:sldId id="492" r:id="rId25"/>
    <p:sldId id="493" r:id="rId26"/>
    <p:sldId id="494" r:id="rId27"/>
    <p:sldId id="495" r:id="rId28"/>
    <p:sldId id="496" r:id="rId29"/>
    <p:sldId id="497" r:id="rId30"/>
    <p:sldId id="498" r:id="rId31"/>
    <p:sldId id="499" r:id="rId32"/>
    <p:sldId id="500" r:id="rId33"/>
    <p:sldId id="501" r:id="rId34"/>
    <p:sldId id="502" r:id="rId35"/>
    <p:sldId id="503" r:id="rId36"/>
    <p:sldId id="504" r:id="rId37"/>
    <p:sldId id="505" r:id="rId38"/>
    <p:sldId id="506" r:id="rId39"/>
    <p:sldId id="507" r:id="rId40"/>
    <p:sldId id="508" r:id="rId41"/>
    <p:sldId id="509" r:id="rId42"/>
    <p:sldId id="510" r:id="rId43"/>
    <p:sldId id="511" r:id="rId44"/>
  </p:sldIdLst>
  <p:sldSz cx="9144000" cy="6858000" type="screen4x3"/>
  <p:notesSz cx="6858000" cy="9144000"/>
  <p:defaultTextStyle>
    <a:defPPr>
      <a:defRPr lang="en-US"/>
    </a:defPPr>
    <a:lvl1pPr algn="l" rtl="0" fontAlgn="base">
      <a:spcBef>
        <a:spcPct val="0"/>
      </a:spcBef>
      <a:spcAft>
        <a:spcPct val="0"/>
      </a:spcAft>
      <a:defRPr b="1" kern="1200">
        <a:solidFill>
          <a:schemeClr val="tx1"/>
        </a:solidFill>
        <a:latin typeface="Arial" charset="0"/>
        <a:ea typeface="+mn-ea"/>
        <a:cs typeface="+mn-cs"/>
      </a:defRPr>
    </a:lvl1pPr>
    <a:lvl2pPr marL="457200" algn="l" rtl="0" fontAlgn="base">
      <a:spcBef>
        <a:spcPct val="0"/>
      </a:spcBef>
      <a:spcAft>
        <a:spcPct val="0"/>
      </a:spcAft>
      <a:defRPr b="1" kern="1200">
        <a:solidFill>
          <a:schemeClr val="tx1"/>
        </a:solidFill>
        <a:latin typeface="Arial" charset="0"/>
        <a:ea typeface="+mn-ea"/>
        <a:cs typeface="+mn-cs"/>
      </a:defRPr>
    </a:lvl2pPr>
    <a:lvl3pPr marL="914400" algn="l" rtl="0" fontAlgn="base">
      <a:spcBef>
        <a:spcPct val="0"/>
      </a:spcBef>
      <a:spcAft>
        <a:spcPct val="0"/>
      </a:spcAft>
      <a:defRPr b="1" kern="1200">
        <a:solidFill>
          <a:schemeClr val="tx1"/>
        </a:solidFill>
        <a:latin typeface="Arial" charset="0"/>
        <a:ea typeface="+mn-ea"/>
        <a:cs typeface="+mn-cs"/>
      </a:defRPr>
    </a:lvl3pPr>
    <a:lvl4pPr marL="1371600" algn="l" rtl="0" fontAlgn="base">
      <a:spcBef>
        <a:spcPct val="0"/>
      </a:spcBef>
      <a:spcAft>
        <a:spcPct val="0"/>
      </a:spcAft>
      <a:defRPr b="1" kern="1200">
        <a:solidFill>
          <a:schemeClr val="tx1"/>
        </a:solidFill>
        <a:latin typeface="Arial" charset="0"/>
        <a:ea typeface="+mn-ea"/>
        <a:cs typeface="+mn-cs"/>
      </a:defRPr>
    </a:lvl4pPr>
    <a:lvl5pPr marL="1828800" algn="l" rtl="0" fontAlgn="base">
      <a:spcBef>
        <a:spcPct val="0"/>
      </a:spcBef>
      <a:spcAft>
        <a:spcPct val="0"/>
      </a:spcAft>
      <a:defRPr b="1" kern="1200">
        <a:solidFill>
          <a:schemeClr val="tx1"/>
        </a:solidFill>
        <a:latin typeface="Arial" charset="0"/>
        <a:ea typeface="+mn-ea"/>
        <a:cs typeface="+mn-cs"/>
      </a:defRPr>
    </a:lvl5pPr>
    <a:lvl6pPr marL="2286000" algn="l" defTabSz="914400" rtl="0" eaLnBrk="1" latinLnBrk="0" hangingPunct="1">
      <a:defRPr b="1" kern="1200">
        <a:solidFill>
          <a:schemeClr val="tx1"/>
        </a:solidFill>
        <a:latin typeface="Arial" charset="0"/>
        <a:ea typeface="+mn-ea"/>
        <a:cs typeface="+mn-cs"/>
      </a:defRPr>
    </a:lvl6pPr>
    <a:lvl7pPr marL="2743200" algn="l" defTabSz="914400" rtl="0" eaLnBrk="1" latinLnBrk="0" hangingPunct="1">
      <a:defRPr b="1" kern="1200">
        <a:solidFill>
          <a:schemeClr val="tx1"/>
        </a:solidFill>
        <a:latin typeface="Arial" charset="0"/>
        <a:ea typeface="+mn-ea"/>
        <a:cs typeface="+mn-cs"/>
      </a:defRPr>
    </a:lvl7pPr>
    <a:lvl8pPr marL="3200400" algn="l" defTabSz="914400" rtl="0" eaLnBrk="1" latinLnBrk="0" hangingPunct="1">
      <a:defRPr b="1" kern="1200">
        <a:solidFill>
          <a:schemeClr val="tx1"/>
        </a:solidFill>
        <a:latin typeface="Arial" charset="0"/>
        <a:ea typeface="+mn-ea"/>
        <a:cs typeface="+mn-cs"/>
      </a:defRPr>
    </a:lvl8pPr>
    <a:lvl9pPr marL="3657600" algn="l" defTabSz="914400" rtl="0" eaLnBrk="1" latinLnBrk="0" hangingPunct="1">
      <a:defRPr b="1"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orient="horz" pos="4004">
          <p15:clr>
            <a:srgbClr val="A4A3A4"/>
          </p15:clr>
        </p15:guide>
        <p15:guide id="3" orient="horz" pos="4136">
          <p15:clr>
            <a:srgbClr val="A4A3A4"/>
          </p15:clr>
        </p15:guide>
        <p15:guide id="4" pos="2880">
          <p15:clr>
            <a:srgbClr val="A4A3A4"/>
          </p15:clr>
        </p15:guide>
        <p15:guide id="5" pos="144">
          <p15:clr>
            <a:srgbClr val="A4A3A4"/>
          </p15:clr>
        </p15:guide>
        <p15:guide id="6" pos="5568">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EA6A"/>
    <a:srgbClr val="16DE0C"/>
    <a:srgbClr val="FFFF00"/>
    <a:srgbClr val="1F09BF"/>
    <a:srgbClr val="FBFBFB"/>
    <a:srgbClr val="2A3A68"/>
    <a:srgbClr val="FFFFFF"/>
    <a:srgbClr val="FFFFCC"/>
    <a:srgbClr val="CC9900"/>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639" autoAdjust="0"/>
    <p:restoredTop sz="86834" autoAdjust="0"/>
  </p:normalViewPr>
  <p:slideViewPr>
    <p:cSldViewPr>
      <p:cViewPr varScale="1">
        <p:scale>
          <a:sx n="75" d="100"/>
          <a:sy n="75" d="100"/>
        </p:scale>
        <p:origin x="883" y="53"/>
      </p:cViewPr>
      <p:guideLst>
        <p:guide orient="horz" pos="2160"/>
        <p:guide orient="horz" pos="4004"/>
        <p:guide orient="horz" pos="4136"/>
        <p:guide pos="2880"/>
        <p:guide pos="144"/>
        <p:guide pos="5568"/>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120" d="100"/>
          <a:sy n="120" d="100"/>
        </p:scale>
        <p:origin x="-1472" y="-10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909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en-US" dirty="0"/>
          </a:p>
        </p:txBody>
      </p:sp>
      <p:sp>
        <p:nvSpPr>
          <p:cNvPr id="89091"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en-US" dirty="0"/>
          </a:p>
        </p:txBody>
      </p:sp>
      <p:sp>
        <p:nvSpPr>
          <p:cNvPr id="89092"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en-US" dirty="0"/>
          </a:p>
        </p:txBody>
      </p:sp>
      <p:sp>
        <p:nvSpPr>
          <p:cNvPr id="89093"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D8B8FAEF-4EC0-46B6-842C-DD1E8A8FDD9A}" type="slidenum">
              <a:rPr lang="en-US"/>
              <a:pPr/>
              <a:t>‹#›</a:t>
            </a:fld>
            <a:endParaRPr lang="en-US" dirty="0"/>
          </a:p>
        </p:txBody>
      </p:sp>
    </p:spTree>
    <p:extLst>
      <p:ext uri="{BB962C8B-B14F-4D97-AF65-F5344CB8AC3E}">
        <p14:creationId xmlns:p14="http://schemas.microsoft.com/office/powerpoint/2010/main" val="210138337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b="0"/>
            </a:lvl1pPr>
          </a:lstStyle>
          <a:p>
            <a:endParaRPr lang="en-US" dirty="0"/>
          </a:p>
        </p:txBody>
      </p:sp>
      <p:sp>
        <p:nvSpPr>
          <p:cNvPr id="6147"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b="0"/>
            </a:lvl1pPr>
          </a:lstStyle>
          <a:p>
            <a:endParaRPr lang="en-US" dirty="0"/>
          </a:p>
        </p:txBody>
      </p:sp>
      <p:sp>
        <p:nvSpPr>
          <p:cNvPr id="614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6149"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150"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b="0"/>
            </a:lvl1pPr>
          </a:lstStyle>
          <a:p>
            <a:endParaRPr lang="en-US" dirty="0"/>
          </a:p>
        </p:txBody>
      </p:sp>
      <p:sp>
        <p:nvSpPr>
          <p:cNvPr id="6151"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b="0"/>
            </a:lvl1pPr>
          </a:lstStyle>
          <a:p>
            <a:fld id="{461950BF-5E6A-4CD6-97CF-B82A16459836}" type="slidenum">
              <a:rPr lang="en-US"/>
              <a:pPr/>
              <a:t>‹#›</a:t>
            </a:fld>
            <a:endParaRPr lang="en-US" dirty="0"/>
          </a:p>
        </p:txBody>
      </p:sp>
    </p:spTree>
    <p:extLst>
      <p:ext uri="{BB962C8B-B14F-4D97-AF65-F5344CB8AC3E}">
        <p14:creationId xmlns:p14="http://schemas.microsoft.com/office/powerpoint/2010/main" val="2922707704"/>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0</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204" name="Picture 36" descr="stmntpg_bkgrd2"/>
          <p:cNvPicPr>
            <a:picLocks noChangeAspect="1" noChangeArrowheads="1"/>
          </p:cNvPicPr>
          <p:nvPr userDrawn="1"/>
        </p:nvPicPr>
        <p:blipFill>
          <a:blip r:embed="rId2" cstate="print"/>
          <a:srcRect/>
          <a:stretch>
            <a:fillRect/>
          </a:stretch>
        </p:blipFill>
        <p:spPr bwMode="auto">
          <a:xfrm>
            <a:off x="0" y="0"/>
            <a:ext cx="9144000" cy="6858000"/>
          </a:xfrm>
          <a:prstGeom prst="rect">
            <a:avLst/>
          </a:prstGeom>
          <a:noFill/>
        </p:spPr>
      </p:pic>
      <p:sp>
        <p:nvSpPr>
          <p:cNvPr id="7171" name="Rectangle 3"/>
          <p:cNvSpPr>
            <a:spLocks noGrp="1" noChangeArrowheads="1"/>
          </p:cNvSpPr>
          <p:nvPr>
            <p:ph type="ctrTitle"/>
          </p:nvPr>
        </p:nvSpPr>
        <p:spPr>
          <a:xfrm>
            <a:off x="533401" y="1931988"/>
            <a:ext cx="8153400" cy="887412"/>
          </a:xfrm>
        </p:spPr>
        <p:txBody>
          <a:bodyPr/>
          <a:lstStyle>
            <a:lvl1pPr algn="ctr">
              <a:defRPr sz="5400" cap="small" baseline="0">
                <a:solidFill>
                  <a:schemeClr val="bg1"/>
                </a:solidFill>
                <a:effectLst>
                  <a:outerShdw blurRad="38100" dist="38100" dir="2700000" algn="tl">
                    <a:srgbClr val="000000"/>
                  </a:outerShdw>
                </a:effectLst>
                <a:latin typeface="Calibri" pitchFamily="34" charset="0"/>
              </a:defRPr>
            </a:lvl1pPr>
          </a:lstStyle>
          <a:p>
            <a:r>
              <a:rPr lang="en-US" dirty="0"/>
              <a:t>Click to edit Master title style</a:t>
            </a:r>
          </a:p>
        </p:txBody>
      </p:sp>
      <p:sp>
        <p:nvSpPr>
          <p:cNvPr id="7172" name="Rectangle 4"/>
          <p:cNvSpPr>
            <a:spLocks noGrp="1" noChangeArrowheads="1"/>
          </p:cNvSpPr>
          <p:nvPr>
            <p:ph type="subTitle" idx="1"/>
          </p:nvPr>
        </p:nvSpPr>
        <p:spPr>
          <a:xfrm>
            <a:off x="631825" y="2898775"/>
            <a:ext cx="7851775" cy="3121025"/>
          </a:xfrm>
        </p:spPr>
        <p:txBody>
          <a:bodyPr/>
          <a:lstStyle>
            <a:lvl1pPr marL="0" indent="0" algn="ctr">
              <a:buFontTx/>
              <a:buNone/>
              <a:defRPr sz="3200" i="0">
                <a:solidFill>
                  <a:schemeClr val="bg1"/>
                </a:solidFill>
                <a:effectLst>
                  <a:outerShdw blurRad="38100" dist="38100" dir="2700000" algn="tl">
                    <a:srgbClr val="000000"/>
                  </a:outerShdw>
                </a:effectLst>
                <a:latin typeface="Calibri" pitchFamily="34" charset="0"/>
              </a:defRPr>
            </a:lvl1pPr>
          </a:lstStyle>
          <a:p>
            <a:r>
              <a:rPr lang="en-US" dirty="0"/>
              <a:t>Click to edit Master subtitle style</a:t>
            </a:r>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28600" y="122237"/>
            <a:ext cx="8686800" cy="563563"/>
          </a:xfrm>
        </p:spPr>
        <p:txBody>
          <a:bodyPr/>
          <a:lstStyle>
            <a:lvl1pPr>
              <a:defRPr sz="3600" b="0">
                <a:effectLst>
                  <a:outerShdw blurRad="38100" dist="38100" dir="2700000" algn="tl">
                    <a:srgbClr val="000000">
                      <a:alpha val="43137"/>
                    </a:srgbClr>
                  </a:outerShdw>
                </a:effectLst>
              </a:defRPr>
            </a:lvl1pPr>
          </a:lstStyle>
          <a:p>
            <a:r>
              <a:rPr lang="en-US" dirty="0"/>
              <a:t>Click to edit Master title style</a:t>
            </a:r>
          </a:p>
        </p:txBody>
      </p:sp>
      <p:sp>
        <p:nvSpPr>
          <p:cNvPr id="3" name="Content Placeholder 2"/>
          <p:cNvSpPr>
            <a:spLocks noGrp="1"/>
          </p:cNvSpPr>
          <p:nvPr>
            <p:ph idx="1"/>
          </p:nvPr>
        </p:nvSpPr>
        <p:spPr>
          <a:xfrm>
            <a:off x="381000" y="990600"/>
            <a:ext cx="8382000" cy="4953000"/>
          </a:xfrm>
        </p:spPr>
        <p:txBody>
          <a:bodyPr/>
          <a:lstStyle>
            <a:lvl1pPr>
              <a:buClr>
                <a:schemeClr val="tx2"/>
              </a:buClr>
              <a:defRPr sz="3200">
                <a:latin typeface="Calibri" pitchFamily="34" charset="0"/>
              </a:defRPr>
            </a:lvl1pPr>
            <a:lvl2pPr>
              <a:buClr>
                <a:srgbClr val="C00000"/>
              </a:buClr>
              <a:buFont typeface="Wingdings" pitchFamily="2" charset="2"/>
              <a:buChar char="§"/>
              <a:defRPr sz="2800">
                <a:latin typeface="Calibri" pitchFamily="34" charset="0"/>
              </a:defRPr>
            </a:lvl2pPr>
            <a:lvl3pPr>
              <a:defRPr sz="2400">
                <a:latin typeface="Calibri" pitchFamily="34" charset="0"/>
              </a:defRPr>
            </a:lvl3pPr>
            <a:lvl4pPr>
              <a:defRPr sz="2400">
                <a:latin typeface="Calibri" pitchFamily="34" charset="0"/>
              </a:defRPr>
            </a:lvl4pPr>
            <a:lvl5pPr>
              <a:defRPr sz="2400">
                <a:latin typeface="Calibri"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3"/>
          <p:cNvSpPr>
            <a:spLocks noGrp="1"/>
          </p:cNvSpPr>
          <p:nvPr>
            <p:ph type="sldNum" sz="quarter" idx="10"/>
          </p:nvPr>
        </p:nvSpPr>
        <p:spPr>
          <a:xfrm>
            <a:off x="8686800" y="6400800"/>
            <a:ext cx="155575" cy="152400"/>
          </a:xfrm>
        </p:spPr>
        <p:txBody>
          <a:bodyPr/>
          <a:lstStyle>
            <a:lvl1pPr>
              <a:defRPr/>
            </a:lvl1pPr>
          </a:lstStyle>
          <a:p>
            <a:fld id="{1C0FA7A3-0FBF-4EC3-BE45-825983E95E58}" type="slidenum">
              <a:rPr lang="en-US"/>
              <a:pPr/>
              <a:t>‹#›</a:t>
            </a:fld>
            <a:endParaRPr lang="en-US" dirty="0"/>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800" b="1" cap="small" baseline="0">
                <a:solidFill>
                  <a:schemeClr val="tx1"/>
                </a:solidFill>
                <a:latin typeface="Calibri" pitchFamily="34" charset="0"/>
              </a:defRPr>
            </a:lvl1pPr>
          </a:lstStyle>
          <a:p>
            <a:r>
              <a:rPr lang="en-US" dirty="0"/>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atin typeface="Calibri" pitchFamily="34" charset="0"/>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Click to edit Master text styles</a:t>
            </a:r>
          </a:p>
        </p:txBody>
      </p:sp>
      <p:sp>
        <p:nvSpPr>
          <p:cNvPr id="4" name="Slide Number Placeholder 3"/>
          <p:cNvSpPr>
            <a:spLocks noGrp="1"/>
          </p:cNvSpPr>
          <p:nvPr>
            <p:ph type="sldNum" sz="quarter" idx="10"/>
          </p:nvPr>
        </p:nvSpPr>
        <p:spPr>
          <a:xfrm>
            <a:off x="8686800" y="6400800"/>
            <a:ext cx="155575" cy="152400"/>
          </a:xfrm>
        </p:spPr>
        <p:txBody>
          <a:bodyPr/>
          <a:lstStyle>
            <a:lvl1pPr>
              <a:defRPr/>
            </a:lvl1pPr>
          </a:lstStyle>
          <a:p>
            <a:fld id="{340D0772-A24E-4F60-87C6-1B8FABEC81BE}" type="slidenum">
              <a:rPr lang="en-US"/>
              <a:pPr/>
              <a:t>‹#›</a:t>
            </a:fld>
            <a:endParaRPr lang="en-US" dirty="0"/>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dirty="0"/>
              <a:t>Click to edit Master title style</a:t>
            </a:r>
          </a:p>
        </p:txBody>
      </p:sp>
      <p:sp>
        <p:nvSpPr>
          <p:cNvPr id="3" name="Content Placeholder 2"/>
          <p:cNvSpPr>
            <a:spLocks noGrp="1"/>
          </p:cNvSpPr>
          <p:nvPr>
            <p:ph sz="half" idx="1"/>
          </p:nvPr>
        </p:nvSpPr>
        <p:spPr>
          <a:xfrm>
            <a:off x="228600" y="1524000"/>
            <a:ext cx="4267200" cy="4343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524000"/>
            <a:ext cx="4267200" cy="4343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p:cNvSpPr>
            <a:spLocks noGrp="1"/>
          </p:cNvSpPr>
          <p:nvPr>
            <p:ph type="sldNum" sz="quarter" idx="10"/>
          </p:nvPr>
        </p:nvSpPr>
        <p:spPr>
          <a:xfrm>
            <a:off x="8686800" y="6400800"/>
            <a:ext cx="155575" cy="152400"/>
          </a:xfrm>
        </p:spPr>
        <p:txBody>
          <a:bodyPr/>
          <a:lstStyle>
            <a:lvl1pPr>
              <a:defRPr/>
            </a:lvl1pPr>
          </a:lstStyle>
          <a:p>
            <a:fld id="{30D1CA97-B344-4217-90AD-1773C9A60CA6}" type="slidenum">
              <a:rPr lang="en-US"/>
              <a:pPr/>
              <a:t>‹#›</a:t>
            </a:fld>
            <a:endParaRPr lang="en-US" dirty="0"/>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28600" y="46038"/>
            <a:ext cx="8229600" cy="563562"/>
          </a:xfrm>
        </p:spPr>
        <p:txBody>
          <a:bodyPr/>
          <a:lstStyle>
            <a:lvl1pPr>
              <a:defRPr sz="3600"/>
            </a:lvl1pPr>
          </a:lstStyle>
          <a:p>
            <a:r>
              <a:rPr lang="en-US" dirty="0"/>
              <a:t>Click to edit Master title style</a:t>
            </a:r>
          </a:p>
        </p:txBody>
      </p:sp>
      <p:sp>
        <p:nvSpPr>
          <p:cNvPr id="3" name="Text Placeholder 2"/>
          <p:cNvSpPr>
            <a:spLocks noGrp="1"/>
          </p:cNvSpPr>
          <p:nvPr>
            <p:ph type="body" idx="1"/>
          </p:nvPr>
        </p:nvSpPr>
        <p:spPr>
          <a:xfrm>
            <a:off x="457200" y="914400"/>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676400"/>
            <a:ext cx="4040188" cy="44497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914400"/>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1676400"/>
            <a:ext cx="4041775" cy="44497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p:cNvSpPr>
            <a:spLocks noGrp="1"/>
          </p:cNvSpPr>
          <p:nvPr>
            <p:ph type="sldNum" sz="quarter" idx="10"/>
          </p:nvPr>
        </p:nvSpPr>
        <p:spPr>
          <a:xfrm>
            <a:off x="8686800" y="6400800"/>
            <a:ext cx="155575" cy="152400"/>
          </a:xfrm>
        </p:spPr>
        <p:txBody>
          <a:bodyPr/>
          <a:lstStyle>
            <a:lvl1pPr>
              <a:defRPr/>
            </a:lvl1pPr>
          </a:lstStyle>
          <a:p>
            <a:fld id="{AA73854A-5C14-47C3-B598-1F673C68FB47}" type="slidenum">
              <a:rPr lang="en-US"/>
              <a:pPr/>
              <a:t>‹#›</a:t>
            </a:fld>
            <a:endParaRPr lang="en-US" dirty="0"/>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dirty="0"/>
              <a:t>Click to edit Master title style</a:t>
            </a:r>
          </a:p>
        </p:txBody>
      </p:sp>
      <p:sp>
        <p:nvSpPr>
          <p:cNvPr id="3" name="Slide Number Placeholder 2"/>
          <p:cNvSpPr>
            <a:spLocks noGrp="1"/>
          </p:cNvSpPr>
          <p:nvPr>
            <p:ph type="sldNum" sz="quarter" idx="10"/>
          </p:nvPr>
        </p:nvSpPr>
        <p:spPr>
          <a:xfrm>
            <a:off x="8686800" y="6400800"/>
            <a:ext cx="155575" cy="152400"/>
          </a:xfrm>
        </p:spPr>
        <p:txBody>
          <a:bodyPr/>
          <a:lstStyle>
            <a:lvl1pPr>
              <a:defRPr/>
            </a:lvl1pPr>
          </a:lstStyle>
          <a:p>
            <a:fld id="{CDC70ED7-27EA-4514-903C-D4A37184F7C2}" type="slidenum">
              <a:rPr lang="en-US"/>
              <a:pPr/>
              <a:t>‹#›</a:t>
            </a:fld>
            <a:endParaRPr lang="en-US" dirty="0"/>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a:xfrm>
            <a:off x="8686800" y="6400800"/>
            <a:ext cx="155575" cy="152400"/>
          </a:xfrm>
        </p:spPr>
        <p:txBody>
          <a:bodyPr/>
          <a:lstStyle>
            <a:lvl1pPr>
              <a:defRPr/>
            </a:lvl1pPr>
          </a:lstStyle>
          <a:p>
            <a:fld id="{8361A7F4-E54E-4223-9BAA-A5DFCE9EB1E4}" type="slidenum">
              <a:rPr lang="en-US"/>
              <a:pPr/>
              <a:t>‹#›</a:t>
            </a:fld>
            <a:endParaRPr lang="en-US" dirty="0"/>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4"/>
          <p:cNvSpPr>
            <a:spLocks noGrp="1"/>
          </p:cNvSpPr>
          <p:nvPr>
            <p:ph type="sldNum" sz="quarter" idx="10"/>
          </p:nvPr>
        </p:nvSpPr>
        <p:spPr>
          <a:xfrm>
            <a:off x="8686800" y="6400800"/>
            <a:ext cx="155575" cy="152400"/>
          </a:xfrm>
        </p:spPr>
        <p:txBody>
          <a:bodyPr/>
          <a:lstStyle>
            <a:lvl1pPr>
              <a:defRPr/>
            </a:lvl1pPr>
          </a:lstStyle>
          <a:p>
            <a:fld id="{C9188CC7-1F86-4711-BAA0-C20CBBAA9A13}" type="slidenum">
              <a:rPr lang="en-US"/>
              <a:pPr/>
              <a:t>‹#›</a:t>
            </a:fld>
            <a:endParaRPr lang="en-US" dirty="0"/>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4"/>
          <p:cNvSpPr>
            <a:spLocks noGrp="1"/>
          </p:cNvSpPr>
          <p:nvPr>
            <p:ph type="sldNum" sz="quarter" idx="10"/>
          </p:nvPr>
        </p:nvSpPr>
        <p:spPr>
          <a:xfrm>
            <a:off x="8839200" y="6400800"/>
            <a:ext cx="155575" cy="152400"/>
          </a:xfrm>
        </p:spPr>
        <p:txBody>
          <a:bodyPr/>
          <a:lstStyle>
            <a:lvl1pPr>
              <a:defRPr/>
            </a:lvl1pPr>
          </a:lstStyle>
          <a:p>
            <a:fld id="{A23425AD-99C3-4D67-BAAA-9EF149E2BC6E}" type="slidenum">
              <a:rPr lang="en-US"/>
              <a:pPr/>
              <a:t>‹#›</a:t>
            </a:fld>
            <a:endParaRPr lang="en-US" dirty="0"/>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p:cNvSpPr>
            <a:spLocks noGrp="1"/>
          </p:cNvSpPr>
          <p:nvPr>
            <p:ph type="sldNum" sz="quarter" idx="10"/>
          </p:nvPr>
        </p:nvSpPr>
        <p:spPr/>
        <p:txBody>
          <a:bodyPr/>
          <a:lstStyle>
            <a:lvl1pPr>
              <a:defRPr/>
            </a:lvl1pPr>
          </a:lstStyle>
          <a:p>
            <a:fld id="{1CAF9A4D-BF2E-454A-8E48-0BE3BF83C625}" type="slidenum">
              <a:rPr lang="en-US"/>
              <a:pPr/>
              <a:t>‹#›</a:t>
            </a:fld>
            <a:endParaRPr lang="en-US" dirty="0"/>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43700" y="685800"/>
            <a:ext cx="2171700" cy="51816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8600" y="685800"/>
            <a:ext cx="6362700" cy="51816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p:cNvSpPr>
            <a:spLocks noGrp="1"/>
          </p:cNvSpPr>
          <p:nvPr>
            <p:ph type="sldNum" sz="quarter" idx="10"/>
          </p:nvPr>
        </p:nvSpPr>
        <p:spPr/>
        <p:txBody>
          <a:bodyPr/>
          <a:lstStyle>
            <a:lvl1pPr>
              <a:defRPr/>
            </a:lvl1pPr>
          </a:lstStyle>
          <a:p>
            <a:fld id="{78D09FAD-2610-4BCF-8A6E-D3BAB9283AB4}" type="slidenum">
              <a:rPr lang="en-US"/>
              <a:pPr/>
              <a:t>‹#›</a:t>
            </a:fld>
            <a:endParaRPr lang="en-US" dirty="0"/>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fld id="{0518207C-D3B4-4E49-8C59-E267A7D5C2C0}" type="slidenum">
              <a:rPr lang="en-US" smtClean="0"/>
              <a:pPr/>
              <a:t>‹#›</a:t>
            </a:fld>
            <a:endParaRPr lang="en-US" dirty="0"/>
          </a:p>
        </p:txBody>
      </p:sp>
      <p:pic>
        <p:nvPicPr>
          <p:cNvPr id="4" name="Picture 21" descr="textpg_bkgrd2b2"/>
          <p:cNvPicPr>
            <a:picLocks noChangeAspect="1" noChangeArrowheads="1"/>
          </p:cNvPicPr>
          <p:nvPr userDrawn="1"/>
        </p:nvPicPr>
        <p:blipFill>
          <a:blip r:embed="rId2" cstate="print"/>
          <a:srcRect r="8560" b="8560"/>
          <a:stretch>
            <a:fillRect/>
          </a:stretch>
        </p:blipFill>
        <p:spPr bwMode="auto">
          <a:xfrm>
            <a:off x="0" y="0"/>
            <a:ext cx="9144000" cy="6858000"/>
          </a:xfrm>
          <a:prstGeom prst="rect">
            <a:avLst/>
          </a:prstGeom>
          <a:noFill/>
        </p:spPr>
      </p:pic>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gi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folHlink"/>
        </a:solidFill>
        <a:effectLst/>
      </p:bgPr>
    </p:bg>
    <p:spTree>
      <p:nvGrpSpPr>
        <p:cNvPr id="1" name=""/>
        <p:cNvGrpSpPr/>
        <p:nvPr/>
      </p:nvGrpSpPr>
      <p:grpSpPr>
        <a:xfrm>
          <a:off x="0" y="0"/>
          <a:ext cx="0" cy="0"/>
          <a:chOff x="0" y="0"/>
          <a:chExt cx="0" cy="0"/>
        </a:xfrm>
      </p:grpSpPr>
      <p:sp>
        <p:nvSpPr>
          <p:cNvPr id="1032" name="Rectangle 8"/>
          <p:cNvSpPr>
            <a:spLocks noGrp="1" noChangeArrowheads="1"/>
          </p:cNvSpPr>
          <p:nvPr>
            <p:ph type="sldNum" sz="quarter" idx="4"/>
          </p:nvPr>
        </p:nvSpPr>
        <p:spPr bwMode="auto">
          <a:xfrm>
            <a:off x="6245225" y="6400800"/>
            <a:ext cx="155575" cy="152400"/>
          </a:xfrm>
          <a:prstGeom prst="rect">
            <a:avLst/>
          </a:prstGeom>
          <a:noFill/>
          <a:ln w="9525">
            <a:noFill/>
            <a:miter lim="800000"/>
            <a:headEnd/>
            <a:tailEnd/>
          </a:ln>
          <a:effectLst/>
        </p:spPr>
        <p:txBody>
          <a:bodyPr vert="horz" wrap="none" lIns="0" tIns="0" rIns="0" bIns="0" numCol="1" anchor="ctr" anchorCtr="1" compatLnSpc="1">
            <a:prstTxWarp prst="textNoShape">
              <a:avLst/>
            </a:prstTxWarp>
            <a:spAutoFit/>
          </a:bodyPr>
          <a:lstStyle>
            <a:lvl1pPr>
              <a:defRPr sz="1000" b="0">
                <a:solidFill>
                  <a:schemeClr val="tx2"/>
                </a:solidFill>
              </a:defRPr>
            </a:lvl1pPr>
          </a:lstStyle>
          <a:p>
            <a:fld id="{0518207C-D3B4-4E49-8C59-E267A7D5C2C0}" type="slidenum">
              <a:rPr lang="en-US"/>
              <a:pPr/>
              <a:t>‹#›</a:t>
            </a:fld>
            <a:endParaRPr lang="en-US" dirty="0"/>
          </a:p>
        </p:txBody>
      </p:sp>
      <p:pic>
        <p:nvPicPr>
          <p:cNvPr id="1045" name="Picture 21" descr="textpg_bkgrd2b2"/>
          <p:cNvPicPr>
            <a:picLocks noChangeAspect="1" noChangeArrowheads="1"/>
          </p:cNvPicPr>
          <p:nvPr/>
        </p:nvPicPr>
        <p:blipFill>
          <a:blip r:embed="rId14" cstate="print"/>
          <a:srcRect r="5512" b="5512"/>
          <a:stretch>
            <a:fillRect/>
          </a:stretch>
        </p:blipFill>
        <p:spPr bwMode="auto">
          <a:xfrm>
            <a:off x="0" y="0"/>
            <a:ext cx="9144000" cy="6858000"/>
          </a:xfrm>
          <a:prstGeom prst="rect">
            <a:avLst/>
          </a:prstGeom>
          <a:noFill/>
        </p:spPr>
      </p:pic>
      <p:sp>
        <p:nvSpPr>
          <p:cNvPr id="1026" name="Rectangle 2"/>
          <p:cNvSpPr>
            <a:spLocks noGrp="1" noChangeArrowheads="1"/>
          </p:cNvSpPr>
          <p:nvPr>
            <p:ph type="title"/>
          </p:nvPr>
        </p:nvSpPr>
        <p:spPr bwMode="auto">
          <a:xfrm>
            <a:off x="228600" y="0"/>
            <a:ext cx="8686800" cy="639763"/>
          </a:xfrm>
          <a:prstGeom prst="rect">
            <a:avLst/>
          </a:prstGeom>
          <a:noFill/>
          <a:ln w="9525" algn="ctr">
            <a:noFill/>
            <a:miter lim="800000"/>
            <a:headEnd/>
            <a:tailEnd/>
          </a:ln>
          <a:effectLst/>
        </p:spPr>
        <p:txBody>
          <a:bodyPr vert="horz" wrap="square" lIns="0" tIns="0" rIns="0" bIns="0" numCol="1" anchor="b" anchorCtr="0" compatLnSpc="1">
            <a:prstTxWarp prst="textNoShape">
              <a:avLst/>
            </a:prstTxWarp>
          </a:bodyPr>
          <a:lstStyle/>
          <a:p>
            <a:pPr lvl="0"/>
            <a:r>
              <a:rPr lang="en-US" dirty="0"/>
              <a:t>Click to edit Master title style</a:t>
            </a:r>
          </a:p>
        </p:txBody>
      </p:sp>
      <p:sp>
        <p:nvSpPr>
          <p:cNvPr id="1027" name="Rectangle 3"/>
          <p:cNvSpPr>
            <a:spLocks noGrp="1" noChangeArrowheads="1"/>
          </p:cNvSpPr>
          <p:nvPr>
            <p:ph type="body" idx="1"/>
          </p:nvPr>
        </p:nvSpPr>
        <p:spPr bwMode="auto">
          <a:xfrm>
            <a:off x="228600" y="838200"/>
            <a:ext cx="8686800" cy="5029200"/>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99" name="Rectangle 75"/>
          <p:cNvSpPr>
            <a:spLocks noChangeArrowheads="1"/>
          </p:cNvSpPr>
          <p:nvPr/>
        </p:nvSpPr>
        <p:spPr bwMode="auto">
          <a:xfrm>
            <a:off x="0" y="6248400"/>
            <a:ext cx="9144000" cy="609600"/>
          </a:xfrm>
          <a:prstGeom prst="rect">
            <a:avLst/>
          </a:prstGeom>
          <a:solidFill>
            <a:schemeClr val="bg1"/>
          </a:solidFill>
          <a:ln w="9525">
            <a:noFill/>
            <a:miter lim="800000"/>
            <a:headEnd/>
            <a:tailEnd/>
          </a:ln>
          <a:effectLst/>
        </p:spPr>
        <p:txBody>
          <a:bodyPr wrap="none" anchor="ctr"/>
          <a:lstStyle/>
          <a:p>
            <a:endParaRPr lang="en-US" dirty="0"/>
          </a:p>
        </p:txBody>
      </p:sp>
      <p:pic>
        <p:nvPicPr>
          <p:cNvPr id="1098" name="Picture 74"/>
          <p:cNvPicPr>
            <a:picLocks noChangeAspect="1" noChangeArrowheads="1"/>
          </p:cNvPicPr>
          <p:nvPr/>
        </p:nvPicPr>
        <p:blipFill>
          <a:blip r:embed="rId15" cstate="print"/>
          <a:stretch>
            <a:fillRect/>
          </a:stretch>
        </p:blipFill>
        <p:spPr bwMode="auto">
          <a:xfrm>
            <a:off x="127000" y="6324600"/>
            <a:ext cx="2971800" cy="460200"/>
          </a:xfrm>
          <a:prstGeom prst="rect">
            <a:avLst/>
          </a:prstGeom>
          <a:solidFill>
            <a:srgbClr val="FFFFFF">
              <a:shade val="85000"/>
            </a:srgbClr>
          </a:solidFill>
          <a:ln w="88900" cap="sq">
            <a:noFill/>
            <a:miter lim="800000"/>
          </a:ln>
          <a:effec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hf hdr="0" ftr="0" dt="0"/>
  <p:txStyles>
    <p:titleStyle>
      <a:lvl1pPr algn="l" rtl="0" fontAlgn="base">
        <a:spcBef>
          <a:spcPct val="0"/>
        </a:spcBef>
        <a:spcAft>
          <a:spcPct val="0"/>
        </a:spcAft>
        <a:defRPr sz="3200" cap="small" baseline="0">
          <a:solidFill>
            <a:schemeClr val="bg1"/>
          </a:solidFill>
          <a:latin typeface="Calibri" pitchFamily="34" charset="0"/>
          <a:ea typeface="+mj-ea"/>
          <a:cs typeface="+mj-cs"/>
        </a:defRPr>
      </a:lvl1pPr>
      <a:lvl2pPr algn="l" rtl="0" fontAlgn="base">
        <a:spcBef>
          <a:spcPct val="0"/>
        </a:spcBef>
        <a:spcAft>
          <a:spcPct val="0"/>
        </a:spcAft>
        <a:defRPr sz="2400">
          <a:solidFill>
            <a:schemeClr val="tx1"/>
          </a:solidFill>
          <a:latin typeface="Arial" charset="0"/>
        </a:defRPr>
      </a:lvl2pPr>
      <a:lvl3pPr algn="l" rtl="0" fontAlgn="base">
        <a:spcBef>
          <a:spcPct val="0"/>
        </a:spcBef>
        <a:spcAft>
          <a:spcPct val="0"/>
        </a:spcAft>
        <a:defRPr sz="2400">
          <a:solidFill>
            <a:schemeClr val="tx1"/>
          </a:solidFill>
          <a:latin typeface="Arial" charset="0"/>
        </a:defRPr>
      </a:lvl3pPr>
      <a:lvl4pPr algn="l" rtl="0" fontAlgn="base">
        <a:spcBef>
          <a:spcPct val="0"/>
        </a:spcBef>
        <a:spcAft>
          <a:spcPct val="0"/>
        </a:spcAft>
        <a:defRPr sz="2400">
          <a:solidFill>
            <a:schemeClr val="tx1"/>
          </a:solidFill>
          <a:latin typeface="Arial" charset="0"/>
        </a:defRPr>
      </a:lvl4pPr>
      <a:lvl5pPr algn="l" rtl="0" fontAlgn="base">
        <a:spcBef>
          <a:spcPct val="0"/>
        </a:spcBef>
        <a:spcAft>
          <a:spcPct val="0"/>
        </a:spcAft>
        <a:defRPr sz="2400">
          <a:solidFill>
            <a:schemeClr val="tx1"/>
          </a:solidFill>
          <a:latin typeface="Arial" charset="0"/>
        </a:defRPr>
      </a:lvl5pPr>
      <a:lvl6pPr marL="457200" algn="l" rtl="0" fontAlgn="base">
        <a:spcBef>
          <a:spcPct val="0"/>
        </a:spcBef>
        <a:spcAft>
          <a:spcPct val="0"/>
        </a:spcAft>
        <a:defRPr sz="2400">
          <a:solidFill>
            <a:schemeClr val="tx1"/>
          </a:solidFill>
          <a:latin typeface="Arial" charset="0"/>
        </a:defRPr>
      </a:lvl6pPr>
      <a:lvl7pPr marL="914400" algn="l" rtl="0" fontAlgn="base">
        <a:spcBef>
          <a:spcPct val="0"/>
        </a:spcBef>
        <a:spcAft>
          <a:spcPct val="0"/>
        </a:spcAft>
        <a:defRPr sz="2400">
          <a:solidFill>
            <a:schemeClr val="tx1"/>
          </a:solidFill>
          <a:latin typeface="Arial" charset="0"/>
        </a:defRPr>
      </a:lvl7pPr>
      <a:lvl8pPr marL="1371600" algn="l" rtl="0" fontAlgn="base">
        <a:spcBef>
          <a:spcPct val="0"/>
        </a:spcBef>
        <a:spcAft>
          <a:spcPct val="0"/>
        </a:spcAft>
        <a:defRPr sz="2400">
          <a:solidFill>
            <a:schemeClr val="tx1"/>
          </a:solidFill>
          <a:latin typeface="Arial" charset="0"/>
        </a:defRPr>
      </a:lvl8pPr>
      <a:lvl9pPr marL="1828800" algn="l" rtl="0" fontAlgn="base">
        <a:spcBef>
          <a:spcPct val="0"/>
        </a:spcBef>
        <a:spcAft>
          <a:spcPct val="0"/>
        </a:spcAft>
        <a:defRPr sz="2400">
          <a:solidFill>
            <a:schemeClr val="tx1"/>
          </a:solidFill>
          <a:latin typeface="Arial" charset="0"/>
        </a:defRPr>
      </a:lvl9pPr>
    </p:titleStyle>
    <p:bodyStyle>
      <a:lvl1pPr marL="228600" indent="-228600" algn="l" rtl="0" fontAlgn="base">
        <a:spcBef>
          <a:spcPct val="20000"/>
        </a:spcBef>
        <a:spcAft>
          <a:spcPct val="0"/>
        </a:spcAft>
        <a:buClr>
          <a:schemeClr val="hlink"/>
        </a:buClr>
        <a:buChar char="•"/>
        <a:defRPr sz="2000">
          <a:solidFill>
            <a:schemeClr val="tx1"/>
          </a:solidFill>
          <a:latin typeface="+mn-lt"/>
          <a:ea typeface="+mn-ea"/>
          <a:cs typeface="+mn-cs"/>
        </a:defRPr>
      </a:lvl1pPr>
      <a:lvl2pPr marL="565150" indent="-222250" algn="l" rtl="0" fontAlgn="base">
        <a:spcBef>
          <a:spcPct val="20000"/>
        </a:spcBef>
        <a:spcAft>
          <a:spcPct val="0"/>
        </a:spcAft>
        <a:buClr>
          <a:schemeClr val="tx2"/>
        </a:buClr>
        <a:buFont typeface="Arial" charset="0"/>
        <a:buChar char="–"/>
        <a:defRPr>
          <a:solidFill>
            <a:schemeClr val="tx1"/>
          </a:solidFill>
          <a:latin typeface="+mn-lt"/>
        </a:defRPr>
      </a:lvl2pPr>
      <a:lvl3pPr marL="908050" indent="-228600" algn="l" rtl="0" fontAlgn="base">
        <a:spcBef>
          <a:spcPct val="20000"/>
        </a:spcBef>
        <a:spcAft>
          <a:spcPct val="0"/>
        </a:spcAft>
        <a:buClr>
          <a:srgbClr val="918C5A"/>
        </a:buClr>
        <a:buChar char="•"/>
        <a:defRPr sz="1600">
          <a:solidFill>
            <a:schemeClr val="tx1"/>
          </a:solidFill>
          <a:latin typeface="+mn-lt"/>
        </a:defRPr>
      </a:lvl3pPr>
      <a:lvl4pPr marL="1250950" indent="-228600" algn="l" rtl="0" fontAlgn="base">
        <a:spcBef>
          <a:spcPct val="20000"/>
        </a:spcBef>
        <a:spcAft>
          <a:spcPct val="0"/>
        </a:spcAft>
        <a:buClr>
          <a:srgbClr val="918C5A"/>
        </a:buClr>
        <a:buChar char="•"/>
        <a:defRPr sz="1600">
          <a:solidFill>
            <a:schemeClr val="tx1"/>
          </a:solidFill>
          <a:latin typeface="+mn-lt"/>
        </a:defRPr>
      </a:lvl4pPr>
      <a:lvl5pPr marL="1593850" indent="-228600" algn="l" rtl="0" fontAlgn="base">
        <a:spcBef>
          <a:spcPct val="20000"/>
        </a:spcBef>
        <a:spcAft>
          <a:spcPct val="0"/>
        </a:spcAft>
        <a:buClr>
          <a:srgbClr val="918C5A"/>
        </a:buClr>
        <a:buChar char="•"/>
        <a:defRPr sz="1600">
          <a:solidFill>
            <a:schemeClr val="tx1"/>
          </a:solidFill>
          <a:latin typeface="+mn-lt"/>
        </a:defRPr>
      </a:lvl5pPr>
      <a:lvl6pPr marL="2051050" indent="-228600" algn="l" rtl="0" fontAlgn="base">
        <a:spcBef>
          <a:spcPct val="20000"/>
        </a:spcBef>
        <a:spcAft>
          <a:spcPct val="0"/>
        </a:spcAft>
        <a:buClr>
          <a:srgbClr val="918C5A"/>
        </a:buClr>
        <a:buChar char="•"/>
        <a:defRPr sz="1600">
          <a:solidFill>
            <a:schemeClr val="tx1"/>
          </a:solidFill>
          <a:latin typeface="+mn-lt"/>
        </a:defRPr>
      </a:lvl6pPr>
      <a:lvl7pPr marL="2508250" indent="-228600" algn="l" rtl="0" fontAlgn="base">
        <a:spcBef>
          <a:spcPct val="20000"/>
        </a:spcBef>
        <a:spcAft>
          <a:spcPct val="0"/>
        </a:spcAft>
        <a:buClr>
          <a:srgbClr val="918C5A"/>
        </a:buClr>
        <a:buChar char="•"/>
        <a:defRPr sz="1600">
          <a:solidFill>
            <a:schemeClr val="tx1"/>
          </a:solidFill>
          <a:latin typeface="+mn-lt"/>
        </a:defRPr>
      </a:lvl7pPr>
      <a:lvl8pPr marL="2965450" indent="-228600" algn="l" rtl="0" fontAlgn="base">
        <a:spcBef>
          <a:spcPct val="20000"/>
        </a:spcBef>
        <a:spcAft>
          <a:spcPct val="0"/>
        </a:spcAft>
        <a:buClr>
          <a:srgbClr val="918C5A"/>
        </a:buClr>
        <a:buChar char="•"/>
        <a:defRPr sz="1600">
          <a:solidFill>
            <a:schemeClr val="tx1"/>
          </a:solidFill>
          <a:latin typeface="+mn-lt"/>
        </a:defRPr>
      </a:lvl8pPr>
      <a:lvl9pPr marL="3422650" indent="-228600" algn="l" rtl="0" fontAlgn="base">
        <a:spcBef>
          <a:spcPct val="20000"/>
        </a:spcBef>
        <a:spcAft>
          <a:spcPct val="0"/>
        </a:spcAft>
        <a:buClr>
          <a:srgbClr val="918C5A"/>
        </a:buClr>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www.safaribooksonline.com/library/view/cloud-networking/9780128007280/B9780128007280000072.xhtml#f0010"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hyperlink" Target="https://www.safaribooksonline.com/library/view/cloud-networking/9780128007280/B9780128007280000072.xhtml#f0015"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hyperlink" Target="https://www.safaribooksonline.com/library/view/cloud-networking/9780128007280/B9780128007280000023.xhtml"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hyperlink" Target="https://www.safaribooksonline.com/library/view/cloud-networking/9780128007280/B9780128007280000072.xhtml#f0020"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hyperlink" Target="https://www.safaribooksonline.com/library/view/cloud-networking/9780128007280/B9780128007280000072.xhtml#f0020"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hyperlink" Target="https://www.safaribooksonline.com/library/view/cloud-networking/9780128007280/B9780128007280000072.xhtml#f0025" TargetMode="Externa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42" name="Rectangle 10"/>
          <p:cNvSpPr>
            <a:spLocks noGrp="1" noChangeArrowheads="1"/>
          </p:cNvSpPr>
          <p:nvPr>
            <p:ph type="ctrTitle"/>
          </p:nvPr>
        </p:nvSpPr>
        <p:spPr>
          <a:xfrm>
            <a:off x="685800" y="1371600"/>
            <a:ext cx="7851775" cy="1725612"/>
          </a:xfrm>
        </p:spPr>
        <p:txBody>
          <a:bodyPr/>
          <a:lstStyle/>
          <a:p>
            <a:r>
              <a:rPr lang="en-US" sz="4000" dirty="0"/>
              <a:t>EETS 8390: data center network engineering</a:t>
            </a:r>
          </a:p>
        </p:txBody>
      </p:sp>
      <p:sp>
        <p:nvSpPr>
          <p:cNvPr id="44043" name="Rectangle 11"/>
          <p:cNvSpPr>
            <a:spLocks noGrp="1" noChangeArrowheads="1"/>
          </p:cNvSpPr>
          <p:nvPr>
            <p:ph type="subTitle" idx="1"/>
          </p:nvPr>
        </p:nvSpPr>
        <p:spPr>
          <a:xfrm>
            <a:off x="631825" y="3657600"/>
            <a:ext cx="7851775" cy="1597025"/>
          </a:xfrm>
        </p:spPr>
        <p:txBody>
          <a:bodyPr/>
          <a:lstStyle/>
          <a:p>
            <a:r>
              <a:rPr lang="en-US" sz="3600" i="0" dirty="0">
                <a:latin typeface="Calibri" pitchFamily="34" charset="0"/>
              </a:rPr>
              <a:t>M. Scott Kingsley</a:t>
            </a:r>
            <a:endParaRPr lang="en-US" i="0" dirty="0">
              <a:latin typeface="Calibri" pitchFamily="34" charset="0"/>
            </a:endParaRPr>
          </a:p>
          <a:p>
            <a:endParaRPr lang="en-US" sz="2800" dirty="0"/>
          </a:p>
          <a:p>
            <a:r>
              <a:rPr lang="en-US" sz="2800" i="0" dirty="0">
                <a:latin typeface="Calibri" pitchFamily="34" charset="0"/>
              </a:rPr>
              <a:t>CHAPTER </a:t>
            </a:r>
            <a:r>
              <a:rPr lang="en-US" sz="2800" dirty="0"/>
              <a:t>7: </a:t>
            </a:r>
            <a:r>
              <a:rPr lang="en-US" sz="2800" dirty="0">
                <a:effectLst>
                  <a:outerShdw blurRad="38100" dist="38100" dir="2700000" algn="tl">
                    <a:srgbClr val="000000">
                      <a:alpha val="43137"/>
                    </a:srgbClr>
                  </a:outerShdw>
                </a:effectLst>
              </a:rPr>
              <a:t>Network Virtualization</a:t>
            </a:r>
          </a:p>
          <a:p>
            <a:endParaRPr lang="en-US" sz="2400" i="0" dirty="0">
              <a:latin typeface="Calibri" pitchFamily="34" charset="0"/>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480"/>
            <a:ext cx="8915400" cy="563563"/>
          </a:xfrm>
        </p:spPr>
        <p:txBody>
          <a:bodyPr/>
          <a:lstStyle/>
          <a:p>
            <a:r>
              <a:rPr lang="en-US" sz="3200" dirty="0">
                <a:effectLst/>
              </a:rPr>
              <a:t>Chapter 7: Network Virtualization</a:t>
            </a:r>
          </a:p>
        </p:txBody>
      </p:sp>
      <p:sp>
        <p:nvSpPr>
          <p:cNvPr id="2" name="Content Placeholder 1"/>
          <p:cNvSpPr>
            <a:spLocks noGrp="1"/>
          </p:cNvSpPr>
          <p:nvPr>
            <p:ph idx="1"/>
          </p:nvPr>
        </p:nvSpPr>
        <p:spPr>
          <a:xfrm>
            <a:off x="304800" y="990600"/>
            <a:ext cx="8382000" cy="7391400"/>
          </a:xfrm>
        </p:spPr>
        <p:txBody>
          <a:bodyPr/>
          <a:lstStyle/>
          <a:p>
            <a:r>
              <a:rPr lang="en-US" dirty="0"/>
              <a:t>Multiple tenants (customers) are hosted in some of the large cloud data center environments. </a:t>
            </a:r>
          </a:p>
          <a:p>
            <a:r>
              <a:rPr lang="en-US" dirty="0"/>
              <a:t>Not only are these tenants provided dedicated virtual machines, they can now also be provided a dedicated virtual network with many of the same features as a physically isolated network. </a:t>
            </a:r>
          </a:p>
          <a:p>
            <a:r>
              <a:rPr lang="en-US" dirty="0"/>
              <a:t>In this chapter, we describe multitenant cloud data centers and how they can take advantage of virtualized networks. </a:t>
            </a:r>
          </a:p>
          <a:p>
            <a:pPr marL="0" indent="0">
              <a:buNone/>
            </a:pPr>
            <a:endParaRPr lang="en-US" dirty="0"/>
          </a:p>
        </p:txBody>
      </p:sp>
      <p:sp>
        <p:nvSpPr>
          <p:cNvPr id="4" name="Slide Number Placeholder 3"/>
          <p:cNvSpPr>
            <a:spLocks noGrp="1"/>
          </p:cNvSpPr>
          <p:nvPr>
            <p:ph type="sldNum" sz="quarter" idx="10"/>
          </p:nvPr>
        </p:nvSpPr>
        <p:spPr/>
        <p:txBody>
          <a:bodyPr/>
          <a:lstStyle/>
          <a:p>
            <a:fld id="{1C0FA7A3-0FBF-4EC3-BE45-825983E95E58}" type="slidenum">
              <a:rPr lang="en-US" smtClean="0"/>
              <a:pPr/>
              <a:t>1</a:t>
            </a:fld>
            <a:endParaRPr lang="en-US" dirty="0"/>
          </a:p>
        </p:txBody>
      </p:sp>
    </p:spTree>
    <p:extLst>
      <p:ext uri="{BB962C8B-B14F-4D97-AF65-F5344CB8AC3E}">
        <p14:creationId xmlns:p14="http://schemas.microsoft.com/office/powerpoint/2010/main" val="3709086850"/>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480"/>
            <a:ext cx="8915400" cy="563563"/>
          </a:xfrm>
        </p:spPr>
        <p:txBody>
          <a:bodyPr/>
          <a:lstStyle/>
          <a:p>
            <a:r>
              <a:rPr lang="en-US" sz="3200" dirty="0">
                <a:effectLst/>
              </a:rPr>
              <a:t>Chapter 7: Network Virtualization</a:t>
            </a:r>
          </a:p>
        </p:txBody>
      </p:sp>
      <p:sp>
        <p:nvSpPr>
          <p:cNvPr id="2" name="Content Placeholder 1"/>
          <p:cNvSpPr>
            <a:spLocks noGrp="1"/>
          </p:cNvSpPr>
          <p:nvPr>
            <p:ph idx="1"/>
          </p:nvPr>
        </p:nvSpPr>
        <p:spPr>
          <a:xfrm>
            <a:off x="304800" y="990600"/>
            <a:ext cx="8382000" cy="7391400"/>
          </a:xfrm>
        </p:spPr>
        <p:txBody>
          <a:bodyPr/>
          <a:lstStyle/>
          <a:p>
            <a:r>
              <a:rPr lang="en-US" dirty="0"/>
              <a:t>We describe traditional methods of tunneling data through carrier networks and challenges that they present in virtualized data center networks. </a:t>
            </a:r>
          </a:p>
          <a:p>
            <a:r>
              <a:rPr lang="en-US" dirty="0"/>
              <a:t>Next, we provide some details behind Virtual Extensible LAN and Network Virtualization Generic Routing Encapsulation, which are the two most popular emerging standards for network virtualization in multitenant data centers. </a:t>
            </a:r>
          </a:p>
        </p:txBody>
      </p:sp>
      <p:sp>
        <p:nvSpPr>
          <p:cNvPr id="4" name="Slide Number Placeholder 3"/>
          <p:cNvSpPr>
            <a:spLocks noGrp="1"/>
          </p:cNvSpPr>
          <p:nvPr>
            <p:ph type="sldNum" sz="quarter" idx="10"/>
          </p:nvPr>
        </p:nvSpPr>
        <p:spPr/>
        <p:txBody>
          <a:bodyPr/>
          <a:lstStyle/>
          <a:p>
            <a:fld id="{1C0FA7A3-0FBF-4EC3-BE45-825983E95E58}" type="slidenum">
              <a:rPr lang="en-US" smtClean="0"/>
              <a:pPr/>
              <a:t>2</a:t>
            </a:fld>
            <a:endParaRPr lang="en-US" dirty="0"/>
          </a:p>
        </p:txBody>
      </p:sp>
    </p:spTree>
    <p:extLst>
      <p:ext uri="{BB962C8B-B14F-4D97-AF65-F5344CB8AC3E}">
        <p14:creationId xmlns:p14="http://schemas.microsoft.com/office/powerpoint/2010/main" val="2113133905"/>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480"/>
            <a:ext cx="8915400" cy="563563"/>
          </a:xfrm>
        </p:spPr>
        <p:txBody>
          <a:bodyPr/>
          <a:lstStyle/>
          <a:p>
            <a:r>
              <a:rPr lang="en-US" sz="3200" dirty="0">
                <a:effectLst/>
              </a:rPr>
              <a:t>Chapter 7: Network Virtualization</a:t>
            </a:r>
          </a:p>
        </p:txBody>
      </p:sp>
      <p:sp>
        <p:nvSpPr>
          <p:cNvPr id="2" name="Content Placeholder 1"/>
          <p:cNvSpPr>
            <a:spLocks noGrp="1"/>
          </p:cNvSpPr>
          <p:nvPr>
            <p:ph idx="1"/>
          </p:nvPr>
        </p:nvSpPr>
        <p:spPr>
          <a:xfrm>
            <a:off x="304800" y="990600"/>
            <a:ext cx="8382000" cy="7391400"/>
          </a:xfrm>
        </p:spPr>
        <p:txBody>
          <a:bodyPr/>
          <a:lstStyle/>
          <a:p>
            <a:r>
              <a:rPr lang="en-US" dirty="0"/>
              <a:t>In addition, we provide an overview of tunneling locations and also provide details on how load distribution can be accomplished using these tunneling protocols</a:t>
            </a:r>
          </a:p>
        </p:txBody>
      </p:sp>
      <p:sp>
        <p:nvSpPr>
          <p:cNvPr id="4" name="Slide Number Placeholder 3"/>
          <p:cNvSpPr>
            <a:spLocks noGrp="1"/>
          </p:cNvSpPr>
          <p:nvPr>
            <p:ph type="sldNum" sz="quarter" idx="10"/>
          </p:nvPr>
        </p:nvSpPr>
        <p:spPr/>
        <p:txBody>
          <a:bodyPr/>
          <a:lstStyle/>
          <a:p>
            <a:fld id="{1C0FA7A3-0FBF-4EC3-BE45-825983E95E58}" type="slidenum">
              <a:rPr lang="en-US" smtClean="0"/>
              <a:pPr/>
              <a:t>3</a:t>
            </a:fld>
            <a:endParaRPr lang="en-US" dirty="0"/>
          </a:p>
        </p:txBody>
      </p:sp>
    </p:spTree>
    <p:extLst>
      <p:ext uri="{BB962C8B-B14F-4D97-AF65-F5344CB8AC3E}">
        <p14:creationId xmlns:p14="http://schemas.microsoft.com/office/powerpoint/2010/main" val="4026449123"/>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480"/>
            <a:ext cx="8915400" cy="563563"/>
          </a:xfrm>
        </p:spPr>
        <p:txBody>
          <a:bodyPr/>
          <a:lstStyle/>
          <a:p>
            <a:r>
              <a:rPr lang="en-US" sz="3200" dirty="0">
                <a:effectLst/>
              </a:rPr>
              <a:t>Chapter 7: Network Virtualization</a:t>
            </a:r>
          </a:p>
        </p:txBody>
      </p:sp>
      <p:sp>
        <p:nvSpPr>
          <p:cNvPr id="2" name="Content Placeholder 1"/>
          <p:cNvSpPr>
            <a:spLocks noGrp="1"/>
          </p:cNvSpPr>
          <p:nvPr>
            <p:ph idx="1"/>
          </p:nvPr>
        </p:nvSpPr>
        <p:spPr>
          <a:xfrm>
            <a:off x="304800" y="990600"/>
            <a:ext cx="8382000" cy="7391400"/>
          </a:xfrm>
        </p:spPr>
        <p:txBody>
          <a:bodyPr/>
          <a:lstStyle/>
          <a:p>
            <a:r>
              <a:rPr lang="en-US" dirty="0"/>
              <a:t>Network virtualization is similar to server virtualization but instead of dividing up a physical server among several virtual machines, physical network resources are divided up among multiple virtual networks. </a:t>
            </a:r>
          </a:p>
          <a:p>
            <a:r>
              <a:rPr lang="en-US" dirty="0"/>
              <a:t>This is useful in applications such as multi-tenant data center environments where each tenant can be allocated multiple virtual machines as well as a virtual network connecting these virtual machines. </a:t>
            </a:r>
          </a:p>
        </p:txBody>
      </p:sp>
      <p:sp>
        <p:nvSpPr>
          <p:cNvPr id="4" name="Slide Number Placeholder 3"/>
          <p:cNvSpPr>
            <a:spLocks noGrp="1"/>
          </p:cNvSpPr>
          <p:nvPr>
            <p:ph type="sldNum" sz="quarter" idx="10"/>
          </p:nvPr>
        </p:nvSpPr>
        <p:spPr/>
        <p:txBody>
          <a:bodyPr/>
          <a:lstStyle/>
          <a:p>
            <a:fld id="{1C0FA7A3-0FBF-4EC3-BE45-825983E95E58}" type="slidenum">
              <a:rPr lang="en-US" smtClean="0"/>
              <a:pPr/>
              <a:t>4</a:t>
            </a:fld>
            <a:endParaRPr lang="en-US" dirty="0"/>
          </a:p>
        </p:txBody>
      </p:sp>
    </p:spTree>
    <p:extLst>
      <p:ext uri="{BB962C8B-B14F-4D97-AF65-F5344CB8AC3E}">
        <p14:creationId xmlns:p14="http://schemas.microsoft.com/office/powerpoint/2010/main" val="3348595784"/>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480"/>
            <a:ext cx="8915400" cy="563563"/>
          </a:xfrm>
        </p:spPr>
        <p:txBody>
          <a:bodyPr/>
          <a:lstStyle/>
          <a:p>
            <a:r>
              <a:rPr lang="en-US" sz="3200" dirty="0">
                <a:effectLst/>
              </a:rPr>
              <a:t>Chapter 7: Network Virtualization</a:t>
            </a:r>
          </a:p>
        </p:txBody>
      </p:sp>
      <p:sp>
        <p:nvSpPr>
          <p:cNvPr id="2" name="Content Placeholder 1"/>
          <p:cNvSpPr>
            <a:spLocks noGrp="1"/>
          </p:cNvSpPr>
          <p:nvPr>
            <p:ph idx="1"/>
          </p:nvPr>
        </p:nvSpPr>
        <p:spPr>
          <a:xfrm>
            <a:off x="304800" y="990600"/>
            <a:ext cx="8382000" cy="7391400"/>
          </a:xfrm>
        </p:spPr>
        <p:txBody>
          <a:bodyPr/>
          <a:lstStyle/>
          <a:p>
            <a:r>
              <a:rPr lang="en-US" dirty="0"/>
              <a:t>One way to do this is to provide a special label within each frame that identifies the virtual network that it belongs to. </a:t>
            </a:r>
          </a:p>
          <a:p>
            <a:r>
              <a:rPr lang="en-US" dirty="0"/>
              <a:t>Labeling frames and forwarding data based on these labels is sometimes called network tunneling. </a:t>
            </a:r>
          </a:p>
          <a:p>
            <a:r>
              <a:rPr lang="en-US" dirty="0"/>
              <a:t>Tunneling has been used in telecom networks for some time, but these types of tunnels have limitations that make them less useful in virtualized data center networks. </a:t>
            </a:r>
          </a:p>
        </p:txBody>
      </p:sp>
      <p:sp>
        <p:nvSpPr>
          <p:cNvPr id="4" name="Slide Number Placeholder 3"/>
          <p:cNvSpPr>
            <a:spLocks noGrp="1"/>
          </p:cNvSpPr>
          <p:nvPr>
            <p:ph type="sldNum" sz="quarter" idx="10"/>
          </p:nvPr>
        </p:nvSpPr>
        <p:spPr/>
        <p:txBody>
          <a:bodyPr/>
          <a:lstStyle/>
          <a:p>
            <a:fld id="{1C0FA7A3-0FBF-4EC3-BE45-825983E95E58}" type="slidenum">
              <a:rPr lang="en-US" smtClean="0"/>
              <a:pPr/>
              <a:t>5</a:t>
            </a:fld>
            <a:endParaRPr lang="en-US" dirty="0"/>
          </a:p>
        </p:txBody>
      </p:sp>
    </p:spTree>
    <p:extLst>
      <p:ext uri="{BB962C8B-B14F-4D97-AF65-F5344CB8AC3E}">
        <p14:creationId xmlns:p14="http://schemas.microsoft.com/office/powerpoint/2010/main" val="395730096"/>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480"/>
            <a:ext cx="8915400" cy="563563"/>
          </a:xfrm>
        </p:spPr>
        <p:txBody>
          <a:bodyPr/>
          <a:lstStyle/>
          <a:p>
            <a:r>
              <a:rPr lang="en-US" sz="3200" dirty="0">
                <a:effectLst/>
              </a:rPr>
              <a:t>Chapter 7: Network Virtualization</a:t>
            </a:r>
          </a:p>
        </p:txBody>
      </p:sp>
      <p:sp>
        <p:nvSpPr>
          <p:cNvPr id="2" name="Content Placeholder 1"/>
          <p:cNvSpPr>
            <a:spLocks noGrp="1"/>
          </p:cNvSpPr>
          <p:nvPr>
            <p:ph idx="1"/>
          </p:nvPr>
        </p:nvSpPr>
        <p:spPr>
          <a:xfrm>
            <a:off x="304800" y="762000"/>
            <a:ext cx="8382000" cy="7391400"/>
          </a:xfrm>
        </p:spPr>
        <p:txBody>
          <a:bodyPr/>
          <a:lstStyle/>
          <a:p>
            <a:r>
              <a:rPr lang="en-US" dirty="0"/>
              <a:t>This chapter will provide a background on multi-tenant data center requirements along with a background on tunneling techniques used in telecom networks. </a:t>
            </a:r>
          </a:p>
          <a:p>
            <a:r>
              <a:rPr lang="en-US" dirty="0"/>
              <a:t>We will then describe two new industry standards for virtualized data center networks along with example use cases. </a:t>
            </a:r>
          </a:p>
          <a:p>
            <a:r>
              <a:rPr lang="en-US" dirty="0"/>
              <a:t>At the end of the chapter, we will discuss the various tunneling locations that can be used at the edge of the network along with how loads can be distributed through these tunnels.</a:t>
            </a:r>
          </a:p>
        </p:txBody>
      </p:sp>
      <p:sp>
        <p:nvSpPr>
          <p:cNvPr id="4" name="Slide Number Placeholder 3"/>
          <p:cNvSpPr>
            <a:spLocks noGrp="1"/>
          </p:cNvSpPr>
          <p:nvPr>
            <p:ph type="sldNum" sz="quarter" idx="10"/>
          </p:nvPr>
        </p:nvSpPr>
        <p:spPr/>
        <p:txBody>
          <a:bodyPr/>
          <a:lstStyle/>
          <a:p>
            <a:fld id="{1C0FA7A3-0FBF-4EC3-BE45-825983E95E58}" type="slidenum">
              <a:rPr lang="en-US" smtClean="0"/>
              <a:pPr/>
              <a:t>6</a:t>
            </a:fld>
            <a:endParaRPr lang="en-US" dirty="0"/>
          </a:p>
        </p:txBody>
      </p:sp>
    </p:spTree>
    <p:extLst>
      <p:ext uri="{BB962C8B-B14F-4D97-AF65-F5344CB8AC3E}">
        <p14:creationId xmlns:p14="http://schemas.microsoft.com/office/powerpoint/2010/main" val="1235774419"/>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480"/>
            <a:ext cx="8915400" cy="563563"/>
          </a:xfrm>
        </p:spPr>
        <p:txBody>
          <a:bodyPr/>
          <a:lstStyle/>
          <a:p>
            <a:r>
              <a:rPr lang="en-US" sz="3200" dirty="0">
                <a:effectLst/>
              </a:rPr>
              <a:t>Multitenant Environments</a:t>
            </a:r>
          </a:p>
        </p:txBody>
      </p:sp>
      <p:sp>
        <p:nvSpPr>
          <p:cNvPr id="2" name="Content Placeholder 1"/>
          <p:cNvSpPr>
            <a:spLocks noGrp="1"/>
          </p:cNvSpPr>
          <p:nvPr>
            <p:ph idx="1"/>
          </p:nvPr>
        </p:nvSpPr>
        <p:spPr>
          <a:xfrm>
            <a:off x="304800" y="762000"/>
            <a:ext cx="8382000" cy="7391400"/>
          </a:xfrm>
        </p:spPr>
        <p:txBody>
          <a:bodyPr/>
          <a:lstStyle/>
          <a:p>
            <a:r>
              <a:rPr lang="en-US" dirty="0"/>
              <a:t>The goal of a multi-tenant public cloud data center is to make the customer experience much the same as if they were using their own private data center. </a:t>
            </a:r>
          </a:p>
          <a:p>
            <a:r>
              <a:rPr lang="en-US" dirty="0"/>
              <a:t>An additional goal of the cloud service provider is to have a flexible allocation of resources so they can quickly adapt to changing needs in order to reduce both capital expense and operating expense. </a:t>
            </a:r>
          </a:p>
        </p:txBody>
      </p:sp>
      <p:sp>
        <p:nvSpPr>
          <p:cNvPr id="4" name="Slide Number Placeholder 3"/>
          <p:cNvSpPr>
            <a:spLocks noGrp="1"/>
          </p:cNvSpPr>
          <p:nvPr>
            <p:ph type="sldNum" sz="quarter" idx="10"/>
          </p:nvPr>
        </p:nvSpPr>
        <p:spPr/>
        <p:txBody>
          <a:bodyPr/>
          <a:lstStyle/>
          <a:p>
            <a:fld id="{1C0FA7A3-0FBF-4EC3-BE45-825983E95E58}" type="slidenum">
              <a:rPr lang="en-US" smtClean="0"/>
              <a:pPr/>
              <a:t>7</a:t>
            </a:fld>
            <a:endParaRPr lang="en-US" dirty="0"/>
          </a:p>
        </p:txBody>
      </p:sp>
    </p:spTree>
    <p:extLst>
      <p:ext uri="{BB962C8B-B14F-4D97-AF65-F5344CB8AC3E}">
        <p14:creationId xmlns:p14="http://schemas.microsoft.com/office/powerpoint/2010/main" val="549272926"/>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480"/>
            <a:ext cx="8915400" cy="563563"/>
          </a:xfrm>
        </p:spPr>
        <p:txBody>
          <a:bodyPr/>
          <a:lstStyle/>
          <a:p>
            <a:r>
              <a:rPr lang="en-US" sz="3200" dirty="0">
                <a:effectLst/>
              </a:rPr>
              <a:t>Multitenant Environments</a:t>
            </a:r>
          </a:p>
        </p:txBody>
      </p:sp>
      <p:sp>
        <p:nvSpPr>
          <p:cNvPr id="2" name="Content Placeholder 1"/>
          <p:cNvSpPr>
            <a:spLocks noGrp="1"/>
          </p:cNvSpPr>
          <p:nvPr>
            <p:ph idx="1"/>
          </p:nvPr>
        </p:nvSpPr>
        <p:spPr>
          <a:xfrm>
            <a:off x="352107" y="685800"/>
            <a:ext cx="8382000" cy="7391400"/>
          </a:xfrm>
        </p:spPr>
        <p:txBody>
          <a:bodyPr/>
          <a:lstStyle/>
          <a:p>
            <a:r>
              <a:rPr lang="en-US" dirty="0"/>
              <a:t>For several years now, virtual machines have been used along with virtual switches to improve server utilization as we described in the last chapter. </a:t>
            </a:r>
          </a:p>
          <a:p>
            <a:r>
              <a:rPr lang="en-US" dirty="0"/>
              <a:t>Attention is now turning to the virtualization of networking resources in a way that maintains a private network experience. </a:t>
            </a:r>
          </a:p>
          <a:p>
            <a:r>
              <a:rPr lang="en-US" dirty="0">
                <a:hlinkClick r:id="rId2"/>
              </a:rPr>
              <a:t>Figure 7.1</a:t>
            </a:r>
            <a:r>
              <a:rPr lang="en-US" dirty="0"/>
              <a:t> shows a simplified view of a virtualized cloud data center including the physical servers and physical network components.</a:t>
            </a:r>
          </a:p>
        </p:txBody>
      </p:sp>
      <p:sp>
        <p:nvSpPr>
          <p:cNvPr id="4" name="Slide Number Placeholder 3"/>
          <p:cNvSpPr>
            <a:spLocks noGrp="1"/>
          </p:cNvSpPr>
          <p:nvPr>
            <p:ph type="sldNum" sz="quarter" idx="10"/>
          </p:nvPr>
        </p:nvSpPr>
        <p:spPr/>
        <p:txBody>
          <a:bodyPr/>
          <a:lstStyle/>
          <a:p>
            <a:fld id="{1C0FA7A3-0FBF-4EC3-BE45-825983E95E58}" type="slidenum">
              <a:rPr lang="en-US" smtClean="0"/>
              <a:pPr/>
              <a:t>8</a:t>
            </a:fld>
            <a:endParaRPr lang="en-US" dirty="0"/>
          </a:p>
        </p:txBody>
      </p:sp>
    </p:spTree>
    <p:extLst>
      <p:ext uri="{BB962C8B-B14F-4D97-AF65-F5344CB8AC3E}">
        <p14:creationId xmlns:p14="http://schemas.microsoft.com/office/powerpoint/2010/main" val="3463892927"/>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480"/>
            <a:ext cx="8915400" cy="563563"/>
          </a:xfrm>
        </p:spPr>
        <p:txBody>
          <a:bodyPr/>
          <a:lstStyle/>
          <a:p>
            <a:r>
              <a:rPr lang="en-US" sz="3200" dirty="0">
                <a:effectLst/>
              </a:rPr>
              <a:t>Multitenant Environments</a:t>
            </a:r>
          </a:p>
        </p:txBody>
      </p:sp>
      <p:sp>
        <p:nvSpPr>
          <p:cNvPr id="2" name="Content Placeholder 1"/>
          <p:cNvSpPr>
            <a:spLocks noGrp="1"/>
          </p:cNvSpPr>
          <p:nvPr>
            <p:ph idx="1"/>
          </p:nvPr>
        </p:nvSpPr>
        <p:spPr>
          <a:xfrm>
            <a:off x="460375" y="914400"/>
            <a:ext cx="8382000" cy="1600200"/>
          </a:xfrm>
        </p:spPr>
        <p:txBody>
          <a:bodyPr/>
          <a:lstStyle/>
          <a:p>
            <a:r>
              <a:rPr lang="en-US" b="1" cap="all" dirty="0"/>
              <a:t>FIGURE 7.1</a:t>
            </a:r>
            <a:r>
              <a:rPr lang="en-US" dirty="0"/>
              <a:t> Logical diagram of multitenant data center.</a:t>
            </a:r>
          </a:p>
        </p:txBody>
      </p:sp>
      <p:sp>
        <p:nvSpPr>
          <p:cNvPr id="4" name="Slide Number Placeholder 3"/>
          <p:cNvSpPr>
            <a:spLocks noGrp="1"/>
          </p:cNvSpPr>
          <p:nvPr>
            <p:ph type="sldNum" sz="quarter" idx="10"/>
          </p:nvPr>
        </p:nvSpPr>
        <p:spPr/>
        <p:txBody>
          <a:bodyPr/>
          <a:lstStyle/>
          <a:p>
            <a:fld id="{1C0FA7A3-0FBF-4EC3-BE45-825983E95E58}" type="slidenum">
              <a:rPr lang="en-US" smtClean="0"/>
              <a:pPr/>
              <a:t>9</a:t>
            </a:fld>
            <a:endParaRPr lang="en-US" dirty="0"/>
          </a:p>
        </p:txBody>
      </p:sp>
      <p:pic>
        <p:nvPicPr>
          <p:cNvPr id="1026" name="Picture 2" descr="https://www.safaribooksonline.com/library/view/cloud-networking/9780128007280/images/B9780128007280000072/f07-01-978012800728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1981200"/>
            <a:ext cx="6858000" cy="3733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64516280"/>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480"/>
            <a:ext cx="8915400" cy="563563"/>
          </a:xfrm>
        </p:spPr>
        <p:txBody>
          <a:bodyPr/>
          <a:lstStyle/>
          <a:p>
            <a:r>
              <a:rPr lang="en-US" sz="3200" dirty="0">
                <a:effectLst/>
              </a:rPr>
              <a:t>Multitenant Environments</a:t>
            </a:r>
          </a:p>
        </p:txBody>
      </p:sp>
      <p:sp>
        <p:nvSpPr>
          <p:cNvPr id="2" name="Content Placeholder 1"/>
          <p:cNvSpPr>
            <a:spLocks noGrp="1"/>
          </p:cNvSpPr>
          <p:nvPr>
            <p:ph idx="1"/>
          </p:nvPr>
        </p:nvSpPr>
        <p:spPr>
          <a:xfrm>
            <a:off x="429895" y="1143000"/>
            <a:ext cx="8382000" cy="7391400"/>
          </a:xfrm>
        </p:spPr>
        <p:txBody>
          <a:bodyPr/>
          <a:lstStyle/>
          <a:p>
            <a:r>
              <a:rPr lang="en-US" sz="2800" dirty="0"/>
              <a:t>In this example, the physical resources are divided up among three different tenants. The server administrator allocates virtual machine resources to each tenant that may reside on different servers across the network. </a:t>
            </a:r>
          </a:p>
          <a:p>
            <a:r>
              <a:rPr lang="en-US" sz="2800" dirty="0"/>
              <a:t>The network administrator also allocates virtual network resources to each tenant that interconnects the given tenant’s virtual machines. </a:t>
            </a:r>
          </a:p>
          <a:p>
            <a:r>
              <a:rPr lang="en-US" sz="2800" dirty="0"/>
              <a:t>The virtual machine network connections and virtual networks are isolated from each other using special headers that will be described further in this chapter.</a:t>
            </a:r>
          </a:p>
        </p:txBody>
      </p:sp>
      <p:sp>
        <p:nvSpPr>
          <p:cNvPr id="4" name="Slide Number Placeholder 3"/>
          <p:cNvSpPr>
            <a:spLocks noGrp="1"/>
          </p:cNvSpPr>
          <p:nvPr>
            <p:ph type="sldNum" sz="quarter" idx="10"/>
          </p:nvPr>
        </p:nvSpPr>
        <p:spPr/>
        <p:txBody>
          <a:bodyPr/>
          <a:lstStyle/>
          <a:p>
            <a:fld id="{1C0FA7A3-0FBF-4EC3-BE45-825983E95E58}" type="slidenum">
              <a:rPr lang="en-US" smtClean="0"/>
              <a:pPr/>
              <a:t>10</a:t>
            </a:fld>
            <a:endParaRPr lang="en-US" dirty="0"/>
          </a:p>
        </p:txBody>
      </p:sp>
    </p:spTree>
    <p:extLst>
      <p:ext uri="{BB962C8B-B14F-4D97-AF65-F5344CB8AC3E}">
        <p14:creationId xmlns:p14="http://schemas.microsoft.com/office/powerpoint/2010/main" val="777464385"/>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480"/>
            <a:ext cx="8915400" cy="563563"/>
          </a:xfrm>
        </p:spPr>
        <p:txBody>
          <a:bodyPr/>
          <a:lstStyle/>
          <a:p>
            <a:r>
              <a:rPr lang="en-US" sz="3200" dirty="0">
                <a:effectLst/>
              </a:rPr>
              <a:t>Network Requirements</a:t>
            </a:r>
          </a:p>
        </p:txBody>
      </p:sp>
      <p:sp>
        <p:nvSpPr>
          <p:cNvPr id="2" name="Content Placeholder 1"/>
          <p:cNvSpPr>
            <a:spLocks noGrp="1"/>
          </p:cNvSpPr>
          <p:nvPr>
            <p:ph idx="1"/>
          </p:nvPr>
        </p:nvSpPr>
        <p:spPr>
          <a:xfrm>
            <a:off x="460375" y="1295400"/>
            <a:ext cx="8382000" cy="7391400"/>
          </a:xfrm>
        </p:spPr>
        <p:txBody>
          <a:bodyPr/>
          <a:lstStyle/>
          <a:p>
            <a:r>
              <a:rPr lang="en-US" dirty="0"/>
              <a:t>Virtualized networking places several requirements on the physical data center network. </a:t>
            </a:r>
          </a:p>
          <a:p>
            <a:r>
              <a:rPr lang="en-US" dirty="0"/>
              <a:t>In many cases, the virtual network is emulating a layer 2 Ethernet network, and all traffic sent or received from the VMs are layer 2 frames that must be tunneled through the data center network without the knowledge of the VMs. </a:t>
            </a:r>
          </a:p>
        </p:txBody>
      </p:sp>
      <p:sp>
        <p:nvSpPr>
          <p:cNvPr id="4" name="Slide Number Placeholder 3"/>
          <p:cNvSpPr>
            <a:spLocks noGrp="1"/>
          </p:cNvSpPr>
          <p:nvPr>
            <p:ph type="sldNum" sz="quarter" idx="10"/>
          </p:nvPr>
        </p:nvSpPr>
        <p:spPr/>
        <p:txBody>
          <a:bodyPr/>
          <a:lstStyle/>
          <a:p>
            <a:fld id="{1C0FA7A3-0FBF-4EC3-BE45-825983E95E58}" type="slidenum">
              <a:rPr lang="en-US" smtClean="0"/>
              <a:pPr/>
              <a:t>11</a:t>
            </a:fld>
            <a:endParaRPr lang="en-US" dirty="0"/>
          </a:p>
        </p:txBody>
      </p:sp>
    </p:spTree>
    <p:extLst>
      <p:ext uri="{BB962C8B-B14F-4D97-AF65-F5344CB8AC3E}">
        <p14:creationId xmlns:p14="http://schemas.microsoft.com/office/powerpoint/2010/main" val="4103504490"/>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480"/>
            <a:ext cx="8915400" cy="563563"/>
          </a:xfrm>
        </p:spPr>
        <p:txBody>
          <a:bodyPr/>
          <a:lstStyle/>
          <a:p>
            <a:r>
              <a:rPr lang="en-US" sz="3200" dirty="0">
                <a:effectLst/>
              </a:rPr>
              <a:t>Network Requirements</a:t>
            </a:r>
          </a:p>
        </p:txBody>
      </p:sp>
      <p:sp>
        <p:nvSpPr>
          <p:cNvPr id="2" name="Content Placeholder 1"/>
          <p:cNvSpPr>
            <a:spLocks noGrp="1"/>
          </p:cNvSpPr>
          <p:nvPr>
            <p:ph idx="1"/>
          </p:nvPr>
        </p:nvSpPr>
        <p:spPr>
          <a:xfrm>
            <a:off x="495300" y="609283"/>
            <a:ext cx="8382000" cy="7391400"/>
          </a:xfrm>
        </p:spPr>
        <p:txBody>
          <a:bodyPr/>
          <a:lstStyle/>
          <a:p>
            <a:r>
              <a:rPr lang="en-US" dirty="0"/>
              <a:t>To do this, some entity in the server or attached to the server must encapsulate the layer 2 frame with a tunnel header on the transmit side and de-encapsulate the tunnel header on the receive side. </a:t>
            </a:r>
          </a:p>
          <a:p>
            <a:r>
              <a:rPr lang="en-US" dirty="0"/>
              <a:t>The tunnel label, along with other header information, is used to forward the packet through the layer 3 physical network. </a:t>
            </a:r>
          </a:p>
        </p:txBody>
      </p:sp>
      <p:sp>
        <p:nvSpPr>
          <p:cNvPr id="4" name="Slide Number Placeholder 3"/>
          <p:cNvSpPr>
            <a:spLocks noGrp="1"/>
          </p:cNvSpPr>
          <p:nvPr>
            <p:ph type="sldNum" sz="quarter" idx="10"/>
          </p:nvPr>
        </p:nvSpPr>
        <p:spPr/>
        <p:txBody>
          <a:bodyPr/>
          <a:lstStyle/>
          <a:p>
            <a:fld id="{1C0FA7A3-0FBF-4EC3-BE45-825983E95E58}" type="slidenum">
              <a:rPr lang="en-US" smtClean="0"/>
              <a:pPr/>
              <a:t>12</a:t>
            </a:fld>
            <a:endParaRPr lang="en-US" dirty="0"/>
          </a:p>
        </p:txBody>
      </p:sp>
    </p:spTree>
    <p:extLst>
      <p:ext uri="{BB962C8B-B14F-4D97-AF65-F5344CB8AC3E}">
        <p14:creationId xmlns:p14="http://schemas.microsoft.com/office/powerpoint/2010/main" val="1209422177"/>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480"/>
            <a:ext cx="8915400" cy="563563"/>
          </a:xfrm>
        </p:spPr>
        <p:txBody>
          <a:bodyPr/>
          <a:lstStyle/>
          <a:p>
            <a:r>
              <a:rPr lang="en-US" sz="3200" dirty="0">
                <a:effectLst/>
              </a:rPr>
              <a:t>Network Requirements</a:t>
            </a:r>
          </a:p>
        </p:txBody>
      </p:sp>
      <p:sp>
        <p:nvSpPr>
          <p:cNvPr id="2" name="Content Placeholder 1"/>
          <p:cNvSpPr>
            <a:spLocks noGrp="1"/>
          </p:cNvSpPr>
          <p:nvPr>
            <p:ph idx="1"/>
          </p:nvPr>
        </p:nvSpPr>
        <p:spPr>
          <a:xfrm>
            <a:off x="495300" y="1219200"/>
            <a:ext cx="8382000" cy="7391400"/>
          </a:xfrm>
        </p:spPr>
        <p:txBody>
          <a:bodyPr/>
          <a:lstStyle/>
          <a:p>
            <a:r>
              <a:rPr lang="en-US" dirty="0"/>
              <a:t>By using a unique tunnel value (or tag) for each virtual network, separation and security can be maintained between tenants. </a:t>
            </a:r>
          </a:p>
          <a:p>
            <a:r>
              <a:rPr lang="en-US" dirty="0"/>
              <a:t>The number of tunnel values increases dramatically for large data centers which may host thousands of tenants.</a:t>
            </a:r>
            <a:endParaRPr lang="en-US" sz="2800" dirty="0"/>
          </a:p>
        </p:txBody>
      </p:sp>
      <p:sp>
        <p:nvSpPr>
          <p:cNvPr id="4" name="Slide Number Placeholder 3"/>
          <p:cNvSpPr>
            <a:spLocks noGrp="1"/>
          </p:cNvSpPr>
          <p:nvPr>
            <p:ph type="sldNum" sz="quarter" idx="10"/>
          </p:nvPr>
        </p:nvSpPr>
        <p:spPr/>
        <p:txBody>
          <a:bodyPr/>
          <a:lstStyle/>
          <a:p>
            <a:fld id="{1C0FA7A3-0FBF-4EC3-BE45-825983E95E58}" type="slidenum">
              <a:rPr lang="en-US" smtClean="0"/>
              <a:pPr/>
              <a:t>13</a:t>
            </a:fld>
            <a:endParaRPr lang="en-US" dirty="0"/>
          </a:p>
        </p:txBody>
      </p:sp>
    </p:spTree>
    <p:extLst>
      <p:ext uri="{BB962C8B-B14F-4D97-AF65-F5344CB8AC3E}">
        <p14:creationId xmlns:p14="http://schemas.microsoft.com/office/powerpoint/2010/main" val="1740947937"/>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480"/>
            <a:ext cx="8915400" cy="563563"/>
          </a:xfrm>
        </p:spPr>
        <p:txBody>
          <a:bodyPr/>
          <a:lstStyle/>
          <a:p>
            <a:r>
              <a:rPr lang="en-US" sz="3200" dirty="0">
                <a:effectLst/>
              </a:rPr>
              <a:t>Network Requirements</a:t>
            </a:r>
          </a:p>
        </p:txBody>
      </p:sp>
      <p:sp>
        <p:nvSpPr>
          <p:cNvPr id="2" name="Content Placeholder 1"/>
          <p:cNvSpPr>
            <a:spLocks noGrp="1"/>
          </p:cNvSpPr>
          <p:nvPr>
            <p:ph idx="1"/>
          </p:nvPr>
        </p:nvSpPr>
        <p:spPr>
          <a:xfrm>
            <a:off x="495300" y="1219200"/>
            <a:ext cx="8382000" cy="7391400"/>
          </a:xfrm>
        </p:spPr>
        <p:txBody>
          <a:bodyPr/>
          <a:lstStyle/>
          <a:p>
            <a:r>
              <a:rPr lang="en-US" dirty="0"/>
              <a:t>Why not simply use the IEEE virtual local area network (VLAN) tag to identify unique tenants just as it is used to identify different virtual local area networks within a corporate network? </a:t>
            </a:r>
          </a:p>
          <a:p>
            <a:r>
              <a:rPr lang="en-US" dirty="0"/>
              <a:t>The reason for not using this tag is that corporate clients leasing public cloud services want to maintain their own VLAN information to separate different departments just as they would in their own data center. </a:t>
            </a:r>
            <a:endParaRPr lang="en-US" sz="2800" dirty="0"/>
          </a:p>
        </p:txBody>
      </p:sp>
      <p:sp>
        <p:nvSpPr>
          <p:cNvPr id="4" name="Slide Number Placeholder 3"/>
          <p:cNvSpPr>
            <a:spLocks noGrp="1"/>
          </p:cNvSpPr>
          <p:nvPr>
            <p:ph type="sldNum" sz="quarter" idx="10"/>
          </p:nvPr>
        </p:nvSpPr>
        <p:spPr/>
        <p:txBody>
          <a:bodyPr/>
          <a:lstStyle/>
          <a:p>
            <a:fld id="{1C0FA7A3-0FBF-4EC3-BE45-825983E95E58}" type="slidenum">
              <a:rPr lang="en-US" smtClean="0"/>
              <a:pPr/>
              <a:t>14</a:t>
            </a:fld>
            <a:endParaRPr lang="en-US" dirty="0"/>
          </a:p>
        </p:txBody>
      </p:sp>
    </p:spTree>
    <p:extLst>
      <p:ext uri="{BB962C8B-B14F-4D97-AF65-F5344CB8AC3E}">
        <p14:creationId xmlns:p14="http://schemas.microsoft.com/office/powerpoint/2010/main" val="3380171262"/>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480"/>
            <a:ext cx="8915400" cy="563563"/>
          </a:xfrm>
        </p:spPr>
        <p:txBody>
          <a:bodyPr/>
          <a:lstStyle/>
          <a:p>
            <a:r>
              <a:rPr lang="en-US" sz="3200" dirty="0">
                <a:effectLst/>
              </a:rPr>
              <a:t>Network Requirements</a:t>
            </a:r>
          </a:p>
        </p:txBody>
      </p:sp>
      <p:sp>
        <p:nvSpPr>
          <p:cNvPr id="2" name="Content Placeholder 1"/>
          <p:cNvSpPr>
            <a:spLocks noGrp="1"/>
          </p:cNvSpPr>
          <p:nvPr>
            <p:ph idx="1"/>
          </p:nvPr>
        </p:nvSpPr>
        <p:spPr>
          <a:xfrm>
            <a:off x="495300" y="1219200"/>
            <a:ext cx="8382000" cy="7391400"/>
          </a:xfrm>
        </p:spPr>
        <p:txBody>
          <a:bodyPr/>
          <a:lstStyle/>
          <a:p>
            <a:r>
              <a:rPr lang="en-US" dirty="0"/>
              <a:t>So the tunnel labels cannot share this tag due to conflicts with tenant VLAN information. </a:t>
            </a:r>
          </a:p>
          <a:p>
            <a:r>
              <a:rPr lang="en-US" dirty="0"/>
              <a:t>In addition, the VLAN tag only supports 4096 total values, restricting the maximum number of tenants that a cloud data center can support.</a:t>
            </a:r>
            <a:endParaRPr lang="en-US" sz="2800" dirty="0"/>
          </a:p>
        </p:txBody>
      </p:sp>
      <p:sp>
        <p:nvSpPr>
          <p:cNvPr id="4" name="Slide Number Placeholder 3"/>
          <p:cNvSpPr>
            <a:spLocks noGrp="1"/>
          </p:cNvSpPr>
          <p:nvPr>
            <p:ph type="sldNum" sz="quarter" idx="10"/>
          </p:nvPr>
        </p:nvSpPr>
        <p:spPr/>
        <p:txBody>
          <a:bodyPr/>
          <a:lstStyle/>
          <a:p>
            <a:fld id="{1C0FA7A3-0FBF-4EC3-BE45-825983E95E58}" type="slidenum">
              <a:rPr lang="en-US" smtClean="0"/>
              <a:pPr/>
              <a:t>15</a:t>
            </a:fld>
            <a:endParaRPr lang="en-US" dirty="0"/>
          </a:p>
        </p:txBody>
      </p:sp>
    </p:spTree>
    <p:extLst>
      <p:ext uri="{BB962C8B-B14F-4D97-AF65-F5344CB8AC3E}">
        <p14:creationId xmlns:p14="http://schemas.microsoft.com/office/powerpoint/2010/main" val="2986635716"/>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480"/>
            <a:ext cx="8915400" cy="563563"/>
          </a:xfrm>
        </p:spPr>
        <p:txBody>
          <a:bodyPr/>
          <a:lstStyle/>
          <a:p>
            <a:r>
              <a:rPr lang="en-US" sz="3200" dirty="0">
                <a:effectLst/>
              </a:rPr>
              <a:t>MAC Address Learning</a:t>
            </a:r>
          </a:p>
        </p:txBody>
      </p:sp>
      <p:sp>
        <p:nvSpPr>
          <p:cNvPr id="2" name="Content Placeholder 1"/>
          <p:cNvSpPr>
            <a:spLocks noGrp="1"/>
          </p:cNvSpPr>
          <p:nvPr>
            <p:ph idx="1"/>
          </p:nvPr>
        </p:nvSpPr>
        <p:spPr>
          <a:xfrm>
            <a:off x="495300" y="1219200"/>
            <a:ext cx="8382000" cy="7391400"/>
          </a:xfrm>
        </p:spPr>
        <p:txBody>
          <a:bodyPr/>
          <a:lstStyle/>
          <a:p>
            <a:r>
              <a:rPr lang="en-US" dirty="0"/>
              <a:t>Because most tunneling endpoints in the network appear as layer 2 ports to the host virtual machines, media access control (MAC) address learning must also be supported through these tunnels. </a:t>
            </a:r>
          </a:p>
          <a:p>
            <a:r>
              <a:rPr lang="en-US" dirty="0"/>
              <a:t>Before we get into the details of these tunneling protocols, let’s discuss how traditional layer 2 MAC address learning is accomplished.</a:t>
            </a:r>
            <a:endParaRPr lang="en-US" sz="2800" dirty="0"/>
          </a:p>
        </p:txBody>
      </p:sp>
      <p:sp>
        <p:nvSpPr>
          <p:cNvPr id="4" name="Slide Number Placeholder 3"/>
          <p:cNvSpPr>
            <a:spLocks noGrp="1"/>
          </p:cNvSpPr>
          <p:nvPr>
            <p:ph type="sldNum" sz="quarter" idx="10"/>
          </p:nvPr>
        </p:nvSpPr>
        <p:spPr/>
        <p:txBody>
          <a:bodyPr/>
          <a:lstStyle/>
          <a:p>
            <a:fld id="{1C0FA7A3-0FBF-4EC3-BE45-825983E95E58}" type="slidenum">
              <a:rPr lang="en-US" smtClean="0"/>
              <a:pPr/>
              <a:t>16</a:t>
            </a:fld>
            <a:endParaRPr lang="en-US" dirty="0"/>
          </a:p>
        </p:txBody>
      </p:sp>
    </p:spTree>
    <p:extLst>
      <p:ext uri="{BB962C8B-B14F-4D97-AF65-F5344CB8AC3E}">
        <p14:creationId xmlns:p14="http://schemas.microsoft.com/office/powerpoint/2010/main" val="3589976671"/>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480"/>
            <a:ext cx="8915400" cy="563563"/>
          </a:xfrm>
        </p:spPr>
        <p:txBody>
          <a:bodyPr/>
          <a:lstStyle/>
          <a:p>
            <a:r>
              <a:rPr lang="en-US" sz="3200" dirty="0">
                <a:effectLst/>
              </a:rPr>
              <a:t>MAC Address Learning</a:t>
            </a:r>
          </a:p>
        </p:txBody>
      </p:sp>
      <p:sp>
        <p:nvSpPr>
          <p:cNvPr id="2" name="Content Placeholder 1"/>
          <p:cNvSpPr>
            <a:spLocks noGrp="1"/>
          </p:cNvSpPr>
          <p:nvPr>
            <p:ph idx="1"/>
          </p:nvPr>
        </p:nvSpPr>
        <p:spPr>
          <a:xfrm>
            <a:off x="495300" y="762000"/>
            <a:ext cx="8382000" cy="7391400"/>
          </a:xfrm>
        </p:spPr>
        <p:txBody>
          <a:bodyPr/>
          <a:lstStyle/>
          <a:p>
            <a:r>
              <a:rPr lang="en-US" dirty="0"/>
              <a:t>When a frame comes into a layer 2 switch, it contains both a destination MAC (DMAC) address and a source MAC (SMAC) address and, in most cases, also includes a VLAN tag. </a:t>
            </a:r>
          </a:p>
          <a:p>
            <a:r>
              <a:rPr lang="en-US" dirty="0"/>
              <a:t>The switch first compares the SMAC/VLAN pair against information in its local MAC address table. If no match is found, it adds this information to the MAC table along with the switch port on which the frame arrived. </a:t>
            </a:r>
            <a:endParaRPr lang="en-US" sz="2800" dirty="0"/>
          </a:p>
        </p:txBody>
      </p:sp>
      <p:sp>
        <p:nvSpPr>
          <p:cNvPr id="4" name="Slide Number Placeholder 3"/>
          <p:cNvSpPr>
            <a:spLocks noGrp="1"/>
          </p:cNvSpPr>
          <p:nvPr>
            <p:ph type="sldNum" sz="quarter" idx="10"/>
          </p:nvPr>
        </p:nvSpPr>
        <p:spPr/>
        <p:txBody>
          <a:bodyPr/>
          <a:lstStyle/>
          <a:p>
            <a:fld id="{1C0FA7A3-0FBF-4EC3-BE45-825983E95E58}" type="slidenum">
              <a:rPr lang="en-US" smtClean="0"/>
              <a:pPr/>
              <a:t>17</a:t>
            </a:fld>
            <a:endParaRPr lang="en-US" dirty="0"/>
          </a:p>
        </p:txBody>
      </p:sp>
    </p:spTree>
    <p:extLst>
      <p:ext uri="{BB962C8B-B14F-4D97-AF65-F5344CB8AC3E}">
        <p14:creationId xmlns:p14="http://schemas.microsoft.com/office/powerpoint/2010/main" val="1682345561"/>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480"/>
            <a:ext cx="8915400" cy="563563"/>
          </a:xfrm>
        </p:spPr>
        <p:txBody>
          <a:bodyPr/>
          <a:lstStyle/>
          <a:p>
            <a:r>
              <a:rPr lang="en-US" sz="3200" dirty="0">
                <a:effectLst/>
              </a:rPr>
              <a:t>MAC Address Learning</a:t>
            </a:r>
          </a:p>
        </p:txBody>
      </p:sp>
      <p:sp>
        <p:nvSpPr>
          <p:cNvPr id="2" name="Content Placeholder 1"/>
          <p:cNvSpPr>
            <a:spLocks noGrp="1"/>
          </p:cNvSpPr>
          <p:nvPr>
            <p:ph idx="1"/>
          </p:nvPr>
        </p:nvSpPr>
        <p:spPr>
          <a:xfrm>
            <a:off x="495300" y="762000"/>
            <a:ext cx="8382000" cy="7391400"/>
          </a:xfrm>
        </p:spPr>
        <p:txBody>
          <a:bodyPr/>
          <a:lstStyle/>
          <a:p>
            <a:r>
              <a:rPr lang="en-US" dirty="0"/>
              <a:t>In other words, the switch has just learned the direction (port number) of a given MAC address based on the received SMAC. </a:t>
            </a:r>
          </a:p>
          <a:p>
            <a:r>
              <a:rPr lang="en-US" dirty="0"/>
              <a:t>Now any frames received on other ports with this MAC address and VLAN will be forwarded to this switch port. This process is called MAC address learning.</a:t>
            </a:r>
            <a:endParaRPr lang="en-US" sz="2800" dirty="0"/>
          </a:p>
          <a:p>
            <a:endParaRPr lang="en-US" dirty="0"/>
          </a:p>
        </p:txBody>
      </p:sp>
      <p:sp>
        <p:nvSpPr>
          <p:cNvPr id="4" name="Slide Number Placeholder 3"/>
          <p:cNvSpPr>
            <a:spLocks noGrp="1"/>
          </p:cNvSpPr>
          <p:nvPr>
            <p:ph type="sldNum" sz="quarter" idx="10"/>
          </p:nvPr>
        </p:nvSpPr>
        <p:spPr/>
        <p:txBody>
          <a:bodyPr/>
          <a:lstStyle/>
          <a:p>
            <a:fld id="{1C0FA7A3-0FBF-4EC3-BE45-825983E95E58}" type="slidenum">
              <a:rPr lang="en-US" smtClean="0"/>
              <a:pPr/>
              <a:t>18</a:t>
            </a:fld>
            <a:endParaRPr lang="en-US" dirty="0"/>
          </a:p>
        </p:txBody>
      </p:sp>
    </p:spTree>
    <p:extLst>
      <p:ext uri="{BB962C8B-B14F-4D97-AF65-F5344CB8AC3E}">
        <p14:creationId xmlns:p14="http://schemas.microsoft.com/office/powerpoint/2010/main" val="1702882276"/>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480"/>
            <a:ext cx="8915400" cy="563563"/>
          </a:xfrm>
        </p:spPr>
        <p:txBody>
          <a:bodyPr/>
          <a:lstStyle/>
          <a:p>
            <a:r>
              <a:rPr lang="en-US" sz="3200" dirty="0">
                <a:effectLst/>
              </a:rPr>
              <a:t>MAC Address Learning</a:t>
            </a:r>
          </a:p>
        </p:txBody>
      </p:sp>
      <p:sp>
        <p:nvSpPr>
          <p:cNvPr id="2" name="Content Placeholder 1"/>
          <p:cNvSpPr>
            <a:spLocks noGrp="1"/>
          </p:cNvSpPr>
          <p:nvPr>
            <p:ph idx="1"/>
          </p:nvPr>
        </p:nvSpPr>
        <p:spPr>
          <a:xfrm>
            <a:off x="228600" y="838200"/>
            <a:ext cx="8915400" cy="7391400"/>
          </a:xfrm>
        </p:spPr>
        <p:txBody>
          <a:bodyPr/>
          <a:lstStyle/>
          <a:p>
            <a:r>
              <a:rPr lang="en-US" dirty="0"/>
              <a:t>But what happens if a frame arrives and has a DMAC/VLAN pair that is not currently in the MAC address table (called an unknown unicast address)? </a:t>
            </a:r>
          </a:p>
          <a:p>
            <a:r>
              <a:rPr lang="en-US" dirty="0"/>
              <a:t>In this case, the frame is flooded (broadcast) to all egress ports except the port it arrived on. </a:t>
            </a:r>
          </a:p>
          <a:p>
            <a:r>
              <a:rPr lang="en-US" dirty="0"/>
              <a:t>In this way, the frame should eventually arrive at its destination through the network. </a:t>
            </a:r>
          </a:p>
          <a:p>
            <a:r>
              <a:rPr lang="en-US" dirty="0"/>
              <a:t>Although flooding ties up network bandwidth, it is considered a rare enough event that it will not impact overall network performance. </a:t>
            </a:r>
          </a:p>
        </p:txBody>
      </p:sp>
      <p:sp>
        <p:nvSpPr>
          <p:cNvPr id="4" name="Slide Number Placeholder 3"/>
          <p:cNvSpPr>
            <a:spLocks noGrp="1"/>
          </p:cNvSpPr>
          <p:nvPr>
            <p:ph type="sldNum" sz="quarter" idx="10"/>
          </p:nvPr>
        </p:nvSpPr>
        <p:spPr/>
        <p:txBody>
          <a:bodyPr/>
          <a:lstStyle/>
          <a:p>
            <a:fld id="{1C0FA7A3-0FBF-4EC3-BE45-825983E95E58}" type="slidenum">
              <a:rPr lang="en-US" smtClean="0"/>
              <a:pPr/>
              <a:t>19</a:t>
            </a:fld>
            <a:endParaRPr lang="en-US" dirty="0"/>
          </a:p>
        </p:txBody>
      </p:sp>
    </p:spTree>
    <p:extLst>
      <p:ext uri="{BB962C8B-B14F-4D97-AF65-F5344CB8AC3E}">
        <p14:creationId xmlns:p14="http://schemas.microsoft.com/office/powerpoint/2010/main" val="698605935"/>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480"/>
            <a:ext cx="8915400" cy="563563"/>
          </a:xfrm>
        </p:spPr>
        <p:txBody>
          <a:bodyPr/>
          <a:lstStyle/>
          <a:p>
            <a:r>
              <a:rPr lang="en-US" sz="3200" dirty="0">
                <a:effectLst/>
              </a:rPr>
              <a:t>MAC Address Learning</a:t>
            </a:r>
          </a:p>
        </p:txBody>
      </p:sp>
      <p:sp>
        <p:nvSpPr>
          <p:cNvPr id="2" name="Content Placeholder 1"/>
          <p:cNvSpPr>
            <a:spLocks noGrp="1"/>
          </p:cNvSpPr>
          <p:nvPr>
            <p:ph idx="1"/>
          </p:nvPr>
        </p:nvSpPr>
        <p:spPr>
          <a:xfrm>
            <a:off x="228600" y="914400"/>
            <a:ext cx="8763000" cy="7391400"/>
          </a:xfrm>
        </p:spPr>
        <p:txBody>
          <a:bodyPr/>
          <a:lstStyle/>
          <a:p>
            <a:r>
              <a:rPr lang="en-US" dirty="0"/>
              <a:t>The assumption is that the device with the unknown destination address will eventually receive the frame and then send a packet back through the network from which its source address can be learned and added to the various switch address tables throughout the network. </a:t>
            </a:r>
          </a:p>
          <a:p>
            <a:r>
              <a:rPr lang="en-US" dirty="0"/>
              <a:t>This can happen fairly rapidly as many network transactions require some sort of response and protocols such as transmission control protocol (TCP) generate acknowledgment packets. </a:t>
            </a:r>
          </a:p>
        </p:txBody>
      </p:sp>
      <p:sp>
        <p:nvSpPr>
          <p:cNvPr id="4" name="Slide Number Placeholder 3"/>
          <p:cNvSpPr>
            <a:spLocks noGrp="1"/>
          </p:cNvSpPr>
          <p:nvPr>
            <p:ph type="sldNum" sz="quarter" idx="10"/>
          </p:nvPr>
        </p:nvSpPr>
        <p:spPr/>
        <p:txBody>
          <a:bodyPr/>
          <a:lstStyle/>
          <a:p>
            <a:fld id="{1C0FA7A3-0FBF-4EC3-BE45-825983E95E58}" type="slidenum">
              <a:rPr lang="en-US" smtClean="0"/>
              <a:pPr/>
              <a:t>20</a:t>
            </a:fld>
            <a:endParaRPr lang="en-US" dirty="0"/>
          </a:p>
        </p:txBody>
      </p:sp>
    </p:spTree>
    <p:extLst>
      <p:ext uri="{BB962C8B-B14F-4D97-AF65-F5344CB8AC3E}">
        <p14:creationId xmlns:p14="http://schemas.microsoft.com/office/powerpoint/2010/main" val="1251419735"/>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480"/>
            <a:ext cx="8915400" cy="563563"/>
          </a:xfrm>
        </p:spPr>
        <p:txBody>
          <a:bodyPr/>
          <a:lstStyle/>
          <a:p>
            <a:r>
              <a:rPr lang="en-US" sz="3200" dirty="0">
                <a:effectLst/>
              </a:rPr>
              <a:t>MAC Address Learning</a:t>
            </a:r>
          </a:p>
        </p:txBody>
      </p:sp>
      <p:sp>
        <p:nvSpPr>
          <p:cNvPr id="2" name="Content Placeholder 1"/>
          <p:cNvSpPr>
            <a:spLocks noGrp="1"/>
          </p:cNvSpPr>
          <p:nvPr>
            <p:ph idx="1"/>
          </p:nvPr>
        </p:nvSpPr>
        <p:spPr>
          <a:xfrm>
            <a:off x="228600" y="1295400"/>
            <a:ext cx="8648700" cy="7391400"/>
          </a:xfrm>
        </p:spPr>
        <p:txBody>
          <a:bodyPr/>
          <a:lstStyle/>
          <a:p>
            <a:r>
              <a:rPr lang="en-US" dirty="0"/>
              <a:t>These responses and acknowledgments can be sent back to the originator by using the SMAC in the received flooded frames.</a:t>
            </a:r>
          </a:p>
        </p:txBody>
      </p:sp>
      <p:sp>
        <p:nvSpPr>
          <p:cNvPr id="4" name="Slide Number Placeholder 3"/>
          <p:cNvSpPr>
            <a:spLocks noGrp="1"/>
          </p:cNvSpPr>
          <p:nvPr>
            <p:ph type="sldNum" sz="quarter" idx="10"/>
          </p:nvPr>
        </p:nvSpPr>
        <p:spPr/>
        <p:txBody>
          <a:bodyPr/>
          <a:lstStyle/>
          <a:p>
            <a:fld id="{1C0FA7A3-0FBF-4EC3-BE45-825983E95E58}" type="slidenum">
              <a:rPr lang="en-US" smtClean="0"/>
              <a:pPr/>
              <a:t>21</a:t>
            </a:fld>
            <a:endParaRPr lang="en-US" dirty="0"/>
          </a:p>
        </p:txBody>
      </p:sp>
    </p:spTree>
    <p:extLst>
      <p:ext uri="{BB962C8B-B14F-4D97-AF65-F5344CB8AC3E}">
        <p14:creationId xmlns:p14="http://schemas.microsoft.com/office/powerpoint/2010/main" val="249084034"/>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480"/>
            <a:ext cx="8915400" cy="563563"/>
          </a:xfrm>
        </p:spPr>
        <p:txBody>
          <a:bodyPr/>
          <a:lstStyle/>
          <a:p>
            <a:r>
              <a:rPr lang="en-US" sz="3200" dirty="0">
                <a:effectLst/>
              </a:rPr>
              <a:t>Traditional Network Tunneling Protocols</a:t>
            </a:r>
          </a:p>
        </p:txBody>
      </p:sp>
      <p:sp>
        <p:nvSpPr>
          <p:cNvPr id="2" name="Content Placeholder 1"/>
          <p:cNvSpPr>
            <a:spLocks noGrp="1"/>
          </p:cNvSpPr>
          <p:nvPr>
            <p:ph idx="1"/>
          </p:nvPr>
        </p:nvSpPr>
        <p:spPr>
          <a:xfrm>
            <a:off x="228600" y="1295400"/>
            <a:ext cx="8648700" cy="7391400"/>
          </a:xfrm>
        </p:spPr>
        <p:txBody>
          <a:bodyPr/>
          <a:lstStyle/>
          <a:p>
            <a:r>
              <a:rPr lang="en-US" dirty="0"/>
              <a:t>These responses and acknowledgments can be sent back to the originator by using the SMAC in the received flooded frames.</a:t>
            </a:r>
          </a:p>
        </p:txBody>
      </p:sp>
      <p:sp>
        <p:nvSpPr>
          <p:cNvPr id="4" name="Slide Number Placeholder 3"/>
          <p:cNvSpPr>
            <a:spLocks noGrp="1"/>
          </p:cNvSpPr>
          <p:nvPr>
            <p:ph type="sldNum" sz="quarter" idx="10"/>
          </p:nvPr>
        </p:nvSpPr>
        <p:spPr/>
        <p:txBody>
          <a:bodyPr/>
          <a:lstStyle/>
          <a:p>
            <a:fld id="{1C0FA7A3-0FBF-4EC3-BE45-825983E95E58}" type="slidenum">
              <a:rPr lang="en-US" smtClean="0"/>
              <a:pPr/>
              <a:t>22</a:t>
            </a:fld>
            <a:endParaRPr lang="en-US" dirty="0"/>
          </a:p>
        </p:txBody>
      </p:sp>
    </p:spTree>
    <p:extLst>
      <p:ext uri="{BB962C8B-B14F-4D97-AF65-F5344CB8AC3E}">
        <p14:creationId xmlns:p14="http://schemas.microsoft.com/office/powerpoint/2010/main" val="335619062"/>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480"/>
            <a:ext cx="8915400" cy="563563"/>
          </a:xfrm>
        </p:spPr>
        <p:txBody>
          <a:bodyPr/>
          <a:lstStyle/>
          <a:p>
            <a:r>
              <a:rPr lang="en-US" sz="3200" dirty="0">
                <a:effectLst/>
              </a:rPr>
              <a:t>Traditional Network Tunneling Protocols</a:t>
            </a:r>
          </a:p>
        </p:txBody>
      </p:sp>
      <p:sp>
        <p:nvSpPr>
          <p:cNvPr id="2" name="Content Placeholder 1"/>
          <p:cNvSpPr>
            <a:spLocks noGrp="1"/>
          </p:cNvSpPr>
          <p:nvPr>
            <p:ph idx="1"/>
          </p:nvPr>
        </p:nvSpPr>
        <p:spPr>
          <a:xfrm>
            <a:off x="361950" y="1295400"/>
            <a:ext cx="8648700" cy="7391400"/>
          </a:xfrm>
        </p:spPr>
        <p:txBody>
          <a:bodyPr/>
          <a:lstStyle/>
          <a:p>
            <a:r>
              <a:rPr lang="en-US" dirty="0"/>
              <a:t>Various tunneling protocols have been used for years in telecom networks. </a:t>
            </a:r>
          </a:p>
          <a:p>
            <a:r>
              <a:rPr lang="en-US" dirty="0"/>
              <a:t>In some cases, this has been driven by the need to isolate different customers as data is transported across Internet service provider networks. </a:t>
            </a:r>
          </a:p>
          <a:p>
            <a:r>
              <a:rPr lang="en-US" dirty="0"/>
              <a:t>In some cases, this has been driven by the need to simplify the forwarding process as data is transported across IP networks. </a:t>
            </a:r>
          </a:p>
        </p:txBody>
      </p:sp>
      <p:sp>
        <p:nvSpPr>
          <p:cNvPr id="4" name="Slide Number Placeholder 3"/>
          <p:cNvSpPr>
            <a:spLocks noGrp="1"/>
          </p:cNvSpPr>
          <p:nvPr>
            <p:ph type="sldNum" sz="quarter" idx="10"/>
          </p:nvPr>
        </p:nvSpPr>
        <p:spPr/>
        <p:txBody>
          <a:bodyPr/>
          <a:lstStyle/>
          <a:p>
            <a:fld id="{1C0FA7A3-0FBF-4EC3-BE45-825983E95E58}" type="slidenum">
              <a:rPr lang="en-US" smtClean="0"/>
              <a:pPr/>
              <a:t>23</a:t>
            </a:fld>
            <a:endParaRPr lang="en-US" dirty="0"/>
          </a:p>
        </p:txBody>
      </p:sp>
    </p:spTree>
    <p:extLst>
      <p:ext uri="{BB962C8B-B14F-4D97-AF65-F5344CB8AC3E}">
        <p14:creationId xmlns:p14="http://schemas.microsoft.com/office/powerpoint/2010/main" val="1223250184"/>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480"/>
            <a:ext cx="8915400" cy="563563"/>
          </a:xfrm>
        </p:spPr>
        <p:txBody>
          <a:bodyPr/>
          <a:lstStyle/>
          <a:p>
            <a:r>
              <a:rPr lang="en-US" sz="3200" dirty="0">
                <a:effectLst/>
              </a:rPr>
              <a:t>Traditional Network Tunneling Protocols</a:t>
            </a:r>
          </a:p>
        </p:txBody>
      </p:sp>
      <p:sp>
        <p:nvSpPr>
          <p:cNvPr id="2" name="Content Placeholder 1"/>
          <p:cNvSpPr>
            <a:spLocks noGrp="1"/>
          </p:cNvSpPr>
          <p:nvPr>
            <p:ph idx="1"/>
          </p:nvPr>
        </p:nvSpPr>
        <p:spPr>
          <a:xfrm>
            <a:off x="228600" y="1295400"/>
            <a:ext cx="8648700" cy="7391400"/>
          </a:xfrm>
        </p:spPr>
        <p:txBody>
          <a:bodyPr/>
          <a:lstStyle/>
          <a:p>
            <a:r>
              <a:rPr lang="en-US" dirty="0"/>
              <a:t>In this section, we will discuss both the Q-in-Q and multiprotocol label switching (MPLS) tunneling protocols that are used in carrier networks. </a:t>
            </a:r>
          </a:p>
          <a:p>
            <a:r>
              <a:rPr lang="en-US" dirty="0"/>
              <a:t>For completeness, we will also describe the VN-Tag that we introduced in the last chapter and how it could be used as a tunnel tag. </a:t>
            </a:r>
          </a:p>
          <a:p>
            <a:r>
              <a:rPr lang="en-US" dirty="0"/>
              <a:t>For each tunneling protocol, we will describe some properties that limit its usefulness for virtualized networking in large cloud data center networks.</a:t>
            </a:r>
          </a:p>
        </p:txBody>
      </p:sp>
      <p:sp>
        <p:nvSpPr>
          <p:cNvPr id="4" name="Slide Number Placeholder 3"/>
          <p:cNvSpPr>
            <a:spLocks noGrp="1"/>
          </p:cNvSpPr>
          <p:nvPr>
            <p:ph type="sldNum" sz="quarter" idx="10"/>
          </p:nvPr>
        </p:nvSpPr>
        <p:spPr/>
        <p:txBody>
          <a:bodyPr/>
          <a:lstStyle/>
          <a:p>
            <a:fld id="{1C0FA7A3-0FBF-4EC3-BE45-825983E95E58}" type="slidenum">
              <a:rPr lang="en-US" smtClean="0"/>
              <a:pPr/>
              <a:t>24</a:t>
            </a:fld>
            <a:endParaRPr lang="en-US" dirty="0"/>
          </a:p>
        </p:txBody>
      </p:sp>
    </p:spTree>
    <p:extLst>
      <p:ext uri="{BB962C8B-B14F-4D97-AF65-F5344CB8AC3E}">
        <p14:creationId xmlns:p14="http://schemas.microsoft.com/office/powerpoint/2010/main" val="1147834445"/>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480"/>
            <a:ext cx="8915400" cy="563563"/>
          </a:xfrm>
        </p:spPr>
        <p:txBody>
          <a:bodyPr/>
          <a:lstStyle/>
          <a:p>
            <a:r>
              <a:rPr lang="en-US" sz="3200" i="1" dirty="0">
                <a:effectLst/>
              </a:rPr>
              <a:t>Q-in-Q</a:t>
            </a:r>
          </a:p>
        </p:txBody>
      </p:sp>
      <p:sp>
        <p:nvSpPr>
          <p:cNvPr id="2" name="Content Placeholder 1"/>
          <p:cNvSpPr>
            <a:spLocks noGrp="1"/>
          </p:cNvSpPr>
          <p:nvPr>
            <p:ph idx="1"/>
          </p:nvPr>
        </p:nvSpPr>
        <p:spPr>
          <a:xfrm>
            <a:off x="467995" y="838200"/>
            <a:ext cx="8648700" cy="7391400"/>
          </a:xfrm>
        </p:spPr>
        <p:txBody>
          <a:bodyPr/>
          <a:lstStyle/>
          <a:p>
            <a:r>
              <a:rPr lang="en-US" dirty="0"/>
              <a:t>Within a metropolitan area network, a given service provider may carry traffic for a corporate client that is routed between different facilities in different parts of the city. </a:t>
            </a:r>
          </a:p>
          <a:p>
            <a:r>
              <a:rPr lang="en-US" dirty="0"/>
              <a:t>These corporate clients want their networks to appear as one large corporate network even though they span multiple locations. </a:t>
            </a:r>
          </a:p>
          <a:p>
            <a:r>
              <a:rPr lang="en-US" dirty="0"/>
              <a:t>In order to tunnel client data through their networks, service providers can add a second, outer, VLAN tag as shown in </a:t>
            </a:r>
            <a:r>
              <a:rPr lang="en-US" dirty="0">
                <a:hlinkClick r:id="rId2"/>
              </a:rPr>
              <a:t>Figure 7.2</a:t>
            </a:r>
            <a:r>
              <a:rPr lang="en-US" dirty="0"/>
              <a:t>.</a:t>
            </a:r>
          </a:p>
        </p:txBody>
      </p:sp>
      <p:sp>
        <p:nvSpPr>
          <p:cNvPr id="4" name="Slide Number Placeholder 3"/>
          <p:cNvSpPr>
            <a:spLocks noGrp="1"/>
          </p:cNvSpPr>
          <p:nvPr>
            <p:ph type="sldNum" sz="quarter" idx="10"/>
          </p:nvPr>
        </p:nvSpPr>
        <p:spPr/>
        <p:txBody>
          <a:bodyPr/>
          <a:lstStyle/>
          <a:p>
            <a:fld id="{1C0FA7A3-0FBF-4EC3-BE45-825983E95E58}" type="slidenum">
              <a:rPr lang="en-US" smtClean="0"/>
              <a:pPr/>
              <a:t>25</a:t>
            </a:fld>
            <a:endParaRPr lang="en-US" dirty="0"/>
          </a:p>
        </p:txBody>
      </p:sp>
    </p:spTree>
    <p:extLst>
      <p:ext uri="{BB962C8B-B14F-4D97-AF65-F5344CB8AC3E}">
        <p14:creationId xmlns:p14="http://schemas.microsoft.com/office/powerpoint/2010/main" val="3934499066"/>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480"/>
            <a:ext cx="8915400" cy="563563"/>
          </a:xfrm>
        </p:spPr>
        <p:txBody>
          <a:bodyPr/>
          <a:lstStyle/>
          <a:p>
            <a:r>
              <a:rPr lang="en-US" sz="3200" i="1" dirty="0">
                <a:effectLst/>
              </a:rPr>
              <a:t>Q-in-Q</a:t>
            </a:r>
          </a:p>
        </p:txBody>
      </p:sp>
      <p:sp>
        <p:nvSpPr>
          <p:cNvPr id="2" name="Content Placeholder 1"/>
          <p:cNvSpPr>
            <a:spLocks noGrp="1"/>
          </p:cNvSpPr>
          <p:nvPr>
            <p:ph idx="1"/>
          </p:nvPr>
        </p:nvSpPr>
        <p:spPr>
          <a:xfrm>
            <a:off x="361950" y="914400"/>
            <a:ext cx="8648700" cy="838200"/>
          </a:xfrm>
        </p:spPr>
        <p:txBody>
          <a:bodyPr/>
          <a:lstStyle/>
          <a:p>
            <a:r>
              <a:rPr lang="en-US" b="1" cap="all" dirty="0"/>
              <a:t>FIGURE 7.2</a:t>
            </a:r>
            <a:r>
              <a:rPr lang="en-US" dirty="0"/>
              <a:t> Q-in-Q forwarding and frame format</a:t>
            </a:r>
          </a:p>
        </p:txBody>
      </p:sp>
      <p:sp>
        <p:nvSpPr>
          <p:cNvPr id="4" name="Slide Number Placeholder 3"/>
          <p:cNvSpPr>
            <a:spLocks noGrp="1"/>
          </p:cNvSpPr>
          <p:nvPr>
            <p:ph type="sldNum" sz="quarter" idx="10"/>
          </p:nvPr>
        </p:nvSpPr>
        <p:spPr/>
        <p:txBody>
          <a:bodyPr/>
          <a:lstStyle/>
          <a:p>
            <a:fld id="{1C0FA7A3-0FBF-4EC3-BE45-825983E95E58}" type="slidenum">
              <a:rPr lang="en-US" smtClean="0"/>
              <a:pPr/>
              <a:t>26</a:t>
            </a:fld>
            <a:endParaRPr lang="en-US" dirty="0"/>
          </a:p>
        </p:txBody>
      </p:sp>
      <p:pic>
        <p:nvPicPr>
          <p:cNvPr id="2050" name="Picture 2" descr="https://www.safaribooksonline.com/library/view/cloud-networking/9780128007280/images/B9780128007280000072/f07-02-978012800728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905000"/>
            <a:ext cx="7086600" cy="36112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5466014"/>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480"/>
            <a:ext cx="8915400" cy="563563"/>
          </a:xfrm>
        </p:spPr>
        <p:txBody>
          <a:bodyPr/>
          <a:lstStyle/>
          <a:p>
            <a:r>
              <a:rPr lang="en-US" sz="3200" i="1" dirty="0">
                <a:effectLst/>
              </a:rPr>
              <a:t>Q-in-Q</a:t>
            </a:r>
          </a:p>
        </p:txBody>
      </p:sp>
      <p:sp>
        <p:nvSpPr>
          <p:cNvPr id="2" name="Content Placeholder 1"/>
          <p:cNvSpPr>
            <a:spLocks noGrp="1"/>
          </p:cNvSpPr>
          <p:nvPr>
            <p:ph idx="1"/>
          </p:nvPr>
        </p:nvSpPr>
        <p:spPr>
          <a:xfrm>
            <a:off x="467995" y="838200"/>
            <a:ext cx="8648700" cy="7391400"/>
          </a:xfrm>
        </p:spPr>
        <p:txBody>
          <a:bodyPr/>
          <a:lstStyle/>
          <a:p>
            <a:r>
              <a:rPr lang="en-US" dirty="0"/>
              <a:t>This was standardized by the IEEE as 802.1ad and is used in many provider networks today (sometimes called Provider Bridging). </a:t>
            </a:r>
          </a:p>
          <a:p>
            <a:r>
              <a:rPr lang="en-US" dirty="0"/>
              <a:t>Because this is an extension to the 802.1Q standard, it has become more commonly known as Q-in-Q.</a:t>
            </a:r>
          </a:p>
        </p:txBody>
      </p:sp>
      <p:sp>
        <p:nvSpPr>
          <p:cNvPr id="4" name="Slide Number Placeholder 3"/>
          <p:cNvSpPr>
            <a:spLocks noGrp="1"/>
          </p:cNvSpPr>
          <p:nvPr>
            <p:ph type="sldNum" sz="quarter" idx="10"/>
          </p:nvPr>
        </p:nvSpPr>
        <p:spPr/>
        <p:txBody>
          <a:bodyPr/>
          <a:lstStyle/>
          <a:p>
            <a:fld id="{1C0FA7A3-0FBF-4EC3-BE45-825983E95E58}" type="slidenum">
              <a:rPr lang="en-US" smtClean="0"/>
              <a:pPr/>
              <a:t>27</a:t>
            </a:fld>
            <a:endParaRPr lang="en-US" dirty="0"/>
          </a:p>
        </p:txBody>
      </p:sp>
    </p:spTree>
    <p:extLst>
      <p:ext uri="{BB962C8B-B14F-4D97-AF65-F5344CB8AC3E}">
        <p14:creationId xmlns:p14="http://schemas.microsoft.com/office/powerpoint/2010/main" val="178853885"/>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480"/>
            <a:ext cx="8915400" cy="563563"/>
          </a:xfrm>
        </p:spPr>
        <p:txBody>
          <a:bodyPr/>
          <a:lstStyle/>
          <a:p>
            <a:r>
              <a:rPr lang="en-US" sz="3200" i="1" dirty="0">
                <a:effectLst/>
              </a:rPr>
              <a:t>Q-in-Q</a:t>
            </a:r>
          </a:p>
        </p:txBody>
      </p:sp>
      <p:sp>
        <p:nvSpPr>
          <p:cNvPr id="2" name="Content Placeholder 1"/>
          <p:cNvSpPr>
            <a:spLocks noGrp="1"/>
          </p:cNvSpPr>
          <p:nvPr>
            <p:ph idx="1"/>
          </p:nvPr>
        </p:nvSpPr>
        <p:spPr>
          <a:xfrm>
            <a:off x="467995" y="838200"/>
            <a:ext cx="8648700" cy="7391400"/>
          </a:xfrm>
        </p:spPr>
        <p:txBody>
          <a:bodyPr/>
          <a:lstStyle/>
          <a:p>
            <a:r>
              <a:rPr lang="en-US" dirty="0"/>
              <a:t>In order to protect the inner VLAN tag for customer use, an outer VLAN tag is added where the 12-bit VLAN ID field is used to identify a given customer. </a:t>
            </a:r>
          </a:p>
          <a:p>
            <a:r>
              <a:rPr lang="en-US" dirty="0"/>
              <a:t>This tag is added and removed by the access switch and is used to isolate traffic in the provider network. </a:t>
            </a:r>
          </a:p>
          <a:p>
            <a:r>
              <a:rPr lang="en-US" dirty="0"/>
              <a:t>All forwarding and learning in the provider network can be done with the MAC addresses and outer VLAN tag. </a:t>
            </a:r>
          </a:p>
        </p:txBody>
      </p:sp>
      <p:sp>
        <p:nvSpPr>
          <p:cNvPr id="4" name="Slide Number Placeholder 3"/>
          <p:cNvSpPr>
            <a:spLocks noGrp="1"/>
          </p:cNvSpPr>
          <p:nvPr>
            <p:ph type="sldNum" sz="quarter" idx="10"/>
          </p:nvPr>
        </p:nvSpPr>
        <p:spPr/>
        <p:txBody>
          <a:bodyPr/>
          <a:lstStyle/>
          <a:p>
            <a:fld id="{1C0FA7A3-0FBF-4EC3-BE45-825983E95E58}" type="slidenum">
              <a:rPr lang="en-US" smtClean="0"/>
              <a:pPr/>
              <a:t>28</a:t>
            </a:fld>
            <a:endParaRPr lang="en-US" dirty="0"/>
          </a:p>
        </p:txBody>
      </p:sp>
    </p:spTree>
    <p:extLst>
      <p:ext uri="{BB962C8B-B14F-4D97-AF65-F5344CB8AC3E}">
        <p14:creationId xmlns:p14="http://schemas.microsoft.com/office/powerpoint/2010/main" val="1884012641"/>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480"/>
            <a:ext cx="8915400" cy="563563"/>
          </a:xfrm>
        </p:spPr>
        <p:txBody>
          <a:bodyPr/>
          <a:lstStyle/>
          <a:p>
            <a:r>
              <a:rPr lang="en-US" sz="3200" i="1" dirty="0">
                <a:effectLst/>
              </a:rPr>
              <a:t>Q-in-Q</a:t>
            </a:r>
          </a:p>
        </p:txBody>
      </p:sp>
      <p:sp>
        <p:nvSpPr>
          <p:cNvPr id="2" name="Content Placeholder 1"/>
          <p:cNvSpPr>
            <a:spLocks noGrp="1"/>
          </p:cNvSpPr>
          <p:nvPr>
            <p:ph idx="1"/>
          </p:nvPr>
        </p:nvSpPr>
        <p:spPr>
          <a:xfrm>
            <a:off x="467995" y="838200"/>
            <a:ext cx="8648700" cy="7391400"/>
          </a:xfrm>
        </p:spPr>
        <p:txBody>
          <a:bodyPr/>
          <a:lstStyle/>
          <a:p>
            <a:r>
              <a:rPr lang="en-US" dirty="0"/>
              <a:t>In some cases, the VLAN 3-bit priority field is also used to assign class of service in the provider network. </a:t>
            </a:r>
          </a:p>
          <a:p>
            <a:r>
              <a:rPr lang="en-US" dirty="0"/>
              <a:t>The inner VLAN remains untouched and can be used by the customer for their own purposes. One problem with this technique is that the VLAN ID is limited to 12-bits which can contain only up to 4096 customer IDs. </a:t>
            </a:r>
          </a:p>
          <a:p>
            <a:r>
              <a:rPr lang="en-US" dirty="0"/>
              <a:t>Because of this, it is not very useful for tunneling in large cloud data center networks. </a:t>
            </a:r>
          </a:p>
        </p:txBody>
      </p:sp>
      <p:sp>
        <p:nvSpPr>
          <p:cNvPr id="4" name="Slide Number Placeholder 3"/>
          <p:cNvSpPr>
            <a:spLocks noGrp="1"/>
          </p:cNvSpPr>
          <p:nvPr>
            <p:ph type="sldNum" sz="quarter" idx="10"/>
          </p:nvPr>
        </p:nvSpPr>
        <p:spPr/>
        <p:txBody>
          <a:bodyPr/>
          <a:lstStyle/>
          <a:p>
            <a:fld id="{1C0FA7A3-0FBF-4EC3-BE45-825983E95E58}" type="slidenum">
              <a:rPr lang="en-US" smtClean="0"/>
              <a:pPr/>
              <a:t>29</a:t>
            </a:fld>
            <a:endParaRPr lang="en-US" dirty="0"/>
          </a:p>
        </p:txBody>
      </p:sp>
    </p:spTree>
    <p:extLst>
      <p:ext uri="{BB962C8B-B14F-4D97-AF65-F5344CB8AC3E}">
        <p14:creationId xmlns:p14="http://schemas.microsoft.com/office/powerpoint/2010/main" val="1908998242"/>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480"/>
            <a:ext cx="8915400" cy="563563"/>
          </a:xfrm>
        </p:spPr>
        <p:txBody>
          <a:bodyPr/>
          <a:lstStyle/>
          <a:p>
            <a:r>
              <a:rPr lang="en-US" sz="3200" i="1" dirty="0">
                <a:effectLst/>
              </a:rPr>
              <a:t>Q-in-Q</a:t>
            </a:r>
          </a:p>
        </p:txBody>
      </p:sp>
      <p:sp>
        <p:nvSpPr>
          <p:cNvPr id="2" name="Content Placeholder 1"/>
          <p:cNvSpPr>
            <a:spLocks noGrp="1"/>
          </p:cNvSpPr>
          <p:nvPr>
            <p:ph idx="1"/>
          </p:nvPr>
        </p:nvSpPr>
        <p:spPr>
          <a:xfrm>
            <a:off x="480060" y="914400"/>
            <a:ext cx="8648700" cy="7391400"/>
          </a:xfrm>
        </p:spPr>
        <p:txBody>
          <a:bodyPr/>
          <a:lstStyle/>
          <a:p>
            <a:r>
              <a:rPr lang="en-US" dirty="0"/>
              <a:t>In fact, many large telecom service providers use techniques such as MPLS Transport Profile (MPLS-TP) instead; this will be described in more detail below.</a:t>
            </a:r>
          </a:p>
        </p:txBody>
      </p:sp>
      <p:sp>
        <p:nvSpPr>
          <p:cNvPr id="4" name="Slide Number Placeholder 3"/>
          <p:cNvSpPr>
            <a:spLocks noGrp="1"/>
          </p:cNvSpPr>
          <p:nvPr>
            <p:ph type="sldNum" sz="quarter" idx="10"/>
          </p:nvPr>
        </p:nvSpPr>
        <p:spPr/>
        <p:txBody>
          <a:bodyPr/>
          <a:lstStyle/>
          <a:p>
            <a:fld id="{1C0FA7A3-0FBF-4EC3-BE45-825983E95E58}" type="slidenum">
              <a:rPr lang="en-US" smtClean="0"/>
              <a:pPr/>
              <a:t>30</a:t>
            </a:fld>
            <a:endParaRPr lang="en-US" dirty="0"/>
          </a:p>
        </p:txBody>
      </p:sp>
    </p:spTree>
    <p:extLst>
      <p:ext uri="{BB962C8B-B14F-4D97-AF65-F5344CB8AC3E}">
        <p14:creationId xmlns:p14="http://schemas.microsoft.com/office/powerpoint/2010/main" val="3862597526"/>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480"/>
            <a:ext cx="8915400" cy="563563"/>
          </a:xfrm>
        </p:spPr>
        <p:txBody>
          <a:bodyPr/>
          <a:lstStyle/>
          <a:p>
            <a:r>
              <a:rPr lang="en-US" sz="3200" i="1" dirty="0">
                <a:effectLst/>
              </a:rPr>
              <a:t>MPLS</a:t>
            </a:r>
          </a:p>
        </p:txBody>
      </p:sp>
      <p:sp>
        <p:nvSpPr>
          <p:cNvPr id="2" name="Content Placeholder 1"/>
          <p:cNvSpPr>
            <a:spLocks noGrp="1"/>
          </p:cNvSpPr>
          <p:nvPr>
            <p:ph idx="1"/>
          </p:nvPr>
        </p:nvSpPr>
        <p:spPr>
          <a:xfrm>
            <a:off x="480060" y="914400"/>
            <a:ext cx="8648700" cy="7391400"/>
          </a:xfrm>
        </p:spPr>
        <p:txBody>
          <a:bodyPr/>
          <a:lstStyle/>
          <a:p>
            <a:r>
              <a:rPr lang="en-US" dirty="0"/>
              <a:t>We briefly described MPLS in </a:t>
            </a:r>
            <a:r>
              <a:rPr lang="en-US" dirty="0">
                <a:hlinkClick r:id="rId2"/>
              </a:rPr>
              <a:t>Chapter 2</a:t>
            </a:r>
            <a:r>
              <a:rPr lang="en-US" dirty="0"/>
              <a:t> as a way to reduce the frame processing requirements when forwarding frames through a TCP/IP network. </a:t>
            </a:r>
          </a:p>
          <a:p>
            <a:r>
              <a:rPr lang="en-US" dirty="0"/>
              <a:t>In the core of a TCP/IP network, a given switch/router must deal with multiple high bandwidth streams, and matching multiple frame header fields at these high rates can tax the available processing resources. </a:t>
            </a:r>
          </a:p>
        </p:txBody>
      </p:sp>
      <p:sp>
        <p:nvSpPr>
          <p:cNvPr id="4" name="Slide Number Placeholder 3"/>
          <p:cNvSpPr>
            <a:spLocks noGrp="1"/>
          </p:cNvSpPr>
          <p:nvPr>
            <p:ph type="sldNum" sz="quarter" idx="10"/>
          </p:nvPr>
        </p:nvSpPr>
        <p:spPr/>
        <p:txBody>
          <a:bodyPr/>
          <a:lstStyle/>
          <a:p>
            <a:fld id="{1C0FA7A3-0FBF-4EC3-BE45-825983E95E58}" type="slidenum">
              <a:rPr lang="en-US" smtClean="0"/>
              <a:pPr/>
              <a:t>31</a:t>
            </a:fld>
            <a:endParaRPr lang="en-US" dirty="0"/>
          </a:p>
        </p:txBody>
      </p:sp>
    </p:spTree>
    <p:extLst>
      <p:ext uri="{BB962C8B-B14F-4D97-AF65-F5344CB8AC3E}">
        <p14:creationId xmlns:p14="http://schemas.microsoft.com/office/powerpoint/2010/main" val="1004645721"/>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480"/>
            <a:ext cx="8915400" cy="563563"/>
          </a:xfrm>
        </p:spPr>
        <p:txBody>
          <a:bodyPr/>
          <a:lstStyle/>
          <a:p>
            <a:r>
              <a:rPr lang="en-US" sz="3200" i="1" dirty="0">
                <a:effectLst/>
              </a:rPr>
              <a:t>MPLS</a:t>
            </a:r>
          </a:p>
        </p:txBody>
      </p:sp>
      <p:sp>
        <p:nvSpPr>
          <p:cNvPr id="2" name="Content Placeholder 1"/>
          <p:cNvSpPr>
            <a:spLocks noGrp="1"/>
          </p:cNvSpPr>
          <p:nvPr>
            <p:ph idx="1"/>
          </p:nvPr>
        </p:nvSpPr>
        <p:spPr>
          <a:xfrm>
            <a:off x="480060" y="914400"/>
            <a:ext cx="8648700" cy="7391400"/>
          </a:xfrm>
        </p:spPr>
        <p:txBody>
          <a:bodyPr/>
          <a:lstStyle/>
          <a:p>
            <a:r>
              <a:rPr lang="en-US" dirty="0"/>
              <a:t>Frame process rates are lower at the network edge where incoming traffic operates at lower overall bandwidth. </a:t>
            </a:r>
          </a:p>
          <a:p>
            <a:r>
              <a:rPr lang="en-US" dirty="0"/>
              <a:t>To take advantage of these conditions, MPLS was first proposed by </a:t>
            </a:r>
            <a:r>
              <a:rPr lang="en-US" dirty="0" err="1"/>
              <a:t>Ipsilon</a:t>
            </a:r>
            <a:r>
              <a:rPr lang="en-US" dirty="0"/>
              <a:t> Networks and then handed over to the Internet Engineering Task Force (IETF) in the late 1990s.</a:t>
            </a:r>
          </a:p>
          <a:p>
            <a:r>
              <a:rPr lang="en-US" dirty="0"/>
              <a:t> </a:t>
            </a:r>
            <a:r>
              <a:rPr lang="en-US" dirty="0">
                <a:hlinkClick r:id="rId2"/>
              </a:rPr>
              <a:t>Figure 7.3</a:t>
            </a:r>
            <a:r>
              <a:rPr lang="en-US" dirty="0"/>
              <a:t> shows the MPLS label location in the frame header along with the switch and router components in an MPLS network.</a:t>
            </a:r>
          </a:p>
        </p:txBody>
      </p:sp>
      <p:sp>
        <p:nvSpPr>
          <p:cNvPr id="4" name="Slide Number Placeholder 3"/>
          <p:cNvSpPr>
            <a:spLocks noGrp="1"/>
          </p:cNvSpPr>
          <p:nvPr>
            <p:ph type="sldNum" sz="quarter" idx="10"/>
          </p:nvPr>
        </p:nvSpPr>
        <p:spPr/>
        <p:txBody>
          <a:bodyPr/>
          <a:lstStyle/>
          <a:p>
            <a:fld id="{1C0FA7A3-0FBF-4EC3-BE45-825983E95E58}" type="slidenum">
              <a:rPr lang="en-US" smtClean="0"/>
              <a:pPr/>
              <a:t>32</a:t>
            </a:fld>
            <a:endParaRPr lang="en-US" dirty="0"/>
          </a:p>
        </p:txBody>
      </p:sp>
    </p:spTree>
    <p:extLst>
      <p:ext uri="{BB962C8B-B14F-4D97-AF65-F5344CB8AC3E}">
        <p14:creationId xmlns:p14="http://schemas.microsoft.com/office/powerpoint/2010/main" val="2346990913"/>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480"/>
            <a:ext cx="8915400" cy="563563"/>
          </a:xfrm>
        </p:spPr>
        <p:txBody>
          <a:bodyPr/>
          <a:lstStyle/>
          <a:p>
            <a:r>
              <a:rPr lang="en-US" sz="3200" i="1" dirty="0">
                <a:effectLst/>
              </a:rPr>
              <a:t>MPLS</a:t>
            </a:r>
          </a:p>
        </p:txBody>
      </p:sp>
      <p:sp>
        <p:nvSpPr>
          <p:cNvPr id="2" name="Content Placeholder 1"/>
          <p:cNvSpPr>
            <a:spLocks noGrp="1"/>
          </p:cNvSpPr>
          <p:nvPr>
            <p:ph idx="1"/>
          </p:nvPr>
        </p:nvSpPr>
        <p:spPr>
          <a:xfrm>
            <a:off x="361950" y="830421"/>
            <a:ext cx="8648700" cy="693579"/>
          </a:xfrm>
        </p:spPr>
        <p:txBody>
          <a:bodyPr/>
          <a:lstStyle/>
          <a:p>
            <a:r>
              <a:rPr lang="en-US" b="1" cap="all" dirty="0"/>
              <a:t>FIGURE 7.3</a:t>
            </a:r>
            <a:r>
              <a:rPr lang="en-US" dirty="0"/>
              <a:t> MPLS forwarding and frame format</a:t>
            </a:r>
          </a:p>
        </p:txBody>
      </p:sp>
      <p:sp>
        <p:nvSpPr>
          <p:cNvPr id="4" name="Slide Number Placeholder 3"/>
          <p:cNvSpPr>
            <a:spLocks noGrp="1"/>
          </p:cNvSpPr>
          <p:nvPr>
            <p:ph type="sldNum" sz="quarter" idx="10"/>
          </p:nvPr>
        </p:nvSpPr>
        <p:spPr/>
        <p:txBody>
          <a:bodyPr/>
          <a:lstStyle/>
          <a:p>
            <a:fld id="{1C0FA7A3-0FBF-4EC3-BE45-825983E95E58}" type="slidenum">
              <a:rPr lang="en-US" smtClean="0"/>
              <a:pPr/>
              <a:t>33</a:t>
            </a:fld>
            <a:endParaRPr lang="en-US" dirty="0"/>
          </a:p>
        </p:txBody>
      </p:sp>
      <p:pic>
        <p:nvPicPr>
          <p:cNvPr id="3074" name="Picture 2" descr="https://www.safaribooksonline.com/library/view/cloud-networking/9780128007280/images/B9780128007280000072/f07-03-978012800728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1760378"/>
            <a:ext cx="6553200" cy="39338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3821148"/>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480"/>
            <a:ext cx="8915400" cy="563563"/>
          </a:xfrm>
        </p:spPr>
        <p:txBody>
          <a:bodyPr/>
          <a:lstStyle/>
          <a:p>
            <a:r>
              <a:rPr lang="en-US" sz="3200" i="1" dirty="0">
                <a:effectLst/>
              </a:rPr>
              <a:t>MPLS</a:t>
            </a:r>
          </a:p>
        </p:txBody>
      </p:sp>
      <p:sp>
        <p:nvSpPr>
          <p:cNvPr id="2" name="Content Placeholder 1"/>
          <p:cNvSpPr>
            <a:spLocks noGrp="1"/>
          </p:cNvSpPr>
          <p:nvPr>
            <p:ph idx="1"/>
          </p:nvPr>
        </p:nvSpPr>
        <p:spPr>
          <a:xfrm>
            <a:off x="480060" y="914400"/>
            <a:ext cx="8648700" cy="7391400"/>
          </a:xfrm>
        </p:spPr>
        <p:txBody>
          <a:bodyPr/>
          <a:lstStyle/>
          <a:p>
            <a:r>
              <a:rPr lang="en-US" dirty="0"/>
              <a:t>The MPLS label edge router (LER) does the frame match heavy lifting and then adds an MPLS label to the frame as shown in </a:t>
            </a:r>
            <a:r>
              <a:rPr lang="en-US" dirty="0">
                <a:hlinkClick r:id="rId2"/>
              </a:rPr>
              <a:t>Figure 7.3</a:t>
            </a:r>
            <a:r>
              <a:rPr lang="en-US" dirty="0"/>
              <a:t>. </a:t>
            </a:r>
          </a:p>
          <a:p>
            <a:r>
              <a:rPr lang="en-US" dirty="0"/>
              <a:t>This is known as a label ‘push’ operation. </a:t>
            </a:r>
          </a:p>
          <a:p>
            <a:r>
              <a:rPr lang="en-US" dirty="0"/>
              <a:t>To simplify forwarding in the network core, the MPLS label switch routers (LSRs) only need to examine the MPLS label in order to forward the frame. </a:t>
            </a:r>
          </a:p>
          <a:p>
            <a:r>
              <a:rPr lang="en-US" dirty="0"/>
              <a:t>At the MPLS network egress, the label is removed in what is referred to as a ‘pop’ operation</a:t>
            </a:r>
          </a:p>
        </p:txBody>
      </p:sp>
      <p:sp>
        <p:nvSpPr>
          <p:cNvPr id="4" name="Slide Number Placeholder 3"/>
          <p:cNvSpPr>
            <a:spLocks noGrp="1"/>
          </p:cNvSpPr>
          <p:nvPr>
            <p:ph type="sldNum" sz="quarter" idx="10"/>
          </p:nvPr>
        </p:nvSpPr>
        <p:spPr/>
        <p:txBody>
          <a:bodyPr/>
          <a:lstStyle/>
          <a:p>
            <a:fld id="{1C0FA7A3-0FBF-4EC3-BE45-825983E95E58}" type="slidenum">
              <a:rPr lang="en-US" smtClean="0"/>
              <a:pPr/>
              <a:t>34</a:t>
            </a:fld>
            <a:endParaRPr lang="en-US" dirty="0"/>
          </a:p>
        </p:txBody>
      </p:sp>
    </p:spTree>
    <p:extLst>
      <p:ext uri="{BB962C8B-B14F-4D97-AF65-F5344CB8AC3E}">
        <p14:creationId xmlns:p14="http://schemas.microsoft.com/office/powerpoint/2010/main" val="3194559634"/>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480"/>
            <a:ext cx="8915400" cy="563563"/>
          </a:xfrm>
        </p:spPr>
        <p:txBody>
          <a:bodyPr/>
          <a:lstStyle/>
          <a:p>
            <a:r>
              <a:rPr lang="en-US" sz="3200" i="1" dirty="0">
                <a:effectLst/>
              </a:rPr>
              <a:t>MPLS</a:t>
            </a:r>
          </a:p>
        </p:txBody>
      </p:sp>
      <p:sp>
        <p:nvSpPr>
          <p:cNvPr id="2" name="Content Placeholder 1"/>
          <p:cNvSpPr>
            <a:spLocks noGrp="1"/>
          </p:cNvSpPr>
          <p:nvPr>
            <p:ph idx="1"/>
          </p:nvPr>
        </p:nvSpPr>
        <p:spPr>
          <a:xfrm>
            <a:off x="480060" y="914400"/>
            <a:ext cx="8648700" cy="7391400"/>
          </a:xfrm>
        </p:spPr>
        <p:txBody>
          <a:bodyPr/>
          <a:lstStyle/>
          <a:p>
            <a:r>
              <a:rPr lang="en-US" dirty="0"/>
              <a:t>It’s possible to have a hierarchy of MPLS networks where one network is tunneled through another network by adding additional MPLS labels. </a:t>
            </a:r>
          </a:p>
          <a:p>
            <a:r>
              <a:rPr lang="en-US" dirty="0"/>
              <a:t>In these cases, a LSR may need to examine multiple labels and potentially perform multiple push and pop operations on a given frame,</a:t>
            </a:r>
          </a:p>
        </p:txBody>
      </p:sp>
      <p:sp>
        <p:nvSpPr>
          <p:cNvPr id="4" name="Slide Number Placeholder 3"/>
          <p:cNvSpPr>
            <a:spLocks noGrp="1"/>
          </p:cNvSpPr>
          <p:nvPr>
            <p:ph type="sldNum" sz="quarter" idx="10"/>
          </p:nvPr>
        </p:nvSpPr>
        <p:spPr/>
        <p:txBody>
          <a:bodyPr/>
          <a:lstStyle/>
          <a:p>
            <a:fld id="{1C0FA7A3-0FBF-4EC3-BE45-825983E95E58}" type="slidenum">
              <a:rPr lang="en-US" smtClean="0"/>
              <a:pPr/>
              <a:t>35</a:t>
            </a:fld>
            <a:endParaRPr lang="en-US" dirty="0"/>
          </a:p>
        </p:txBody>
      </p:sp>
    </p:spTree>
    <p:extLst>
      <p:ext uri="{BB962C8B-B14F-4D97-AF65-F5344CB8AC3E}">
        <p14:creationId xmlns:p14="http://schemas.microsoft.com/office/powerpoint/2010/main" val="80258439"/>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480"/>
            <a:ext cx="8915400" cy="563563"/>
          </a:xfrm>
        </p:spPr>
        <p:txBody>
          <a:bodyPr/>
          <a:lstStyle/>
          <a:p>
            <a:r>
              <a:rPr lang="en-US" sz="3200" i="1" dirty="0">
                <a:effectLst/>
              </a:rPr>
              <a:t>MPLS</a:t>
            </a:r>
          </a:p>
        </p:txBody>
      </p:sp>
      <p:sp>
        <p:nvSpPr>
          <p:cNvPr id="2" name="Content Placeholder 1"/>
          <p:cNvSpPr>
            <a:spLocks noGrp="1"/>
          </p:cNvSpPr>
          <p:nvPr>
            <p:ph idx="1"/>
          </p:nvPr>
        </p:nvSpPr>
        <p:spPr>
          <a:xfrm>
            <a:off x="228600" y="762000"/>
            <a:ext cx="8763000" cy="7391400"/>
          </a:xfrm>
        </p:spPr>
        <p:txBody>
          <a:bodyPr/>
          <a:lstStyle/>
          <a:p>
            <a:r>
              <a:rPr lang="en-US" sz="2800" dirty="0"/>
              <a:t>Since its introduction in the late 1990s, MPLS has found success in many areas. It is used in both IPv4 and IPv6 networks along with Virtual Private Networks (VPNs) and in carrier Ethernet networks using the MPLS-TP. </a:t>
            </a:r>
          </a:p>
          <a:p>
            <a:r>
              <a:rPr lang="en-US" sz="2800" dirty="0"/>
              <a:t>While many people have proposed using MPLS to provide network virtualization and tunneling in the cloud data center, it has not caught on yet and the industry seems to be instead migrating toward protocols such as Virtual Extensible LAN (VXLAN) and Network Virtualization Generic Routing Encapsulation (NVGRE) which are described in the next sections..</a:t>
            </a:r>
          </a:p>
        </p:txBody>
      </p:sp>
      <p:sp>
        <p:nvSpPr>
          <p:cNvPr id="4" name="Slide Number Placeholder 3"/>
          <p:cNvSpPr>
            <a:spLocks noGrp="1"/>
          </p:cNvSpPr>
          <p:nvPr>
            <p:ph type="sldNum" sz="quarter" idx="10"/>
          </p:nvPr>
        </p:nvSpPr>
        <p:spPr/>
        <p:txBody>
          <a:bodyPr/>
          <a:lstStyle/>
          <a:p>
            <a:fld id="{1C0FA7A3-0FBF-4EC3-BE45-825983E95E58}" type="slidenum">
              <a:rPr lang="en-US" smtClean="0"/>
              <a:pPr/>
              <a:t>36</a:t>
            </a:fld>
            <a:endParaRPr lang="en-US" dirty="0"/>
          </a:p>
        </p:txBody>
      </p:sp>
    </p:spTree>
    <p:extLst>
      <p:ext uri="{BB962C8B-B14F-4D97-AF65-F5344CB8AC3E}">
        <p14:creationId xmlns:p14="http://schemas.microsoft.com/office/powerpoint/2010/main" val="772241136"/>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480"/>
            <a:ext cx="8915400" cy="563563"/>
          </a:xfrm>
        </p:spPr>
        <p:txBody>
          <a:bodyPr/>
          <a:lstStyle/>
          <a:p>
            <a:r>
              <a:rPr lang="en-US" sz="3200" i="1" dirty="0">
                <a:effectLst/>
              </a:rPr>
              <a:t>MPLS</a:t>
            </a:r>
          </a:p>
        </p:txBody>
      </p:sp>
      <p:sp>
        <p:nvSpPr>
          <p:cNvPr id="2" name="Content Placeholder 1"/>
          <p:cNvSpPr>
            <a:spLocks noGrp="1"/>
          </p:cNvSpPr>
          <p:nvPr>
            <p:ph idx="1"/>
          </p:nvPr>
        </p:nvSpPr>
        <p:spPr>
          <a:xfrm>
            <a:off x="228600" y="685800"/>
            <a:ext cx="8763000" cy="7391400"/>
          </a:xfrm>
        </p:spPr>
        <p:txBody>
          <a:bodyPr/>
          <a:lstStyle/>
          <a:p>
            <a:r>
              <a:rPr lang="en-US" sz="2800" dirty="0"/>
              <a:t>There are several reasons for this. </a:t>
            </a:r>
          </a:p>
          <a:p>
            <a:r>
              <a:rPr lang="en-US" sz="2800" dirty="0"/>
              <a:t>Some people feel that MPLS is too complex and expensive to implement at the edge of a data center network.</a:t>
            </a:r>
          </a:p>
          <a:p>
            <a:r>
              <a:rPr lang="en-US" sz="2800" dirty="0"/>
              <a:t> In many cases, tunneling occurs within the </a:t>
            </a:r>
            <a:r>
              <a:rPr lang="en-US" sz="2800" dirty="0" err="1"/>
              <a:t>vSwitch</a:t>
            </a:r>
            <a:r>
              <a:rPr lang="en-US" sz="2800" dirty="0"/>
              <a:t> and hypervisor which both consume server processor cycles. </a:t>
            </a:r>
          </a:p>
          <a:p>
            <a:r>
              <a:rPr lang="en-US" sz="2800" dirty="0"/>
              <a:t>Any tunneling protocol implemented here must be as simple as possible in order to minimize CPU overhead. </a:t>
            </a:r>
          </a:p>
          <a:p>
            <a:r>
              <a:rPr lang="en-US" sz="2800" dirty="0"/>
              <a:t>In addition, multicast was not an important requirement for the original MPLS standard. </a:t>
            </a:r>
          </a:p>
          <a:p>
            <a:r>
              <a:rPr lang="en-US" sz="2800" dirty="0"/>
              <a:t>As we will describe in the VXLAN section of this chapter, multicast is an important feature for MAC learning in these layer 2 tunneled virtual networks. </a:t>
            </a:r>
          </a:p>
        </p:txBody>
      </p:sp>
      <p:sp>
        <p:nvSpPr>
          <p:cNvPr id="4" name="Slide Number Placeholder 3"/>
          <p:cNvSpPr>
            <a:spLocks noGrp="1"/>
          </p:cNvSpPr>
          <p:nvPr>
            <p:ph type="sldNum" sz="quarter" idx="10"/>
          </p:nvPr>
        </p:nvSpPr>
        <p:spPr/>
        <p:txBody>
          <a:bodyPr/>
          <a:lstStyle/>
          <a:p>
            <a:fld id="{1C0FA7A3-0FBF-4EC3-BE45-825983E95E58}" type="slidenum">
              <a:rPr lang="en-US" smtClean="0"/>
              <a:pPr/>
              <a:t>37</a:t>
            </a:fld>
            <a:endParaRPr lang="en-US" dirty="0"/>
          </a:p>
        </p:txBody>
      </p:sp>
    </p:spTree>
    <p:extLst>
      <p:ext uri="{BB962C8B-B14F-4D97-AF65-F5344CB8AC3E}">
        <p14:creationId xmlns:p14="http://schemas.microsoft.com/office/powerpoint/2010/main" val="2499895394"/>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480"/>
            <a:ext cx="8915400" cy="563563"/>
          </a:xfrm>
        </p:spPr>
        <p:txBody>
          <a:bodyPr/>
          <a:lstStyle/>
          <a:p>
            <a:r>
              <a:rPr lang="en-US" sz="3200" i="1" dirty="0">
                <a:effectLst/>
              </a:rPr>
              <a:t>VN-TAGS</a:t>
            </a:r>
          </a:p>
        </p:txBody>
      </p:sp>
      <p:sp>
        <p:nvSpPr>
          <p:cNvPr id="2" name="Content Placeholder 1"/>
          <p:cNvSpPr>
            <a:spLocks noGrp="1"/>
          </p:cNvSpPr>
          <p:nvPr>
            <p:ph idx="1"/>
          </p:nvPr>
        </p:nvSpPr>
        <p:spPr>
          <a:xfrm>
            <a:off x="228600" y="685800"/>
            <a:ext cx="8763000" cy="7391400"/>
          </a:xfrm>
        </p:spPr>
        <p:txBody>
          <a:bodyPr/>
          <a:lstStyle/>
          <a:p>
            <a:r>
              <a:rPr lang="en-US" dirty="0"/>
              <a:t>Cisco and other companies originally proposed the VN-Tag protocol which became the basis for the Bridge Port Extension standard called IEEE 802.1qbh as we described in the last chapter. </a:t>
            </a:r>
          </a:p>
          <a:p>
            <a:r>
              <a:rPr lang="en-US" dirty="0">
                <a:hlinkClick r:id="rId2"/>
              </a:rPr>
              <a:t>Figure 7.4</a:t>
            </a:r>
            <a:r>
              <a:rPr lang="en-US" dirty="0"/>
              <a:t>shows the VN-Tag location in a standard Ethernet frame and where it is used in the data center network. </a:t>
            </a:r>
          </a:p>
          <a:p>
            <a:r>
              <a:rPr lang="en-US" dirty="0"/>
              <a:t>The VN-Tag contains a virtual interface (VIF) identifier which can be used to forward frames to any type of VIF such as a virtual machine within a server. </a:t>
            </a:r>
          </a:p>
        </p:txBody>
      </p:sp>
      <p:sp>
        <p:nvSpPr>
          <p:cNvPr id="4" name="Slide Number Placeholder 3"/>
          <p:cNvSpPr>
            <a:spLocks noGrp="1"/>
          </p:cNvSpPr>
          <p:nvPr>
            <p:ph type="sldNum" sz="quarter" idx="10"/>
          </p:nvPr>
        </p:nvSpPr>
        <p:spPr/>
        <p:txBody>
          <a:bodyPr/>
          <a:lstStyle/>
          <a:p>
            <a:fld id="{1C0FA7A3-0FBF-4EC3-BE45-825983E95E58}" type="slidenum">
              <a:rPr lang="en-US" smtClean="0"/>
              <a:pPr/>
              <a:t>38</a:t>
            </a:fld>
            <a:endParaRPr lang="en-US" dirty="0"/>
          </a:p>
        </p:txBody>
      </p:sp>
    </p:spTree>
    <p:extLst>
      <p:ext uri="{BB962C8B-B14F-4D97-AF65-F5344CB8AC3E}">
        <p14:creationId xmlns:p14="http://schemas.microsoft.com/office/powerpoint/2010/main" val="4263294788"/>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480"/>
            <a:ext cx="8915400" cy="563563"/>
          </a:xfrm>
        </p:spPr>
        <p:txBody>
          <a:bodyPr/>
          <a:lstStyle/>
          <a:p>
            <a:r>
              <a:rPr lang="en-US" sz="3200" i="1" dirty="0">
                <a:effectLst/>
              </a:rPr>
              <a:t>VN-TAGS</a:t>
            </a:r>
          </a:p>
        </p:txBody>
      </p:sp>
      <p:sp>
        <p:nvSpPr>
          <p:cNvPr id="2" name="Content Placeholder 1"/>
          <p:cNvSpPr>
            <a:spLocks noGrp="1"/>
          </p:cNvSpPr>
          <p:nvPr>
            <p:ph idx="1"/>
          </p:nvPr>
        </p:nvSpPr>
        <p:spPr>
          <a:xfrm>
            <a:off x="228600" y="914400"/>
            <a:ext cx="8763000" cy="7391400"/>
          </a:xfrm>
        </p:spPr>
        <p:txBody>
          <a:bodyPr/>
          <a:lstStyle/>
          <a:p>
            <a:r>
              <a:rPr lang="en-US" dirty="0"/>
              <a:t>A single physical network connection to the server using a VN-Tag capable network interface controller (NIC) may, therefore, utilize tags for multiple VIFs.</a:t>
            </a:r>
            <a:endParaRPr lang="en-US" sz="2800" dirty="0"/>
          </a:p>
        </p:txBody>
      </p:sp>
      <p:sp>
        <p:nvSpPr>
          <p:cNvPr id="4" name="Slide Number Placeholder 3"/>
          <p:cNvSpPr>
            <a:spLocks noGrp="1"/>
          </p:cNvSpPr>
          <p:nvPr>
            <p:ph type="sldNum" sz="quarter" idx="10"/>
          </p:nvPr>
        </p:nvSpPr>
        <p:spPr/>
        <p:txBody>
          <a:bodyPr/>
          <a:lstStyle/>
          <a:p>
            <a:fld id="{1C0FA7A3-0FBF-4EC3-BE45-825983E95E58}" type="slidenum">
              <a:rPr lang="en-US" smtClean="0"/>
              <a:pPr/>
              <a:t>39</a:t>
            </a:fld>
            <a:endParaRPr lang="en-US" dirty="0"/>
          </a:p>
        </p:txBody>
      </p:sp>
    </p:spTree>
    <p:extLst>
      <p:ext uri="{BB962C8B-B14F-4D97-AF65-F5344CB8AC3E}">
        <p14:creationId xmlns:p14="http://schemas.microsoft.com/office/powerpoint/2010/main" val="1998745040"/>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480"/>
            <a:ext cx="8915400" cy="563563"/>
          </a:xfrm>
        </p:spPr>
        <p:txBody>
          <a:bodyPr/>
          <a:lstStyle/>
          <a:p>
            <a:r>
              <a:rPr lang="en-US" sz="3200" i="1" dirty="0">
                <a:effectLst/>
              </a:rPr>
              <a:t>VN-TAGS</a:t>
            </a:r>
          </a:p>
        </p:txBody>
      </p:sp>
      <p:sp>
        <p:nvSpPr>
          <p:cNvPr id="2" name="Content Placeholder 1"/>
          <p:cNvSpPr>
            <a:spLocks noGrp="1"/>
          </p:cNvSpPr>
          <p:nvPr>
            <p:ph idx="1"/>
          </p:nvPr>
        </p:nvSpPr>
        <p:spPr>
          <a:xfrm>
            <a:off x="259080" y="914400"/>
            <a:ext cx="8763000" cy="914400"/>
          </a:xfrm>
        </p:spPr>
        <p:txBody>
          <a:bodyPr/>
          <a:lstStyle/>
          <a:p>
            <a:r>
              <a:rPr lang="en-US" b="1" cap="all" dirty="0"/>
              <a:t>FIGURE 7.4</a:t>
            </a:r>
            <a:r>
              <a:rPr lang="en-US" dirty="0"/>
              <a:t> VN-Tag forwarding and frame format.</a:t>
            </a:r>
            <a:endParaRPr lang="en-US" sz="2800" dirty="0"/>
          </a:p>
        </p:txBody>
      </p:sp>
      <p:sp>
        <p:nvSpPr>
          <p:cNvPr id="4" name="Slide Number Placeholder 3"/>
          <p:cNvSpPr>
            <a:spLocks noGrp="1"/>
          </p:cNvSpPr>
          <p:nvPr>
            <p:ph type="sldNum" sz="quarter" idx="10"/>
          </p:nvPr>
        </p:nvSpPr>
        <p:spPr/>
        <p:txBody>
          <a:bodyPr/>
          <a:lstStyle/>
          <a:p>
            <a:fld id="{1C0FA7A3-0FBF-4EC3-BE45-825983E95E58}" type="slidenum">
              <a:rPr lang="en-US" smtClean="0"/>
              <a:pPr/>
              <a:t>40</a:t>
            </a:fld>
            <a:endParaRPr lang="en-US" dirty="0"/>
          </a:p>
        </p:txBody>
      </p:sp>
      <p:pic>
        <p:nvPicPr>
          <p:cNvPr id="4098" name="Picture 2" descr="https://www.safaribooksonline.com/library/view/cloud-networking/9780128007280/images/B9780128007280000072/f07-04-978012800728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1914524"/>
            <a:ext cx="6477000" cy="35718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6920373"/>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480"/>
            <a:ext cx="8915400" cy="563563"/>
          </a:xfrm>
        </p:spPr>
        <p:txBody>
          <a:bodyPr/>
          <a:lstStyle/>
          <a:p>
            <a:r>
              <a:rPr lang="en-US" sz="3200" i="1" dirty="0">
                <a:effectLst/>
              </a:rPr>
              <a:t>VN-TAGS</a:t>
            </a:r>
          </a:p>
        </p:txBody>
      </p:sp>
      <p:sp>
        <p:nvSpPr>
          <p:cNvPr id="2" name="Content Placeholder 1"/>
          <p:cNvSpPr>
            <a:spLocks noGrp="1"/>
          </p:cNvSpPr>
          <p:nvPr>
            <p:ph idx="1"/>
          </p:nvPr>
        </p:nvSpPr>
        <p:spPr>
          <a:xfrm>
            <a:off x="228600" y="914400"/>
            <a:ext cx="8763000" cy="7391400"/>
          </a:xfrm>
        </p:spPr>
        <p:txBody>
          <a:bodyPr/>
          <a:lstStyle/>
          <a:p>
            <a:r>
              <a:rPr lang="en-US" dirty="0"/>
              <a:t>Some people may mistake the VN-Tag for a tunneling tag. </a:t>
            </a:r>
          </a:p>
          <a:p>
            <a:r>
              <a:rPr lang="en-US" dirty="0"/>
              <a:t>In a Cisco style network, the controlling bridge at the end of a row is the master of the fabric extenders that sit within the server racks. </a:t>
            </a:r>
          </a:p>
          <a:p>
            <a:r>
              <a:rPr lang="en-US" dirty="0"/>
              <a:t>The controlling bridge makes all of the VIF assignments and the NIC can use these tags to pass the frames to the correct VMs. </a:t>
            </a:r>
          </a:p>
        </p:txBody>
      </p:sp>
      <p:sp>
        <p:nvSpPr>
          <p:cNvPr id="4" name="Slide Number Placeholder 3"/>
          <p:cNvSpPr>
            <a:spLocks noGrp="1"/>
          </p:cNvSpPr>
          <p:nvPr>
            <p:ph type="sldNum" sz="quarter" idx="10"/>
          </p:nvPr>
        </p:nvSpPr>
        <p:spPr/>
        <p:txBody>
          <a:bodyPr/>
          <a:lstStyle/>
          <a:p>
            <a:fld id="{1C0FA7A3-0FBF-4EC3-BE45-825983E95E58}" type="slidenum">
              <a:rPr lang="en-US" smtClean="0"/>
              <a:pPr/>
              <a:t>41</a:t>
            </a:fld>
            <a:endParaRPr lang="en-US" dirty="0"/>
          </a:p>
        </p:txBody>
      </p:sp>
    </p:spTree>
    <p:extLst>
      <p:ext uri="{BB962C8B-B14F-4D97-AF65-F5344CB8AC3E}">
        <p14:creationId xmlns:p14="http://schemas.microsoft.com/office/powerpoint/2010/main" val="2115157076"/>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480"/>
            <a:ext cx="8915400" cy="563563"/>
          </a:xfrm>
        </p:spPr>
        <p:txBody>
          <a:bodyPr/>
          <a:lstStyle/>
          <a:p>
            <a:r>
              <a:rPr lang="en-US" sz="3200" i="1" dirty="0">
                <a:effectLst/>
              </a:rPr>
              <a:t>VN-TAGS</a:t>
            </a:r>
          </a:p>
        </p:txBody>
      </p:sp>
      <p:sp>
        <p:nvSpPr>
          <p:cNvPr id="2" name="Content Placeholder 1"/>
          <p:cNvSpPr>
            <a:spLocks noGrp="1"/>
          </p:cNvSpPr>
          <p:nvPr>
            <p:ph idx="1"/>
          </p:nvPr>
        </p:nvSpPr>
        <p:spPr>
          <a:xfrm>
            <a:off x="228600" y="762000"/>
            <a:ext cx="8763000" cy="7391400"/>
          </a:xfrm>
        </p:spPr>
        <p:txBody>
          <a:bodyPr/>
          <a:lstStyle/>
          <a:p>
            <a:r>
              <a:rPr lang="en-US" sz="2800" dirty="0"/>
              <a:t>Because VN-tagging forms a frame that is not recognized by all different types of networking equipment, it is used locally within the controlling bridge domain and may need to be encapsulated further to pass it on through the data center network. </a:t>
            </a:r>
          </a:p>
          <a:p>
            <a:r>
              <a:rPr lang="en-US" sz="2800" dirty="0"/>
              <a:t>Although these VN-tags provide virtual networking features, they are used to identify VMs instead of tenants. </a:t>
            </a:r>
          </a:p>
          <a:p>
            <a:r>
              <a:rPr lang="en-US" sz="2800" dirty="0"/>
              <a:t>Because of this and other reasons, Cisco was a main contributor in the development of the VXLAN standard which will be described in the next section.</a:t>
            </a:r>
            <a:endParaRPr lang="en-US" sz="2400" dirty="0"/>
          </a:p>
        </p:txBody>
      </p:sp>
      <p:sp>
        <p:nvSpPr>
          <p:cNvPr id="4" name="Slide Number Placeholder 3"/>
          <p:cNvSpPr>
            <a:spLocks noGrp="1"/>
          </p:cNvSpPr>
          <p:nvPr>
            <p:ph type="sldNum" sz="quarter" idx="10"/>
          </p:nvPr>
        </p:nvSpPr>
        <p:spPr/>
        <p:txBody>
          <a:bodyPr/>
          <a:lstStyle/>
          <a:p>
            <a:fld id="{1C0FA7A3-0FBF-4EC3-BE45-825983E95E58}" type="slidenum">
              <a:rPr lang="en-US" smtClean="0"/>
              <a:pPr/>
              <a:t>42</a:t>
            </a:fld>
            <a:endParaRPr lang="en-US" dirty="0"/>
          </a:p>
        </p:txBody>
      </p:sp>
    </p:spTree>
    <p:extLst>
      <p:ext uri="{BB962C8B-B14F-4D97-AF65-F5344CB8AC3E}">
        <p14:creationId xmlns:p14="http://schemas.microsoft.com/office/powerpoint/2010/main" val="309797865"/>
      </p:ext>
    </p:extLst>
  </p:cSld>
  <p:clrMapOvr>
    <a:masterClrMapping/>
  </p:clrMapOvr>
  <p:transition/>
</p:sld>
</file>

<file path=ppt/theme/theme1.xml><?xml version="1.0" encoding="utf-8"?>
<a:theme xmlns:a="http://schemas.openxmlformats.org/drawingml/2006/main" name="Default Design">
  <a:themeElements>
    <a:clrScheme name="">
      <a:dk1>
        <a:srgbClr val="000000"/>
      </a:dk1>
      <a:lt1>
        <a:srgbClr val="FFFFFF"/>
      </a:lt1>
      <a:dk2>
        <a:srgbClr val="0B3D91"/>
      </a:dk2>
      <a:lt2>
        <a:srgbClr val="000066"/>
      </a:lt2>
      <a:accent1>
        <a:srgbClr val="97A8D9"/>
      </a:accent1>
      <a:accent2>
        <a:srgbClr val="C7D2F5"/>
      </a:accent2>
      <a:accent3>
        <a:srgbClr val="FFFFFF"/>
      </a:accent3>
      <a:accent4>
        <a:srgbClr val="000000"/>
      </a:accent4>
      <a:accent5>
        <a:srgbClr val="C9D1E9"/>
      </a:accent5>
      <a:accent6>
        <a:srgbClr val="B4BEDE"/>
      </a:accent6>
      <a:hlink>
        <a:srgbClr val="DC241F"/>
      </a:hlink>
      <a:folHlink>
        <a:srgbClr val="CCCC99"/>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alpha val="50000"/>
          </a:schemeClr>
        </a:solidFill>
        <a:ln w="9525" cap="flat" cmpd="sng" algn="ctr">
          <a:solidFill>
            <a:srgbClr val="FFFF00"/>
          </a:solidFill>
          <a:prstDash val="solid"/>
          <a:round/>
          <a:headEnd type="none" w="med" len="med"/>
          <a:tailEnd type="none" w="med" len="med"/>
        </a:ln>
        <a:effectLst/>
      </a:spPr>
      <a:bodyPr vert="horz" wrap="square" lIns="91440" tIns="45720" rIns="91440" bIns="4572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sz="1800" b="1"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Default Design 13">
        <a:dk1>
          <a:srgbClr val="000000"/>
        </a:dk1>
        <a:lt1>
          <a:srgbClr val="FFFFFF"/>
        </a:lt1>
        <a:dk2>
          <a:srgbClr val="000066"/>
        </a:dk2>
        <a:lt2>
          <a:srgbClr val="808080"/>
        </a:lt2>
        <a:accent1>
          <a:srgbClr val="CCCC99"/>
        </a:accent1>
        <a:accent2>
          <a:srgbClr val="DC241F"/>
        </a:accent2>
        <a:accent3>
          <a:srgbClr val="FFFFFF"/>
        </a:accent3>
        <a:accent4>
          <a:srgbClr val="000000"/>
        </a:accent4>
        <a:accent5>
          <a:srgbClr val="E2E2CA"/>
        </a:accent5>
        <a:accent6>
          <a:srgbClr val="C7201B"/>
        </a:accent6>
        <a:hlink>
          <a:srgbClr val="0035AD"/>
        </a:hlink>
        <a:folHlink>
          <a:srgbClr val="918C5A"/>
        </a:folHlink>
      </a:clrScheme>
      <a:clrMap bg1="lt1" tx1="dk1" bg2="lt2" tx2="dk2" accent1="accent1" accent2="accent2" accent3="accent3" accent4="accent4" accent5="accent5" accent6="accent6" hlink="hlink" folHlink="folHlink"/>
    </a:extraClrScheme>
    <a:extraClrScheme>
      <a:clrScheme name="Default Design 14">
        <a:dk1>
          <a:srgbClr val="000000"/>
        </a:dk1>
        <a:lt1>
          <a:srgbClr val="FFFFFF"/>
        </a:lt1>
        <a:dk2>
          <a:srgbClr val="0B3D91"/>
        </a:dk2>
        <a:lt2>
          <a:srgbClr val="000066"/>
        </a:lt2>
        <a:accent1>
          <a:srgbClr val="70B2F4"/>
        </a:accent1>
        <a:accent2>
          <a:srgbClr val="C3EAFD"/>
        </a:accent2>
        <a:accent3>
          <a:srgbClr val="FFFFFF"/>
        </a:accent3>
        <a:accent4>
          <a:srgbClr val="000000"/>
        </a:accent4>
        <a:accent5>
          <a:srgbClr val="BBD5F8"/>
        </a:accent5>
        <a:accent6>
          <a:srgbClr val="B0D4E5"/>
        </a:accent6>
        <a:hlink>
          <a:srgbClr val="DC241F"/>
        </a:hlink>
        <a:folHlink>
          <a:srgbClr val="CCCC99"/>
        </a:folHlink>
      </a:clrScheme>
      <a:clrMap bg1="lt1" tx1="dk1" bg2="lt2" tx2="dk2" accent1="accent1" accent2="accent2" accent3="accent3" accent4="accent4" accent5="accent5" accent6="accent6" hlink="hlink" folHlink="folHlink"/>
    </a:extraClrScheme>
    <a:extraClrScheme>
      <a:clrScheme name="Default Design 15">
        <a:dk1>
          <a:srgbClr val="000000"/>
        </a:dk1>
        <a:lt1>
          <a:srgbClr val="FFFFFF"/>
        </a:lt1>
        <a:dk2>
          <a:srgbClr val="0B3D91"/>
        </a:dk2>
        <a:lt2>
          <a:srgbClr val="000066"/>
        </a:lt2>
        <a:accent1>
          <a:srgbClr val="70B2F4"/>
        </a:accent1>
        <a:accent2>
          <a:srgbClr val="C3DCFD"/>
        </a:accent2>
        <a:accent3>
          <a:srgbClr val="FFFFFF"/>
        </a:accent3>
        <a:accent4>
          <a:srgbClr val="000000"/>
        </a:accent4>
        <a:accent5>
          <a:srgbClr val="BBD5F8"/>
        </a:accent5>
        <a:accent6>
          <a:srgbClr val="B0C7E5"/>
        </a:accent6>
        <a:hlink>
          <a:srgbClr val="DC241F"/>
        </a:hlink>
        <a:folHlink>
          <a:srgbClr val="CCCC99"/>
        </a:folHlink>
      </a:clrScheme>
      <a:clrMap bg1="lt1" tx1="dk1" bg2="lt2" tx2="dk2" accent1="accent1" accent2="accent2" accent3="accent3" accent4="accent4" accent5="accent5" accent6="accent6" hlink="hlink" folHlink="folHlink"/>
    </a:extraClrScheme>
    <a:extraClrScheme>
      <a:clrScheme name="Default Design 16">
        <a:dk1>
          <a:srgbClr val="000000"/>
        </a:dk1>
        <a:lt1>
          <a:srgbClr val="FFFFFF"/>
        </a:lt1>
        <a:dk2>
          <a:srgbClr val="0B3D91"/>
        </a:dk2>
        <a:lt2>
          <a:srgbClr val="000066"/>
        </a:lt2>
        <a:accent1>
          <a:srgbClr val="70B2F4"/>
        </a:accent1>
        <a:accent2>
          <a:srgbClr val="C3E4FD"/>
        </a:accent2>
        <a:accent3>
          <a:srgbClr val="FFFFFF"/>
        </a:accent3>
        <a:accent4>
          <a:srgbClr val="000000"/>
        </a:accent4>
        <a:accent5>
          <a:srgbClr val="BBD5F8"/>
        </a:accent5>
        <a:accent6>
          <a:srgbClr val="B0CFE5"/>
        </a:accent6>
        <a:hlink>
          <a:srgbClr val="DC241F"/>
        </a:hlink>
        <a:folHlink>
          <a:srgbClr val="CCCC99"/>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13896</TotalTime>
  <Words>2630</Words>
  <Application>Microsoft Office PowerPoint</Application>
  <PresentationFormat>On-screen Show (4:3)</PresentationFormat>
  <Paragraphs>186</Paragraphs>
  <Slides>43</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43</vt:i4>
      </vt:variant>
    </vt:vector>
  </HeadingPairs>
  <TitlesOfParts>
    <vt:vector size="47" baseType="lpstr">
      <vt:lpstr>Arial</vt:lpstr>
      <vt:lpstr>Calibri</vt:lpstr>
      <vt:lpstr>Wingdings</vt:lpstr>
      <vt:lpstr>Default Design</vt:lpstr>
      <vt:lpstr>EETS 8390: data center network engineering</vt:lpstr>
      <vt:lpstr>Chapter 7: Network Virtualization</vt:lpstr>
      <vt:lpstr>Chapter 7: Network Virtualization</vt:lpstr>
      <vt:lpstr>Chapter 7: Network Virtualization</vt:lpstr>
      <vt:lpstr>Chapter 7: Network Virtualization</vt:lpstr>
      <vt:lpstr>Chapter 7: Network Virtualization</vt:lpstr>
      <vt:lpstr>Chapter 7: Network Virtualization</vt:lpstr>
      <vt:lpstr>Multitenant Environments</vt:lpstr>
      <vt:lpstr>Multitenant Environments</vt:lpstr>
      <vt:lpstr>Multitenant Environments</vt:lpstr>
      <vt:lpstr>Multitenant Environments</vt:lpstr>
      <vt:lpstr>Network Requirements</vt:lpstr>
      <vt:lpstr>Network Requirements</vt:lpstr>
      <vt:lpstr>Network Requirements</vt:lpstr>
      <vt:lpstr>Network Requirements</vt:lpstr>
      <vt:lpstr>Network Requirements</vt:lpstr>
      <vt:lpstr>MAC Address Learning</vt:lpstr>
      <vt:lpstr>MAC Address Learning</vt:lpstr>
      <vt:lpstr>MAC Address Learning</vt:lpstr>
      <vt:lpstr>MAC Address Learning</vt:lpstr>
      <vt:lpstr>MAC Address Learning</vt:lpstr>
      <vt:lpstr>MAC Address Learning</vt:lpstr>
      <vt:lpstr>Traditional Network Tunneling Protocols</vt:lpstr>
      <vt:lpstr>Traditional Network Tunneling Protocols</vt:lpstr>
      <vt:lpstr>Traditional Network Tunneling Protocols</vt:lpstr>
      <vt:lpstr>Q-in-Q</vt:lpstr>
      <vt:lpstr>Q-in-Q</vt:lpstr>
      <vt:lpstr>Q-in-Q</vt:lpstr>
      <vt:lpstr>Q-in-Q</vt:lpstr>
      <vt:lpstr>Q-in-Q</vt:lpstr>
      <vt:lpstr>Q-in-Q</vt:lpstr>
      <vt:lpstr>MPLS</vt:lpstr>
      <vt:lpstr>MPLS</vt:lpstr>
      <vt:lpstr>MPLS</vt:lpstr>
      <vt:lpstr>MPLS</vt:lpstr>
      <vt:lpstr>MPLS</vt:lpstr>
      <vt:lpstr>MPLS</vt:lpstr>
      <vt:lpstr>MPLS</vt:lpstr>
      <vt:lpstr>VN-TAGS</vt:lpstr>
      <vt:lpstr>VN-TAGS</vt:lpstr>
      <vt:lpstr>VN-TAGS</vt:lpstr>
      <vt:lpstr>VN-TAGS</vt:lpstr>
      <vt:lpstr>VN-TAGS</vt:lpstr>
    </vt:vector>
  </TitlesOfParts>
  <Company>SMU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SMU Generic Template: Blue</dc:title>
  <dc:creator>Marlin Kingsley</dc:creator>
  <cp:lastModifiedBy>Scott Kingsley</cp:lastModifiedBy>
  <cp:revision>800</cp:revision>
  <dcterms:created xsi:type="dcterms:W3CDTF">2004-08-08T18:58:35Z</dcterms:created>
  <dcterms:modified xsi:type="dcterms:W3CDTF">2022-11-18T03:45:49Z</dcterms:modified>
</cp:coreProperties>
</file>