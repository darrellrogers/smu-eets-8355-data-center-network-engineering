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682" r:id="rId2"/>
    <p:sldId id="659" r:id="rId3"/>
    <p:sldId id="680" r:id="rId4"/>
    <p:sldId id="662" r:id="rId5"/>
    <p:sldId id="660" r:id="rId6"/>
    <p:sldId id="652" r:id="rId7"/>
    <p:sldId id="664" r:id="rId8"/>
    <p:sldId id="665" r:id="rId9"/>
    <p:sldId id="666" r:id="rId10"/>
    <p:sldId id="667" r:id="rId11"/>
    <p:sldId id="653" r:id="rId12"/>
    <p:sldId id="661" r:id="rId13"/>
    <p:sldId id="686" r:id="rId14"/>
    <p:sldId id="687" r:id="rId15"/>
    <p:sldId id="644" r:id="rId16"/>
    <p:sldId id="642" r:id="rId17"/>
    <p:sldId id="645" r:id="rId18"/>
    <p:sldId id="646" r:id="rId19"/>
    <p:sldId id="647" r:id="rId20"/>
    <p:sldId id="648" r:id="rId21"/>
    <p:sldId id="649" r:id="rId22"/>
    <p:sldId id="650" r:id="rId23"/>
    <p:sldId id="669" r:id="rId24"/>
    <p:sldId id="670" r:id="rId25"/>
    <p:sldId id="688" r:id="rId26"/>
    <p:sldId id="691" r:id="rId27"/>
    <p:sldId id="692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04">
          <p15:clr>
            <a:srgbClr val="A4A3A4"/>
          </p15:clr>
        </p15:guide>
        <p15:guide id="3" orient="horz" pos="4136">
          <p15:clr>
            <a:srgbClr val="A4A3A4"/>
          </p15:clr>
        </p15:guide>
        <p15:guide id="4" pos="2880">
          <p15:clr>
            <a:srgbClr val="A4A3A4"/>
          </p15:clr>
        </p15:guide>
        <p15:guide id="5" pos="144">
          <p15:clr>
            <a:srgbClr val="A4A3A4"/>
          </p15:clr>
        </p15:guide>
        <p15:guide id="6" pos="55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A6A"/>
    <a:srgbClr val="16DE0C"/>
    <a:srgbClr val="FFFF00"/>
    <a:srgbClr val="1F09BF"/>
    <a:srgbClr val="FBFBFB"/>
    <a:srgbClr val="2A3A68"/>
    <a:srgbClr val="FFFFFF"/>
    <a:srgbClr val="FFFFCC"/>
    <a:srgbClr val="CC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9" autoAdjust="0"/>
    <p:restoredTop sz="86834" autoAdjust="0"/>
  </p:normalViewPr>
  <p:slideViewPr>
    <p:cSldViewPr>
      <p:cViewPr varScale="1">
        <p:scale>
          <a:sx n="75" d="100"/>
          <a:sy n="75" d="100"/>
        </p:scale>
        <p:origin x="1805" y="53"/>
      </p:cViewPr>
      <p:guideLst>
        <p:guide orient="horz" pos="2160"/>
        <p:guide orient="horz" pos="4004"/>
        <p:guide orient="horz" pos="4136"/>
        <p:guide pos="2880"/>
        <p:guide pos="144"/>
        <p:guide pos="5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8190"/>
    </p:cViewPr>
  </p:sorterViewPr>
  <p:notesViewPr>
    <p:cSldViewPr>
      <p:cViewPr varScale="1">
        <p:scale>
          <a:sx n="120" d="100"/>
          <a:sy n="120" d="100"/>
        </p:scale>
        <p:origin x="-1472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8B8FAEF-4EC0-46B6-842C-DD1E8A8FDD9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383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dirty="0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461950BF-5E6A-4CD6-97CF-B82A1645983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7077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950BF-5E6A-4CD6-97CF-B82A16459836}" type="slidenum">
              <a:rPr lang="en-US" smtClean="0"/>
              <a:pPr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17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950BF-5E6A-4CD6-97CF-B82A1645983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745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950BF-5E6A-4CD6-97CF-B82A1645983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99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950BF-5E6A-4CD6-97CF-B82A1645983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985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950BF-5E6A-4CD6-97CF-B82A1645983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85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950BF-5E6A-4CD6-97CF-B82A1645983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948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4" name="Picture 36" descr="stmntpg_bkgrd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1" y="1931988"/>
            <a:ext cx="8153400" cy="887412"/>
          </a:xfrm>
        </p:spPr>
        <p:txBody>
          <a:bodyPr/>
          <a:lstStyle>
            <a:lvl1pPr algn="ctr">
              <a:defRPr sz="54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31825" y="2898775"/>
            <a:ext cx="7851775" cy="3121025"/>
          </a:xfrm>
        </p:spPr>
        <p:txBody>
          <a:bodyPr/>
          <a:lstStyle>
            <a:lvl1pPr marL="0" indent="0" algn="ctr">
              <a:buFontTx/>
              <a:buNone/>
              <a:defRPr sz="3200" i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686800" cy="563563"/>
          </a:xfrm>
        </p:spPr>
        <p:txBody>
          <a:bodyPr/>
          <a:lstStyle>
            <a:lvl1pPr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82000" cy="4953000"/>
          </a:xfrm>
        </p:spPr>
        <p:txBody>
          <a:bodyPr/>
          <a:lstStyle>
            <a:lvl1pPr>
              <a:buClr>
                <a:schemeClr val="tx2"/>
              </a:buClr>
              <a:defRPr sz="3200">
                <a:latin typeface="Calibri" pitchFamily="34" charset="0"/>
              </a:defRPr>
            </a:lvl1pPr>
            <a:lvl2pPr>
              <a:buClr>
                <a:srgbClr val="C00000"/>
              </a:buClr>
              <a:buFont typeface="Wingdings" pitchFamily="2" charset="2"/>
              <a:buChar char="§"/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400">
                <a:latin typeface="Calibri" pitchFamily="34" charset="0"/>
              </a:defRPr>
            </a:lvl4pPr>
            <a:lvl5pPr>
              <a:defRPr sz="2400"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1C0FA7A3-0FBF-4EC3-BE45-825983E95E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800" b="1" cap="small" baseline="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340D0772-A24E-4F60-87C6-1B8FABEC81BE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24000"/>
            <a:ext cx="42672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2672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30D1CA97-B344-4217-90AD-1773C9A60CA6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6038"/>
            <a:ext cx="8229600" cy="56356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6400"/>
            <a:ext cx="4040188" cy="4449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144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6400"/>
            <a:ext cx="4041775" cy="4449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AA73854A-5C14-47C3-B598-1F673C68FB4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CDC70ED7-27EA-4514-903C-D4A37184F7C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8361A7F4-E54E-4223-9BAA-A5DFCE9EB1E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6868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C9188CC7-1F86-4711-BAA0-C20CBBAA9A13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839200" y="6400800"/>
            <a:ext cx="155575" cy="152400"/>
          </a:xfrm>
        </p:spPr>
        <p:txBody>
          <a:bodyPr/>
          <a:lstStyle>
            <a:lvl1pPr>
              <a:defRPr/>
            </a:lvl1pPr>
          </a:lstStyle>
          <a:p>
            <a:fld id="{A23425AD-99C3-4D67-BAAA-9EF149E2BC6E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AF9A4D-BF2E-454A-8E48-0BE3BF83C62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685800"/>
            <a:ext cx="2171700" cy="518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685800"/>
            <a:ext cx="6362700" cy="5181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8D09FAD-2610-4BCF-8A6E-D3BAB9283AB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18207C-D3B4-4E49-8C59-E267A7D5C2C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1" descr="textpg_bkgrd2b2"/>
          <p:cNvPicPr>
            <a:picLocks noChangeAspect="1" noChangeArrowheads="1"/>
          </p:cNvPicPr>
          <p:nvPr userDrawn="1"/>
        </p:nvPicPr>
        <p:blipFill>
          <a:blip r:embed="rId2" cstate="print"/>
          <a:srcRect r="8560" b="856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45225" y="6400800"/>
            <a:ext cx="1555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spAutoFit/>
          </a:bodyPr>
          <a:lstStyle>
            <a:lvl1pPr>
              <a:defRPr sz="1000" b="0">
                <a:solidFill>
                  <a:schemeClr val="tx2"/>
                </a:solidFill>
              </a:defRPr>
            </a:lvl1pPr>
          </a:lstStyle>
          <a:p>
            <a:fld id="{0518207C-D3B4-4E49-8C59-E267A7D5C2C0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1045" name="Picture 21" descr="textpg_bkgrd2b2"/>
          <p:cNvPicPr>
            <a:picLocks noChangeAspect="1" noChangeArrowheads="1"/>
          </p:cNvPicPr>
          <p:nvPr/>
        </p:nvPicPr>
        <p:blipFill>
          <a:blip r:embed="rId14" cstate="print"/>
          <a:srcRect r="5512" b="551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0"/>
            <a:ext cx="8686800" cy="639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38200"/>
            <a:ext cx="8686800" cy="5029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99" name="Rectangle 75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98" name="Picture 74"/>
          <p:cNvPicPr>
            <a:picLocks noChangeAspect="1" noChangeArrowheads="1"/>
          </p:cNvPicPr>
          <p:nvPr/>
        </p:nvPicPr>
        <p:blipFill>
          <a:blip r:embed="rId15" cstate="print"/>
          <a:stretch>
            <a:fillRect/>
          </a:stretch>
        </p:blipFill>
        <p:spPr bwMode="auto">
          <a:xfrm>
            <a:off x="127000" y="6324600"/>
            <a:ext cx="2971800" cy="460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cap="small" baseline="0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65150" indent="-2222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–"/>
        <a:defRPr>
          <a:solidFill>
            <a:schemeClr val="tx1"/>
          </a:solidFill>
          <a:latin typeface="+mn-lt"/>
        </a:defRPr>
      </a:lvl2pPr>
      <a:lvl3pPr marL="9080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3pPr>
      <a:lvl4pPr marL="12509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4pPr>
      <a:lvl5pPr marL="15938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5pPr>
      <a:lvl6pPr marL="20510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6pPr>
      <a:lvl7pPr marL="25082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7pPr>
      <a:lvl8pPr marL="29654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8pPr>
      <a:lvl9pPr marL="3422650" indent="-228600" algn="l" rtl="0" fontAlgn="base">
        <a:spcBef>
          <a:spcPct val="20000"/>
        </a:spcBef>
        <a:spcAft>
          <a:spcPct val="0"/>
        </a:spcAft>
        <a:buClr>
          <a:srgbClr val="918C5A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att.com/content/dam/snrdocs/7_Tenets_of_ATTs_Network_Transformation_White_Paper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rzdBHBx3eJk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KIVEj-YbiU&amp;t=682s" TargetMode="External"/><Relationship Id="rId2" Type="http://schemas.openxmlformats.org/officeDocument/2006/relationships/hyperlink" Target="http://www.youtube.com/watch?v=kcI3fGEait0&amp;t=1888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7ygRSyeizPw&amp;t=492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eqaVCDRDY4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ythGOICErQ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2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851775" cy="1725612"/>
          </a:xfrm>
        </p:spPr>
        <p:txBody>
          <a:bodyPr/>
          <a:lstStyle/>
          <a:p>
            <a:r>
              <a:rPr lang="en-US" sz="4000" dirty="0"/>
              <a:t>EETS 8355: data center network engineering</a:t>
            </a:r>
          </a:p>
        </p:txBody>
      </p:sp>
      <p:sp>
        <p:nvSpPr>
          <p:cNvPr id="44043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631825" y="3657600"/>
            <a:ext cx="7851775" cy="1597025"/>
          </a:xfrm>
        </p:spPr>
        <p:txBody>
          <a:bodyPr/>
          <a:lstStyle/>
          <a:p>
            <a:r>
              <a:rPr lang="en-US" sz="3600" i="0" dirty="0">
                <a:latin typeface="Calibri" pitchFamily="34" charset="0"/>
              </a:rPr>
              <a:t>Dr. M. Scott Kingsley</a:t>
            </a:r>
            <a:endParaRPr lang="en-US" i="0" dirty="0">
              <a:latin typeface="Calibri" pitchFamily="34" charset="0"/>
            </a:endParaRPr>
          </a:p>
          <a:p>
            <a:endParaRPr lang="en-US" sz="2800" dirty="0"/>
          </a:p>
          <a:p>
            <a:r>
              <a:rPr lang="en-US" sz="2800" i="0" dirty="0">
                <a:latin typeface="Calibri" pitchFamily="34" charset="0"/>
              </a:rPr>
              <a:t>NETWORK DISAGGREGATION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i="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95433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228600" y="122237"/>
            <a:ext cx="8686800" cy="563563"/>
          </a:xfrm>
        </p:spPr>
        <p:txBody>
          <a:bodyPr/>
          <a:lstStyle/>
          <a:p>
            <a:r>
              <a:rPr lang="en-US" dirty="0">
                <a:effectLst/>
              </a:rPr>
              <a:t>Network Disaggregation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Network Disaggregation </a:t>
            </a:r>
            <a:r>
              <a:rPr lang="en-US" dirty="0"/>
              <a:t>defines the evolution of switching and routing appliances from proprietary, closed hardware and software sourced from a single vendor, towards totally decoupled, open components which are combined to form a complete switching and routing device.</a:t>
            </a:r>
          </a:p>
        </p:txBody>
      </p:sp>
    </p:spTree>
    <p:extLst>
      <p:ext uri="{BB962C8B-B14F-4D97-AF65-F5344CB8AC3E}">
        <p14:creationId xmlns:p14="http://schemas.microsoft.com/office/powerpoint/2010/main" val="28226176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228600" y="122237"/>
            <a:ext cx="8686800" cy="563563"/>
          </a:xfrm>
        </p:spPr>
        <p:txBody>
          <a:bodyPr/>
          <a:lstStyle/>
          <a:p>
            <a:r>
              <a:rPr lang="en-US" dirty="0">
                <a:effectLst/>
              </a:rPr>
              <a:t>AT&amp;T Network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382000" cy="4191000"/>
          </a:xfrm>
        </p:spPr>
        <p:txBody>
          <a:bodyPr/>
          <a:lstStyle/>
          <a:p>
            <a:r>
              <a:rPr lang="en-US" sz="2400" dirty="0"/>
              <a:t>Network growth necessitates economies of scale that can only be achieved from interoperability and open disaggregation.</a:t>
            </a:r>
          </a:p>
          <a:p>
            <a:pPr lvl="1"/>
            <a:r>
              <a:rPr lang="en-US" sz="2000" dirty="0"/>
              <a:t>The open </a:t>
            </a:r>
            <a:r>
              <a:rPr lang="en-US" sz="2000" dirty="0" err="1"/>
              <a:t>dNOS</a:t>
            </a:r>
            <a:r>
              <a:rPr lang="en-US" sz="2000" dirty="0"/>
              <a:t>, like AT&amp;T’s </a:t>
            </a:r>
            <a:r>
              <a:rPr lang="en-US" sz="2000" dirty="0" err="1"/>
              <a:t>Vyatta</a:t>
            </a:r>
            <a:r>
              <a:rPr lang="en-US" sz="2000" dirty="0"/>
              <a:t> NOS, that’s disaggregated from the underlying hardware (chassis, controller, line cards, etc.).</a:t>
            </a:r>
          </a:p>
          <a:p>
            <a:pPr lvl="1"/>
            <a:r>
              <a:rPr lang="en-US" sz="2000" dirty="0"/>
              <a:t>Well-defined standard interfaces and APIs enabling modularity with the ability to mix and match applications. </a:t>
            </a:r>
          </a:p>
          <a:p>
            <a:pPr lvl="1"/>
            <a:r>
              <a:rPr lang="en-US" sz="2000" dirty="0"/>
              <a:t>Independent scaling of control and user/data plane functions to drive an open ecosystem. </a:t>
            </a:r>
          </a:p>
          <a:p>
            <a:pPr lvl="1"/>
            <a:r>
              <a:rPr lang="en-US" sz="2000" dirty="0"/>
              <a:t>AT&amp;T is leading efforts in industry bodies like the Open Compute Project (OCP), Open Networking Foundation (ONF), Open-RAN (O-RAN), </a:t>
            </a:r>
            <a:r>
              <a:rPr lang="en-US" sz="2000" dirty="0" err="1"/>
              <a:t>OpenROADM</a:t>
            </a:r>
            <a:r>
              <a:rPr lang="en-US" sz="2000" dirty="0"/>
              <a:t>, and the Linux Foundation to commoditize interoperable network functions and compute modularity without being cost prohibitive.</a:t>
            </a:r>
          </a:p>
          <a:p>
            <a:pPr lvl="1"/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457200" y="5257800"/>
            <a:ext cx="792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https://about.att.com/content/dam/snrdocs/7_Tenets_of_ATTs_Network_Transformation_White_Paper.pdf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541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231775" y="76200"/>
            <a:ext cx="8686800" cy="563563"/>
          </a:xfrm>
        </p:spPr>
        <p:txBody>
          <a:bodyPr/>
          <a:lstStyle/>
          <a:p>
            <a:r>
              <a:rPr lang="en-US" sz="4000" dirty="0"/>
              <a:t>Traditional server components</a:t>
            </a:r>
            <a:endParaRPr lang="en-US" sz="4000" dirty="0">
              <a:effectLst/>
            </a:endParaRPr>
          </a:p>
        </p:txBody>
      </p:sp>
      <p:pic>
        <p:nvPicPr>
          <p:cNvPr id="46082" name="Picture 2" descr="https://www.safaribooksonline.com/library/view/cloud-networking/9780128007280/images/B9780128007280000047/f04-09-978012800728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7" y="1828800"/>
            <a:ext cx="5661025" cy="393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711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228600" y="122237"/>
            <a:ext cx="8686800" cy="563563"/>
          </a:xfrm>
        </p:spPr>
        <p:txBody>
          <a:bodyPr/>
          <a:lstStyle/>
          <a:p>
            <a:r>
              <a:rPr lang="en-US" dirty="0">
                <a:effectLst/>
              </a:rPr>
              <a:t>Disaggregation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Silicon</a:t>
            </a:r>
          </a:p>
          <a:p>
            <a:r>
              <a:rPr lang="en-US" dirty="0"/>
              <a:t>Operating system</a:t>
            </a:r>
          </a:p>
          <a:p>
            <a:r>
              <a:rPr lang="en-US" dirty="0"/>
              <a:t>Original Device Manufacturers (ODM’s)</a:t>
            </a:r>
          </a:p>
          <a:p>
            <a:r>
              <a:rPr lang="en-US" dirty="0"/>
              <a:t>White vs. Grey vs. Brite boxes</a:t>
            </a:r>
          </a:p>
          <a:p>
            <a:r>
              <a:rPr lang="en-US" dirty="0"/>
              <a:t>Routing stacks</a:t>
            </a:r>
          </a:p>
          <a:p>
            <a:r>
              <a:rPr lang="en-US" dirty="0"/>
              <a:t>Standards and foundations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6737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Network Function Disaggregation (NFD)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447800"/>
            <a:ext cx="76962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Disaggregation</a:t>
            </a:r>
          </a:p>
        </p:txBody>
      </p:sp>
    </p:spTree>
    <p:extLst>
      <p:ext uri="{BB962C8B-B14F-4D97-AF65-F5344CB8AC3E}">
        <p14:creationId xmlns:p14="http://schemas.microsoft.com/office/powerpoint/2010/main" val="400526630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Silicon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377" y="1066800"/>
            <a:ext cx="8293902" cy="4953000"/>
          </a:xfrm>
        </p:spPr>
        <p:txBody>
          <a:bodyPr/>
          <a:lstStyle/>
          <a:p>
            <a:r>
              <a:rPr lang="en-US" sz="2800" dirty="0"/>
              <a:t>Data center operators want larger port count switches to build large networks they also want smaller port count switches for each leaf. </a:t>
            </a:r>
          </a:p>
          <a:p>
            <a:r>
              <a:rPr lang="en-US" sz="2800" dirty="0"/>
              <a:t>Silicon vendors provide two (or more) variations: one for spines and one for leafs.</a:t>
            </a:r>
          </a:p>
          <a:p>
            <a:r>
              <a:rPr lang="en-US" sz="2800" dirty="0"/>
              <a:t>Cisco, Juniper</a:t>
            </a:r>
          </a:p>
          <a:p>
            <a:r>
              <a:rPr lang="en-US" sz="2800" dirty="0"/>
              <a:t>“Merchant” silicon</a:t>
            </a:r>
          </a:p>
          <a:p>
            <a:pPr lvl="1"/>
            <a:r>
              <a:rPr lang="en-US" sz="2400" dirty="0"/>
              <a:t>Broadcom Trident and Tomahawk </a:t>
            </a:r>
          </a:p>
          <a:p>
            <a:r>
              <a:rPr lang="en-US" sz="2800" dirty="0"/>
              <a:t>Programmable chipsets</a:t>
            </a:r>
          </a:p>
          <a:p>
            <a:pPr marL="342900" lvl="1" indent="0">
              <a:buNone/>
            </a:pPr>
            <a:endParaRPr lang="en-US" sz="2400" dirty="0"/>
          </a:p>
          <a:p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50137948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Silicon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FA7A3-0FBF-4EC3-BE45-825983E95E5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377" y="1066800"/>
            <a:ext cx="8293902" cy="4953000"/>
          </a:xfrm>
        </p:spPr>
        <p:txBody>
          <a:bodyPr/>
          <a:lstStyle/>
          <a:p>
            <a:r>
              <a:rPr lang="en-US" dirty="0"/>
              <a:t>Throughput </a:t>
            </a:r>
          </a:p>
          <a:p>
            <a:pPr lvl="1"/>
            <a:r>
              <a:rPr lang="en-US" dirty="0"/>
              <a:t>12.8 </a:t>
            </a:r>
            <a:r>
              <a:rPr lang="en-US" dirty="0" err="1"/>
              <a:t>Tbps</a:t>
            </a:r>
            <a:endParaRPr lang="en-US" dirty="0"/>
          </a:p>
          <a:p>
            <a:pPr lvl="1"/>
            <a:r>
              <a:rPr lang="en-US" dirty="0"/>
              <a:t>25.6 </a:t>
            </a:r>
            <a:r>
              <a:rPr lang="en-US" dirty="0" err="1"/>
              <a:t>Tbps</a:t>
            </a:r>
            <a:endParaRPr lang="en-US" dirty="0"/>
          </a:p>
          <a:p>
            <a:r>
              <a:rPr lang="en-US" dirty="0"/>
              <a:t>Port speed examples</a:t>
            </a:r>
          </a:p>
          <a:p>
            <a:pPr lvl="1"/>
            <a:r>
              <a:rPr lang="en-US" dirty="0"/>
              <a:t>48 x 1/10/25 </a:t>
            </a:r>
            <a:r>
              <a:rPr lang="en-US" dirty="0" err="1"/>
              <a:t>GbE</a:t>
            </a:r>
            <a:endParaRPr lang="en-US" dirty="0"/>
          </a:p>
          <a:p>
            <a:pPr lvl="1"/>
            <a:r>
              <a:rPr lang="en-US" dirty="0"/>
              <a:t>32 x 400 </a:t>
            </a:r>
            <a:r>
              <a:rPr lang="en-US" dirty="0" err="1"/>
              <a:t>GbE</a:t>
            </a:r>
            <a:endParaRPr lang="en-US" dirty="0"/>
          </a:p>
          <a:p>
            <a:pPr lvl="1"/>
            <a:r>
              <a:rPr lang="en-US" dirty="0"/>
              <a:t>64 x 200 </a:t>
            </a:r>
            <a:r>
              <a:rPr lang="en-US" dirty="0" err="1"/>
              <a:t>GbE</a:t>
            </a:r>
            <a:endParaRPr lang="en-US" dirty="0"/>
          </a:p>
          <a:p>
            <a:pPr lvl="1"/>
            <a:r>
              <a:rPr lang="en-US" dirty="0"/>
              <a:t>16 x 100 </a:t>
            </a:r>
            <a:r>
              <a:rPr lang="en-US" dirty="0" err="1"/>
              <a:t>GbE</a:t>
            </a:r>
            <a:endParaRPr lang="en-US" dirty="0"/>
          </a:p>
          <a:p>
            <a:pPr lvl="1"/>
            <a:r>
              <a:rPr lang="en-US" dirty="0"/>
              <a:t>64 x 100 </a:t>
            </a:r>
            <a:r>
              <a:rPr lang="en-US" dirty="0" err="1"/>
              <a:t>GbE</a:t>
            </a:r>
            <a:endParaRPr lang="en-US" dirty="0"/>
          </a:p>
          <a:p>
            <a:pPr marL="342900" lvl="1" indent="0">
              <a:buNone/>
            </a:pPr>
            <a:endParaRPr lang="en-US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2214173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Build Your Own Computer: The Complete Step-by-step Manual to Constructing a  PC That&amp;#39;s Right for You: Kyle MacRae: 8601200406177: Amazon.com: Boo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90600"/>
            <a:ext cx="3963692" cy="507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52954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Silicon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AMD</a:t>
            </a:r>
          </a:p>
          <a:p>
            <a:r>
              <a:rPr lang="en-US" dirty="0"/>
              <a:t>Intel</a:t>
            </a:r>
          </a:p>
          <a:p>
            <a:r>
              <a:rPr lang="en-US" dirty="0"/>
              <a:t>NVIDIA</a:t>
            </a:r>
          </a:p>
          <a:p>
            <a:r>
              <a:rPr lang="en-US" dirty="0"/>
              <a:t>ARM</a:t>
            </a:r>
          </a:p>
          <a:p>
            <a:pPr lvl="1"/>
            <a:r>
              <a:rPr lang="en-US" dirty="0"/>
              <a:t>AWS</a:t>
            </a:r>
          </a:p>
          <a:p>
            <a:pPr lvl="1"/>
            <a:r>
              <a:rPr lang="en-US" dirty="0"/>
              <a:t>Google</a:t>
            </a:r>
          </a:p>
          <a:p>
            <a:pPr lvl="1"/>
            <a:r>
              <a:rPr lang="en-US" dirty="0"/>
              <a:t>Microsoft</a:t>
            </a:r>
          </a:p>
          <a:p>
            <a:r>
              <a:rPr lang="en-US" dirty="0"/>
              <a:t>Broadcom</a:t>
            </a:r>
          </a:p>
          <a:p>
            <a:r>
              <a:rPr lang="en-US" dirty="0"/>
              <a:t>Barefoot</a:t>
            </a:r>
          </a:p>
          <a:p>
            <a:r>
              <a:rPr lang="en-US" dirty="0" err="1"/>
              <a:t>Innovium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63871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Operating Systems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Cumulus Networks Linux</a:t>
            </a:r>
          </a:p>
          <a:p>
            <a:r>
              <a:rPr lang="en-US" dirty="0"/>
              <a:t>Big Switch </a:t>
            </a:r>
            <a:r>
              <a:rPr lang="en-US" dirty="0" err="1"/>
              <a:t>Switch</a:t>
            </a:r>
            <a:r>
              <a:rPr lang="en-US" dirty="0"/>
              <a:t> Light</a:t>
            </a:r>
          </a:p>
          <a:p>
            <a:r>
              <a:rPr lang="en-US" dirty="0"/>
              <a:t>Open Network Linux</a:t>
            </a:r>
          </a:p>
          <a:p>
            <a:r>
              <a:rPr lang="en-US" dirty="0"/>
              <a:t>Dell Systems FTOS</a:t>
            </a:r>
          </a:p>
          <a:p>
            <a:r>
              <a:rPr lang="en-US" dirty="0" err="1"/>
              <a:t>IPinFusion</a:t>
            </a:r>
            <a:r>
              <a:rPr lang="en-US" dirty="0"/>
              <a:t> </a:t>
            </a:r>
            <a:r>
              <a:rPr lang="en-US" dirty="0" err="1"/>
              <a:t>OcNos</a:t>
            </a:r>
            <a:endParaRPr lang="en-US" dirty="0"/>
          </a:p>
          <a:p>
            <a:r>
              <a:rPr lang="en-US" dirty="0" err="1"/>
              <a:t>Coriant</a:t>
            </a:r>
            <a:r>
              <a:rPr lang="en-US" dirty="0"/>
              <a:t> NOS</a:t>
            </a:r>
          </a:p>
          <a:p>
            <a:r>
              <a:rPr lang="en-US" dirty="0"/>
              <a:t>Arista Networks EOS</a:t>
            </a:r>
          </a:p>
          <a:p>
            <a:r>
              <a:rPr lang="en-US" dirty="0"/>
              <a:t>Facebook FBOSS</a:t>
            </a:r>
          </a:p>
          <a:p>
            <a:r>
              <a:rPr lang="en-US" dirty="0"/>
              <a:t>Microsoft Cloud SONIC (Azure Cloud Switch)</a:t>
            </a:r>
          </a:p>
          <a:p>
            <a:r>
              <a:rPr lang="en-US" dirty="0"/>
              <a:t>VYOS (formerly </a:t>
            </a:r>
            <a:r>
              <a:rPr lang="en-US" dirty="0" err="1"/>
              <a:t>Vyatta</a:t>
            </a:r>
            <a:r>
              <a:rPr lang="en-US" dirty="0"/>
              <a:t>)</a:t>
            </a:r>
          </a:p>
          <a:p>
            <a:r>
              <a:rPr lang="en-US" dirty="0"/>
              <a:t>ONOS</a:t>
            </a:r>
          </a:p>
          <a:p>
            <a:r>
              <a:rPr lang="en-US" dirty="0"/>
              <a:t>More……</a:t>
            </a:r>
          </a:p>
        </p:txBody>
      </p:sp>
    </p:spTree>
    <p:extLst>
      <p:ext uri="{BB962C8B-B14F-4D97-AF65-F5344CB8AC3E}">
        <p14:creationId xmlns:p14="http://schemas.microsoft.com/office/powerpoint/2010/main" val="275683749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 descr="Terminator 3 Rise Of The Machines Trailer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544" y="1851341"/>
            <a:ext cx="6203973" cy="348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Rise of the ODM’s</a:t>
            </a:r>
          </a:p>
        </p:txBody>
      </p:sp>
    </p:spTree>
    <p:extLst>
      <p:ext uri="{BB962C8B-B14F-4D97-AF65-F5344CB8AC3E}">
        <p14:creationId xmlns:p14="http://schemas.microsoft.com/office/powerpoint/2010/main" val="315667043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lecture 2</a:t>
            </a:r>
          </a:p>
        </p:txBody>
      </p:sp>
    </p:spTree>
    <p:extLst>
      <p:ext uri="{BB962C8B-B14F-4D97-AF65-F5344CB8AC3E}">
        <p14:creationId xmlns:p14="http://schemas.microsoft.com/office/powerpoint/2010/main" val="247413230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0505-7783-4137-86D1-D258487A1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The Data Center is the New Unit of Computing (NVIDIA GTC 2021 Keynote Part 3) – YouTube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8281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ODM’s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DNI</a:t>
            </a:r>
          </a:p>
          <a:p>
            <a:r>
              <a:rPr lang="en-US" dirty="0" err="1"/>
              <a:t>Supermicro</a:t>
            </a:r>
            <a:endParaRPr lang="en-US" dirty="0"/>
          </a:p>
          <a:p>
            <a:r>
              <a:rPr lang="en-US" dirty="0" err="1"/>
              <a:t>Edgecore</a:t>
            </a:r>
            <a:endParaRPr lang="en-US" dirty="0"/>
          </a:p>
          <a:p>
            <a:r>
              <a:rPr lang="en-US" dirty="0"/>
              <a:t>Quanta</a:t>
            </a:r>
          </a:p>
          <a:p>
            <a:r>
              <a:rPr lang="en-US" dirty="0"/>
              <a:t>Celestica</a:t>
            </a:r>
          </a:p>
        </p:txBody>
      </p:sp>
    </p:spTree>
    <p:extLst>
      <p:ext uri="{BB962C8B-B14F-4D97-AF65-F5344CB8AC3E}">
        <p14:creationId xmlns:p14="http://schemas.microsoft.com/office/powerpoint/2010/main" val="104754229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sulting Services | RedFig Networ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" y="1143000"/>
            <a:ext cx="8486775" cy="4536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 box versus Brite box</a:t>
            </a:r>
          </a:p>
        </p:txBody>
      </p:sp>
    </p:spTree>
    <p:extLst>
      <p:ext uri="{BB962C8B-B14F-4D97-AF65-F5344CB8AC3E}">
        <p14:creationId xmlns:p14="http://schemas.microsoft.com/office/powerpoint/2010/main" val="182993676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 box versus Brite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White box switch</a:t>
            </a:r>
          </a:p>
          <a:p>
            <a:pPr lvl="1"/>
            <a:r>
              <a:rPr lang="en-US" dirty="0"/>
              <a:t>White box switch is a by-product of SDN, which decouples the hardware (a bare metal switch) from the NOS. </a:t>
            </a:r>
          </a:p>
          <a:p>
            <a:pPr lvl="1"/>
            <a:r>
              <a:rPr lang="en-US" dirty="0"/>
              <a:t>It allows customers to buy open switch hardware and pair it with their preferred networking operating system (NOS) like Cumulus Linux or </a:t>
            </a:r>
            <a:r>
              <a:rPr lang="en-US" dirty="0" err="1"/>
              <a:t>PicOS</a:t>
            </a:r>
            <a:r>
              <a:rPr lang="en-US" dirty="0"/>
              <a:t>. Customers can buy white box switch from hardware suppliers like </a:t>
            </a:r>
            <a:r>
              <a:rPr lang="en-US" dirty="0" err="1"/>
              <a:t>Accton</a:t>
            </a:r>
            <a:r>
              <a:rPr lang="en-US" dirty="0"/>
              <a:t>, Quanta. </a:t>
            </a:r>
          </a:p>
          <a:p>
            <a:r>
              <a:rPr lang="en-US" dirty="0"/>
              <a:t>Brite box switch</a:t>
            </a:r>
          </a:p>
          <a:p>
            <a:pPr lvl="1"/>
            <a:r>
              <a:rPr lang="en-US" dirty="0"/>
              <a:t>The term “</a:t>
            </a:r>
            <a:r>
              <a:rPr lang="en-US" dirty="0" err="1"/>
              <a:t>brite</a:t>
            </a:r>
            <a:r>
              <a:rPr lang="en-US" dirty="0"/>
              <a:t> box” is a white box switch but with a brand name such as Dell and HP on them. 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brite</a:t>
            </a:r>
            <a:r>
              <a:rPr lang="en-US" dirty="0"/>
              <a:t> box switch is the middle ground between a traditional switch and white box switch. </a:t>
            </a:r>
          </a:p>
          <a:p>
            <a:pPr lvl="1"/>
            <a:r>
              <a:rPr lang="en-US" dirty="0"/>
              <a:t>Brite box switches are pre-loaded with a vendor’s (e.g. Cumulus Networks or Big Switch Networks) operating system. </a:t>
            </a:r>
          </a:p>
          <a:p>
            <a:pPr lvl="1"/>
            <a:r>
              <a:rPr lang="en-US" dirty="0"/>
              <a:t>Thus, using </a:t>
            </a:r>
            <a:r>
              <a:rPr lang="en-US" dirty="0" err="1"/>
              <a:t>brite</a:t>
            </a:r>
            <a:r>
              <a:rPr lang="en-US" dirty="0"/>
              <a:t> box switch, customers can receive professional service from the hardware and software suppliers. </a:t>
            </a:r>
          </a:p>
          <a:p>
            <a:pPr lvl="1"/>
            <a:r>
              <a:rPr lang="en-US" dirty="0"/>
              <a:t>As an open source switch, it allows customers to have the flexibility to choose the switch software.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593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Empire Strikes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Cisco ACI</a:t>
            </a:r>
          </a:p>
          <a:p>
            <a:r>
              <a:rPr lang="en-US" dirty="0"/>
              <a:t>Intent-based networking</a:t>
            </a:r>
          </a:p>
        </p:txBody>
      </p:sp>
    </p:spTree>
    <p:extLst>
      <p:ext uri="{BB962C8B-B14F-4D97-AF65-F5344CB8AC3E}">
        <p14:creationId xmlns:p14="http://schemas.microsoft.com/office/powerpoint/2010/main" val="428918209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Standards and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Compute Project</a:t>
            </a:r>
          </a:p>
          <a:p>
            <a:r>
              <a:rPr lang="en-US" dirty="0"/>
              <a:t>Open Network Foundation (</a:t>
            </a:r>
            <a:r>
              <a:rPr lang="en-US" dirty="0" err="1"/>
              <a:t>Openflow</a:t>
            </a:r>
            <a:r>
              <a:rPr lang="en-US" dirty="0"/>
              <a:t> and SDN)</a:t>
            </a:r>
          </a:p>
          <a:p>
            <a:r>
              <a:rPr lang="en-US" dirty="0"/>
              <a:t>Linux Foundation</a:t>
            </a:r>
          </a:p>
          <a:p>
            <a:r>
              <a:rPr lang="en-US" dirty="0"/>
              <a:t>IETF</a:t>
            </a:r>
          </a:p>
          <a:p>
            <a:r>
              <a:rPr lang="en-US" dirty="0"/>
              <a:t>IEEE</a:t>
            </a:r>
          </a:p>
        </p:txBody>
      </p:sp>
    </p:spTree>
    <p:extLst>
      <p:ext uri="{BB962C8B-B14F-4D97-AF65-F5344CB8AC3E}">
        <p14:creationId xmlns:p14="http://schemas.microsoft.com/office/powerpoint/2010/main" val="178632741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vendor has at least one</a:t>
            </a:r>
          </a:p>
          <a:p>
            <a:pPr lvl="1"/>
            <a:r>
              <a:rPr lang="en-US" dirty="0"/>
              <a:t>Feature rich</a:t>
            </a:r>
          </a:p>
          <a:p>
            <a:pPr lvl="1"/>
            <a:r>
              <a:rPr lang="en-US" dirty="0"/>
              <a:t>High performance</a:t>
            </a:r>
          </a:p>
          <a:p>
            <a:pPr lvl="1"/>
            <a:r>
              <a:rPr lang="en-US" dirty="0"/>
              <a:t>Proprietary</a:t>
            </a:r>
          </a:p>
          <a:p>
            <a:r>
              <a:rPr lang="en-US" dirty="0"/>
              <a:t>Reasons for using something else:</a:t>
            </a:r>
          </a:p>
          <a:p>
            <a:pPr lvl="1"/>
            <a:r>
              <a:rPr lang="en-US" dirty="0"/>
              <a:t>Vertical integration with some operating system</a:t>
            </a:r>
          </a:p>
          <a:p>
            <a:pPr lvl="1"/>
            <a:r>
              <a:rPr lang="en-US" dirty="0"/>
              <a:t>Customization or tuning to fit needs </a:t>
            </a:r>
          </a:p>
        </p:txBody>
      </p:sp>
    </p:spTree>
    <p:extLst>
      <p:ext uri="{BB962C8B-B14F-4D97-AF65-F5344CB8AC3E}">
        <p14:creationId xmlns:p14="http://schemas.microsoft.com/office/powerpoint/2010/main" val="360812564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Stacks: </a:t>
            </a:r>
            <a:r>
              <a:rPr lang="en-US" dirty="0" err="1"/>
              <a:t>FRRouting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FRRouting</a:t>
            </a:r>
            <a:r>
              <a:rPr lang="en-US" sz="2800" dirty="0"/>
              <a:t> (FRR) is a free and open source Internet routing protocol suite for Linux and Unix platforms. </a:t>
            </a:r>
          </a:p>
          <a:p>
            <a:r>
              <a:rPr lang="en-US" sz="2800" dirty="0"/>
              <a:t>It implements BGP, OSPF, RIP, IS-IS, PIM, LDP, BFD, Babel, PBR, </a:t>
            </a:r>
            <a:r>
              <a:rPr lang="en-US" sz="2800" dirty="0" err="1"/>
              <a:t>OpenFabric</a:t>
            </a:r>
            <a:r>
              <a:rPr lang="en-US" sz="2800" dirty="0"/>
              <a:t> and VRRP, with alpha support for EIGRP and NHRP.</a:t>
            </a:r>
          </a:p>
          <a:p>
            <a:r>
              <a:rPr lang="en-US" sz="2800" dirty="0"/>
              <a:t>FRR’s seamless integration with native Linux/Unix IP networking stacks makes it a general purpose routing stack applicable to a wide variety of use cases including connecting hosts/VMs/containers to the network, advertising network services, LAN switching and routing, Internet access routers, and Internet peering.</a:t>
            </a:r>
          </a:p>
        </p:txBody>
      </p:sp>
    </p:spTree>
    <p:extLst>
      <p:ext uri="{BB962C8B-B14F-4D97-AF65-F5344CB8AC3E}">
        <p14:creationId xmlns:p14="http://schemas.microsoft.com/office/powerpoint/2010/main" val="189101277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FRRouting</a:t>
            </a:r>
            <a:endParaRPr lang="en-US" dirty="0"/>
          </a:p>
        </p:txBody>
      </p:sp>
      <p:pic>
        <p:nvPicPr>
          <p:cNvPr id="5122" name="Picture 2" descr="NFWare is the Official Contributor to FRRouting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7039507" cy="331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98193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heetal Sabharwal on Twitter: &amp;quot;Network Disaggregation and Open Networking # networking #disaggregation https://t.co/OZUZpZILl6&amp;quot; / Twit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60150"/>
            <a:ext cx="8229600" cy="440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Disaggregation participants</a:t>
            </a:r>
          </a:p>
        </p:txBody>
      </p:sp>
    </p:spTree>
    <p:extLst>
      <p:ext uri="{BB962C8B-B14F-4D97-AF65-F5344CB8AC3E}">
        <p14:creationId xmlns:p14="http://schemas.microsoft.com/office/powerpoint/2010/main" val="190520499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SMU/AT&amp;T Virtualization Center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192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3934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A5DA-19E6-42D0-9377-7F280BAC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600"/>
            <a:ext cx="8382000" cy="2667000"/>
          </a:xfrm>
        </p:spPr>
        <p:txBody>
          <a:bodyPr/>
          <a:lstStyle/>
          <a:p>
            <a:r>
              <a:rPr lang="en-US" sz="2000" b="1" dirty="0"/>
              <a:t>Facebook's Data Center Fabric</a:t>
            </a:r>
          </a:p>
          <a:p>
            <a:pPr lvl="1"/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www.youtube.com/watch?v=kcI3fGEait0&amp;t=1888s</a:t>
            </a:r>
            <a:endParaRPr lang="en-US" sz="2000" dirty="0"/>
          </a:p>
          <a:p>
            <a:pPr lvl="1"/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https://www.youtube.com/watch?v=KKIVEj-YbiU&amp;t=682s</a:t>
            </a:r>
            <a:endParaRPr lang="en-US" sz="2000" dirty="0"/>
          </a:p>
          <a:p>
            <a:r>
              <a:rPr lang="en-US" sz="2000" b="1" dirty="0"/>
              <a:t>Google data center </a:t>
            </a:r>
          </a:p>
          <a:p>
            <a:pPr lvl="1"/>
            <a:r>
              <a:rPr lang="en-US" sz="16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https://www.youtube.com/watch?v=pIZXvVl8vIM</a:t>
            </a:r>
          </a:p>
          <a:p>
            <a:pPr lvl="1"/>
            <a:r>
              <a:rPr lang="en-US" sz="16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https://www.youtube.com/watch?v=7ygRSyeizPw&amp;t=492s</a:t>
            </a:r>
            <a:endParaRPr lang="en-US" sz="1600" dirty="0"/>
          </a:p>
          <a:p>
            <a:pPr lvl="1"/>
            <a:r>
              <a:rPr lang="en-US" sz="1600" dirty="0"/>
              <a:t>https://www.youtube.com/watch?v=eE-8VXB1xUo&amp;t=1648s</a:t>
            </a:r>
          </a:p>
          <a:p>
            <a:pPr lvl="2"/>
            <a:endParaRPr lang="en-US" sz="1600" dirty="0">
              <a:solidFill>
                <a:srgbClr val="FF0000"/>
              </a:solidFill>
            </a:endParaRPr>
          </a:p>
          <a:p>
            <a:pPr lvl="1"/>
            <a:endParaRPr lang="en-US" sz="2000" dirty="0">
              <a:solidFill>
                <a:srgbClr val="FF0000"/>
              </a:solidFill>
            </a:endParaRP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lvl="1"/>
            <a:endParaRPr lang="en-US" sz="2000" dirty="0">
              <a:solidFill>
                <a:srgbClr val="FF0000"/>
              </a:solidFill>
            </a:endParaRPr>
          </a:p>
          <a:p>
            <a:pPr lvl="1"/>
            <a:endParaRPr lang="en-US" sz="2000" dirty="0">
              <a:solidFill>
                <a:srgbClr val="FF0000"/>
              </a:solidFill>
            </a:endParaRPr>
          </a:p>
          <a:p>
            <a:pPr lvl="1"/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2291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A5DA-19E6-42D0-9377-7F280BAC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600"/>
            <a:ext cx="8382000" cy="5486400"/>
          </a:xfrm>
        </p:spPr>
        <p:txBody>
          <a:bodyPr/>
          <a:lstStyle/>
          <a:p>
            <a:pPr lvl="1"/>
            <a:endParaRPr lang="en-US" sz="2000" dirty="0">
              <a:solidFill>
                <a:srgbClr val="FF0000"/>
              </a:solidFill>
            </a:endParaRPr>
          </a:p>
          <a:p>
            <a:pPr lvl="1"/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BA5660-93E2-4F19-A08E-D5906A8ED461}"/>
              </a:ext>
            </a:extLst>
          </p:cNvPr>
          <p:cNvSpPr/>
          <p:nvPr/>
        </p:nvSpPr>
        <p:spPr>
          <a:xfrm>
            <a:off x="228600" y="2305616"/>
            <a:ext cx="8915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The link below goes with the linear programming lecture: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Moving Fast with Facebook's New Long-Haul Network - Facebook - Network@Scale2017</a:t>
            </a:r>
          </a:p>
          <a:p>
            <a:pPr lvl="1"/>
            <a:r>
              <a:rPr lang="en-US" sz="2000" dirty="0">
                <a:solidFill>
                  <a:srgbClr val="DC241F"/>
                </a:solidFill>
                <a:hlinkClick r:id="rId2"/>
              </a:rPr>
              <a:t>https://</a:t>
            </a:r>
            <a:r>
              <a:rPr lang="en-US" sz="2000" dirty="0">
                <a:solidFill>
                  <a:srgbClr val="FF0000"/>
                </a:solidFill>
                <a:hlinkClick r:id="rId2"/>
              </a:rPr>
              <a:t>www.youtube.com/watch?v=PeqaVCDRDY4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43580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A5DA-19E6-42D0-9377-7F280BAC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600"/>
            <a:ext cx="8382000" cy="1219200"/>
          </a:xfrm>
        </p:spPr>
        <p:txBody>
          <a:bodyPr/>
          <a:lstStyle/>
          <a:p>
            <a:r>
              <a:rPr lang="en-US" dirty="0"/>
              <a:t>GOOGLE DATA CENTER 2021</a:t>
            </a:r>
          </a:p>
          <a:p>
            <a:pPr lvl="1"/>
            <a:r>
              <a:rPr lang="en-US" u="sng" dirty="0">
                <a:hlinkClick r:id="rId2"/>
              </a:rPr>
              <a:t>https://www.youtube.com/watch?v=kythGOICErQ</a:t>
            </a:r>
            <a:endParaRPr lang="en-US" dirty="0"/>
          </a:p>
          <a:p>
            <a:pPr lvl="2"/>
            <a:endParaRPr lang="en-US" sz="2000" dirty="0"/>
          </a:p>
          <a:p>
            <a:pPr lvl="2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83315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B3D91"/>
      </a:dk2>
      <a:lt2>
        <a:srgbClr val="000066"/>
      </a:lt2>
      <a:accent1>
        <a:srgbClr val="97A8D9"/>
      </a:accent1>
      <a:accent2>
        <a:srgbClr val="C7D2F5"/>
      </a:accent2>
      <a:accent3>
        <a:srgbClr val="FFFFFF"/>
      </a:accent3>
      <a:accent4>
        <a:srgbClr val="000000"/>
      </a:accent4>
      <a:accent5>
        <a:srgbClr val="C9D1E9"/>
      </a:accent5>
      <a:accent6>
        <a:srgbClr val="B4BEDE"/>
      </a:accent6>
      <a:hlink>
        <a:srgbClr val="DC241F"/>
      </a:hlink>
      <a:folHlink>
        <a:srgbClr val="CCCC99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alpha val="50000"/>
          </a:schemeClr>
        </a:solidFill>
        <a:ln w="9525" cap="flat" cmpd="sng" algn="ctr">
          <a:solidFill>
            <a:srgbClr val="FFFF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CCCC99"/>
        </a:accent1>
        <a:accent2>
          <a:srgbClr val="DC241F"/>
        </a:accent2>
        <a:accent3>
          <a:srgbClr val="FFFFFF"/>
        </a:accent3>
        <a:accent4>
          <a:srgbClr val="000000"/>
        </a:accent4>
        <a:accent5>
          <a:srgbClr val="E2E2CA"/>
        </a:accent5>
        <a:accent6>
          <a:srgbClr val="C7201B"/>
        </a:accent6>
        <a:hlink>
          <a:srgbClr val="0035AD"/>
        </a:hlink>
        <a:folHlink>
          <a:srgbClr val="918C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B3D91"/>
        </a:dk2>
        <a:lt2>
          <a:srgbClr val="000066"/>
        </a:lt2>
        <a:accent1>
          <a:srgbClr val="70B2F4"/>
        </a:accent1>
        <a:accent2>
          <a:srgbClr val="C3EAFD"/>
        </a:accent2>
        <a:accent3>
          <a:srgbClr val="FFFFFF"/>
        </a:accent3>
        <a:accent4>
          <a:srgbClr val="000000"/>
        </a:accent4>
        <a:accent5>
          <a:srgbClr val="BBD5F8"/>
        </a:accent5>
        <a:accent6>
          <a:srgbClr val="B0D4E5"/>
        </a:accent6>
        <a:hlink>
          <a:srgbClr val="DC241F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B3D91"/>
        </a:dk2>
        <a:lt2>
          <a:srgbClr val="000066"/>
        </a:lt2>
        <a:accent1>
          <a:srgbClr val="70B2F4"/>
        </a:accent1>
        <a:accent2>
          <a:srgbClr val="C3DCFD"/>
        </a:accent2>
        <a:accent3>
          <a:srgbClr val="FFFFFF"/>
        </a:accent3>
        <a:accent4>
          <a:srgbClr val="000000"/>
        </a:accent4>
        <a:accent5>
          <a:srgbClr val="BBD5F8"/>
        </a:accent5>
        <a:accent6>
          <a:srgbClr val="B0C7E5"/>
        </a:accent6>
        <a:hlink>
          <a:srgbClr val="DC241F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B3D91"/>
        </a:dk2>
        <a:lt2>
          <a:srgbClr val="000066"/>
        </a:lt2>
        <a:accent1>
          <a:srgbClr val="70B2F4"/>
        </a:accent1>
        <a:accent2>
          <a:srgbClr val="C3E4FD"/>
        </a:accent2>
        <a:accent3>
          <a:srgbClr val="FFFFFF"/>
        </a:accent3>
        <a:accent4>
          <a:srgbClr val="000000"/>
        </a:accent4>
        <a:accent5>
          <a:srgbClr val="BBD5F8"/>
        </a:accent5>
        <a:accent6>
          <a:srgbClr val="B0CFE5"/>
        </a:accent6>
        <a:hlink>
          <a:srgbClr val="DC241F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18982</TotalTime>
  <Words>924</Words>
  <Application>Microsoft Office PowerPoint</Application>
  <PresentationFormat>On-screen Show (4:3)</PresentationFormat>
  <Paragraphs>141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Default Design</vt:lpstr>
      <vt:lpstr>EETS 8355: data center network engineering</vt:lpstr>
      <vt:lpstr>Network Disaggregation</vt:lpstr>
      <vt:lpstr>AT&amp;T Network Transformation</vt:lpstr>
      <vt:lpstr>Traditional server components</vt:lpstr>
      <vt:lpstr>Disaggregation</vt:lpstr>
      <vt:lpstr>Disaggregation</vt:lpstr>
      <vt:lpstr>Silicon</vt:lpstr>
      <vt:lpstr>Silicon</vt:lpstr>
      <vt:lpstr>PowerPoint Presentation</vt:lpstr>
      <vt:lpstr>Silicon</vt:lpstr>
      <vt:lpstr>Network Operating Systems</vt:lpstr>
      <vt:lpstr>Rise of the ODM’s</vt:lpstr>
      <vt:lpstr>End of lecture 2</vt:lpstr>
      <vt:lpstr>NVIDIA</vt:lpstr>
      <vt:lpstr>ODM’s</vt:lpstr>
      <vt:lpstr>White box versus Brite box</vt:lpstr>
      <vt:lpstr>White box versus Brite box</vt:lpstr>
      <vt:lpstr>Empire Strikes Back</vt:lpstr>
      <vt:lpstr>Standards and foundations</vt:lpstr>
      <vt:lpstr>Routing stacks</vt:lpstr>
      <vt:lpstr>Routing Stacks: FRRouting</vt:lpstr>
      <vt:lpstr>FRRouting</vt:lpstr>
      <vt:lpstr>Disaggregation participants</vt:lpstr>
      <vt:lpstr>SMU/AT&amp;T Virtualization Center</vt:lpstr>
      <vt:lpstr>YouTube</vt:lpstr>
      <vt:lpstr>YouTube</vt:lpstr>
      <vt:lpstr>YouTube</vt:lpstr>
    </vt:vector>
  </TitlesOfParts>
  <Company>SMU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SMU Generic Template: Blue</dc:title>
  <dc:creator>Marlin Kingsley</dc:creator>
  <cp:lastModifiedBy>Scott Kingsley</cp:lastModifiedBy>
  <cp:revision>859</cp:revision>
  <dcterms:created xsi:type="dcterms:W3CDTF">2004-08-08T18:58:35Z</dcterms:created>
  <dcterms:modified xsi:type="dcterms:W3CDTF">2022-10-24T22:08:40Z</dcterms:modified>
</cp:coreProperties>
</file>