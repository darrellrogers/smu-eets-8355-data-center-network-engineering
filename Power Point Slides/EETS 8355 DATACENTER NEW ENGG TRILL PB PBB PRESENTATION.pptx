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312" r:id="rId5"/>
    <p:sldId id="313" r:id="rId6"/>
    <p:sldId id="259" r:id="rId7"/>
    <p:sldId id="261" r:id="rId8"/>
    <p:sldId id="262" r:id="rId9"/>
    <p:sldId id="260" r:id="rId10"/>
    <p:sldId id="263" r:id="rId11"/>
    <p:sldId id="264" r:id="rId12"/>
    <p:sldId id="265" r:id="rId13"/>
    <p:sldId id="266" r:id="rId14"/>
    <p:sldId id="267" r:id="rId15"/>
    <p:sldId id="268" r:id="rId16"/>
    <p:sldId id="269" r:id="rId17"/>
    <p:sldId id="270" r:id="rId18"/>
    <p:sldId id="271" r:id="rId19"/>
    <p:sldId id="272" r:id="rId20"/>
    <p:sldId id="273" r:id="rId21"/>
    <p:sldId id="311" r:id="rId22"/>
    <p:sldId id="274" r:id="rId23"/>
    <p:sldId id="275" r:id="rId24"/>
    <p:sldId id="276" r:id="rId25"/>
    <p:sldId id="277"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67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6EF3-87C0-6CAF-DC7A-2052F3BBB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D7E67-B095-FBFC-0DEF-C9693E062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FCB1C-04FA-CF09-1AFD-313B5BED60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A84C29-D71F-6B58-89EF-2CBD8A2666A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63432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0E3F-DE3A-DE21-494C-5519D956D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B78EE-24CB-5F11-7A66-07ABC1EA2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78B24-E98E-A4EB-CE52-968339F14B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1ED62-0B04-7D54-9427-D652341F294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88193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F6D1-7E85-F4D2-AEC3-342B12446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B1BF3-AAFD-D188-8A66-9E4CE4E34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68697-6355-BC5D-D15C-7091A625F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2616E0-C500-32B7-B7B8-0F3ED1D169B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06933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pic>
        <p:nvPicPr>
          <p:cNvPr id="3" name="Image 0" descr="preencoded.png"/>
          <p:cNvPicPr>
            <a:picLocks noChangeAspect="1"/>
          </p:cNvPicPr>
          <p:nvPr/>
        </p:nvPicPr>
        <p:blipFill>
          <a:blip r:embed="rId3"/>
          <a:stretch>
            <a:fillRect/>
          </a:stretch>
        </p:blipFill>
        <p:spPr>
          <a:xfrm>
            <a:off x="5394960" y="548640"/>
            <a:ext cx="1371600" cy="1371600"/>
          </a:xfrm>
          <a:prstGeom prst="rect">
            <a:avLst/>
          </a:prstGeom>
        </p:spPr>
      </p:pic>
      <p:sp>
        <p:nvSpPr>
          <p:cNvPr id="4" name="Text 1"/>
          <p:cNvSpPr/>
          <p:nvPr/>
        </p:nvSpPr>
        <p:spPr>
          <a:xfrm>
            <a:off x="731520" y="2011680"/>
            <a:ext cx="10698480" cy="1828800"/>
          </a:xfrm>
          <a:prstGeom prst="rect">
            <a:avLst/>
          </a:prstGeom>
          <a:noFill/>
          <a:ln/>
        </p:spPr>
        <p:txBody>
          <a:bodyPr wrap="square" rtlCol="0" anchor="ctr"/>
          <a:lstStyle/>
          <a:p>
            <a:pPr marL="0" indent="0" algn="ctr">
              <a:lnSpc>
                <a:spcPct val="110000"/>
              </a:lnSpc>
              <a:buNone/>
            </a:pPr>
            <a:r>
              <a:rPr lang="en-US" sz="4400" b="1" dirty="0">
                <a:solidFill>
                  <a:srgbClr val="FFFFFF"/>
                </a:solidFill>
                <a:latin typeface="Georgia" pitchFamily="34" charset="0"/>
                <a:ea typeface="Georgia" pitchFamily="34" charset="-122"/>
                <a:cs typeface="Georgia" pitchFamily="34" charset="-120"/>
              </a:rPr>
              <a:t>ADVANCED NETWORK</a:t>
            </a:r>
            <a:endParaRPr lang="en-US" sz="4400" dirty="0"/>
          </a:p>
          <a:p>
            <a:pPr marL="0" indent="0" algn="ctr">
              <a:lnSpc>
                <a:spcPct val="110000"/>
              </a:lnSpc>
              <a:buNone/>
            </a:pPr>
            <a:r>
              <a:rPr lang="en-US" sz="4400" b="1" dirty="0">
                <a:solidFill>
                  <a:srgbClr val="FFFFFF"/>
                </a:solidFill>
                <a:latin typeface="Georgia" pitchFamily="34" charset="0"/>
                <a:ea typeface="Georgia" pitchFamily="34" charset="-122"/>
                <a:cs typeface="Georgia" pitchFamily="34" charset="-120"/>
              </a:rPr>
              <a:t>BRIDGING TECHNOLOGIES</a:t>
            </a:r>
            <a:endParaRPr lang="en-US" sz="4400" dirty="0"/>
          </a:p>
        </p:txBody>
      </p:sp>
      <p:sp>
        <p:nvSpPr>
          <p:cNvPr id="5" name="Text 2"/>
          <p:cNvSpPr/>
          <p:nvPr/>
        </p:nvSpPr>
        <p:spPr>
          <a:xfrm>
            <a:off x="914400" y="3931920"/>
            <a:ext cx="10332720" cy="457200"/>
          </a:xfrm>
          <a:prstGeom prst="rect">
            <a:avLst/>
          </a:prstGeom>
          <a:noFill/>
          <a:ln/>
        </p:spPr>
        <p:txBody>
          <a:bodyPr wrap="square" rtlCol="0" anchor="ctr"/>
          <a:lstStyle/>
          <a:p>
            <a:pPr marL="0" indent="0" algn="ctr">
              <a:buNone/>
            </a:pPr>
            <a:r>
              <a:rPr lang="en-US" sz="1500" dirty="0">
                <a:solidFill>
                  <a:srgbClr val="00C9A7"/>
                </a:solidFill>
                <a:latin typeface="Calibri" pitchFamily="34" charset="0"/>
                <a:ea typeface="Calibri" pitchFamily="34" charset="-122"/>
                <a:cs typeface="Calibri" pitchFamily="34" charset="-120"/>
              </a:rPr>
              <a:t>TRILL  •  Provider Bridging (Q-in-Q)  •  Provider Backbone Bridging (MAC-in-MAC)</a:t>
            </a:r>
            <a:endParaRPr lang="en-US" sz="1500" dirty="0"/>
          </a:p>
        </p:txBody>
      </p:sp>
      <p:sp>
        <p:nvSpPr>
          <p:cNvPr id="6" name="Shape 3"/>
          <p:cNvSpPr/>
          <p:nvPr/>
        </p:nvSpPr>
        <p:spPr>
          <a:xfrm>
            <a:off x="4114800" y="4572000"/>
            <a:ext cx="3931920" cy="18288"/>
          </a:xfrm>
          <a:prstGeom prst="rect">
            <a:avLst/>
          </a:prstGeom>
          <a:solidFill>
            <a:srgbClr val="2D5F8A"/>
          </a:solidFill>
          <a:ln/>
        </p:spPr>
      </p:sp>
      <p:sp>
        <p:nvSpPr>
          <p:cNvPr id="7" name="Text 4"/>
          <p:cNvSpPr/>
          <p:nvPr/>
        </p:nvSpPr>
        <p:spPr>
          <a:xfrm>
            <a:off x="914400" y="4754880"/>
            <a:ext cx="10332720" cy="457200"/>
          </a:xfrm>
          <a:prstGeom prst="rect">
            <a:avLst/>
          </a:prstGeom>
          <a:noFill/>
          <a:ln/>
        </p:spPr>
        <p:txBody>
          <a:bodyPr wrap="square" rtlCol="0" anchor="ctr"/>
          <a:lstStyle/>
          <a:p>
            <a:pPr marL="0" indent="0" algn="ctr">
              <a:buNone/>
            </a:pPr>
            <a:r>
              <a:rPr lang="en-US" sz="1800" i="1" dirty="0">
                <a:solidFill>
                  <a:srgbClr val="64748B"/>
                </a:solidFill>
                <a:latin typeface="Calibri" pitchFamily="34" charset="0"/>
                <a:ea typeface="Calibri" pitchFamily="34" charset="-122"/>
                <a:cs typeface="Calibri" pitchFamily="34" charset="-120"/>
              </a:rPr>
              <a:t>A Comprehensive Two-Hour Lecture</a:t>
            </a:r>
            <a:endParaRPr lang="en-US" sz="1800" dirty="0"/>
          </a:p>
        </p:txBody>
      </p:sp>
      <p:sp>
        <p:nvSpPr>
          <p:cNvPr id="8" name="Text 5"/>
          <p:cNvSpPr/>
          <p:nvPr/>
        </p:nvSpPr>
        <p:spPr>
          <a:xfrm>
            <a:off x="914400" y="5943600"/>
            <a:ext cx="1033272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Network Architecture and Data Center Technologies  •  February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LECTURE OUTLINE AND TIME ALLOCATION</a:t>
            </a:r>
            <a:endParaRPr lang="en-US" sz="2600" dirty="0"/>
          </a:p>
        </p:txBody>
      </p:sp>
      <p:sp>
        <p:nvSpPr>
          <p:cNvPr id="4" name="Text 2"/>
          <p:cNvSpPr/>
          <p:nvPr/>
        </p:nvSpPr>
        <p:spPr>
          <a:xfrm>
            <a:off x="457199" y="914400"/>
            <a:ext cx="11510211" cy="548640"/>
          </a:xfrm>
          <a:prstGeom prst="rect">
            <a:avLst/>
          </a:prstGeom>
          <a:noFill/>
          <a:ln/>
        </p:spPr>
        <p:txBody>
          <a:bodyPr wrap="square" rtlCol="0" anchor="t"/>
          <a:lstStyle/>
          <a:p>
            <a:pPr marL="0" indent="0">
              <a:lnSpc>
                <a:spcPct val="140000"/>
              </a:lnSpc>
              <a:buNone/>
            </a:pPr>
            <a:r>
              <a:rPr lang="en-US" sz="1300" b="1" dirty="0">
                <a:solidFill>
                  <a:srgbClr val="1E293B"/>
                </a:solidFill>
                <a:latin typeface="Calibri" pitchFamily="34" charset="0"/>
                <a:ea typeface="Calibri" pitchFamily="34" charset="-122"/>
                <a:cs typeface="Calibri" pitchFamily="34" charset="-120"/>
              </a:rPr>
              <a:t>This two-hour lecture is divided into seven major modules, each building upon the previous to provide a comprehensive understanding of Layer 2 bridging technologies.</a:t>
            </a:r>
            <a:endParaRPr lang="en-US" sz="1300" b="1" dirty="0"/>
          </a:p>
        </p:txBody>
      </p:sp>
      <p:grpSp>
        <p:nvGrpSpPr>
          <p:cNvPr id="47" name="Group 46">
            <a:extLst>
              <a:ext uri="{FF2B5EF4-FFF2-40B4-BE49-F238E27FC236}">
                <a16:creationId xmlns:a16="http://schemas.microsoft.com/office/drawing/2014/main" id="{9F47C8BD-F063-2D36-8A7F-5A3BFC496136}"/>
              </a:ext>
            </a:extLst>
          </p:cNvPr>
          <p:cNvGrpSpPr/>
          <p:nvPr/>
        </p:nvGrpSpPr>
        <p:grpSpPr>
          <a:xfrm>
            <a:off x="457200" y="1645920"/>
            <a:ext cx="10972800" cy="640080"/>
            <a:chOff x="457200" y="1645920"/>
            <a:chExt cx="10972800" cy="640080"/>
          </a:xfrm>
        </p:grpSpPr>
        <p:sp>
          <p:nvSpPr>
            <p:cNvPr id="6" name="Shape 4"/>
            <p:cNvSpPr/>
            <p:nvPr/>
          </p:nvSpPr>
          <p:spPr>
            <a:xfrm>
              <a:off x="457200" y="1645920"/>
              <a:ext cx="73152" cy="640080"/>
            </a:xfrm>
            <a:prstGeom prst="rect">
              <a:avLst/>
            </a:prstGeom>
            <a:solidFill>
              <a:srgbClr val="3A7CB8"/>
            </a:solidFill>
            <a:ln/>
          </p:spPr>
        </p:sp>
        <p:pic>
          <p:nvPicPr>
            <p:cNvPr id="7" name="Image 0" descr="preencoded.png"/>
            <p:cNvPicPr>
              <a:picLocks noChangeAspect="1"/>
            </p:cNvPicPr>
            <p:nvPr/>
          </p:nvPicPr>
          <p:blipFill>
            <a:blip r:embed="rId3"/>
            <a:stretch>
              <a:fillRect/>
            </a:stretch>
          </p:blipFill>
          <p:spPr>
            <a:xfrm>
              <a:off x="640080" y="1737360"/>
              <a:ext cx="457200" cy="457200"/>
            </a:xfrm>
            <a:prstGeom prst="rect">
              <a:avLst/>
            </a:prstGeom>
          </p:spPr>
        </p:pic>
        <p:sp>
          <p:nvSpPr>
            <p:cNvPr id="8" name="Text 5"/>
            <p:cNvSpPr/>
            <p:nvPr/>
          </p:nvSpPr>
          <p:spPr>
            <a:xfrm>
              <a:off x="1188720" y="1645920"/>
              <a:ext cx="457200" cy="640080"/>
            </a:xfrm>
            <a:prstGeom prst="rect">
              <a:avLst/>
            </a:prstGeom>
            <a:noFill/>
            <a:ln/>
          </p:spPr>
          <p:txBody>
            <a:bodyPr wrap="square" rtlCol="0" anchor="ctr"/>
            <a:lstStyle/>
            <a:p>
              <a:pPr marL="0" indent="0">
                <a:buNone/>
              </a:pPr>
              <a:r>
                <a:rPr lang="en-US" sz="2000" b="1" dirty="0">
                  <a:solidFill>
                    <a:srgbClr val="3A7CB8"/>
                  </a:solidFill>
                  <a:latin typeface="Georgia" pitchFamily="34" charset="0"/>
                  <a:ea typeface="Georgia" pitchFamily="34" charset="-122"/>
                  <a:cs typeface="Georgia" pitchFamily="34" charset="-120"/>
                </a:rPr>
                <a:t>1</a:t>
              </a:r>
              <a:endParaRPr lang="en-US" sz="2000" b="1" dirty="0"/>
            </a:p>
          </p:txBody>
        </p:sp>
        <p:sp>
          <p:nvSpPr>
            <p:cNvPr id="9" name="Text 6"/>
            <p:cNvSpPr/>
            <p:nvPr/>
          </p:nvSpPr>
          <p:spPr>
            <a:xfrm>
              <a:off x="1737360" y="1645920"/>
              <a:ext cx="5943600" cy="64008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Overlay Networks</a:t>
              </a:r>
              <a:endParaRPr lang="en-US" sz="1400" b="1" dirty="0"/>
            </a:p>
          </p:txBody>
        </p:sp>
        <p:sp>
          <p:nvSpPr>
            <p:cNvPr id="10" name="Text 7"/>
            <p:cNvSpPr/>
            <p:nvPr/>
          </p:nvSpPr>
          <p:spPr>
            <a:xfrm>
              <a:off x="7863840" y="1645920"/>
              <a:ext cx="1371600" cy="640080"/>
            </a:xfrm>
            <a:prstGeom prst="rect">
              <a:avLst/>
            </a:prstGeom>
            <a:noFill/>
            <a:ln/>
          </p:spPr>
          <p:txBody>
            <a:bodyPr wrap="square"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20 min</a:t>
              </a:r>
              <a:endParaRPr lang="en-US" sz="1200" b="1" dirty="0"/>
            </a:p>
          </p:txBody>
        </p:sp>
        <p:sp>
          <p:nvSpPr>
            <p:cNvPr id="11" name="Text 8"/>
            <p:cNvSpPr/>
            <p:nvPr/>
          </p:nvSpPr>
          <p:spPr>
            <a:xfrm>
              <a:off x="9326880" y="1645920"/>
              <a:ext cx="2103120" cy="640080"/>
            </a:xfrm>
            <a:prstGeom prst="rect">
              <a:avLst/>
            </a:prstGeom>
            <a:noFill/>
            <a:ln/>
          </p:spPr>
          <p:txBody>
            <a:bodyPr wrap="square" rtlCol="0" anchor="ctr"/>
            <a:lstStyle/>
            <a:p>
              <a:pPr marL="0" indent="0" algn="r">
                <a:buNone/>
              </a:pPr>
              <a:r>
                <a:rPr lang="en-US" sz="1200" b="1" dirty="0">
                  <a:solidFill>
                    <a:srgbClr val="64748B"/>
                  </a:solidFill>
                  <a:latin typeface="Calibri" pitchFamily="34" charset="0"/>
                  <a:ea typeface="Calibri" pitchFamily="34" charset="-122"/>
                  <a:cs typeface="Calibri" pitchFamily="34" charset="-120"/>
                </a:rPr>
                <a:t>0:00–0:20</a:t>
              </a:r>
              <a:endParaRPr lang="en-US" sz="1200" b="1" dirty="0"/>
            </a:p>
          </p:txBody>
        </p:sp>
      </p:grpSp>
      <p:grpSp>
        <p:nvGrpSpPr>
          <p:cNvPr id="48" name="Group 47">
            <a:extLst>
              <a:ext uri="{FF2B5EF4-FFF2-40B4-BE49-F238E27FC236}">
                <a16:creationId xmlns:a16="http://schemas.microsoft.com/office/drawing/2014/main" id="{088B6079-5089-AFC2-849C-06126526F195}"/>
              </a:ext>
            </a:extLst>
          </p:cNvPr>
          <p:cNvGrpSpPr/>
          <p:nvPr/>
        </p:nvGrpSpPr>
        <p:grpSpPr>
          <a:xfrm>
            <a:off x="470916" y="3063240"/>
            <a:ext cx="11247120" cy="3749040"/>
            <a:chOff x="457200" y="2423160"/>
            <a:chExt cx="11247120" cy="3749040"/>
          </a:xfrm>
        </p:grpSpPr>
        <p:sp>
          <p:nvSpPr>
            <p:cNvPr id="13" name="Shape 10"/>
            <p:cNvSpPr/>
            <p:nvPr/>
          </p:nvSpPr>
          <p:spPr>
            <a:xfrm>
              <a:off x="457200" y="2423160"/>
              <a:ext cx="73152" cy="640080"/>
            </a:xfrm>
            <a:prstGeom prst="rect">
              <a:avLst/>
            </a:prstGeom>
            <a:solidFill>
              <a:srgbClr val="2D5F8A"/>
            </a:solidFill>
            <a:ln/>
          </p:spPr>
        </p:sp>
        <p:pic>
          <p:nvPicPr>
            <p:cNvPr id="14" name="Image 1" descr="preencoded.png"/>
            <p:cNvPicPr>
              <a:picLocks noChangeAspect="1"/>
            </p:cNvPicPr>
            <p:nvPr/>
          </p:nvPicPr>
          <p:blipFill>
            <a:blip r:embed="rId4"/>
            <a:stretch>
              <a:fillRect/>
            </a:stretch>
          </p:blipFill>
          <p:spPr>
            <a:xfrm>
              <a:off x="640080" y="2514600"/>
              <a:ext cx="457200" cy="457200"/>
            </a:xfrm>
            <a:prstGeom prst="rect">
              <a:avLst/>
            </a:prstGeom>
          </p:spPr>
        </p:pic>
        <p:sp>
          <p:nvSpPr>
            <p:cNvPr id="15" name="Text 11"/>
            <p:cNvSpPr/>
            <p:nvPr/>
          </p:nvSpPr>
          <p:spPr>
            <a:xfrm>
              <a:off x="1188720" y="2423160"/>
              <a:ext cx="457200" cy="640080"/>
            </a:xfrm>
            <a:prstGeom prst="rect">
              <a:avLst/>
            </a:prstGeom>
            <a:noFill/>
            <a:ln/>
          </p:spPr>
          <p:txBody>
            <a:bodyPr wrap="square" rtlCol="0" anchor="ctr"/>
            <a:lstStyle/>
            <a:p>
              <a:pPr marL="0" indent="0">
                <a:buNone/>
              </a:pPr>
              <a:r>
                <a:rPr lang="en-US" sz="2000" b="1" dirty="0">
                  <a:solidFill>
                    <a:srgbClr val="2D5F8A"/>
                  </a:solidFill>
                  <a:latin typeface="Georgia" pitchFamily="34" charset="0"/>
                </a:rPr>
                <a:t>3</a:t>
              </a:r>
              <a:endParaRPr lang="en-US" sz="2000" dirty="0"/>
            </a:p>
          </p:txBody>
        </p:sp>
        <p:sp>
          <p:nvSpPr>
            <p:cNvPr id="16" name="Text 12"/>
            <p:cNvSpPr/>
            <p:nvPr/>
          </p:nvSpPr>
          <p:spPr>
            <a:xfrm>
              <a:off x="1737360" y="2423160"/>
              <a:ext cx="5943600" cy="6400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TRILL — Transparent Interconnection of Lots of Links</a:t>
              </a:r>
              <a:endParaRPr lang="en-US" sz="1400" dirty="0"/>
            </a:p>
          </p:txBody>
        </p:sp>
        <p:sp>
          <p:nvSpPr>
            <p:cNvPr id="17" name="Text 13"/>
            <p:cNvSpPr/>
            <p:nvPr/>
          </p:nvSpPr>
          <p:spPr>
            <a:xfrm>
              <a:off x="7863840" y="2423160"/>
              <a:ext cx="1371600" cy="64008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25 min</a:t>
              </a:r>
              <a:endParaRPr lang="en-US" sz="1200" dirty="0"/>
            </a:p>
          </p:txBody>
        </p:sp>
        <p:sp>
          <p:nvSpPr>
            <p:cNvPr id="18" name="Text 14"/>
            <p:cNvSpPr/>
            <p:nvPr/>
          </p:nvSpPr>
          <p:spPr>
            <a:xfrm>
              <a:off x="9326880" y="2423160"/>
              <a:ext cx="2103120" cy="64008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0:20–0:45</a:t>
              </a:r>
              <a:endParaRPr lang="en-US" sz="1200" dirty="0"/>
            </a:p>
          </p:txBody>
        </p:sp>
        <p:sp>
          <p:nvSpPr>
            <p:cNvPr id="19" name="Shape 15"/>
            <p:cNvSpPr/>
            <p:nvPr/>
          </p:nvSpPr>
          <p:spPr>
            <a:xfrm>
              <a:off x="457200" y="3200400"/>
              <a:ext cx="11247120" cy="640080"/>
            </a:xfrm>
            <a:prstGeom prst="rect">
              <a:avLst/>
            </a:prstGeom>
            <a:solidFill>
              <a:srgbClr val="FFFFFF"/>
            </a:solidFill>
            <a:ln/>
            <a:effectLst>
              <a:outerShdw blurRad="50800" dist="25400" dir="8100000" algn="bl" rotWithShape="0">
                <a:srgbClr val="000000">
                  <a:alpha val="12000"/>
                </a:srgbClr>
              </a:outerShdw>
            </a:effectLst>
          </p:spPr>
        </p:sp>
        <p:sp>
          <p:nvSpPr>
            <p:cNvPr id="20" name="Shape 16"/>
            <p:cNvSpPr/>
            <p:nvPr/>
          </p:nvSpPr>
          <p:spPr>
            <a:xfrm>
              <a:off x="457200" y="3200400"/>
              <a:ext cx="73152" cy="640080"/>
            </a:xfrm>
            <a:prstGeom prst="rect">
              <a:avLst/>
            </a:prstGeom>
            <a:solidFill>
              <a:srgbClr val="F59E0B"/>
            </a:solidFill>
            <a:ln/>
          </p:spPr>
        </p:sp>
        <p:pic>
          <p:nvPicPr>
            <p:cNvPr id="21" name="Image 2" descr="preencoded.png"/>
            <p:cNvPicPr>
              <a:picLocks noChangeAspect="1"/>
            </p:cNvPicPr>
            <p:nvPr/>
          </p:nvPicPr>
          <p:blipFill>
            <a:blip r:embed="rId5"/>
            <a:stretch>
              <a:fillRect/>
            </a:stretch>
          </p:blipFill>
          <p:spPr>
            <a:xfrm>
              <a:off x="640080" y="3291840"/>
              <a:ext cx="457200" cy="457200"/>
            </a:xfrm>
            <a:prstGeom prst="rect">
              <a:avLst/>
            </a:prstGeom>
          </p:spPr>
        </p:pic>
        <p:sp>
          <p:nvSpPr>
            <p:cNvPr id="22" name="Text 17"/>
            <p:cNvSpPr/>
            <p:nvPr/>
          </p:nvSpPr>
          <p:spPr>
            <a:xfrm>
              <a:off x="1188720" y="3200400"/>
              <a:ext cx="457200" cy="640080"/>
            </a:xfrm>
            <a:prstGeom prst="rect">
              <a:avLst/>
            </a:prstGeom>
            <a:noFill/>
            <a:ln/>
          </p:spPr>
          <p:txBody>
            <a:bodyPr wrap="square" rtlCol="0" anchor="ctr"/>
            <a:lstStyle/>
            <a:p>
              <a:pPr marL="0" indent="0">
                <a:buNone/>
              </a:pPr>
              <a:r>
                <a:rPr lang="en-US" sz="2000" b="1" dirty="0">
                  <a:solidFill>
                    <a:srgbClr val="F59E0B"/>
                  </a:solidFill>
                  <a:latin typeface="Georgia" pitchFamily="34" charset="0"/>
                </a:rPr>
                <a:t>4</a:t>
              </a:r>
              <a:endParaRPr lang="en-US" sz="2000" dirty="0"/>
            </a:p>
          </p:txBody>
        </p:sp>
        <p:sp>
          <p:nvSpPr>
            <p:cNvPr id="23" name="Text 18"/>
            <p:cNvSpPr/>
            <p:nvPr/>
          </p:nvSpPr>
          <p:spPr>
            <a:xfrm>
              <a:off x="1737360" y="3200400"/>
              <a:ext cx="5943600" cy="6400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Provider Bridging (802.1ad / Q-in-Q)</a:t>
              </a:r>
              <a:endParaRPr lang="en-US" sz="1400" dirty="0"/>
            </a:p>
          </p:txBody>
        </p:sp>
        <p:sp>
          <p:nvSpPr>
            <p:cNvPr id="24" name="Text 19"/>
            <p:cNvSpPr/>
            <p:nvPr/>
          </p:nvSpPr>
          <p:spPr>
            <a:xfrm>
              <a:off x="7863840" y="3200400"/>
              <a:ext cx="1371600" cy="64008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20 min</a:t>
              </a:r>
              <a:endParaRPr lang="en-US" sz="1200" dirty="0"/>
            </a:p>
          </p:txBody>
        </p:sp>
        <p:sp>
          <p:nvSpPr>
            <p:cNvPr id="25" name="Text 20"/>
            <p:cNvSpPr/>
            <p:nvPr/>
          </p:nvSpPr>
          <p:spPr>
            <a:xfrm>
              <a:off x="9326880" y="3200400"/>
              <a:ext cx="2103120" cy="64008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0:45–1:05</a:t>
              </a:r>
              <a:endParaRPr lang="en-US" sz="1200" dirty="0"/>
            </a:p>
          </p:txBody>
        </p:sp>
        <p:sp>
          <p:nvSpPr>
            <p:cNvPr id="26" name="Shape 21"/>
            <p:cNvSpPr/>
            <p:nvPr/>
          </p:nvSpPr>
          <p:spPr>
            <a:xfrm>
              <a:off x="457200" y="3977640"/>
              <a:ext cx="11247120" cy="640080"/>
            </a:xfrm>
            <a:prstGeom prst="rect">
              <a:avLst/>
            </a:prstGeom>
            <a:solidFill>
              <a:srgbClr val="FFFFFF"/>
            </a:solidFill>
            <a:ln/>
            <a:effectLst>
              <a:outerShdw blurRad="50800" dist="25400" dir="8100000" algn="bl" rotWithShape="0">
                <a:srgbClr val="000000">
                  <a:alpha val="12000"/>
                </a:srgbClr>
              </a:outerShdw>
            </a:effectLst>
          </p:spPr>
        </p:sp>
        <p:sp>
          <p:nvSpPr>
            <p:cNvPr id="27" name="Shape 22"/>
            <p:cNvSpPr/>
            <p:nvPr/>
          </p:nvSpPr>
          <p:spPr>
            <a:xfrm>
              <a:off x="457200" y="3977640"/>
              <a:ext cx="73152" cy="640080"/>
            </a:xfrm>
            <a:prstGeom prst="rect">
              <a:avLst/>
            </a:prstGeom>
            <a:solidFill>
              <a:srgbClr val="1B3A5C"/>
            </a:solidFill>
            <a:ln/>
          </p:spPr>
        </p:sp>
        <p:pic>
          <p:nvPicPr>
            <p:cNvPr id="28" name="Image 3" descr="preencoded.png"/>
            <p:cNvPicPr>
              <a:picLocks noChangeAspect="1"/>
            </p:cNvPicPr>
            <p:nvPr/>
          </p:nvPicPr>
          <p:blipFill>
            <a:blip r:embed="rId6"/>
            <a:stretch>
              <a:fillRect/>
            </a:stretch>
          </p:blipFill>
          <p:spPr>
            <a:xfrm>
              <a:off x="640080" y="4069080"/>
              <a:ext cx="457200" cy="457200"/>
            </a:xfrm>
            <a:prstGeom prst="rect">
              <a:avLst/>
            </a:prstGeom>
          </p:spPr>
        </p:pic>
        <p:sp>
          <p:nvSpPr>
            <p:cNvPr id="29" name="Text 23"/>
            <p:cNvSpPr/>
            <p:nvPr/>
          </p:nvSpPr>
          <p:spPr>
            <a:xfrm>
              <a:off x="1188720" y="3977640"/>
              <a:ext cx="457200" cy="640080"/>
            </a:xfrm>
            <a:prstGeom prst="rect">
              <a:avLst/>
            </a:prstGeom>
            <a:noFill/>
            <a:ln/>
          </p:spPr>
          <p:txBody>
            <a:bodyPr wrap="square" rtlCol="0" anchor="ctr"/>
            <a:lstStyle/>
            <a:p>
              <a:pPr marL="0" indent="0">
                <a:buNone/>
              </a:pPr>
              <a:r>
                <a:rPr lang="en-US" sz="2000" b="1" dirty="0">
                  <a:solidFill>
                    <a:srgbClr val="1B3A5C"/>
                  </a:solidFill>
                  <a:latin typeface="Georgia" pitchFamily="34" charset="0"/>
                </a:rPr>
                <a:t>5</a:t>
              </a:r>
              <a:endParaRPr lang="en-US" sz="2000" dirty="0"/>
            </a:p>
          </p:txBody>
        </p:sp>
        <p:sp>
          <p:nvSpPr>
            <p:cNvPr id="30" name="Text 24"/>
            <p:cNvSpPr/>
            <p:nvPr/>
          </p:nvSpPr>
          <p:spPr>
            <a:xfrm>
              <a:off x="1737360" y="3977640"/>
              <a:ext cx="5943600" cy="6400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Provider Backbone Bridging (802.1ah / MAC-in-MAC)</a:t>
              </a:r>
              <a:endParaRPr lang="en-US" sz="1400" dirty="0"/>
            </a:p>
          </p:txBody>
        </p:sp>
        <p:sp>
          <p:nvSpPr>
            <p:cNvPr id="31" name="Text 25"/>
            <p:cNvSpPr/>
            <p:nvPr/>
          </p:nvSpPr>
          <p:spPr>
            <a:xfrm>
              <a:off x="7863840" y="3977640"/>
              <a:ext cx="1371600" cy="64008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20 min</a:t>
              </a:r>
              <a:endParaRPr lang="en-US" sz="1200" dirty="0"/>
            </a:p>
          </p:txBody>
        </p:sp>
        <p:sp>
          <p:nvSpPr>
            <p:cNvPr id="32" name="Text 26"/>
            <p:cNvSpPr/>
            <p:nvPr/>
          </p:nvSpPr>
          <p:spPr>
            <a:xfrm>
              <a:off x="9326880" y="3977640"/>
              <a:ext cx="2103120" cy="64008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1:05–1:25</a:t>
              </a:r>
              <a:endParaRPr lang="en-US" sz="1200" dirty="0"/>
            </a:p>
          </p:txBody>
        </p:sp>
        <p:sp>
          <p:nvSpPr>
            <p:cNvPr id="33" name="Shape 27"/>
            <p:cNvSpPr/>
            <p:nvPr/>
          </p:nvSpPr>
          <p:spPr>
            <a:xfrm>
              <a:off x="457200" y="4754880"/>
              <a:ext cx="11247120" cy="640080"/>
            </a:xfrm>
            <a:prstGeom prst="rect">
              <a:avLst/>
            </a:prstGeom>
            <a:solidFill>
              <a:srgbClr val="FFFFFF"/>
            </a:solidFill>
            <a:ln/>
            <a:effectLst>
              <a:outerShdw blurRad="50800" dist="25400" dir="8100000" algn="bl" rotWithShape="0">
                <a:srgbClr val="000000">
                  <a:alpha val="12000"/>
                </a:srgbClr>
              </a:outerShdw>
            </a:effectLst>
          </p:spPr>
        </p:sp>
        <p:sp>
          <p:nvSpPr>
            <p:cNvPr id="34" name="Shape 28"/>
            <p:cNvSpPr/>
            <p:nvPr/>
          </p:nvSpPr>
          <p:spPr>
            <a:xfrm>
              <a:off x="457200" y="4754880"/>
              <a:ext cx="73152" cy="640080"/>
            </a:xfrm>
            <a:prstGeom prst="rect">
              <a:avLst/>
            </a:prstGeom>
            <a:solidFill>
              <a:srgbClr val="00C9A7"/>
            </a:solidFill>
            <a:ln/>
          </p:spPr>
        </p:sp>
        <p:pic>
          <p:nvPicPr>
            <p:cNvPr id="35" name="Image 4" descr="preencoded.png"/>
            <p:cNvPicPr>
              <a:picLocks noChangeAspect="1"/>
            </p:cNvPicPr>
            <p:nvPr/>
          </p:nvPicPr>
          <p:blipFill>
            <a:blip r:embed="rId7"/>
            <a:stretch>
              <a:fillRect/>
            </a:stretch>
          </p:blipFill>
          <p:spPr>
            <a:xfrm>
              <a:off x="640080" y="4846320"/>
              <a:ext cx="457200" cy="457200"/>
            </a:xfrm>
            <a:prstGeom prst="rect">
              <a:avLst/>
            </a:prstGeom>
          </p:spPr>
        </p:pic>
        <p:sp>
          <p:nvSpPr>
            <p:cNvPr id="36" name="Text 29"/>
            <p:cNvSpPr/>
            <p:nvPr/>
          </p:nvSpPr>
          <p:spPr>
            <a:xfrm>
              <a:off x="1188720" y="4754880"/>
              <a:ext cx="457200" cy="640080"/>
            </a:xfrm>
            <a:prstGeom prst="rect">
              <a:avLst/>
            </a:prstGeom>
            <a:noFill/>
            <a:ln/>
          </p:spPr>
          <p:txBody>
            <a:bodyPr wrap="square" rtlCol="0" anchor="ctr"/>
            <a:lstStyle/>
            <a:p>
              <a:pPr marL="0" indent="0">
                <a:buNone/>
              </a:pPr>
              <a:r>
                <a:rPr lang="en-US" sz="2000" b="1" dirty="0">
                  <a:solidFill>
                    <a:srgbClr val="00C9A7"/>
                  </a:solidFill>
                  <a:latin typeface="Georgia" pitchFamily="34" charset="0"/>
                </a:rPr>
                <a:t>6</a:t>
              </a:r>
              <a:endParaRPr lang="en-US" sz="2000" dirty="0"/>
            </a:p>
          </p:txBody>
        </p:sp>
        <p:sp>
          <p:nvSpPr>
            <p:cNvPr id="37" name="Text 30"/>
            <p:cNvSpPr/>
            <p:nvPr/>
          </p:nvSpPr>
          <p:spPr>
            <a:xfrm>
              <a:off x="1737360" y="4754880"/>
              <a:ext cx="5943600" cy="6400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Comparative Analysis and Decision Framework</a:t>
              </a:r>
              <a:endParaRPr lang="en-US" sz="1400" dirty="0"/>
            </a:p>
          </p:txBody>
        </p:sp>
        <p:sp>
          <p:nvSpPr>
            <p:cNvPr id="38" name="Text 31"/>
            <p:cNvSpPr/>
            <p:nvPr/>
          </p:nvSpPr>
          <p:spPr>
            <a:xfrm>
              <a:off x="7863840" y="4754880"/>
              <a:ext cx="1371600" cy="64008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25 min</a:t>
              </a:r>
              <a:endParaRPr lang="en-US" sz="1200" dirty="0"/>
            </a:p>
          </p:txBody>
        </p:sp>
        <p:sp>
          <p:nvSpPr>
            <p:cNvPr id="39" name="Text 32"/>
            <p:cNvSpPr/>
            <p:nvPr/>
          </p:nvSpPr>
          <p:spPr>
            <a:xfrm>
              <a:off x="9326880" y="4754880"/>
              <a:ext cx="2103120" cy="64008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1:25–1:50</a:t>
              </a:r>
              <a:endParaRPr lang="en-US" sz="1200" dirty="0"/>
            </a:p>
          </p:txBody>
        </p:sp>
        <p:sp>
          <p:nvSpPr>
            <p:cNvPr id="40" name="Shape 33"/>
            <p:cNvSpPr/>
            <p:nvPr/>
          </p:nvSpPr>
          <p:spPr>
            <a:xfrm>
              <a:off x="457200" y="5532120"/>
              <a:ext cx="11247120" cy="640080"/>
            </a:xfrm>
            <a:prstGeom prst="rect">
              <a:avLst/>
            </a:prstGeom>
            <a:solidFill>
              <a:srgbClr val="FFFFFF"/>
            </a:solidFill>
            <a:ln/>
            <a:effectLst>
              <a:outerShdw blurRad="50800" dist="25400" dir="8100000" algn="bl" rotWithShape="0">
                <a:srgbClr val="000000">
                  <a:alpha val="12000"/>
                </a:srgbClr>
              </a:outerShdw>
            </a:effectLst>
          </p:spPr>
        </p:sp>
        <p:sp>
          <p:nvSpPr>
            <p:cNvPr id="41" name="Shape 34"/>
            <p:cNvSpPr/>
            <p:nvPr/>
          </p:nvSpPr>
          <p:spPr>
            <a:xfrm>
              <a:off x="457200" y="5532120"/>
              <a:ext cx="73152" cy="640080"/>
            </a:xfrm>
            <a:prstGeom prst="rect">
              <a:avLst/>
            </a:prstGeom>
            <a:solidFill>
              <a:srgbClr val="334155"/>
            </a:solidFill>
            <a:ln/>
          </p:spPr>
        </p:sp>
        <p:pic>
          <p:nvPicPr>
            <p:cNvPr id="42" name="Image 5" descr="preencoded.png"/>
            <p:cNvPicPr>
              <a:picLocks noChangeAspect="1"/>
            </p:cNvPicPr>
            <p:nvPr/>
          </p:nvPicPr>
          <p:blipFill>
            <a:blip r:embed="rId8"/>
            <a:stretch>
              <a:fillRect/>
            </a:stretch>
          </p:blipFill>
          <p:spPr>
            <a:xfrm>
              <a:off x="640080" y="5623560"/>
              <a:ext cx="457200" cy="457200"/>
            </a:xfrm>
            <a:prstGeom prst="rect">
              <a:avLst/>
            </a:prstGeom>
          </p:spPr>
        </p:pic>
        <p:sp>
          <p:nvSpPr>
            <p:cNvPr id="43" name="Text 35"/>
            <p:cNvSpPr/>
            <p:nvPr/>
          </p:nvSpPr>
          <p:spPr>
            <a:xfrm>
              <a:off x="1188720" y="5532120"/>
              <a:ext cx="457200" cy="640080"/>
            </a:xfrm>
            <a:prstGeom prst="rect">
              <a:avLst/>
            </a:prstGeom>
            <a:noFill/>
            <a:ln/>
          </p:spPr>
          <p:txBody>
            <a:bodyPr wrap="square" rtlCol="0" anchor="ctr"/>
            <a:lstStyle/>
            <a:p>
              <a:pPr marL="0" indent="0">
                <a:buNone/>
              </a:pPr>
              <a:r>
                <a:rPr lang="en-US" sz="2000" b="1" dirty="0">
                  <a:solidFill>
                    <a:srgbClr val="334155"/>
                  </a:solidFill>
                  <a:latin typeface="Georgia" pitchFamily="34" charset="0"/>
                </a:rPr>
                <a:t>7</a:t>
              </a:r>
              <a:endParaRPr lang="en-US" sz="2000" dirty="0"/>
            </a:p>
          </p:txBody>
        </p:sp>
        <p:sp>
          <p:nvSpPr>
            <p:cNvPr id="44" name="Text 36"/>
            <p:cNvSpPr/>
            <p:nvPr/>
          </p:nvSpPr>
          <p:spPr>
            <a:xfrm>
              <a:off x="1737360" y="5532120"/>
              <a:ext cx="5943600" cy="6400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Case Studies, Summary, and Q&amp;A</a:t>
              </a:r>
              <a:endParaRPr lang="en-US" sz="1400" dirty="0"/>
            </a:p>
          </p:txBody>
        </p:sp>
        <p:sp>
          <p:nvSpPr>
            <p:cNvPr id="45" name="Text 37"/>
            <p:cNvSpPr/>
            <p:nvPr/>
          </p:nvSpPr>
          <p:spPr>
            <a:xfrm>
              <a:off x="7863840" y="5532120"/>
              <a:ext cx="1371600" cy="64008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10 min</a:t>
              </a:r>
              <a:endParaRPr lang="en-US" sz="1200" dirty="0"/>
            </a:p>
          </p:txBody>
        </p:sp>
        <p:sp>
          <p:nvSpPr>
            <p:cNvPr id="46" name="Text 38"/>
            <p:cNvSpPr/>
            <p:nvPr/>
          </p:nvSpPr>
          <p:spPr>
            <a:xfrm>
              <a:off x="9326880" y="5532120"/>
              <a:ext cx="2103120" cy="64008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1:50–2:00</a:t>
              </a:r>
              <a:endParaRPr lang="en-US" sz="1200" dirty="0"/>
            </a:p>
          </p:txBody>
        </p:sp>
      </p:grpSp>
      <p:grpSp>
        <p:nvGrpSpPr>
          <p:cNvPr id="49" name="Group 48">
            <a:extLst>
              <a:ext uri="{FF2B5EF4-FFF2-40B4-BE49-F238E27FC236}">
                <a16:creationId xmlns:a16="http://schemas.microsoft.com/office/drawing/2014/main" id="{FF55D18A-ADBF-6CCB-E533-ADFF47383D9D}"/>
              </a:ext>
            </a:extLst>
          </p:cNvPr>
          <p:cNvGrpSpPr/>
          <p:nvPr/>
        </p:nvGrpSpPr>
        <p:grpSpPr>
          <a:xfrm>
            <a:off x="457200" y="2368216"/>
            <a:ext cx="10972800" cy="640080"/>
            <a:chOff x="457200" y="1645920"/>
            <a:chExt cx="10972800" cy="640080"/>
          </a:xfrm>
        </p:grpSpPr>
        <p:sp>
          <p:nvSpPr>
            <p:cNvPr id="50" name="Shape 4">
              <a:extLst>
                <a:ext uri="{FF2B5EF4-FFF2-40B4-BE49-F238E27FC236}">
                  <a16:creationId xmlns:a16="http://schemas.microsoft.com/office/drawing/2014/main" id="{F8B830BB-D7BD-6BC6-38A2-41510CEA69F6}"/>
                </a:ext>
              </a:extLst>
            </p:cNvPr>
            <p:cNvSpPr/>
            <p:nvPr/>
          </p:nvSpPr>
          <p:spPr>
            <a:xfrm>
              <a:off x="457200" y="1645920"/>
              <a:ext cx="73152" cy="640080"/>
            </a:xfrm>
            <a:prstGeom prst="rect">
              <a:avLst/>
            </a:prstGeom>
            <a:solidFill>
              <a:srgbClr val="3A7CB8"/>
            </a:solidFill>
            <a:ln/>
          </p:spPr>
        </p:sp>
        <p:pic>
          <p:nvPicPr>
            <p:cNvPr id="51" name="Image 0" descr="preencoded.png">
              <a:extLst>
                <a:ext uri="{FF2B5EF4-FFF2-40B4-BE49-F238E27FC236}">
                  <a16:creationId xmlns:a16="http://schemas.microsoft.com/office/drawing/2014/main" id="{46A4CC64-1561-02F8-8EB1-49FBBA5EBD47}"/>
                </a:ext>
              </a:extLst>
            </p:cNvPr>
            <p:cNvPicPr>
              <a:picLocks noChangeAspect="1"/>
            </p:cNvPicPr>
            <p:nvPr/>
          </p:nvPicPr>
          <p:blipFill>
            <a:blip r:embed="rId3"/>
            <a:stretch>
              <a:fillRect/>
            </a:stretch>
          </p:blipFill>
          <p:spPr>
            <a:xfrm>
              <a:off x="640080" y="1737360"/>
              <a:ext cx="457200" cy="457200"/>
            </a:xfrm>
            <a:prstGeom prst="rect">
              <a:avLst/>
            </a:prstGeom>
          </p:spPr>
        </p:pic>
        <p:sp>
          <p:nvSpPr>
            <p:cNvPr id="52" name="Text 5">
              <a:extLst>
                <a:ext uri="{FF2B5EF4-FFF2-40B4-BE49-F238E27FC236}">
                  <a16:creationId xmlns:a16="http://schemas.microsoft.com/office/drawing/2014/main" id="{A47F0B6F-1949-E4ED-2476-73C9ECFA62B7}"/>
                </a:ext>
              </a:extLst>
            </p:cNvPr>
            <p:cNvSpPr/>
            <p:nvPr/>
          </p:nvSpPr>
          <p:spPr>
            <a:xfrm>
              <a:off x="1188720" y="1645920"/>
              <a:ext cx="457200" cy="640080"/>
            </a:xfrm>
            <a:prstGeom prst="rect">
              <a:avLst/>
            </a:prstGeom>
            <a:noFill/>
            <a:ln/>
          </p:spPr>
          <p:txBody>
            <a:bodyPr wrap="square" rtlCol="0" anchor="ctr"/>
            <a:lstStyle/>
            <a:p>
              <a:pPr marL="0" indent="0">
                <a:buNone/>
              </a:pPr>
              <a:r>
                <a:rPr lang="en-US" sz="2000" b="1" dirty="0">
                  <a:solidFill>
                    <a:srgbClr val="3A7CB8"/>
                  </a:solidFill>
                  <a:latin typeface="Georgia" pitchFamily="34" charset="0"/>
                </a:rPr>
                <a:t>2</a:t>
              </a:r>
              <a:endParaRPr lang="en-US" sz="2000" b="1" dirty="0"/>
            </a:p>
          </p:txBody>
        </p:sp>
        <p:sp>
          <p:nvSpPr>
            <p:cNvPr id="53" name="Text 6">
              <a:extLst>
                <a:ext uri="{FF2B5EF4-FFF2-40B4-BE49-F238E27FC236}">
                  <a16:creationId xmlns:a16="http://schemas.microsoft.com/office/drawing/2014/main" id="{F25EB59C-167B-14F8-DC42-497657412DF7}"/>
                </a:ext>
              </a:extLst>
            </p:cNvPr>
            <p:cNvSpPr/>
            <p:nvPr/>
          </p:nvSpPr>
          <p:spPr>
            <a:xfrm>
              <a:off x="1737360" y="1645920"/>
              <a:ext cx="5943600" cy="64008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Foundations and the Problem Space</a:t>
              </a:r>
              <a:endParaRPr lang="en-US" sz="1400" b="1" dirty="0"/>
            </a:p>
          </p:txBody>
        </p:sp>
        <p:sp>
          <p:nvSpPr>
            <p:cNvPr id="54" name="Text 7">
              <a:extLst>
                <a:ext uri="{FF2B5EF4-FFF2-40B4-BE49-F238E27FC236}">
                  <a16:creationId xmlns:a16="http://schemas.microsoft.com/office/drawing/2014/main" id="{595226A6-7CC2-4990-D97B-FDC36C0D2D6F}"/>
                </a:ext>
              </a:extLst>
            </p:cNvPr>
            <p:cNvSpPr/>
            <p:nvPr/>
          </p:nvSpPr>
          <p:spPr>
            <a:xfrm>
              <a:off x="7863840" y="1645920"/>
              <a:ext cx="1371600" cy="640080"/>
            </a:xfrm>
            <a:prstGeom prst="rect">
              <a:avLst/>
            </a:prstGeom>
            <a:noFill/>
            <a:ln/>
          </p:spPr>
          <p:txBody>
            <a:bodyPr wrap="square" rtlCol="0" anchor="ctr"/>
            <a:lstStyle/>
            <a:p>
              <a:pPr marL="0" indent="0" algn="ctr">
                <a:buNone/>
              </a:pPr>
              <a:r>
                <a:rPr lang="en-US" sz="1200" b="1" dirty="0">
                  <a:solidFill>
                    <a:srgbClr val="64748B"/>
                  </a:solidFill>
                  <a:latin typeface="Calibri" pitchFamily="34" charset="0"/>
                  <a:ea typeface="Calibri" pitchFamily="34" charset="-122"/>
                  <a:cs typeface="Calibri" pitchFamily="34" charset="-120"/>
                </a:rPr>
                <a:t>20 min</a:t>
              </a:r>
              <a:endParaRPr lang="en-US" sz="1200" b="1" dirty="0"/>
            </a:p>
          </p:txBody>
        </p:sp>
        <p:sp>
          <p:nvSpPr>
            <p:cNvPr id="55" name="Text 8">
              <a:extLst>
                <a:ext uri="{FF2B5EF4-FFF2-40B4-BE49-F238E27FC236}">
                  <a16:creationId xmlns:a16="http://schemas.microsoft.com/office/drawing/2014/main" id="{603FA4E2-A053-1142-75CA-634ED21AB1E4}"/>
                </a:ext>
              </a:extLst>
            </p:cNvPr>
            <p:cNvSpPr/>
            <p:nvPr/>
          </p:nvSpPr>
          <p:spPr>
            <a:xfrm>
              <a:off x="9326880" y="1645920"/>
              <a:ext cx="2103120" cy="640080"/>
            </a:xfrm>
            <a:prstGeom prst="rect">
              <a:avLst/>
            </a:prstGeom>
            <a:noFill/>
            <a:ln/>
          </p:spPr>
          <p:txBody>
            <a:bodyPr wrap="square" rtlCol="0" anchor="ctr"/>
            <a:lstStyle/>
            <a:p>
              <a:pPr marL="0" indent="0" algn="r">
                <a:buNone/>
              </a:pPr>
              <a:r>
                <a:rPr lang="en-US" sz="1200" b="1" dirty="0">
                  <a:solidFill>
                    <a:srgbClr val="64748B"/>
                  </a:solidFill>
                  <a:latin typeface="Calibri" pitchFamily="34" charset="0"/>
                  <a:ea typeface="Calibri" pitchFamily="34" charset="-122"/>
                  <a:cs typeface="Calibri" pitchFamily="34" charset="-120"/>
                </a:rPr>
                <a:t>0:00–0:20</a:t>
              </a:r>
              <a:endParaRPr lang="en-US" sz="1200" b="1"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00C9A7"/>
                </a:solidFill>
                <a:latin typeface="Calibri" pitchFamily="34" charset="0"/>
                <a:ea typeface="Calibri" pitchFamily="34" charset="-122"/>
                <a:cs typeface="Calibri" pitchFamily="34" charset="-120"/>
              </a:rPr>
              <a:t>MODULE 1</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Datacenter Overlays</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Why STP falls short and what came next  •  0:00–0:20</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CFD6-A621-2BA8-ADBA-F1CCA3ECD8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4BEA6B-C1A7-3C10-FA24-80FEE466B828}"/>
              </a:ext>
            </a:extLst>
          </p:cNvPr>
          <p:cNvSpPr/>
          <p:nvPr/>
        </p:nvSpPr>
        <p:spPr>
          <a:xfrm>
            <a:off x="0" y="0"/>
            <a:ext cx="12188952" cy="777240"/>
          </a:xfrm>
          <a:prstGeom prst="rect">
            <a:avLst/>
          </a:prstGeom>
          <a:solidFill>
            <a:srgbClr val="0F2440"/>
          </a:solidFill>
          <a:ln/>
        </p:spPr>
      </p:sp>
      <p:sp>
        <p:nvSpPr>
          <p:cNvPr id="3" name="Text 1">
            <a:extLst>
              <a:ext uri="{FF2B5EF4-FFF2-40B4-BE49-F238E27FC236}">
                <a16:creationId xmlns:a16="http://schemas.microsoft.com/office/drawing/2014/main" id="{934460BE-EB9F-C049-C7C7-39FE799A32E9}"/>
              </a:ext>
            </a:extLst>
          </p:cNvPr>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 CENTER OVERLAY NETWORK CLASSIFICATION</a:t>
            </a:r>
            <a:endParaRPr lang="en-US" sz="2600" dirty="0"/>
          </a:p>
        </p:txBody>
      </p:sp>
      <p:sp>
        <p:nvSpPr>
          <p:cNvPr id="4" name="Text 2">
            <a:extLst>
              <a:ext uri="{FF2B5EF4-FFF2-40B4-BE49-F238E27FC236}">
                <a16:creationId xmlns:a16="http://schemas.microsoft.com/office/drawing/2014/main" id="{760524B4-8178-F2D5-DDD3-E78CFD34D174}"/>
              </a:ext>
            </a:extLst>
          </p:cNvPr>
          <p:cNvSpPr/>
          <p:nvPr/>
        </p:nvSpPr>
        <p:spPr>
          <a:xfrm>
            <a:off x="457200" y="1005840"/>
            <a:ext cx="10972800" cy="457200"/>
          </a:xfrm>
          <a:prstGeom prst="rect">
            <a:avLst/>
          </a:prstGeom>
          <a:noFill/>
          <a:ln/>
        </p:spPr>
        <p:txBody>
          <a:bodyPr wrap="square" rtlCol="0" anchor="t"/>
          <a:lstStyle/>
          <a:p>
            <a:pPr marL="0" indent="0">
              <a:lnSpc>
                <a:spcPct val="140000"/>
              </a:lnSpc>
              <a:buNone/>
            </a:pPr>
            <a:r>
              <a:rPr lang="en-US" sz="1300" b="1" dirty="0">
                <a:solidFill>
                  <a:srgbClr val="1E293B"/>
                </a:solidFill>
                <a:latin typeface="Calibri" pitchFamily="34" charset="0"/>
                <a:ea typeface="Calibri" pitchFamily="34" charset="-122"/>
                <a:cs typeface="Calibri" pitchFamily="34" charset="-120"/>
              </a:rPr>
              <a:t>Overlay networks can be classified into two categories based on where encapsulation occurs:</a:t>
            </a:r>
            <a:endParaRPr lang="en-US" sz="1300" b="1" dirty="0"/>
          </a:p>
        </p:txBody>
      </p:sp>
      <p:sp>
        <p:nvSpPr>
          <p:cNvPr id="5" name="Shape 3">
            <a:extLst>
              <a:ext uri="{FF2B5EF4-FFF2-40B4-BE49-F238E27FC236}">
                <a16:creationId xmlns:a16="http://schemas.microsoft.com/office/drawing/2014/main" id="{E38FD751-B833-B97E-B1A7-C28DA42669F1}"/>
              </a:ext>
            </a:extLst>
          </p:cNvPr>
          <p:cNvSpPr/>
          <p:nvPr/>
        </p:nvSpPr>
        <p:spPr>
          <a:xfrm>
            <a:off x="365760" y="1645920"/>
            <a:ext cx="5577840" cy="4572000"/>
          </a:xfrm>
          <a:prstGeom prst="rect">
            <a:avLst/>
          </a:prstGeom>
          <a:solidFill>
            <a:srgbClr val="FFFFFF"/>
          </a:solidFill>
          <a:ln/>
          <a:effectLst>
            <a:outerShdw blurRad="50800" dist="25400" dir="8100000" algn="bl" rotWithShape="0">
              <a:srgbClr val="000000">
                <a:alpha val="12000"/>
              </a:srgbClr>
            </a:outerShdw>
          </a:effectLst>
        </p:spPr>
      </p:sp>
      <p:sp>
        <p:nvSpPr>
          <p:cNvPr id="6" name="Shape 4">
            <a:extLst>
              <a:ext uri="{FF2B5EF4-FFF2-40B4-BE49-F238E27FC236}">
                <a16:creationId xmlns:a16="http://schemas.microsoft.com/office/drawing/2014/main" id="{F0962503-03F1-44AA-80D4-3DE01C1E17E0}"/>
              </a:ext>
            </a:extLst>
          </p:cNvPr>
          <p:cNvSpPr/>
          <p:nvPr/>
        </p:nvSpPr>
        <p:spPr>
          <a:xfrm>
            <a:off x="365760" y="1645920"/>
            <a:ext cx="5577840" cy="502920"/>
          </a:xfrm>
          <a:prstGeom prst="rect">
            <a:avLst/>
          </a:prstGeom>
          <a:solidFill>
            <a:srgbClr val="1B3A5C"/>
          </a:solidFill>
          <a:ln/>
        </p:spPr>
      </p:sp>
      <p:sp>
        <p:nvSpPr>
          <p:cNvPr id="7" name="Text 5">
            <a:extLst>
              <a:ext uri="{FF2B5EF4-FFF2-40B4-BE49-F238E27FC236}">
                <a16:creationId xmlns:a16="http://schemas.microsoft.com/office/drawing/2014/main" id="{4B9B97C6-850B-7C04-2988-750B9CC1AE32}"/>
              </a:ext>
            </a:extLst>
          </p:cNvPr>
          <p:cNvSpPr/>
          <p:nvPr/>
        </p:nvSpPr>
        <p:spPr>
          <a:xfrm>
            <a:off x="548640" y="1645920"/>
            <a:ext cx="4572000" cy="50292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NETWORK-BASED OVERLAYS</a:t>
            </a:r>
            <a:endParaRPr lang="en-US" sz="1600" dirty="0"/>
          </a:p>
        </p:txBody>
      </p:sp>
      <p:sp>
        <p:nvSpPr>
          <p:cNvPr id="8" name="Text 6">
            <a:extLst>
              <a:ext uri="{FF2B5EF4-FFF2-40B4-BE49-F238E27FC236}">
                <a16:creationId xmlns:a16="http://schemas.microsoft.com/office/drawing/2014/main" id="{ACA47470-5DD1-8D88-070F-DD7F57160127}"/>
              </a:ext>
            </a:extLst>
          </p:cNvPr>
          <p:cNvSpPr/>
          <p:nvPr/>
        </p:nvSpPr>
        <p:spPr>
          <a:xfrm>
            <a:off x="640080" y="2331720"/>
            <a:ext cx="502920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TRILL</a:t>
            </a:r>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IEEE 802.1ad Provider Bridge (Q-in-Q)</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IEEE 802.1ah Provider Backbone Bridge (PBB)</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Cisco FabricPath</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Overlay Transport Virtualization (OTV)</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Location/ID Separation Protocol (LISP)</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Multiprotocol Label Switching (MPLS)</a:t>
            </a:r>
            <a:endParaRPr lang="en-US" dirty="0"/>
          </a:p>
        </p:txBody>
      </p:sp>
      <p:sp>
        <p:nvSpPr>
          <p:cNvPr id="9" name="Text 7">
            <a:extLst>
              <a:ext uri="{FF2B5EF4-FFF2-40B4-BE49-F238E27FC236}">
                <a16:creationId xmlns:a16="http://schemas.microsoft.com/office/drawing/2014/main" id="{7B9D65A3-F570-29FF-F3B5-93A8894DBA10}"/>
              </a:ext>
            </a:extLst>
          </p:cNvPr>
          <p:cNvSpPr/>
          <p:nvPr/>
        </p:nvSpPr>
        <p:spPr>
          <a:xfrm>
            <a:off x="640080" y="5486400"/>
            <a:ext cx="5029200" cy="365760"/>
          </a:xfrm>
          <a:prstGeom prst="rect">
            <a:avLst/>
          </a:prstGeom>
          <a:noFill/>
          <a:ln/>
        </p:spPr>
        <p:txBody>
          <a:bodyPr wrap="square" rtlCol="0" anchor="t"/>
          <a:lstStyle/>
          <a:p>
            <a:pPr marL="0" indent="0">
              <a:lnSpc>
                <a:spcPct val="140000"/>
              </a:lnSpc>
              <a:buNone/>
            </a:pPr>
            <a:r>
              <a:rPr lang="en-US" sz="1600" b="1" i="1" dirty="0">
                <a:solidFill>
                  <a:srgbClr val="64748B"/>
                </a:solidFill>
                <a:latin typeface="Calibri" pitchFamily="34" charset="0"/>
                <a:ea typeface="Calibri" pitchFamily="34" charset="-122"/>
                <a:cs typeface="Calibri" pitchFamily="34" charset="-120"/>
              </a:rPr>
              <a:t>Encapsulation at network switches/routers</a:t>
            </a:r>
            <a:endParaRPr lang="en-US" sz="1600" b="1" dirty="0"/>
          </a:p>
        </p:txBody>
      </p:sp>
      <p:sp>
        <p:nvSpPr>
          <p:cNvPr id="10" name="Shape 8">
            <a:extLst>
              <a:ext uri="{FF2B5EF4-FFF2-40B4-BE49-F238E27FC236}">
                <a16:creationId xmlns:a16="http://schemas.microsoft.com/office/drawing/2014/main" id="{A41771BE-E77C-1DC4-27D2-4862E52EC9E1}"/>
              </a:ext>
            </a:extLst>
          </p:cNvPr>
          <p:cNvSpPr/>
          <p:nvPr/>
        </p:nvSpPr>
        <p:spPr>
          <a:xfrm>
            <a:off x="6217920" y="1645920"/>
            <a:ext cx="5577840" cy="4572000"/>
          </a:xfrm>
          <a:prstGeom prst="rect">
            <a:avLst/>
          </a:prstGeom>
          <a:solidFill>
            <a:srgbClr val="FFFFFF"/>
          </a:solidFill>
          <a:ln/>
          <a:effectLst>
            <a:outerShdw blurRad="50800" dist="25400" dir="8100000" algn="bl" rotWithShape="0">
              <a:srgbClr val="000000">
                <a:alpha val="12000"/>
              </a:srgbClr>
            </a:outerShdw>
          </a:effectLst>
        </p:spPr>
      </p:sp>
      <p:sp>
        <p:nvSpPr>
          <p:cNvPr id="11" name="Shape 9">
            <a:extLst>
              <a:ext uri="{FF2B5EF4-FFF2-40B4-BE49-F238E27FC236}">
                <a16:creationId xmlns:a16="http://schemas.microsoft.com/office/drawing/2014/main" id="{4F5308A8-B7DE-38C9-9239-F874043F0C25}"/>
              </a:ext>
            </a:extLst>
          </p:cNvPr>
          <p:cNvSpPr/>
          <p:nvPr/>
        </p:nvSpPr>
        <p:spPr>
          <a:xfrm>
            <a:off x="6217920" y="1645920"/>
            <a:ext cx="5577840" cy="502920"/>
          </a:xfrm>
          <a:prstGeom prst="rect">
            <a:avLst/>
          </a:prstGeom>
          <a:solidFill>
            <a:srgbClr val="00C9A7"/>
          </a:solidFill>
          <a:ln/>
        </p:spPr>
      </p:sp>
      <p:sp>
        <p:nvSpPr>
          <p:cNvPr id="12" name="Text 10">
            <a:extLst>
              <a:ext uri="{FF2B5EF4-FFF2-40B4-BE49-F238E27FC236}">
                <a16:creationId xmlns:a16="http://schemas.microsoft.com/office/drawing/2014/main" id="{E31D9F29-4543-112A-C513-79FD70E3EFAC}"/>
              </a:ext>
            </a:extLst>
          </p:cNvPr>
          <p:cNvSpPr/>
          <p:nvPr/>
        </p:nvSpPr>
        <p:spPr>
          <a:xfrm>
            <a:off x="6400800" y="1645920"/>
            <a:ext cx="4572000" cy="50292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HOST-BASED OVERLAYS</a:t>
            </a:r>
            <a:endParaRPr lang="en-US" sz="1600" dirty="0"/>
          </a:p>
        </p:txBody>
      </p:sp>
      <p:sp>
        <p:nvSpPr>
          <p:cNvPr id="13" name="Text 11">
            <a:extLst>
              <a:ext uri="{FF2B5EF4-FFF2-40B4-BE49-F238E27FC236}">
                <a16:creationId xmlns:a16="http://schemas.microsoft.com/office/drawing/2014/main" id="{9021EFB2-C1B3-37C7-B0F9-ABA1979DF019}"/>
              </a:ext>
            </a:extLst>
          </p:cNvPr>
          <p:cNvSpPr/>
          <p:nvPr/>
        </p:nvSpPr>
        <p:spPr>
          <a:xfrm>
            <a:off x="6492240" y="1897380"/>
            <a:ext cx="5029200" cy="2684646"/>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Virtual Extensible LAN (VXLAN)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Network Virtualization using GRE (NVGRE)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Stateless Transport Tunneling (STT)</a:t>
            </a:r>
            <a:endParaRPr lang="en-US" dirty="0"/>
          </a:p>
        </p:txBody>
      </p:sp>
      <p:sp>
        <p:nvSpPr>
          <p:cNvPr id="14" name="Text 12">
            <a:extLst>
              <a:ext uri="{FF2B5EF4-FFF2-40B4-BE49-F238E27FC236}">
                <a16:creationId xmlns:a16="http://schemas.microsoft.com/office/drawing/2014/main" id="{D0735E52-2E02-3705-57E5-C8997E4DDD3F}"/>
              </a:ext>
            </a:extLst>
          </p:cNvPr>
          <p:cNvSpPr/>
          <p:nvPr/>
        </p:nvSpPr>
        <p:spPr>
          <a:xfrm>
            <a:off x="6522720" y="5486400"/>
            <a:ext cx="5029200" cy="365760"/>
          </a:xfrm>
          <a:prstGeom prst="rect">
            <a:avLst/>
          </a:prstGeom>
          <a:noFill/>
          <a:ln/>
        </p:spPr>
        <p:txBody>
          <a:bodyPr wrap="square" rtlCol="0" anchor="t"/>
          <a:lstStyle/>
          <a:p>
            <a:pPr marL="0" indent="0">
              <a:lnSpc>
                <a:spcPct val="140000"/>
              </a:lnSpc>
              <a:buNone/>
            </a:pPr>
            <a:r>
              <a:rPr lang="en-US" sz="1600" b="1" i="1" dirty="0">
                <a:solidFill>
                  <a:srgbClr val="64748B"/>
                </a:solidFill>
                <a:latin typeface="Calibri" pitchFamily="34" charset="0"/>
                <a:ea typeface="Calibri" pitchFamily="34" charset="-122"/>
                <a:cs typeface="Calibri" pitchFamily="34" charset="-120"/>
              </a:rPr>
              <a:t>Encapsulation at hypervisor / virtual switch</a:t>
            </a:r>
            <a:endParaRPr lang="en-US" sz="1600" b="1" dirty="0"/>
          </a:p>
        </p:txBody>
      </p:sp>
    </p:spTree>
    <p:extLst>
      <p:ext uri="{BB962C8B-B14F-4D97-AF65-F5344CB8AC3E}">
        <p14:creationId xmlns:p14="http://schemas.microsoft.com/office/powerpoint/2010/main" val="2008566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A5C"/>
        </a:solidFill>
        <a:effectLst/>
      </p:bgPr>
    </p:bg>
    <p:spTree>
      <p:nvGrpSpPr>
        <p:cNvPr id="1" name="">
          <a:extLst>
            <a:ext uri="{FF2B5EF4-FFF2-40B4-BE49-F238E27FC236}">
              <a16:creationId xmlns:a16="http://schemas.microsoft.com/office/drawing/2014/main" id="{BB763DFB-6528-0BBB-479B-21EAB03B176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42EB4A-0BC3-3C3A-58B0-B55F07D54936}"/>
              </a:ext>
            </a:extLst>
          </p:cNvPr>
          <p:cNvSpPr/>
          <p:nvPr/>
        </p:nvSpPr>
        <p:spPr>
          <a:xfrm>
            <a:off x="0" y="0"/>
            <a:ext cx="12188952" cy="54864"/>
          </a:xfrm>
          <a:prstGeom prst="rect">
            <a:avLst/>
          </a:prstGeom>
          <a:solidFill>
            <a:srgbClr val="00C9A7"/>
          </a:solidFill>
          <a:ln/>
        </p:spPr>
      </p:sp>
      <p:sp>
        <p:nvSpPr>
          <p:cNvPr id="3" name="Text 1">
            <a:extLst>
              <a:ext uri="{FF2B5EF4-FFF2-40B4-BE49-F238E27FC236}">
                <a16:creationId xmlns:a16="http://schemas.microsoft.com/office/drawing/2014/main" id="{EEAB3F92-3355-A249-1FBB-6B28CE49E345}"/>
              </a:ext>
            </a:extLst>
          </p:cNvPr>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00C9A7"/>
                </a:solidFill>
                <a:latin typeface="Calibri" pitchFamily="34" charset="0"/>
                <a:ea typeface="Calibri" pitchFamily="34" charset="-122"/>
                <a:cs typeface="Calibri" pitchFamily="34" charset="-120"/>
              </a:rPr>
              <a:t>MODULE 1</a:t>
            </a:r>
            <a:endParaRPr lang="en-US" sz="1800" dirty="0"/>
          </a:p>
        </p:txBody>
      </p:sp>
      <p:sp>
        <p:nvSpPr>
          <p:cNvPr id="4" name="Text 2">
            <a:extLst>
              <a:ext uri="{FF2B5EF4-FFF2-40B4-BE49-F238E27FC236}">
                <a16:creationId xmlns:a16="http://schemas.microsoft.com/office/drawing/2014/main" id="{2A5AEA6B-CD1E-A3FA-2EFA-9E8AF991CB0C}"/>
              </a:ext>
            </a:extLst>
          </p:cNvPr>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Foundations &amp;</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the Problem Space</a:t>
            </a:r>
            <a:endParaRPr lang="en-US" sz="3800" dirty="0"/>
          </a:p>
        </p:txBody>
      </p:sp>
      <p:sp>
        <p:nvSpPr>
          <p:cNvPr id="5" name="Text 3">
            <a:extLst>
              <a:ext uri="{FF2B5EF4-FFF2-40B4-BE49-F238E27FC236}">
                <a16:creationId xmlns:a16="http://schemas.microsoft.com/office/drawing/2014/main" id="{CFB41A64-C3BC-D59C-7A46-4BBEE04FC8C5}"/>
              </a:ext>
            </a:extLst>
          </p:cNvPr>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Why STP falls short and what came next  •  0:00–0:20</a:t>
            </a:r>
            <a:endParaRPr lang="en-US" sz="1400" dirty="0"/>
          </a:p>
        </p:txBody>
      </p:sp>
      <p:pic>
        <p:nvPicPr>
          <p:cNvPr id="6" name="Image 0" descr="preencoded.png">
            <a:extLst>
              <a:ext uri="{FF2B5EF4-FFF2-40B4-BE49-F238E27FC236}">
                <a16:creationId xmlns:a16="http://schemas.microsoft.com/office/drawing/2014/main" id="{1E9D341D-0278-74F5-96B1-FA96B65AB14A}"/>
              </a:ext>
            </a:extLst>
          </p:cNvPr>
          <p:cNvPicPr>
            <a:picLocks noChangeAspect="1"/>
          </p:cNvPicPr>
          <p:nvPr/>
        </p:nvPicPr>
        <p:blipFill>
          <a:blip r:embed="rId3"/>
          <a:stretch>
            <a:fillRect/>
          </a:stretch>
        </p:blipFill>
        <p:spPr>
          <a:xfrm>
            <a:off x="10058400" y="2286000"/>
            <a:ext cx="1371600" cy="1371600"/>
          </a:xfrm>
          <a:prstGeom prst="rect">
            <a:avLst/>
          </a:prstGeom>
        </p:spPr>
      </p:pic>
    </p:spTree>
    <p:extLst>
      <p:ext uri="{BB962C8B-B14F-4D97-AF65-F5344CB8AC3E}">
        <p14:creationId xmlns:p14="http://schemas.microsoft.com/office/powerpoint/2010/main" val="415243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1.1 REVIEW OF LAYER 2 BRIDGING FUNDAMENTALS</a:t>
            </a:r>
            <a:endParaRPr lang="en-US" sz="2600" dirty="0"/>
          </a:p>
        </p:txBody>
      </p:sp>
      <p:sp>
        <p:nvSpPr>
          <p:cNvPr id="4" name="Text 2"/>
          <p:cNvSpPr/>
          <p:nvPr/>
        </p:nvSpPr>
        <p:spPr>
          <a:xfrm>
            <a:off x="457200" y="1005840"/>
            <a:ext cx="10972800" cy="457200"/>
          </a:xfrm>
          <a:prstGeom prst="rect">
            <a:avLst/>
          </a:prstGeom>
          <a:noFill/>
          <a:ln/>
        </p:spPr>
        <p:txBody>
          <a:bodyPr wrap="square" rtlCol="0" anchor="ctr"/>
          <a:lstStyle/>
          <a:p>
            <a:pPr marL="0" indent="0">
              <a:buNone/>
            </a:pPr>
            <a:r>
              <a:rPr lang="en-US" sz="2000" b="1" dirty="0">
                <a:solidFill>
                  <a:srgbClr val="1B3A5C"/>
                </a:solidFill>
                <a:latin typeface="Georgia" pitchFamily="34" charset="0"/>
                <a:ea typeface="Georgia" pitchFamily="34" charset="-122"/>
                <a:cs typeface="Georgia" pitchFamily="34" charset="-120"/>
              </a:rPr>
              <a:t>The Ethernet Bridge Model</a:t>
            </a:r>
            <a:endParaRPr lang="en-US" sz="2000" dirty="0"/>
          </a:p>
        </p:txBody>
      </p:sp>
      <p:sp>
        <p:nvSpPr>
          <p:cNvPr id="5" name="Text 3"/>
          <p:cNvSpPr/>
          <p:nvPr/>
        </p:nvSpPr>
        <p:spPr>
          <a:xfrm>
            <a:off x="457200" y="1554480"/>
            <a:ext cx="10972800" cy="109728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Ethernet bridging, standardized in IEEE 802.1D, provides transparent frame forwarding at Layer 2. A bridge learns MAC addresses from source address fields of incoming frames and forwards frames to the port associated with the destination MAC address. When the destination is unknown, the bridge floods the frame to all ports except the ingress port. This learn-and-forward model is the basis for all modern switching.</a:t>
            </a:r>
            <a:endParaRPr lang="en-US" sz="1600" dirty="0"/>
          </a:p>
        </p:txBody>
      </p:sp>
      <p:sp>
        <p:nvSpPr>
          <p:cNvPr id="6" name="Text 4"/>
          <p:cNvSpPr/>
          <p:nvPr/>
        </p:nvSpPr>
        <p:spPr>
          <a:xfrm>
            <a:off x="513348" y="3064843"/>
            <a:ext cx="10972800" cy="457200"/>
          </a:xfrm>
          <a:prstGeom prst="rect">
            <a:avLst/>
          </a:prstGeom>
          <a:noFill/>
          <a:ln/>
        </p:spPr>
        <p:txBody>
          <a:bodyPr wrap="square" rtlCol="0" anchor="ctr"/>
          <a:lstStyle/>
          <a:p>
            <a:pPr marL="0" indent="0">
              <a:buNone/>
            </a:pPr>
            <a:r>
              <a:rPr lang="en-US" sz="2000" b="1" dirty="0">
                <a:solidFill>
                  <a:srgbClr val="1B3A5C"/>
                </a:solidFill>
                <a:latin typeface="Georgia" pitchFamily="34" charset="0"/>
                <a:ea typeface="Georgia" pitchFamily="34" charset="-122"/>
                <a:cs typeface="Georgia" pitchFamily="34" charset="-120"/>
              </a:rPr>
              <a:t>Spanning Tree Protocol and Its Limitations</a:t>
            </a:r>
            <a:endParaRPr lang="en-US" sz="2000" dirty="0"/>
          </a:p>
        </p:txBody>
      </p:sp>
      <p:sp>
        <p:nvSpPr>
          <p:cNvPr id="7" name="Text 5"/>
          <p:cNvSpPr/>
          <p:nvPr/>
        </p:nvSpPr>
        <p:spPr>
          <a:xfrm>
            <a:off x="457200" y="3564557"/>
            <a:ext cx="10972800" cy="82296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The Spanning Tree Protocol (STP, IEEE 802.1D) was designed to prevent broadcast storms and loops in bridged networks. STP works by electing a root bridge and placing redundant ports in a blocking state, creating a loop-free tree topology. Critical limitations:</a:t>
            </a:r>
            <a:endParaRPr lang="en-US" dirty="0"/>
          </a:p>
        </p:txBody>
      </p:sp>
      <p:sp>
        <p:nvSpPr>
          <p:cNvPr id="8" name="Text 6"/>
          <p:cNvSpPr/>
          <p:nvPr/>
        </p:nvSpPr>
        <p:spPr>
          <a:xfrm>
            <a:off x="352926" y="4572000"/>
            <a:ext cx="10972800" cy="2286000"/>
          </a:xfrm>
          <a:prstGeom prst="rect">
            <a:avLst/>
          </a:prstGeom>
          <a:noFill/>
          <a:ln/>
        </p:spPr>
        <p:txBody>
          <a:bodyPr wrap="square" rtlCol="0" anchor="ctr"/>
          <a:lstStyle/>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Inefficient bandwidth utilization: blocked links carry no traffic, wasting up to 50% of available capacity</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Slow convergence: original STP can take 30–50 seconds to reconverge after a topology change</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Single-path forwarding: all traffic follows the same spanning tree, preventing optimal path selection</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VLAN scalability limits: standard 802.1Q supports a maximum of 4,094 VLANs</a:t>
            </a:r>
            <a:endParaRPr lang="en-US" sz="1600" dirty="0"/>
          </a:p>
          <a:p>
            <a:pPr marL="342900" indent="-342900">
              <a:spcAft>
                <a:spcPts val="600"/>
              </a:spcAft>
              <a:buSzPct val="100000"/>
              <a:buChar char="•"/>
            </a:pPr>
            <a:r>
              <a:rPr lang="en-US" sz="1600" dirty="0">
                <a:solidFill>
                  <a:srgbClr val="1E293B"/>
                </a:solidFill>
                <a:latin typeface="Calibri" pitchFamily="34" charset="0"/>
                <a:ea typeface="Calibri" pitchFamily="34" charset="-122"/>
                <a:cs typeface="Calibri" pitchFamily="34" charset="-120"/>
              </a:rPr>
              <a:t>Flat MAC address tables: large Layer 2 domains require switches to learn enormous MAC tables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1.2 THE THREE TECHNOLOGIES AT A GLANCE</a:t>
            </a:r>
            <a:endParaRPr lang="en-US" sz="2600" dirty="0"/>
          </a:p>
        </p:txBody>
      </p:sp>
      <p:sp>
        <p:nvSpPr>
          <p:cNvPr id="4" name="Text 2"/>
          <p:cNvSpPr/>
          <p:nvPr/>
        </p:nvSpPr>
        <p:spPr>
          <a:xfrm>
            <a:off x="457200" y="1005840"/>
            <a:ext cx="10972800" cy="457200"/>
          </a:xfrm>
          <a:prstGeom prst="rect">
            <a:avLst/>
          </a:prstGeom>
          <a:noFill/>
          <a:ln/>
        </p:spPr>
        <p:txBody>
          <a:bodyPr wrap="square" rtlCol="0" anchor="t"/>
          <a:lstStyle/>
          <a:p>
            <a:pPr marL="0" indent="0">
              <a:lnSpc>
                <a:spcPct val="140000"/>
              </a:lnSpc>
              <a:buNone/>
            </a:pPr>
            <a:r>
              <a:rPr lang="en-US" sz="1600" b="1" dirty="0">
                <a:solidFill>
                  <a:srgbClr val="1E293B"/>
                </a:solidFill>
                <a:latin typeface="Calibri" pitchFamily="34" charset="0"/>
                <a:ea typeface="Calibri" pitchFamily="34" charset="-122"/>
                <a:cs typeface="Calibri" pitchFamily="34" charset="-120"/>
              </a:rPr>
              <a:t>The limitations of STP become particularly acute in large-scale data centers and service provider metro Ethernet networks.</a:t>
            </a:r>
            <a:endParaRPr lang="en-US" sz="1600" b="1" dirty="0"/>
          </a:p>
        </p:txBody>
      </p:sp>
      <p:sp>
        <p:nvSpPr>
          <p:cNvPr id="5" name="Shape 3"/>
          <p:cNvSpPr/>
          <p:nvPr/>
        </p:nvSpPr>
        <p:spPr>
          <a:xfrm>
            <a:off x="457200" y="1737360"/>
            <a:ext cx="11247120" cy="132588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737360"/>
            <a:ext cx="73152" cy="1325880"/>
          </a:xfrm>
          <a:prstGeom prst="rect">
            <a:avLst/>
          </a:prstGeom>
          <a:solidFill>
            <a:srgbClr val="3A7CB8"/>
          </a:solidFill>
          <a:ln/>
        </p:spPr>
      </p:sp>
      <p:sp>
        <p:nvSpPr>
          <p:cNvPr id="7" name="Shape 5"/>
          <p:cNvSpPr/>
          <p:nvPr/>
        </p:nvSpPr>
        <p:spPr>
          <a:xfrm>
            <a:off x="731520" y="1938528"/>
            <a:ext cx="914400" cy="914400"/>
          </a:xfrm>
          <a:prstGeom prst="ellipse">
            <a:avLst/>
          </a:prstGeom>
          <a:solidFill>
            <a:srgbClr val="3A7CB8"/>
          </a:solidFill>
          <a:ln/>
        </p:spPr>
      </p:sp>
      <p:pic>
        <p:nvPicPr>
          <p:cNvPr id="8" name="Image 0" descr="preencoded.png"/>
          <p:cNvPicPr>
            <a:picLocks noChangeAspect="1"/>
          </p:cNvPicPr>
          <p:nvPr/>
        </p:nvPicPr>
        <p:blipFill>
          <a:blip r:embed="rId3"/>
          <a:stretch>
            <a:fillRect/>
          </a:stretch>
        </p:blipFill>
        <p:spPr>
          <a:xfrm>
            <a:off x="914400" y="2121408"/>
            <a:ext cx="548640" cy="548640"/>
          </a:xfrm>
          <a:prstGeom prst="rect">
            <a:avLst/>
          </a:prstGeom>
        </p:spPr>
      </p:pic>
      <p:sp>
        <p:nvSpPr>
          <p:cNvPr id="9" name="Text 6"/>
          <p:cNvSpPr/>
          <p:nvPr/>
        </p:nvSpPr>
        <p:spPr>
          <a:xfrm>
            <a:off x="1920240" y="1737360"/>
            <a:ext cx="9418320" cy="457200"/>
          </a:xfrm>
          <a:prstGeom prst="rect">
            <a:avLst/>
          </a:prstGeom>
          <a:noFill/>
          <a:ln/>
        </p:spPr>
        <p:txBody>
          <a:bodyPr wrap="square" rtlCol="0" anchor="b"/>
          <a:lstStyle/>
          <a:p>
            <a:pPr marL="0" indent="0">
              <a:buNone/>
            </a:pPr>
            <a:r>
              <a:rPr lang="en-US" sz="1500" b="1" dirty="0">
                <a:solidFill>
                  <a:srgbClr val="3A7CB8"/>
                </a:solidFill>
                <a:latin typeface="Georgia" pitchFamily="34" charset="0"/>
                <a:ea typeface="Georgia" pitchFamily="34" charset="-122"/>
                <a:cs typeface="Georgia" pitchFamily="34" charset="-120"/>
              </a:rPr>
              <a:t>TRILL (RFC 6325, IETF)</a:t>
            </a:r>
            <a:endParaRPr lang="en-US" sz="1500" dirty="0"/>
          </a:p>
        </p:txBody>
      </p:sp>
      <p:sp>
        <p:nvSpPr>
          <p:cNvPr id="10" name="Text 7"/>
          <p:cNvSpPr/>
          <p:nvPr/>
        </p:nvSpPr>
        <p:spPr>
          <a:xfrm>
            <a:off x="1920240" y="2240280"/>
            <a:ext cx="9418320" cy="77724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Replaces STP in data center and campus environments by running a link-state routing protocol (IS-IS) at Layer 2. TRILL enables multipath forwarding, eliminates blocked links, and provides fast convergence.</a:t>
            </a:r>
            <a:endParaRPr lang="en-US" sz="1600" dirty="0"/>
          </a:p>
        </p:txBody>
      </p:sp>
      <p:sp>
        <p:nvSpPr>
          <p:cNvPr id="11" name="Shape 8"/>
          <p:cNvSpPr/>
          <p:nvPr/>
        </p:nvSpPr>
        <p:spPr>
          <a:xfrm>
            <a:off x="457200" y="3291840"/>
            <a:ext cx="11247120" cy="1325880"/>
          </a:xfrm>
          <a:prstGeom prst="rect">
            <a:avLst/>
          </a:prstGeom>
          <a:solidFill>
            <a:srgbClr val="FFFFFF"/>
          </a:solidFill>
          <a:ln/>
          <a:effectLst>
            <a:outerShdw blurRad="50800" dist="25400" dir="8100000" algn="bl" rotWithShape="0">
              <a:srgbClr val="000000">
                <a:alpha val="12000"/>
              </a:srgbClr>
            </a:outerShdw>
          </a:effectLst>
        </p:spPr>
      </p:sp>
      <p:sp>
        <p:nvSpPr>
          <p:cNvPr id="12" name="Shape 9"/>
          <p:cNvSpPr/>
          <p:nvPr/>
        </p:nvSpPr>
        <p:spPr>
          <a:xfrm>
            <a:off x="457200" y="3291840"/>
            <a:ext cx="73152" cy="1325880"/>
          </a:xfrm>
          <a:prstGeom prst="rect">
            <a:avLst/>
          </a:prstGeom>
          <a:solidFill>
            <a:srgbClr val="F59E0B"/>
          </a:solidFill>
          <a:ln/>
        </p:spPr>
      </p:sp>
      <p:sp>
        <p:nvSpPr>
          <p:cNvPr id="13" name="Shape 10"/>
          <p:cNvSpPr/>
          <p:nvPr/>
        </p:nvSpPr>
        <p:spPr>
          <a:xfrm>
            <a:off x="731520" y="3493008"/>
            <a:ext cx="914400" cy="914400"/>
          </a:xfrm>
          <a:prstGeom prst="ellipse">
            <a:avLst/>
          </a:prstGeom>
          <a:solidFill>
            <a:srgbClr val="F59E0B"/>
          </a:solidFill>
          <a:ln/>
        </p:spPr>
      </p:sp>
      <p:pic>
        <p:nvPicPr>
          <p:cNvPr id="14" name="Image 1" descr="preencoded.png"/>
          <p:cNvPicPr>
            <a:picLocks noChangeAspect="1"/>
          </p:cNvPicPr>
          <p:nvPr/>
        </p:nvPicPr>
        <p:blipFill>
          <a:blip r:embed="rId4"/>
          <a:stretch>
            <a:fillRect/>
          </a:stretch>
        </p:blipFill>
        <p:spPr>
          <a:xfrm>
            <a:off x="914400" y="3675888"/>
            <a:ext cx="548640" cy="548640"/>
          </a:xfrm>
          <a:prstGeom prst="rect">
            <a:avLst/>
          </a:prstGeom>
        </p:spPr>
      </p:pic>
      <p:sp>
        <p:nvSpPr>
          <p:cNvPr id="15" name="Text 11"/>
          <p:cNvSpPr/>
          <p:nvPr/>
        </p:nvSpPr>
        <p:spPr>
          <a:xfrm>
            <a:off x="1920240" y="3291840"/>
            <a:ext cx="9418320" cy="457200"/>
          </a:xfrm>
          <a:prstGeom prst="rect">
            <a:avLst/>
          </a:prstGeom>
          <a:noFill/>
          <a:ln/>
        </p:spPr>
        <p:txBody>
          <a:bodyPr wrap="square" rtlCol="0" anchor="b"/>
          <a:lstStyle/>
          <a:p>
            <a:pPr marL="0" indent="0">
              <a:buNone/>
            </a:pPr>
            <a:r>
              <a:rPr lang="en-US" sz="1500" b="1" dirty="0">
                <a:solidFill>
                  <a:srgbClr val="F59E0B"/>
                </a:solidFill>
                <a:latin typeface="Georgia" pitchFamily="34" charset="0"/>
                <a:ea typeface="Georgia" pitchFamily="34" charset="-122"/>
                <a:cs typeface="Georgia" pitchFamily="34" charset="-120"/>
              </a:rPr>
              <a:t>Provider Bridging (IEEE 802.1ad, Q-in-Q)</a:t>
            </a:r>
            <a:endParaRPr lang="en-US" sz="1500" dirty="0"/>
          </a:p>
        </p:txBody>
      </p:sp>
      <p:sp>
        <p:nvSpPr>
          <p:cNvPr id="16" name="Text 12"/>
          <p:cNvSpPr/>
          <p:nvPr/>
        </p:nvSpPr>
        <p:spPr>
          <a:xfrm>
            <a:off x="1920240" y="3794760"/>
            <a:ext cx="9418320" cy="77724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Extends the 802.1Q VLAN tag by adding a second, outer tag called the Service VLAN (S-VLAN). This allows service providers to transport customer VLAN traffic while keeping customer VLAN spaces isolated.</a:t>
            </a:r>
            <a:endParaRPr lang="en-US" sz="1600" dirty="0"/>
          </a:p>
        </p:txBody>
      </p:sp>
      <p:sp>
        <p:nvSpPr>
          <p:cNvPr id="17" name="Shape 13"/>
          <p:cNvSpPr/>
          <p:nvPr/>
        </p:nvSpPr>
        <p:spPr>
          <a:xfrm>
            <a:off x="457200" y="4846320"/>
            <a:ext cx="11247120" cy="1325880"/>
          </a:xfrm>
          <a:prstGeom prst="rect">
            <a:avLst/>
          </a:prstGeom>
          <a:solidFill>
            <a:srgbClr val="FFFFFF"/>
          </a:solidFill>
          <a:ln/>
          <a:effectLst>
            <a:outerShdw blurRad="50800" dist="25400" dir="8100000" algn="bl" rotWithShape="0">
              <a:srgbClr val="000000">
                <a:alpha val="12000"/>
              </a:srgbClr>
            </a:outerShdw>
          </a:effectLst>
        </p:spPr>
      </p:sp>
      <p:sp>
        <p:nvSpPr>
          <p:cNvPr id="18" name="Shape 14"/>
          <p:cNvSpPr/>
          <p:nvPr/>
        </p:nvSpPr>
        <p:spPr>
          <a:xfrm>
            <a:off x="457200" y="4846320"/>
            <a:ext cx="73152" cy="1325880"/>
          </a:xfrm>
          <a:prstGeom prst="rect">
            <a:avLst/>
          </a:prstGeom>
          <a:solidFill>
            <a:srgbClr val="1B3A5C"/>
          </a:solidFill>
          <a:ln/>
        </p:spPr>
      </p:sp>
      <p:sp>
        <p:nvSpPr>
          <p:cNvPr id="19" name="Shape 15"/>
          <p:cNvSpPr/>
          <p:nvPr/>
        </p:nvSpPr>
        <p:spPr>
          <a:xfrm>
            <a:off x="731520" y="5047488"/>
            <a:ext cx="914400" cy="914400"/>
          </a:xfrm>
          <a:prstGeom prst="ellipse">
            <a:avLst/>
          </a:prstGeom>
          <a:solidFill>
            <a:srgbClr val="1B3A5C"/>
          </a:solidFill>
          <a:ln/>
        </p:spPr>
      </p:sp>
      <p:pic>
        <p:nvPicPr>
          <p:cNvPr id="20" name="Image 2" descr="preencoded.png"/>
          <p:cNvPicPr>
            <a:picLocks noChangeAspect="1"/>
          </p:cNvPicPr>
          <p:nvPr/>
        </p:nvPicPr>
        <p:blipFill>
          <a:blip r:embed="rId5"/>
          <a:stretch>
            <a:fillRect/>
          </a:stretch>
        </p:blipFill>
        <p:spPr>
          <a:xfrm>
            <a:off x="914400" y="5230368"/>
            <a:ext cx="548640" cy="548640"/>
          </a:xfrm>
          <a:prstGeom prst="rect">
            <a:avLst/>
          </a:prstGeom>
        </p:spPr>
      </p:pic>
      <p:sp>
        <p:nvSpPr>
          <p:cNvPr id="21" name="Text 16"/>
          <p:cNvSpPr/>
          <p:nvPr/>
        </p:nvSpPr>
        <p:spPr>
          <a:xfrm>
            <a:off x="1920240" y="4846320"/>
            <a:ext cx="9418320" cy="457200"/>
          </a:xfrm>
          <a:prstGeom prst="rect">
            <a:avLst/>
          </a:prstGeom>
          <a:noFill/>
          <a:ln/>
        </p:spPr>
        <p:txBody>
          <a:bodyPr wrap="square" rtlCol="0" anchor="b"/>
          <a:lstStyle/>
          <a:p>
            <a:pPr marL="0" indent="0">
              <a:buNone/>
            </a:pPr>
            <a:r>
              <a:rPr lang="en-US" sz="1500" b="1" dirty="0">
                <a:solidFill>
                  <a:srgbClr val="1B3A5C"/>
                </a:solidFill>
                <a:latin typeface="Georgia" pitchFamily="34" charset="0"/>
                <a:ea typeface="Georgia" pitchFamily="34" charset="-122"/>
                <a:cs typeface="Georgia" pitchFamily="34" charset="-120"/>
              </a:rPr>
              <a:t>Provider Backbone Bridging (IEEE 802.1ah, MAC-in-MAC)</a:t>
            </a:r>
            <a:endParaRPr lang="en-US" sz="1500" dirty="0"/>
          </a:p>
        </p:txBody>
      </p:sp>
      <p:sp>
        <p:nvSpPr>
          <p:cNvPr id="22" name="Text 17"/>
          <p:cNvSpPr/>
          <p:nvPr/>
        </p:nvSpPr>
        <p:spPr>
          <a:xfrm>
            <a:off x="1920240" y="5349240"/>
            <a:ext cx="9418320" cy="77724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Encapsulates the entire customer Ethernet frame inside a new backbone MAC header. This completely isolates customer MAC addresses from the provider backbone.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3A7CB8"/>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3A7CB8"/>
                </a:solidFill>
                <a:latin typeface="Calibri" pitchFamily="34" charset="0"/>
                <a:ea typeface="Calibri" pitchFamily="34" charset="-122"/>
                <a:cs typeface="Calibri" pitchFamily="34" charset="-120"/>
              </a:rPr>
              <a:t>MODULE 2</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TRILL — Transparent</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Interconnection of Lots of Links</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IETF RFC 6325  •  IS-IS at Layer 2  •  Equal-Cost Multipath  •  0:20–0:45</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STP LIMITATION — BLOCKED REDUNDANT LINKS</a:t>
            </a:r>
            <a:endParaRPr lang="en-US" sz="2600" dirty="0"/>
          </a:p>
        </p:txBody>
      </p:sp>
      <p:pic>
        <p:nvPicPr>
          <p:cNvPr id="4" name="Image 0" descr="preencoded.png"/>
          <p:cNvPicPr>
            <a:picLocks noChangeAspect="1"/>
          </p:cNvPicPr>
          <p:nvPr/>
        </p:nvPicPr>
        <p:blipFill>
          <a:blip r:embed="rId3"/>
          <a:stretch>
            <a:fillRect/>
          </a:stretch>
        </p:blipFill>
        <p:spPr>
          <a:xfrm>
            <a:off x="274320" y="1005840"/>
            <a:ext cx="6858000" cy="3840480"/>
          </a:xfrm>
          <a:prstGeom prst="rect">
            <a:avLst/>
          </a:prstGeom>
        </p:spPr>
      </p:pic>
      <p:sp>
        <p:nvSpPr>
          <p:cNvPr id="5" name="Shape 2"/>
          <p:cNvSpPr/>
          <p:nvPr/>
        </p:nvSpPr>
        <p:spPr>
          <a:xfrm>
            <a:off x="7498080" y="1188720"/>
            <a:ext cx="4389120" cy="1097280"/>
          </a:xfrm>
          <a:prstGeom prst="rect">
            <a:avLst/>
          </a:prstGeom>
          <a:solidFill>
            <a:srgbClr val="FFFFFF"/>
          </a:solidFill>
          <a:ln/>
          <a:effectLst>
            <a:outerShdw blurRad="50800" dist="25400" dir="8100000" algn="bl" rotWithShape="0">
              <a:srgbClr val="000000">
                <a:alpha val="12000"/>
              </a:srgbClr>
            </a:outerShdw>
          </a:effectLst>
        </p:spPr>
      </p:sp>
      <p:sp>
        <p:nvSpPr>
          <p:cNvPr id="6" name="Text 3"/>
          <p:cNvSpPr/>
          <p:nvPr/>
        </p:nvSpPr>
        <p:spPr>
          <a:xfrm>
            <a:off x="7635240" y="1188720"/>
            <a:ext cx="1463040" cy="1097280"/>
          </a:xfrm>
          <a:prstGeom prst="rect">
            <a:avLst/>
          </a:prstGeom>
          <a:noFill/>
          <a:ln/>
        </p:spPr>
        <p:txBody>
          <a:bodyPr wrap="square" rtlCol="0" anchor="ctr"/>
          <a:lstStyle/>
          <a:p>
            <a:pPr marL="0" indent="0" algn="ctr">
              <a:buNone/>
            </a:pPr>
            <a:r>
              <a:rPr lang="en-US" sz="3200" b="1" dirty="0">
                <a:solidFill>
                  <a:srgbClr val="EF4444"/>
                </a:solidFill>
                <a:latin typeface="Georgia" pitchFamily="34" charset="0"/>
                <a:ea typeface="Georgia" pitchFamily="34" charset="-122"/>
                <a:cs typeface="Georgia" pitchFamily="34" charset="-120"/>
              </a:rPr>
              <a:t>50%</a:t>
            </a:r>
            <a:endParaRPr lang="en-US" sz="3200" dirty="0"/>
          </a:p>
        </p:txBody>
      </p:sp>
      <p:sp>
        <p:nvSpPr>
          <p:cNvPr id="7" name="Text 4"/>
          <p:cNvSpPr/>
          <p:nvPr/>
        </p:nvSpPr>
        <p:spPr>
          <a:xfrm>
            <a:off x="9144000" y="1188720"/>
            <a:ext cx="2560320" cy="1097280"/>
          </a:xfrm>
          <a:prstGeom prst="rect">
            <a:avLst/>
          </a:prstGeom>
          <a:noFill/>
          <a:ln/>
        </p:spPr>
        <p:txBody>
          <a:bodyPr wrap="square" rtlCol="0" anchor="ctr"/>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bandwidth wasted</a:t>
            </a:r>
            <a:endParaRPr lang="en-US" dirty="0"/>
          </a:p>
          <a:p>
            <a:pPr marL="0" indent="0">
              <a:lnSpc>
                <a:spcPct val="140000"/>
              </a:lnSpc>
              <a:buNone/>
            </a:pPr>
            <a:r>
              <a:rPr lang="en-US" dirty="0">
                <a:solidFill>
                  <a:srgbClr val="1E293B"/>
                </a:solidFill>
                <a:latin typeface="Calibri" pitchFamily="34" charset="0"/>
                <a:ea typeface="Calibri" pitchFamily="34" charset="-122"/>
                <a:cs typeface="Calibri" pitchFamily="34" charset="-120"/>
              </a:rPr>
              <a:t>by blocked links</a:t>
            </a:r>
            <a:endParaRPr lang="en-US" dirty="0"/>
          </a:p>
        </p:txBody>
      </p:sp>
      <p:sp>
        <p:nvSpPr>
          <p:cNvPr id="8" name="Shape 5"/>
          <p:cNvSpPr/>
          <p:nvPr/>
        </p:nvSpPr>
        <p:spPr>
          <a:xfrm>
            <a:off x="7498080" y="2560320"/>
            <a:ext cx="4389120" cy="1097280"/>
          </a:xfrm>
          <a:prstGeom prst="rect">
            <a:avLst/>
          </a:prstGeom>
          <a:solidFill>
            <a:srgbClr val="FFFFFF"/>
          </a:solidFill>
          <a:ln/>
          <a:effectLst>
            <a:outerShdw blurRad="50800" dist="25400" dir="8100000" algn="bl" rotWithShape="0">
              <a:srgbClr val="000000">
                <a:alpha val="12000"/>
              </a:srgbClr>
            </a:outerShdw>
          </a:effectLst>
        </p:spPr>
      </p:sp>
      <p:sp>
        <p:nvSpPr>
          <p:cNvPr id="9" name="Text 6"/>
          <p:cNvSpPr/>
          <p:nvPr/>
        </p:nvSpPr>
        <p:spPr>
          <a:xfrm>
            <a:off x="7635240" y="2560320"/>
            <a:ext cx="1463040" cy="1097280"/>
          </a:xfrm>
          <a:prstGeom prst="rect">
            <a:avLst/>
          </a:prstGeom>
          <a:noFill/>
          <a:ln/>
        </p:spPr>
        <p:txBody>
          <a:bodyPr wrap="square" rtlCol="0" anchor="ctr"/>
          <a:lstStyle/>
          <a:p>
            <a:pPr marL="0" indent="0" algn="ctr">
              <a:buNone/>
            </a:pPr>
            <a:r>
              <a:rPr lang="en-US" sz="3200" b="1" dirty="0">
                <a:solidFill>
                  <a:srgbClr val="EF4444"/>
                </a:solidFill>
                <a:latin typeface="Georgia" pitchFamily="34" charset="0"/>
                <a:ea typeface="Georgia" pitchFamily="34" charset="-122"/>
                <a:cs typeface="Georgia" pitchFamily="34" charset="-120"/>
              </a:rPr>
              <a:t>30–50s</a:t>
            </a:r>
            <a:endParaRPr lang="en-US" sz="3200" dirty="0"/>
          </a:p>
        </p:txBody>
      </p:sp>
      <p:sp>
        <p:nvSpPr>
          <p:cNvPr id="10" name="Text 7"/>
          <p:cNvSpPr/>
          <p:nvPr/>
        </p:nvSpPr>
        <p:spPr>
          <a:xfrm>
            <a:off x="9144000" y="2560320"/>
            <a:ext cx="2560320" cy="1097280"/>
          </a:xfrm>
          <a:prstGeom prst="rect">
            <a:avLst/>
          </a:prstGeom>
          <a:noFill/>
          <a:ln/>
        </p:spPr>
        <p:txBody>
          <a:bodyPr wrap="square" rtlCol="0" anchor="ctr"/>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convergence time</a:t>
            </a:r>
            <a:endParaRPr lang="en-US" dirty="0"/>
          </a:p>
          <a:p>
            <a:pPr marL="0" indent="0">
              <a:lnSpc>
                <a:spcPct val="140000"/>
              </a:lnSpc>
              <a:buNone/>
            </a:pPr>
            <a:r>
              <a:rPr lang="en-US" dirty="0">
                <a:solidFill>
                  <a:srgbClr val="1E293B"/>
                </a:solidFill>
                <a:latin typeface="Calibri" pitchFamily="34" charset="0"/>
                <a:ea typeface="Calibri" pitchFamily="34" charset="-122"/>
                <a:cs typeface="Calibri" pitchFamily="34" charset="-120"/>
              </a:rPr>
              <a:t>after topology change</a:t>
            </a:r>
            <a:endParaRPr lang="en-US" dirty="0"/>
          </a:p>
        </p:txBody>
      </p:sp>
      <p:sp>
        <p:nvSpPr>
          <p:cNvPr id="11" name="Shape 8"/>
          <p:cNvSpPr/>
          <p:nvPr/>
        </p:nvSpPr>
        <p:spPr>
          <a:xfrm>
            <a:off x="7498080" y="3931920"/>
            <a:ext cx="4389120" cy="1097280"/>
          </a:xfrm>
          <a:prstGeom prst="rect">
            <a:avLst/>
          </a:prstGeom>
          <a:solidFill>
            <a:srgbClr val="FFFFFF"/>
          </a:solidFill>
          <a:ln/>
          <a:effectLst>
            <a:outerShdw blurRad="50800" dist="25400" dir="8100000" algn="bl" rotWithShape="0">
              <a:srgbClr val="000000">
                <a:alpha val="12000"/>
              </a:srgbClr>
            </a:outerShdw>
          </a:effectLst>
        </p:spPr>
      </p:sp>
      <p:sp>
        <p:nvSpPr>
          <p:cNvPr id="12" name="Text 9"/>
          <p:cNvSpPr/>
          <p:nvPr/>
        </p:nvSpPr>
        <p:spPr>
          <a:xfrm>
            <a:off x="7635240" y="3931920"/>
            <a:ext cx="1463040" cy="1097280"/>
          </a:xfrm>
          <a:prstGeom prst="rect">
            <a:avLst/>
          </a:prstGeom>
          <a:noFill/>
          <a:ln/>
        </p:spPr>
        <p:txBody>
          <a:bodyPr wrap="square" rtlCol="0" anchor="ctr"/>
          <a:lstStyle/>
          <a:p>
            <a:pPr marL="0" indent="0" algn="ctr">
              <a:buNone/>
            </a:pPr>
            <a:r>
              <a:rPr lang="en-US" sz="3200" b="1" dirty="0">
                <a:solidFill>
                  <a:srgbClr val="EF4444"/>
                </a:solidFill>
                <a:latin typeface="Georgia" pitchFamily="34" charset="0"/>
                <a:ea typeface="Georgia" pitchFamily="34" charset="-122"/>
                <a:cs typeface="Georgia" pitchFamily="34" charset="-120"/>
              </a:rPr>
              <a:t>4,094</a:t>
            </a:r>
            <a:endParaRPr lang="en-US" sz="3200" dirty="0"/>
          </a:p>
        </p:txBody>
      </p:sp>
      <p:sp>
        <p:nvSpPr>
          <p:cNvPr id="13" name="Text 10"/>
          <p:cNvSpPr/>
          <p:nvPr/>
        </p:nvSpPr>
        <p:spPr>
          <a:xfrm>
            <a:off x="9144000" y="3931920"/>
            <a:ext cx="2560320" cy="1097280"/>
          </a:xfrm>
          <a:prstGeom prst="rect">
            <a:avLst/>
          </a:prstGeom>
          <a:noFill/>
          <a:ln/>
        </p:spPr>
        <p:txBody>
          <a:bodyPr wrap="square" rtlCol="0" anchor="ctr"/>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maximum VLANs</a:t>
            </a:r>
            <a:endParaRPr lang="en-US" dirty="0"/>
          </a:p>
          <a:p>
            <a:pPr marL="0" indent="0">
              <a:lnSpc>
                <a:spcPct val="140000"/>
              </a:lnSpc>
              <a:buNone/>
            </a:pPr>
            <a:r>
              <a:rPr lang="en-US" dirty="0">
                <a:solidFill>
                  <a:srgbClr val="1E293B"/>
                </a:solidFill>
                <a:latin typeface="Calibri" pitchFamily="34" charset="0"/>
                <a:ea typeface="Calibri" pitchFamily="34" charset="-122"/>
                <a:cs typeface="Calibri" pitchFamily="34" charset="-120"/>
              </a:rPr>
              <a:t>(802.1Q limit)</a:t>
            </a:r>
            <a:endParaRPr lang="en-US" dirty="0"/>
          </a:p>
        </p:txBody>
      </p:sp>
      <p:sp>
        <p:nvSpPr>
          <p:cNvPr id="14" name="Text 11"/>
          <p:cNvSpPr/>
          <p:nvPr/>
        </p:nvSpPr>
        <p:spPr>
          <a:xfrm>
            <a:off x="457200" y="5212080"/>
            <a:ext cx="10972800" cy="548640"/>
          </a:xfrm>
          <a:prstGeom prst="rect">
            <a:avLst/>
          </a:prstGeom>
          <a:noFill/>
          <a:ln/>
        </p:spPr>
        <p:txBody>
          <a:bodyPr wrap="square" rtlCol="0" anchor="t"/>
          <a:lstStyle/>
          <a:p>
            <a:pPr marL="0" indent="0">
              <a:lnSpc>
                <a:spcPct val="140000"/>
              </a:lnSpc>
              <a:buNone/>
            </a:pPr>
            <a:r>
              <a:rPr lang="en-US" sz="1600" b="1" i="1" dirty="0">
                <a:solidFill>
                  <a:srgbClr val="64748B"/>
                </a:solidFill>
                <a:latin typeface="Calibri" pitchFamily="34" charset="0"/>
                <a:ea typeface="Calibri" pitchFamily="34" charset="-122"/>
                <a:cs typeface="Calibri" pitchFamily="34" charset="-120"/>
              </a:rPr>
              <a:t>STP blocks redundant links, wastes bandwidth, and converges slowly — driving the need for advanced technologies.</a:t>
            </a:r>
            <a:endParaRPr lang="en-US"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2.1 TRILL OVERVIEW AND MOTIVATION</a:t>
            </a:r>
            <a:endParaRPr lang="en-US" sz="2600" dirty="0"/>
          </a:p>
        </p:txBody>
      </p:sp>
      <p:sp>
        <p:nvSpPr>
          <p:cNvPr id="4" name="Text 2"/>
          <p:cNvSpPr/>
          <p:nvPr/>
        </p:nvSpPr>
        <p:spPr>
          <a:xfrm>
            <a:off x="320842" y="1342724"/>
            <a:ext cx="10972800" cy="914400"/>
          </a:xfrm>
          <a:prstGeom prst="rect">
            <a:avLst/>
          </a:prstGeom>
          <a:noFill/>
          <a:ln/>
        </p:spPr>
        <p:txBody>
          <a:bodyPr wrap="square" rtlCol="0" anchor="t"/>
          <a:lstStyle/>
          <a:p>
            <a:pPr marL="0" indent="0">
              <a:lnSpc>
                <a:spcPct val="140000"/>
              </a:lnSpc>
              <a:buNone/>
            </a:pPr>
            <a:r>
              <a:rPr lang="en-US" b="1" dirty="0">
                <a:solidFill>
                  <a:srgbClr val="1E293B"/>
                </a:solidFill>
                <a:latin typeface="Calibri" pitchFamily="34" charset="0"/>
                <a:ea typeface="Calibri" pitchFamily="34" charset="-122"/>
                <a:cs typeface="Calibri" pitchFamily="34" charset="-120"/>
              </a:rPr>
              <a:t>TRILL, standardized in IETF RFC 6325 (published in 2011), was designed to solve the fundamental problems of the Spanning Tree Protocol in large Layer 2 networks, particularly data centers. The key motivations include:</a:t>
            </a:r>
            <a:endParaRPr lang="en-US" b="1" dirty="0"/>
          </a:p>
        </p:txBody>
      </p:sp>
      <p:sp>
        <p:nvSpPr>
          <p:cNvPr id="5" name="Text 3"/>
          <p:cNvSpPr/>
          <p:nvPr/>
        </p:nvSpPr>
        <p:spPr>
          <a:xfrm>
            <a:off x="320842" y="2057400"/>
            <a:ext cx="10972800" cy="27432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Eliminating the need for STP and its inherent waste of blocked links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Enabling Equal-Cost Multipath (ECMP) routing at Layer 2 for better bandwidth utilization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Achieving sub-second convergence upon link or node failure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Supporting large-scale data center fabrics with potentially thousands of switches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Maintaining backward compatibility with existing 802.1Q VLANs and Ethernet end stations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2.2 RBRIDGES (ROUTING BRIDGES)</a:t>
            </a:r>
            <a:endParaRPr lang="en-US" sz="2600" dirty="0"/>
          </a:p>
        </p:txBody>
      </p:sp>
      <p:sp>
        <p:nvSpPr>
          <p:cNvPr id="4" name="Text 2"/>
          <p:cNvSpPr/>
          <p:nvPr/>
        </p:nvSpPr>
        <p:spPr>
          <a:xfrm>
            <a:off x="457200" y="1005840"/>
            <a:ext cx="10972800" cy="914400"/>
          </a:xfrm>
          <a:prstGeom prst="rect">
            <a:avLst/>
          </a:prstGeom>
          <a:noFill/>
          <a:ln/>
        </p:spPr>
        <p:txBody>
          <a:bodyPr wrap="square" rtlCol="0" anchor="t"/>
          <a:lstStyle/>
          <a:p>
            <a:pPr marL="0" indent="0">
              <a:lnSpc>
                <a:spcPct val="140000"/>
              </a:lnSpc>
              <a:buNone/>
            </a:pPr>
            <a:r>
              <a:rPr lang="en-US" sz="1400" dirty="0">
                <a:solidFill>
                  <a:srgbClr val="1E293B"/>
                </a:solidFill>
                <a:latin typeface="Calibri" pitchFamily="34" charset="0"/>
                <a:ea typeface="Calibri" pitchFamily="34" charset="-122"/>
                <a:cs typeface="Calibri" pitchFamily="34" charset="-120"/>
              </a:rPr>
              <a:t>The fundamental device in a TRILL network is the RBridge (Routing Bridge). An RBridge runs the IS-IS link-state routing protocol adapted for Layer 2. Each RBridge is assigned a unique 16-bit nickname used for forwarding decisions. RBridges operate in three roles:</a:t>
            </a:r>
            <a:endParaRPr lang="en-US" sz="1400" dirty="0"/>
          </a:p>
        </p:txBody>
      </p:sp>
      <p:sp>
        <p:nvSpPr>
          <p:cNvPr id="5" name="Shape 3"/>
          <p:cNvSpPr/>
          <p:nvPr/>
        </p:nvSpPr>
        <p:spPr>
          <a:xfrm>
            <a:off x="457200" y="210312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2103120"/>
            <a:ext cx="73152" cy="1051560"/>
          </a:xfrm>
          <a:prstGeom prst="rect">
            <a:avLst/>
          </a:prstGeom>
          <a:solidFill>
            <a:srgbClr val="3A7CB8"/>
          </a:solidFill>
          <a:ln/>
        </p:spPr>
      </p:sp>
      <p:sp>
        <p:nvSpPr>
          <p:cNvPr id="7" name="Text 5"/>
          <p:cNvSpPr/>
          <p:nvPr/>
        </p:nvSpPr>
        <p:spPr>
          <a:xfrm>
            <a:off x="777240" y="2103120"/>
            <a:ext cx="10698480" cy="1051560"/>
          </a:xfrm>
          <a:prstGeom prst="rect">
            <a:avLst/>
          </a:prstGeom>
          <a:noFill/>
          <a:ln/>
        </p:spPr>
        <p:txBody>
          <a:bodyPr wrap="square" rtlCol="0" anchor="ctr"/>
          <a:lstStyle/>
          <a:p>
            <a:pPr marL="0" indent="0">
              <a:buNone/>
            </a:pPr>
            <a:r>
              <a:rPr lang="en-US" b="1" dirty="0">
                <a:solidFill>
                  <a:srgbClr val="1B3A5C"/>
                </a:solidFill>
                <a:latin typeface="Georgia" pitchFamily="34" charset="0"/>
                <a:ea typeface="Georgia" pitchFamily="34" charset="-122"/>
                <a:cs typeface="Georgia" pitchFamily="34" charset="-120"/>
              </a:rPr>
              <a:t>Ingress RBridge:</a:t>
            </a:r>
            <a:r>
              <a:rPr lang="en-US" sz="1600" dirty="0">
                <a:solidFill>
                  <a:srgbClr val="1E293B"/>
                </a:solidFill>
                <a:latin typeface="Calibri" pitchFamily="34" charset="0"/>
                <a:ea typeface="Calibri" pitchFamily="34" charset="-122"/>
                <a:cs typeface="Calibri" pitchFamily="34" charset="-120"/>
              </a:rPr>
              <a:t> The first RBridge to receive a native Ethernet frame. It encapsulates the frame in a TRILL header before forwarding it into the TRILL campus.</a:t>
            </a:r>
            <a:endParaRPr lang="en-US" dirty="0"/>
          </a:p>
        </p:txBody>
      </p:sp>
      <p:sp>
        <p:nvSpPr>
          <p:cNvPr id="8" name="Shape 6"/>
          <p:cNvSpPr/>
          <p:nvPr/>
        </p:nvSpPr>
        <p:spPr>
          <a:xfrm>
            <a:off x="457200" y="338328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383280"/>
            <a:ext cx="73152" cy="1051560"/>
          </a:xfrm>
          <a:prstGeom prst="rect">
            <a:avLst/>
          </a:prstGeom>
          <a:solidFill>
            <a:srgbClr val="3A7CB8"/>
          </a:solidFill>
          <a:ln/>
        </p:spPr>
      </p:sp>
      <p:sp>
        <p:nvSpPr>
          <p:cNvPr id="10" name="Text 8"/>
          <p:cNvSpPr/>
          <p:nvPr/>
        </p:nvSpPr>
        <p:spPr>
          <a:xfrm>
            <a:off x="777240" y="3383280"/>
            <a:ext cx="10698480" cy="1051560"/>
          </a:xfrm>
          <a:prstGeom prst="rect">
            <a:avLst/>
          </a:prstGeom>
          <a:noFill/>
          <a:ln/>
        </p:spPr>
        <p:txBody>
          <a:bodyPr wrap="square" rtlCol="0" anchor="ctr"/>
          <a:lstStyle/>
          <a:p>
            <a:pPr marL="0" indent="0">
              <a:buNone/>
            </a:pPr>
            <a:r>
              <a:rPr lang="en-US" b="1" dirty="0">
                <a:solidFill>
                  <a:srgbClr val="1B3A5C"/>
                </a:solidFill>
                <a:latin typeface="Georgia" pitchFamily="34" charset="0"/>
                <a:ea typeface="Georgia" pitchFamily="34" charset="-122"/>
                <a:cs typeface="Georgia" pitchFamily="34" charset="-120"/>
              </a:rPr>
              <a:t>Egress RBridge:</a:t>
            </a:r>
            <a:r>
              <a:rPr lang="en-US" sz="1600" dirty="0">
                <a:solidFill>
                  <a:srgbClr val="1E293B"/>
                </a:solidFill>
                <a:latin typeface="Calibri" pitchFamily="34" charset="0"/>
                <a:ea typeface="Calibri" pitchFamily="34" charset="-122"/>
                <a:cs typeface="Calibri" pitchFamily="34" charset="-120"/>
              </a:rPr>
              <a:t> The last RBridge in the TRILL path. It decapsulates the TRILL header and delivers the native Ethernet frame to the destination</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466344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663440"/>
            <a:ext cx="73152" cy="1051560"/>
          </a:xfrm>
          <a:prstGeom prst="rect">
            <a:avLst/>
          </a:prstGeom>
          <a:solidFill>
            <a:srgbClr val="3A7CB8"/>
          </a:solidFill>
          <a:ln/>
        </p:spPr>
      </p:sp>
      <p:sp>
        <p:nvSpPr>
          <p:cNvPr id="13" name="Text 11"/>
          <p:cNvSpPr/>
          <p:nvPr/>
        </p:nvSpPr>
        <p:spPr>
          <a:xfrm>
            <a:off x="777240" y="4663440"/>
            <a:ext cx="10698480" cy="1051560"/>
          </a:xfrm>
          <a:prstGeom prst="rect">
            <a:avLst/>
          </a:prstGeom>
          <a:noFill/>
          <a:ln/>
        </p:spPr>
        <p:txBody>
          <a:bodyPr wrap="square" rtlCol="0" anchor="ctr"/>
          <a:lstStyle/>
          <a:p>
            <a:pPr marL="0" indent="0">
              <a:buNone/>
            </a:pPr>
            <a:r>
              <a:rPr lang="en-US" b="1" dirty="0">
                <a:solidFill>
                  <a:srgbClr val="1B3A5C"/>
                </a:solidFill>
                <a:latin typeface="Georgia" pitchFamily="34" charset="0"/>
                <a:ea typeface="Georgia" pitchFamily="34" charset="-122"/>
                <a:cs typeface="Georgia" pitchFamily="34" charset="-120"/>
              </a:rPr>
              <a:t>Transit RBridge:</a:t>
            </a:r>
            <a:r>
              <a:rPr lang="en-US" sz="1600" dirty="0">
                <a:solidFill>
                  <a:srgbClr val="1E293B"/>
                </a:solidFill>
                <a:latin typeface="Calibri" pitchFamily="34" charset="0"/>
                <a:ea typeface="Calibri" pitchFamily="34" charset="-122"/>
                <a:cs typeface="Calibri" pitchFamily="34" charset="-120"/>
              </a:rPr>
              <a:t> An intermediate RBridge that forwards TRILL-encapsulated frames based on the TRILL header, without examining the inner Ethernet frame.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CAMPUS ARCHITECTURE</a:t>
            </a:r>
            <a:endParaRPr lang="en-US" sz="2600" dirty="0"/>
          </a:p>
        </p:txBody>
      </p:sp>
      <p:pic>
        <p:nvPicPr>
          <p:cNvPr id="4" name="Image 0" descr="preencoded.png"/>
          <p:cNvPicPr>
            <a:picLocks noChangeAspect="1"/>
          </p:cNvPicPr>
          <p:nvPr/>
        </p:nvPicPr>
        <p:blipFill>
          <a:blip r:embed="rId3"/>
          <a:stretch>
            <a:fillRect/>
          </a:stretch>
        </p:blipFill>
        <p:spPr>
          <a:xfrm>
            <a:off x="1371600" y="1005840"/>
            <a:ext cx="9418320" cy="5486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HEADER FORMAT AND ENCAPSULATION STACK</a:t>
            </a:r>
            <a:endParaRPr lang="en-US" sz="2600" dirty="0"/>
          </a:p>
        </p:txBody>
      </p:sp>
      <p:sp>
        <p:nvSpPr>
          <p:cNvPr id="4" name="Text 2"/>
          <p:cNvSpPr/>
          <p:nvPr/>
        </p:nvSpPr>
        <p:spPr>
          <a:xfrm>
            <a:off x="457200" y="1005840"/>
            <a:ext cx="50292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TRILL Header Fields</a:t>
            </a:r>
            <a:endParaRPr lang="en-US" sz="1800" dirty="0"/>
          </a:p>
        </p:txBody>
      </p:sp>
      <p:sp>
        <p:nvSpPr>
          <p:cNvPr id="5" name="Text 3"/>
          <p:cNvSpPr/>
          <p:nvPr/>
        </p:nvSpPr>
        <p:spPr>
          <a:xfrm>
            <a:off x="304800" y="1714500"/>
            <a:ext cx="5303520" cy="27432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Version (V): 2 bits, currently set to 0</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Multi-destination (M): 1 bit, set to 1 for broadcast/multicast/unknown unicast frames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Hop Count: 6 bits, decremented at each transit RBridge to prevent infinite loops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Egress RBridge Nickname: 16 bits, identifies the destination RBridge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Ingress RBridge Nickname: 16 bits, identifies the source RBridge</a:t>
            </a:r>
            <a:endParaRPr lang="en-US" dirty="0"/>
          </a:p>
        </p:txBody>
      </p:sp>
      <p:sp>
        <p:nvSpPr>
          <p:cNvPr id="6" name="Text 4"/>
          <p:cNvSpPr/>
          <p:nvPr/>
        </p:nvSpPr>
        <p:spPr>
          <a:xfrm>
            <a:off x="6217920" y="1005840"/>
            <a:ext cx="54864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Encapsulation Stack</a:t>
            </a:r>
            <a:endParaRPr lang="en-US" sz="1800" dirty="0"/>
          </a:p>
        </p:txBody>
      </p:sp>
      <p:sp>
        <p:nvSpPr>
          <p:cNvPr id="7" name="Shape 5"/>
          <p:cNvSpPr/>
          <p:nvPr/>
        </p:nvSpPr>
        <p:spPr>
          <a:xfrm>
            <a:off x="6217920" y="1508760"/>
            <a:ext cx="5669280" cy="411480"/>
          </a:xfrm>
          <a:prstGeom prst="rect">
            <a:avLst/>
          </a:prstGeom>
          <a:solidFill>
            <a:srgbClr val="E0D5F0"/>
          </a:solidFill>
          <a:ln/>
          <a:effectLst>
            <a:outerShdw blurRad="50800" dist="25400" dir="8100000" algn="bl" rotWithShape="0">
              <a:srgbClr val="000000">
                <a:alpha val="12000"/>
              </a:srgbClr>
            </a:outerShdw>
          </a:effectLst>
        </p:spPr>
      </p:sp>
      <p:sp>
        <p:nvSpPr>
          <p:cNvPr id="8" name="Text 6"/>
          <p:cNvSpPr/>
          <p:nvPr/>
        </p:nvSpPr>
        <p:spPr>
          <a:xfrm>
            <a:off x="6400800" y="1508760"/>
            <a:ext cx="530352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1. Outer Ethernet Header (outer MACs, EtherType 0x22F3)</a:t>
            </a:r>
            <a:endParaRPr lang="en-US" sz="1400" dirty="0"/>
          </a:p>
        </p:txBody>
      </p:sp>
      <p:sp>
        <p:nvSpPr>
          <p:cNvPr id="9" name="Shape 7"/>
          <p:cNvSpPr/>
          <p:nvPr/>
        </p:nvSpPr>
        <p:spPr>
          <a:xfrm>
            <a:off x="6217920" y="2011680"/>
            <a:ext cx="5669280" cy="411480"/>
          </a:xfrm>
          <a:prstGeom prst="rect">
            <a:avLst/>
          </a:prstGeom>
          <a:solidFill>
            <a:srgbClr val="E0D5F0"/>
          </a:solidFill>
          <a:ln/>
          <a:effectLst>
            <a:outerShdw blurRad="50800" dist="25400" dir="8100000" algn="bl" rotWithShape="0">
              <a:srgbClr val="000000">
                <a:alpha val="12000"/>
              </a:srgbClr>
            </a:outerShdw>
          </a:effectLst>
        </p:spPr>
      </p:sp>
      <p:sp>
        <p:nvSpPr>
          <p:cNvPr id="10" name="Text 8"/>
          <p:cNvSpPr/>
          <p:nvPr/>
        </p:nvSpPr>
        <p:spPr>
          <a:xfrm>
            <a:off x="6400800" y="2011680"/>
            <a:ext cx="530352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2. TRILL Header (ingress/egress nickname, hop count, M-bit)</a:t>
            </a:r>
            <a:endParaRPr lang="en-US" sz="1400" dirty="0"/>
          </a:p>
        </p:txBody>
      </p:sp>
      <p:sp>
        <p:nvSpPr>
          <p:cNvPr id="11" name="Shape 9"/>
          <p:cNvSpPr/>
          <p:nvPr/>
        </p:nvSpPr>
        <p:spPr>
          <a:xfrm>
            <a:off x="6217920" y="2514600"/>
            <a:ext cx="5669280" cy="411480"/>
          </a:xfrm>
          <a:prstGeom prst="rect">
            <a:avLst/>
          </a:prstGeom>
          <a:solidFill>
            <a:srgbClr val="D5F0D5"/>
          </a:solidFill>
          <a:ln/>
          <a:effectLst>
            <a:outerShdw blurRad="50800" dist="25400" dir="8100000" algn="bl" rotWithShape="0">
              <a:srgbClr val="000000">
                <a:alpha val="12000"/>
              </a:srgbClr>
            </a:outerShdw>
          </a:effectLst>
        </p:spPr>
      </p:sp>
      <p:sp>
        <p:nvSpPr>
          <p:cNvPr id="12" name="Text 10"/>
          <p:cNvSpPr/>
          <p:nvPr/>
        </p:nvSpPr>
        <p:spPr>
          <a:xfrm>
            <a:off x="6400800" y="2514600"/>
            <a:ext cx="530352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3. Inner Ethernet Header (original source/dest MACs)</a:t>
            </a:r>
            <a:endParaRPr lang="en-US" sz="1400" dirty="0"/>
          </a:p>
        </p:txBody>
      </p:sp>
      <p:sp>
        <p:nvSpPr>
          <p:cNvPr id="13" name="Shape 11"/>
          <p:cNvSpPr/>
          <p:nvPr/>
        </p:nvSpPr>
        <p:spPr>
          <a:xfrm>
            <a:off x="6217920" y="3017520"/>
            <a:ext cx="5669280" cy="411480"/>
          </a:xfrm>
          <a:prstGeom prst="rect">
            <a:avLst/>
          </a:prstGeom>
          <a:solidFill>
            <a:srgbClr val="F5F0D0"/>
          </a:solidFill>
          <a:ln/>
          <a:effectLst>
            <a:outerShdw blurRad="50800" dist="25400" dir="8100000" algn="bl" rotWithShape="0">
              <a:srgbClr val="000000">
                <a:alpha val="12000"/>
              </a:srgbClr>
            </a:outerShdw>
          </a:effectLst>
        </p:spPr>
      </p:sp>
      <p:sp>
        <p:nvSpPr>
          <p:cNvPr id="14" name="Text 12"/>
          <p:cNvSpPr/>
          <p:nvPr/>
        </p:nvSpPr>
        <p:spPr>
          <a:xfrm>
            <a:off x="6400800" y="3017520"/>
            <a:ext cx="530352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4. Inner VLAN Tag (original 802.1Q tag if present)</a:t>
            </a:r>
            <a:endParaRPr lang="en-US" sz="1400" dirty="0"/>
          </a:p>
        </p:txBody>
      </p:sp>
      <p:sp>
        <p:nvSpPr>
          <p:cNvPr id="15" name="Shape 13"/>
          <p:cNvSpPr/>
          <p:nvPr/>
        </p:nvSpPr>
        <p:spPr>
          <a:xfrm>
            <a:off x="6217920" y="3520440"/>
            <a:ext cx="5669280" cy="411480"/>
          </a:xfrm>
          <a:prstGeom prst="rect">
            <a:avLst/>
          </a:prstGeom>
          <a:solidFill>
            <a:srgbClr val="FFFFFF"/>
          </a:solidFill>
          <a:ln/>
          <a:effectLst>
            <a:outerShdw blurRad="50800" dist="25400" dir="8100000" algn="bl" rotWithShape="0">
              <a:srgbClr val="000000">
                <a:alpha val="12000"/>
              </a:srgbClr>
            </a:outerShdw>
          </a:effectLst>
        </p:spPr>
      </p:sp>
      <p:sp>
        <p:nvSpPr>
          <p:cNvPr id="16" name="Text 14"/>
          <p:cNvSpPr/>
          <p:nvPr/>
        </p:nvSpPr>
        <p:spPr>
          <a:xfrm>
            <a:off x="6400800" y="3520440"/>
            <a:ext cx="5303520" cy="41148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5. Original Payload (IP packet, ARP, etc.)</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FRAME ENCAPSULATION FORMAT</a:t>
            </a:r>
            <a:endParaRPr lang="en-US" sz="2600" dirty="0"/>
          </a:p>
        </p:txBody>
      </p:sp>
      <p:pic>
        <p:nvPicPr>
          <p:cNvPr id="4" name="Image 0" descr="preencoded.png"/>
          <p:cNvPicPr>
            <a:picLocks noChangeAspect="1"/>
          </p:cNvPicPr>
          <p:nvPr/>
        </p:nvPicPr>
        <p:blipFill>
          <a:blip r:embed="rId3"/>
          <a:stretch>
            <a:fillRect/>
          </a:stretch>
        </p:blipFill>
        <p:spPr>
          <a:xfrm>
            <a:off x="914400" y="1005840"/>
            <a:ext cx="10332720" cy="4663440"/>
          </a:xfrm>
          <a:prstGeom prst="rect">
            <a:avLst/>
          </a:prstGeom>
        </p:spPr>
      </p:pic>
      <p:sp>
        <p:nvSpPr>
          <p:cNvPr id="5" name="Text 2"/>
          <p:cNvSpPr/>
          <p:nvPr/>
        </p:nvSpPr>
        <p:spPr>
          <a:xfrm>
            <a:off x="457200" y="5760720"/>
            <a:ext cx="10972800" cy="365760"/>
          </a:xfrm>
          <a:prstGeom prst="rect">
            <a:avLst/>
          </a:prstGeom>
          <a:noFill/>
          <a:ln/>
        </p:spPr>
        <p:txBody>
          <a:bodyPr wrap="square" rtlCol="0" anchor="t"/>
          <a:lstStyle/>
          <a:p>
            <a:pPr marL="0" indent="0">
              <a:lnSpc>
                <a:spcPct val="140000"/>
              </a:lnSpc>
              <a:buNone/>
            </a:pPr>
            <a:r>
              <a:rPr lang="en-US" sz="1600" i="1" dirty="0">
                <a:solidFill>
                  <a:srgbClr val="64748B"/>
                </a:solidFill>
                <a:latin typeface="Calibri" pitchFamily="34" charset="0"/>
                <a:ea typeface="Calibri" pitchFamily="34" charset="-122"/>
                <a:cs typeface="Calibri" pitchFamily="34" charset="-120"/>
              </a:rPr>
              <a:t>Hop Count prevents loops  •  16-bit Nicknames identify RBridges  •  M-bit flags multi-destination frames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2.3 CONTROL PLANE: IS-IS FOR TRILL</a:t>
            </a:r>
            <a:endParaRPr lang="en-US" sz="2600" dirty="0"/>
          </a:p>
        </p:txBody>
      </p:sp>
      <p:sp>
        <p:nvSpPr>
          <p:cNvPr id="4" name="Text 2"/>
          <p:cNvSpPr/>
          <p:nvPr/>
        </p:nvSpPr>
        <p:spPr>
          <a:xfrm>
            <a:off x="457200" y="1005840"/>
            <a:ext cx="10972800" cy="10972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TRILL adapts the IS-IS routing protocol to operate at Layer 2. Each RBridge constructs a complete map of the TRILL campus topology by exchanging Link State Protocol Data Units (LSPs). From this database, each RBridge independently computes shortest-path trees for unicast forwarding and distribution trees for multi-destination frames.</a:t>
            </a:r>
            <a:endParaRPr lang="en-US" dirty="0"/>
          </a:p>
        </p:txBody>
      </p:sp>
      <p:sp>
        <p:nvSpPr>
          <p:cNvPr id="5" name="Text 3"/>
          <p:cNvSpPr/>
          <p:nvPr/>
        </p:nvSpPr>
        <p:spPr>
          <a:xfrm>
            <a:off x="457200" y="2286000"/>
            <a:ext cx="10972800" cy="365760"/>
          </a:xfrm>
          <a:prstGeom prst="rect">
            <a:avLst/>
          </a:prstGeom>
          <a:noFill/>
          <a:ln/>
        </p:spPr>
        <p:txBody>
          <a:bodyPr wrap="square" rtlCol="0" anchor="ctr"/>
          <a:lstStyle/>
          <a:p>
            <a:pPr marL="0" indent="0">
              <a:buNone/>
            </a:pPr>
            <a:r>
              <a:rPr lang="en-US" b="1" dirty="0">
                <a:solidFill>
                  <a:srgbClr val="1B3A5C"/>
                </a:solidFill>
                <a:latin typeface="Georgia" pitchFamily="34" charset="0"/>
                <a:ea typeface="Georgia" pitchFamily="34" charset="-122"/>
                <a:cs typeface="Georgia" pitchFamily="34" charset="-120"/>
              </a:rPr>
              <a:t>Unicast Forwarding</a:t>
            </a:r>
            <a:endParaRPr lang="en-US" dirty="0"/>
          </a:p>
        </p:txBody>
      </p:sp>
      <p:sp>
        <p:nvSpPr>
          <p:cNvPr id="6" name="Text 4"/>
          <p:cNvSpPr/>
          <p:nvPr/>
        </p:nvSpPr>
        <p:spPr>
          <a:xfrm>
            <a:off x="457200" y="2743200"/>
            <a:ext cx="10972800" cy="10972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For known unicast traffic, the ingress RBridge looks up the destination MAC address to determine the egress RBridge nickname, then consults the IS-IS-computed forwarding table for the next hop. If multiple equal-cost paths exist, TRILL supports ECMP load balancing using a hash of the inner frame headers to keep flows on consistent paths.</a:t>
            </a:r>
            <a:endParaRPr lang="en-US" dirty="0"/>
          </a:p>
        </p:txBody>
      </p:sp>
      <p:sp>
        <p:nvSpPr>
          <p:cNvPr id="7" name="Text 5"/>
          <p:cNvSpPr/>
          <p:nvPr/>
        </p:nvSpPr>
        <p:spPr>
          <a:xfrm>
            <a:off x="457200" y="4512644"/>
            <a:ext cx="10972800" cy="365760"/>
          </a:xfrm>
          <a:prstGeom prst="rect">
            <a:avLst/>
          </a:prstGeom>
          <a:noFill/>
          <a:ln/>
        </p:spPr>
        <p:txBody>
          <a:bodyPr wrap="square" rtlCol="0" anchor="ctr"/>
          <a:lstStyle/>
          <a:p>
            <a:pPr marL="0" indent="0">
              <a:buNone/>
            </a:pPr>
            <a:r>
              <a:rPr lang="en-US" b="1" dirty="0">
                <a:solidFill>
                  <a:srgbClr val="1B3A5C"/>
                </a:solidFill>
                <a:latin typeface="Georgia" pitchFamily="34" charset="0"/>
                <a:ea typeface="Georgia" pitchFamily="34" charset="-122"/>
                <a:cs typeface="Georgia" pitchFamily="34" charset="-120"/>
              </a:rPr>
              <a:t>Multi-Destination Forwarding</a:t>
            </a:r>
            <a:endParaRPr lang="en-US" dirty="0"/>
          </a:p>
        </p:txBody>
      </p:sp>
      <p:sp>
        <p:nvSpPr>
          <p:cNvPr id="8" name="Text 6"/>
          <p:cNvSpPr/>
          <p:nvPr/>
        </p:nvSpPr>
        <p:spPr>
          <a:xfrm>
            <a:off x="457200" y="5029200"/>
            <a:ext cx="10972800" cy="10972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Broadcast, multicast, and unknown unicast frames use distribution trees rooted at designated RBridges. The ingress RBridge sets the M-bit and specifies the tree root in the egress nickname field. Transit RBridges forward along the tree; egress RBridges decapsulate and deliver.</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2.4 TRILL — ADVANTAGES AND LIMITATIONS</a:t>
            </a:r>
            <a:endParaRPr lang="en-US" sz="2600" dirty="0"/>
          </a:p>
        </p:txBody>
      </p:sp>
      <p:sp>
        <p:nvSpPr>
          <p:cNvPr id="4" name="Shape 2"/>
          <p:cNvSpPr/>
          <p:nvPr/>
        </p:nvSpPr>
        <p:spPr>
          <a:xfrm>
            <a:off x="365760" y="105156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365760" y="1005840"/>
            <a:ext cx="5577840" cy="502920"/>
          </a:xfrm>
          <a:prstGeom prst="rect">
            <a:avLst/>
          </a:prstGeom>
          <a:solidFill>
            <a:srgbClr val="0D9488"/>
          </a:solidFill>
          <a:ln/>
        </p:spPr>
      </p:sp>
      <p:pic>
        <p:nvPicPr>
          <p:cNvPr id="6" name="Image 0" descr="preencoded.png"/>
          <p:cNvPicPr>
            <a:picLocks noChangeAspect="1"/>
          </p:cNvPicPr>
          <p:nvPr/>
        </p:nvPicPr>
        <p:blipFill>
          <a:blip r:embed="rId3"/>
          <a:stretch>
            <a:fillRect/>
          </a:stretch>
        </p:blipFill>
        <p:spPr>
          <a:xfrm>
            <a:off x="548640" y="1051560"/>
            <a:ext cx="365760" cy="365760"/>
          </a:xfrm>
          <a:prstGeom prst="rect">
            <a:avLst/>
          </a:prstGeom>
        </p:spPr>
      </p:pic>
      <p:sp>
        <p:nvSpPr>
          <p:cNvPr id="7" name="Text 4"/>
          <p:cNvSpPr/>
          <p:nvPr/>
        </p:nvSpPr>
        <p:spPr>
          <a:xfrm>
            <a:off x="100584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ADVANTAGES</a:t>
            </a:r>
            <a:endParaRPr lang="en-US" sz="1800" dirty="0"/>
          </a:p>
        </p:txBody>
      </p:sp>
      <p:sp>
        <p:nvSpPr>
          <p:cNvPr id="8" name="Text 5"/>
          <p:cNvSpPr/>
          <p:nvPr/>
        </p:nvSpPr>
        <p:spPr>
          <a:xfrm>
            <a:off x="640080" y="169164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Multipath forwarding with ECMP eliminates wasted bandwidth of STP blocked ports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Sub-second convergence due to link-state routing (vs. 30–50 seconds for classic STP)</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Loop prevention through hop count decrement, independent of STP</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Transparent to end stations: no changes required to hosts, VMs, or existing infrastructure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Fine-grained load balancing across multiple paths based on flow hashing</a:t>
            </a:r>
            <a:endParaRPr lang="en-US" dirty="0"/>
          </a:p>
        </p:txBody>
      </p:sp>
      <p:sp>
        <p:nvSpPr>
          <p:cNvPr id="9" name="Shape 6"/>
          <p:cNvSpPr/>
          <p:nvPr/>
        </p:nvSpPr>
        <p:spPr>
          <a:xfrm>
            <a:off x="6217920" y="100584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10" name="Shape 7"/>
          <p:cNvSpPr/>
          <p:nvPr/>
        </p:nvSpPr>
        <p:spPr>
          <a:xfrm>
            <a:off x="6217920" y="1005840"/>
            <a:ext cx="5577840" cy="502920"/>
          </a:xfrm>
          <a:prstGeom prst="rect">
            <a:avLst/>
          </a:prstGeom>
          <a:solidFill>
            <a:srgbClr val="EF4444"/>
          </a:solidFill>
          <a:ln/>
        </p:spPr>
      </p:sp>
      <p:pic>
        <p:nvPicPr>
          <p:cNvPr id="11" name="Image 1" descr="preencoded.png"/>
          <p:cNvPicPr>
            <a:picLocks noChangeAspect="1"/>
          </p:cNvPicPr>
          <p:nvPr/>
        </p:nvPicPr>
        <p:blipFill>
          <a:blip r:embed="rId4"/>
          <a:stretch>
            <a:fillRect/>
          </a:stretch>
        </p:blipFill>
        <p:spPr>
          <a:xfrm>
            <a:off x="6400800" y="1051560"/>
            <a:ext cx="365760" cy="365760"/>
          </a:xfrm>
          <a:prstGeom prst="rect">
            <a:avLst/>
          </a:prstGeom>
        </p:spPr>
      </p:pic>
      <p:sp>
        <p:nvSpPr>
          <p:cNvPr id="12" name="Text 8"/>
          <p:cNvSpPr/>
          <p:nvPr/>
        </p:nvSpPr>
        <p:spPr>
          <a:xfrm>
            <a:off x="685800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LIMITATIONS</a:t>
            </a:r>
            <a:endParaRPr lang="en-US" sz="1800" dirty="0"/>
          </a:p>
        </p:txBody>
      </p:sp>
      <p:sp>
        <p:nvSpPr>
          <p:cNvPr id="13" name="Text 9"/>
          <p:cNvSpPr/>
          <p:nvPr/>
        </p:nvSpPr>
        <p:spPr>
          <a:xfrm>
            <a:off x="6420051" y="125730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Proprietary competition: Cisco developed FabricPath, creating vendor lock-in concerns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Deployment complexity: requires IS-IS expertise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Not designed for WAN or service provider metro networks; targets data center and campus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Industry has largely shifted toward VXLAN and EVPN as the preferred solution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Limited multi-vendor interoperability in practice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2.5 TRILL DEPLOYMENT SCENARIOS</a:t>
            </a:r>
            <a:endParaRPr lang="en-US" sz="2600" dirty="0"/>
          </a:p>
        </p:txBody>
      </p:sp>
      <p:sp>
        <p:nvSpPr>
          <p:cNvPr id="4" name="Shape 2"/>
          <p:cNvSpPr/>
          <p:nvPr/>
        </p:nvSpPr>
        <p:spPr>
          <a:xfrm>
            <a:off x="457200" y="109728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97280"/>
            <a:ext cx="73152" cy="1188720"/>
          </a:xfrm>
          <a:prstGeom prst="rect">
            <a:avLst/>
          </a:prstGeom>
          <a:solidFill>
            <a:srgbClr val="3A7CB8"/>
          </a:solidFill>
          <a:ln/>
        </p:spPr>
      </p:sp>
      <p:sp>
        <p:nvSpPr>
          <p:cNvPr id="6" name="Text 4"/>
          <p:cNvSpPr/>
          <p:nvPr/>
        </p:nvSpPr>
        <p:spPr>
          <a:xfrm>
            <a:off x="777240" y="1097280"/>
            <a:ext cx="10515600" cy="45720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Large Data Center Fabrics</a:t>
            </a:r>
            <a:endParaRPr lang="en-US" sz="1600" dirty="0"/>
          </a:p>
        </p:txBody>
      </p:sp>
      <p:sp>
        <p:nvSpPr>
          <p:cNvPr id="7" name="Text 5"/>
          <p:cNvSpPr/>
          <p:nvPr/>
        </p:nvSpPr>
        <p:spPr>
          <a:xfrm>
            <a:off x="777240" y="1600200"/>
            <a:ext cx="10515600" cy="6400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Where east-west traffic dominates and multipath forwarding is essential for performance.</a:t>
            </a:r>
            <a:endParaRPr lang="en-US" dirty="0"/>
          </a:p>
        </p:txBody>
      </p:sp>
      <p:sp>
        <p:nvSpPr>
          <p:cNvPr id="8" name="Shape 6"/>
          <p:cNvSpPr/>
          <p:nvPr/>
        </p:nvSpPr>
        <p:spPr>
          <a:xfrm>
            <a:off x="457200" y="256032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560320"/>
            <a:ext cx="73152" cy="1188720"/>
          </a:xfrm>
          <a:prstGeom prst="rect">
            <a:avLst/>
          </a:prstGeom>
          <a:solidFill>
            <a:srgbClr val="3A7CB8"/>
          </a:solidFill>
          <a:ln/>
        </p:spPr>
      </p:sp>
      <p:sp>
        <p:nvSpPr>
          <p:cNvPr id="10" name="Text 8"/>
          <p:cNvSpPr/>
          <p:nvPr/>
        </p:nvSpPr>
        <p:spPr>
          <a:xfrm>
            <a:off x="777240" y="2560320"/>
            <a:ext cx="10515600" cy="45720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Campus Core Networks</a:t>
            </a:r>
            <a:endParaRPr lang="en-US" sz="1600" dirty="0"/>
          </a:p>
        </p:txBody>
      </p:sp>
      <p:sp>
        <p:nvSpPr>
          <p:cNvPr id="11" name="Text 9"/>
          <p:cNvSpPr/>
          <p:nvPr/>
        </p:nvSpPr>
        <p:spPr>
          <a:xfrm>
            <a:off x="777240" y="3063240"/>
            <a:ext cx="10515600" cy="6400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Where redundant links exist and STP-blocked ports waste bandwidth.</a:t>
            </a:r>
            <a:endParaRPr lang="en-US" dirty="0"/>
          </a:p>
        </p:txBody>
      </p:sp>
      <p:sp>
        <p:nvSpPr>
          <p:cNvPr id="12" name="Shape 10"/>
          <p:cNvSpPr/>
          <p:nvPr/>
        </p:nvSpPr>
        <p:spPr>
          <a:xfrm>
            <a:off x="457200" y="402336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13" name="Shape 11"/>
          <p:cNvSpPr/>
          <p:nvPr/>
        </p:nvSpPr>
        <p:spPr>
          <a:xfrm>
            <a:off x="457200" y="4023360"/>
            <a:ext cx="73152" cy="1188720"/>
          </a:xfrm>
          <a:prstGeom prst="rect">
            <a:avLst/>
          </a:prstGeom>
          <a:solidFill>
            <a:srgbClr val="3A7CB8"/>
          </a:solidFill>
          <a:ln/>
        </p:spPr>
      </p:sp>
      <p:sp>
        <p:nvSpPr>
          <p:cNvPr id="14" name="Text 12"/>
          <p:cNvSpPr/>
          <p:nvPr/>
        </p:nvSpPr>
        <p:spPr>
          <a:xfrm>
            <a:off x="777240" y="4023360"/>
            <a:ext cx="10515600" cy="45720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VM Mobility Domains</a:t>
            </a:r>
            <a:endParaRPr lang="en-US" sz="1600" dirty="0"/>
          </a:p>
        </p:txBody>
      </p:sp>
      <p:sp>
        <p:nvSpPr>
          <p:cNvPr id="15" name="Text 13"/>
          <p:cNvSpPr/>
          <p:nvPr/>
        </p:nvSpPr>
        <p:spPr>
          <a:xfrm>
            <a:off x="777240" y="4526280"/>
            <a:ext cx="10515600" cy="6400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Where VMs must migrate across a large Layer 2 domain without changing IP addresses.</a:t>
            </a:r>
            <a:endParaRPr lang="en-US" dirty="0"/>
          </a:p>
        </p:txBody>
      </p:sp>
      <p:sp>
        <p:nvSpPr>
          <p:cNvPr id="16" name="Text 14"/>
          <p:cNvSpPr/>
          <p:nvPr/>
        </p:nvSpPr>
        <p:spPr>
          <a:xfrm>
            <a:off x="457200" y="5669280"/>
            <a:ext cx="10972800" cy="457200"/>
          </a:xfrm>
          <a:prstGeom prst="rect">
            <a:avLst/>
          </a:prstGeom>
          <a:noFill/>
          <a:ln/>
        </p:spPr>
        <p:txBody>
          <a:bodyPr wrap="square" rtlCol="0" anchor="t"/>
          <a:lstStyle/>
          <a:p>
            <a:pPr marL="0" indent="0">
              <a:lnSpc>
                <a:spcPct val="140000"/>
              </a:lnSpc>
              <a:buNone/>
            </a:pPr>
            <a:r>
              <a:rPr lang="en-US" i="1" dirty="0">
                <a:solidFill>
                  <a:srgbClr val="64748B"/>
                </a:solidFill>
                <a:latin typeface="Calibri" pitchFamily="34" charset="0"/>
                <a:ea typeface="Calibri" pitchFamily="34" charset="-122"/>
                <a:cs typeface="Calibri" pitchFamily="34" charset="-120"/>
              </a:rPr>
              <a:t>Note: VXLAN with EVPN has become the dominant approach for new data center overlay networking deployments.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CASE FOR LAYER 2 IN MODERN DATA CENTERS</a:t>
            </a:r>
            <a:endParaRPr lang="en-US" sz="2600" dirty="0"/>
          </a:p>
        </p:txBody>
      </p:sp>
      <p:sp>
        <p:nvSpPr>
          <p:cNvPr id="4" name="Text 2"/>
          <p:cNvSpPr/>
          <p:nvPr/>
        </p:nvSpPr>
        <p:spPr>
          <a:xfrm>
            <a:off x="457200" y="891540"/>
            <a:ext cx="10972800" cy="54864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There is a school of thought that having Layer 3 at the access switches can resolve most MSDC requirements. But Layer 2 has a fundamental advantage:</a:t>
            </a:r>
            <a:endParaRPr lang="en-US" sz="1600" dirty="0"/>
          </a:p>
        </p:txBody>
      </p:sp>
      <p:sp>
        <p:nvSpPr>
          <p:cNvPr id="5" name="Shape 3"/>
          <p:cNvSpPr/>
          <p:nvPr/>
        </p:nvSpPr>
        <p:spPr>
          <a:xfrm>
            <a:off x="365760" y="1737360"/>
            <a:ext cx="5577840" cy="438912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365760" y="1737360"/>
            <a:ext cx="5577840" cy="502920"/>
          </a:xfrm>
          <a:prstGeom prst="rect">
            <a:avLst/>
          </a:prstGeom>
          <a:solidFill>
            <a:srgbClr val="0D9488"/>
          </a:solidFill>
          <a:ln/>
        </p:spPr>
      </p:sp>
      <p:sp>
        <p:nvSpPr>
          <p:cNvPr id="7" name="Text 5"/>
          <p:cNvSpPr/>
          <p:nvPr/>
        </p:nvSpPr>
        <p:spPr>
          <a:xfrm>
            <a:off x="548640" y="1737360"/>
            <a:ext cx="4572000" cy="50292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LAYER 2 ADVANTAGES</a:t>
            </a:r>
            <a:endParaRPr lang="en-US" sz="1600" dirty="0"/>
          </a:p>
        </p:txBody>
      </p:sp>
      <p:sp>
        <p:nvSpPr>
          <p:cNvPr id="8" name="Text 6"/>
          <p:cNvSpPr/>
          <p:nvPr/>
        </p:nvSpPr>
        <p:spPr>
          <a:xfrm>
            <a:off x="640080" y="2423160"/>
            <a:ext cx="502920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Plug-and-play — no interface IP configuration needed</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Administration of VLANs is straightforward</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MAC learning is automatic, including STP state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Hosts/VMs can be moved freely wherever the VLAN exists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Extremely useful for virtual machine mobility</a:t>
            </a:r>
            <a:endParaRPr lang="en-US" dirty="0"/>
          </a:p>
        </p:txBody>
      </p:sp>
      <p:sp>
        <p:nvSpPr>
          <p:cNvPr id="9" name="Shape 7"/>
          <p:cNvSpPr/>
          <p:nvPr/>
        </p:nvSpPr>
        <p:spPr>
          <a:xfrm>
            <a:off x="6217920" y="1737360"/>
            <a:ext cx="5577840" cy="4389120"/>
          </a:xfrm>
          <a:prstGeom prst="rect">
            <a:avLst/>
          </a:prstGeom>
          <a:solidFill>
            <a:srgbClr val="FFFFFF"/>
          </a:solidFill>
          <a:ln/>
          <a:effectLst>
            <a:outerShdw blurRad="50800" dist="25400" dir="8100000" algn="bl" rotWithShape="0">
              <a:srgbClr val="000000">
                <a:alpha val="12000"/>
              </a:srgbClr>
            </a:outerShdw>
          </a:effectLst>
        </p:spPr>
      </p:sp>
      <p:sp>
        <p:nvSpPr>
          <p:cNvPr id="10" name="Shape 8"/>
          <p:cNvSpPr/>
          <p:nvPr/>
        </p:nvSpPr>
        <p:spPr>
          <a:xfrm>
            <a:off x="6217920" y="1737360"/>
            <a:ext cx="5577840" cy="502920"/>
          </a:xfrm>
          <a:prstGeom prst="rect">
            <a:avLst/>
          </a:prstGeom>
          <a:solidFill>
            <a:srgbClr val="3A7CB8"/>
          </a:solidFill>
          <a:ln/>
        </p:spPr>
      </p:sp>
      <p:sp>
        <p:nvSpPr>
          <p:cNvPr id="11" name="Text 9"/>
          <p:cNvSpPr/>
          <p:nvPr/>
        </p:nvSpPr>
        <p:spPr>
          <a:xfrm>
            <a:off x="6400800" y="1737360"/>
            <a:ext cx="4572000" cy="502920"/>
          </a:xfrm>
          <a:prstGeom prst="rect">
            <a:avLst/>
          </a:prstGeom>
          <a:noFill/>
          <a:ln/>
        </p:spPr>
        <p:txBody>
          <a:bodyPr wrap="square"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LAYER 3 ADVANTAGES</a:t>
            </a:r>
            <a:endParaRPr lang="en-US" sz="1600" dirty="0"/>
          </a:p>
        </p:txBody>
      </p:sp>
      <p:sp>
        <p:nvSpPr>
          <p:cNvPr id="12" name="Text 10"/>
          <p:cNvSpPr/>
          <p:nvPr/>
        </p:nvSpPr>
        <p:spPr>
          <a:xfrm>
            <a:off x="6436093" y="2194560"/>
            <a:ext cx="502920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Eliminates the need for STP entirely</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Equal-cost multipath (ECMP) between any two switches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All links forward traffic — better load balancing</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Hierarchical IP addressing enables efficient summarization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Better use of switch table resources vs. flat MACs</a:t>
            </a:r>
            <a:endParaRPr lang="en-US" dirty="0"/>
          </a:p>
        </p:txBody>
      </p:sp>
      <p:sp>
        <p:nvSpPr>
          <p:cNvPr id="13" name="Text 11"/>
          <p:cNvSpPr/>
          <p:nvPr/>
        </p:nvSpPr>
        <p:spPr>
          <a:xfrm>
            <a:off x="6217920" y="5074920"/>
            <a:ext cx="5577840" cy="274320"/>
          </a:xfrm>
          <a:prstGeom prst="rect">
            <a:avLst/>
          </a:prstGeom>
          <a:noFill/>
          <a:ln/>
        </p:spPr>
        <p:txBody>
          <a:bodyPr wrap="square" rtlCol="0" anchor="ctr"/>
          <a:lstStyle/>
          <a:p>
            <a:pPr marL="0" indent="0">
              <a:buNone/>
            </a:pPr>
            <a:r>
              <a:rPr lang="en-US" sz="1600" b="1" dirty="0">
                <a:solidFill>
                  <a:srgbClr val="EF4444"/>
                </a:solidFill>
                <a:latin typeface="Georgia" pitchFamily="34" charset="0"/>
                <a:ea typeface="Georgia" pitchFamily="34" charset="-122"/>
                <a:cs typeface="Georgia" pitchFamily="34" charset="-120"/>
              </a:rPr>
              <a:t>L3 Drawback:</a:t>
            </a:r>
            <a:endParaRPr lang="en-US" sz="1600" dirty="0"/>
          </a:p>
        </p:txBody>
      </p:sp>
      <p:sp>
        <p:nvSpPr>
          <p:cNvPr id="14" name="Text 12"/>
          <p:cNvSpPr/>
          <p:nvPr/>
        </p:nvSpPr>
        <p:spPr>
          <a:xfrm>
            <a:off x="6217920" y="5303520"/>
            <a:ext cx="5577840" cy="640080"/>
          </a:xfrm>
          <a:prstGeom prst="rect">
            <a:avLst/>
          </a:prstGeom>
          <a:noFill/>
          <a:ln/>
        </p:spPr>
        <p:txBody>
          <a:bodyPr wrap="square" rtlCol="0" anchor="t"/>
          <a:lstStyle/>
          <a:p>
            <a:pPr marL="0" indent="0">
              <a:lnSpc>
                <a:spcPct val="140000"/>
              </a:lnSpc>
              <a:buNone/>
            </a:pPr>
            <a:r>
              <a:rPr lang="en-US" sz="1600" i="1" dirty="0">
                <a:solidFill>
                  <a:srgbClr val="64748B"/>
                </a:solidFill>
                <a:latin typeface="Calibri" pitchFamily="34" charset="0"/>
                <a:ea typeface="Calibri" pitchFamily="34" charset="-122"/>
                <a:cs typeface="Calibri" pitchFamily="34" charset="-120"/>
              </a:rPr>
              <a:t>Not plug-and-play — requires IP assignment, routing protocol configuration, and more expertise to maintain.</a:t>
            </a:r>
            <a:endParaRPr lang="en-US" sz="1600" dirty="0"/>
          </a:p>
        </p:txBody>
      </p:sp>
      <p:sp>
        <p:nvSpPr>
          <p:cNvPr id="15" name="Text 13"/>
          <p:cNvSpPr/>
          <p:nvPr/>
        </p:nvSpPr>
        <p:spPr>
          <a:xfrm>
            <a:off x="457200" y="6309360"/>
            <a:ext cx="10972800" cy="365760"/>
          </a:xfrm>
          <a:prstGeom prst="rect">
            <a:avLst/>
          </a:prstGeom>
          <a:noFill/>
          <a:ln/>
        </p:spPr>
        <p:txBody>
          <a:bodyPr wrap="square" rtlCol="0" anchor="t"/>
          <a:lstStyle/>
          <a:p>
            <a:pPr marL="0" indent="0">
              <a:lnSpc>
                <a:spcPct val="140000"/>
              </a:lnSpc>
              <a:buNone/>
            </a:pPr>
            <a:r>
              <a:rPr lang="en-US" sz="1300" dirty="0">
                <a:solidFill>
                  <a:srgbClr val="1B3A5C"/>
                </a:solidFill>
                <a:latin typeface="Calibri" pitchFamily="34" charset="0"/>
                <a:ea typeface="Calibri" pitchFamily="34" charset="-122"/>
                <a:cs typeface="Calibri" pitchFamily="34" charset="-120"/>
              </a:rPr>
              <a:t>What is needed: a network combining L2 plug-and-play with L3 efficiency — this is exactly what TRILL delivers.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ADDRESSING — NICKNAMES</a:t>
            </a:r>
            <a:endParaRPr lang="en-US" sz="2600" dirty="0"/>
          </a:p>
        </p:txBody>
      </p:sp>
      <p:sp>
        <p:nvSpPr>
          <p:cNvPr id="4" name="Text 2"/>
          <p:cNvSpPr/>
          <p:nvPr/>
        </p:nvSpPr>
        <p:spPr>
          <a:xfrm>
            <a:off x="457200" y="1005840"/>
            <a:ext cx="109728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Every RBridge is identified by a nickname — the addressable entity in a TRILL network, analogous to an IP address in Layer 3. Unlike IPv4, every interface does not need a nickname — one per RBridge is sufficient.</a:t>
            </a:r>
            <a:endParaRPr lang="en-US" dirty="0"/>
          </a:p>
        </p:txBody>
      </p:sp>
      <p:sp>
        <p:nvSpPr>
          <p:cNvPr id="5" name="Shape 3"/>
          <p:cNvSpPr/>
          <p:nvPr/>
        </p:nvSpPr>
        <p:spPr>
          <a:xfrm>
            <a:off x="457200" y="192024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920240"/>
            <a:ext cx="73152" cy="1234440"/>
          </a:xfrm>
          <a:prstGeom prst="rect">
            <a:avLst/>
          </a:prstGeom>
          <a:solidFill>
            <a:srgbClr val="3A7CB8"/>
          </a:solidFill>
          <a:ln/>
        </p:spPr>
      </p:sp>
      <p:sp>
        <p:nvSpPr>
          <p:cNvPr id="7" name="Text 5"/>
          <p:cNvSpPr/>
          <p:nvPr/>
        </p:nvSpPr>
        <p:spPr>
          <a:xfrm>
            <a:off x="777240" y="192024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Nickname Properties</a:t>
            </a:r>
            <a:endParaRPr lang="en-US" sz="1400" dirty="0"/>
          </a:p>
        </p:txBody>
      </p:sp>
      <p:sp>
        <p:nvSpPr>
          <p:cNvPr id="8" name="Text 6"/>
          <p:cNvSpPr/>
          <p:nvPr/>
        </p:nvSpPr>
        <p:spPr>
          <a:xfrm>
            <a:off x="777240" y="2263140"/>
            <a:ext cx="105156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Nicknames are 16-bit flat addresses (like Ethernet MACs). Location of every RBridge/nickname is distributed by IS-IS to compute routes, just as in Layer 3 routing.</a:t>
            </a:r>
            <a:endParaRPr lang="en-US" dirty="0"/>
          </a:p>
        </p:txBody>
      </p:sp>
      <p:sp>
        <p:nvSpPr>
          <p:cNvPr id="9" name="Shape 7"/>
          <p:cNvSpPr/>
          <p:nvPr/>
        </p:nvSpPr>
        <p:spPr>
          <a:xfrm>
            <a:off x="457200" y="338328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10" name="Shape 8"/>
          <p:cNvSpPr/>
          <p:nvPr/>
        </p:nvSpPr>
        <p:spPr>
          <a:xfrm>
            <a:off x="457200" y="3383280"/>
            <a:ext cx="73152" cy="1234440"/>
          </a:xfrm>
          <a:prstGeom prst="rect">
            <a:avLst/>
          </a:prstGeom>
          <a:solidFill>
            <a:srgbClr val="3A7CB8"/>
          </a:solidFill>
          <a:ln/>
        </p:spPr>
      </p:sp>
      <p:sp>
        <p:nvSpPr>
          <p:cNvPr id="11" name="Text 9"/>
          <p:cNvSpPr/>
          <p:nvPr/>
        </p:nvSpPr>
        <p:spPr>
          <a:xfrm>
            <a:off x="777240" y="338328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Automatic Assignment</a:t>
            </a:r>
            <a:endParaRPr lang="en-US" sz="1400" dirty="0"/>
          </a:p>
        </p:txBody>
      </p:sp>
      <p:sp>
        <p:nvSpPr>
          <p:cNvPr id="12" name="Text 10"/>
          <p:cNvSpPr/>
          <p:nvPr/>
        </p:nvSpPr>
        <p:spPr>
          <a:xfrm>
            <a:off x="777240" y="3726180"/>
            <a:ext cx="105156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When an RBridge boots, it receives info about all other RBridges and their nicknames, then randomly picks a unique 16-bit nickname. Collision detection and manual override are supported.</a:t>
            </a:r>
            <a:endParaRPr lang="en-US" dirty="0"/>
          </a:p>
        </p:txBody>
      </p:sp>
      <p:sp>
        <p:nvSpPr>
          <p:cNvPr id="13" name="Shape 11"/>
          <p:cNvSpPr/>
          <p:nvPr/>
        </p:nvSpPr>
        <p:spPr>
          <a:xfrm>
            <a:off x="457200" y="484632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14" name="Shape 12"/>
          <p:cNvSpPr/>
          <p:nvPr/>
        </p:nvSpPr>
        <p:spPr>
          <a:xfrm>
            <a:off x="457200" y="4846320"/>
            <a:ext cx="73152" cy="1234440"/>
          </a:xfrm>
          <a:prstGeom prst="rect">
            <a:avLst/>
          </a:prstGeom>
          <a:solidFill>
            <a:srgbClr val="3A7CB8"/>
          </a:solidFill>
          <a:ln/>
        </p:spPr>
      </p:sp>
      <p:sp>
        <p:nvSpPr>
          <p:cNvPr id="15" name="Text 13"/>
          <p:cNvSpPr/>
          <p:nvPr/>
        </p:nvSpPr>
        <p:spPr>
          <a:xfrm>
            <a:off x="777240" y="484632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Forwarding Analogy</a:t>
            </a:r>
            <a:endParaRPr lang="en-US" sz="1400" dirty="0"/>
          </a:p>
        </p:txBody>
      </p:sp>
      <p:sp>
        <p:nvSpPr>
          <p:cNvPr id="16" name="Text 14"/>
          <p:cNvSpPr/>
          <p:nvPr/>
        </p:nvSpPr>
        <p:spPr>
          <a:xfrm>
            <a:off x="859536" y="5191225"/>
            <a:ext cx="105156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Ingress and egress nicknames in TRILL are equivalent to source and destination IP addresses. The forwarding table maps nicknames to next hops, just like an IP routing table.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DATA PLANE — FORWARDING BEHAVIOR</a:t>
            </a:r>
            <a:endParaRPr lang="en-US" sz="2600" dirty="0"/>
          </a:p>
        </p:txBody>
      </p:sp>
      <p:sp>
        <p:nvSpPr>
          <p:cNvPr id="4" name="Text 2"/>
          <p:cNvSpPr/>
          <p:nvPr/>
        </p:nvSpPr>
        <p:spPr>
          <a:xfrm>
            <a:off x="457200" y="1005840"/>
            <a:ext cx="10972800" cy="36576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RBridge forwarding is a combination of bridging and routing functionality</a:t>
            </a:r>
            <a:r>
              <a:rPr lang="en-US" sz="1300" dirty="0">
                <a:solidFill>
                  <a:srgbClr val="1E293B"/>
                </a:solidFill>
                <a:latin typeface="Calibri" pitchFamily="34" charset="0"/>
                <a:ea typeface="Calibri" pitchFamily="34" charset="-122"/>
                <a:cs typeface="Calibri" pitchFamily="34" charset="-120"/>
              </a:rPr>
              <a:t>:</a:t>
            </a:r>
            <a:endParaRPr lang="en-US" sz="1300" dirty="0"/>
          </a:p>
        </p:txBody>
      </p:sp>
      <p:sp>
        <p:nvSpPr>
          <p:cNvPr id="5" name="Text 3"/>
          <p:cNvSpPr/>
          <p:nvPr/>
        </p:nvSpPr>
        <p:spPr>
          <a:xfrm>
            <a:off x="457200" y="1463040"/>
            <a:ext cx="1097280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When a native frame arrives at an ingress RBridge, lookup uses &lt;VLAN, DMAC&gt; — just like a regular L2 bridge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Regular SMAC learning occurs based on &lt;SMAC, VLAN&gt; against the incoming port</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For a regular bridge, the result would be an outgoing port — for TRILL, it's the egress RBridge nickname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The frame is encapsulated: Outer SMAC/DMAC are set to this RBridge and next-hop RBridge MACs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At each transit hop, only the outer MAC header is rewritten — inner frame is never examined</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At the egress RBridge, the TRILL header is stripped and the original CE frame continues on the CE network</a:t>
            </a:r>
            <a:endParaRPr lang="en-US" dirty="0"/>
          </a:p>
        </p:txBody>
      </p:sp>
      <p:sp>
        <p:nvSpPr>
          <p:cNvPr id="6" name="Text 4"/>
          <p:cNvSpPr/>
          <p:nvPr/>
        </p:nvSpPr>
        <p:spPr>
          <a:xfrm>
            <a:off x="457200" y="4846320"/>
            <a:ext cx="109728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MAC Address Learning in TRILL</a:t>
            </a:r>
            <a:endParaRPr lang="en-US" sz="1800" dirty="0"/>
          </a:p>
        </p:txBody>
      </p:sp>
      <p:sp>
        <p:nvSpPr>
          <p:cNvPr id="7" name="Text 5"/>
          <p:cNvSpPr/>
          <p:nvPr/>
        </p:nvSpPr>
        <p:spPr>
          <a:xfrm>
            <a:off x="457200" y="5303520"/>
            <a:ext cx="10972800" cy="10972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In TRILL, &lt;end host MAC, VLAN&gt; are learned by associating them with the ingress RBridge nickname (not the port). Core RBridges do NOT need to learn end-host MACs — only edge RBridges do. The ESADI protocol (End System Address Distribution Information) can distribute end-host MACs via IS-IS TLVs, reducing flooding.</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08A58E8-C0B7-EB1F-B2DE-597B3BCA10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B7565EE-9D87-EDEE-EC90-8EC507F107C5}"/>
              </a:ext>
            </a:extLst>
          </p:cNvPr>
          <p:cNvSpPr/>
          <p:nvPr/>
        </p:nvSpPr>
        <p:spPr>
          <a:xfrm>
            <a:off x="0" y="0"/>
            <a:ext cx="12188952" cy="777240"/>
          </a:xfrm>
          <a:prstGeom prst="rect">
            <a:avLst/>
          </a:prstGeom>
          <a:solidFill>
            <a:srgbClr val="0F2440"/>
          </a:solidFill>
          <a:ln/>
        </p:spPr>
      </p:sp>
      <p:sp>
        <p:nvSpPr>
          <p:cNvPr id="3" name="Text 1">
            <a:extLst>
              <a:ext uri="{FF2B5EF4-FFF2-40B4-BE49-F238E27FC236}">
                <a16:creationId xmlns:a16="http://schemas.microsoft.com/office/drawing/2014/main" id="{5C8B5B2D-662B-7BD1-5A49-A2E27F10285C}"/>
              </a:ext>
            </a:extLst>
          </p:cNvPr>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TRILL DATA PLANE — FORWARDING BEHAVIOR</a:t>
            </a:r>
            <a:endParaRPr lang="en-US" sz="2600" dirty="0"/>
          </a:p>
        </p:txBody>
      </p:sp>
      <p:sp>
        <p:nvSpPr>
          <p:cNvPr id="8" name="TextBox 7">
            <a:extLst>
              <a:ext uri="{FF2B5EF4-FFF2-40B4-BE49-F238E27FC236}">
                <a16:creationId xmlns:a16="http://schemas.microsoft.com/office/drawing/2014/main" id="{B253C9F3-661B-DF19-EA89-A19CE67DC90D}"/>
              </a:ext>
            </a:extLst>
          </p:cNvPr>
          <p:cNvSpPr txBox="1"/>
          <p:nvPr/>
        </p:nvSpPr>
        <p:spPr>
          <a:xfrm>
            <a:off x="930442" y="1852863"/>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CEEA2239-271B-4419-6F62-52D4443AC89D}"/>
              </a:ext>
            </a:extLst>
          </p:cNvPr>
          <p:cNvSpPr txBox="1"/>
          <p:nvPr/>
        </p:nvSpPr>
        <p:spPr>
          <a:xfrm>
            <a:off x="457200" y="1266963"/>
            <a:ext cx="5165558" cy="523220"/>
          </a:xfrm>
          <a:prstGeom prst="rect">
            <a:avLst/>
          </a:prstGeom>
          <a:noFill/>
        </p:spPr>
        <p:txBody>
          <a:bodyPr wrap="square" rtlCol="0">
            <a:spAutoFit/>
          </a:bodyPr>
          <a:lstStyle/>
          <a:p>
            <a:r>
              <a:rPr lang="en-US" sz="2800" dirty="0"/>
              <a:t>WATCH TRILL SIMULATION</a:t>
            </a:r>
          </a:p>
        </p:txBody>
      </p:sp>
    </p:spTree>
    <p:extLst>
      <p:ext uri="{BB962C8B-B14F-4D97-AF65-F5344CB8AC3E}">
        <p14:creationId xmlns:p14="http://schemas.microsoft.com/office/powerpoint/2010/main" val="4143238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3A7CB8"/>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3A7CB8"/>
                </a:solidFill>
                <a:latin typeface="Calibri" pitchFamily="34" charset="0"/>
                <a:ea typeface="Calibri" pitchFamily="34" charset="-122"/>
                <a:cs typeface="Calibri" pitchFamily="34" charset="-120"/>
              </a:rPr>
              <a:t>DEEP DIVE</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Cisco FabricPath</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TRILL in Practice</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Cisco's implementation of TRILL  •  NX-OS  •  Hierarchical MACs  •  Conversational Learning</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CISCO FABRICPATH — OVERVIEW</a:t>
            </a:r>
            <a:endParaRPr lang="en-US" sz="2600" dirty="0"/>
          </a:p>
        </p:txBody>
      </p:sp>
      <p:sp>
        <p:nvSpPr>
          <p:cNvPr id="4" name="Text 2"/>
          <p:cNvSpPr/>
          <p:nvPr/>
        </p:nvSpPr>
        <p:spPr>
          <a:xfrm>
            <a:off x="457200" y="1005840"/>
            <a:ext cx="10972800" cy="9144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Cisco FabricPath is an innovation in NX-OS Software that brings the stability and scalability of routing to Layer 2. The switched domain does not have to be segmented, providing data center–wide workload mobility. Because traffic is no longer forwarded along a spanning tree, the bisectional bandwidth of the network is not limited.</a:t>
            </a:r>
            <a:endParaRPr lang="en-US" dirty="0"/>
          </a:p>
        </p:txBody>
      </p:sp>
      <p:sp>
        <p:nvSpPr>
          <p:cNvPr id="5" name="Text 3"/>
          <p:cNvSpPr/>
          <p:nvPr/>
        </p:nvSpPr>
        <p:spPr>
          <a:xfrm>
            <a:off x="457200" y="2103120"/>
            <a:ext cx="1097280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FabricPath eliminates Spanning Tree Protocol in the core fabric</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Uses extensions to IS-IS to exchange unicast and multicast reachability information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IS-IS is a dynamic link-state protocol — detects topology changes, calculates loop-free routes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IS-IS runs directly at Layer 2 — requires no IP configuration in the FabricPath domain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STP still runs at the Classic Ethernet (CE) edge for backward compatibility</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FabricPath encapsulates the entire L2 frame with a new FabricPath header (MAC-in-MAC style)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FABRICPATH ENCAPSULATION AND SWITCH ID</a:t>
            </a:r>
            <a:endParaRPr lang="en-US" sz="2600" dirty="0"/>
          </a:p>
        </p:txBody>
      </p:sp>
      <p:sp>
        <p:nvSpPr>
          <p:cNvPr id="4" name="Text 2"/>
          <p:cNvSpPr/>
          <p:nvPr/>
        </p:nvSpPr>
        <p:spPr>
          <a:xfrm>
            <a:off x="530352" y="886647"/>
            <a:ext cx="10972800" cy="73152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FabricPath switching encapsulates the entire Layer 2 frame with a new header. Each device is automatically assigned a unique Switch ID. The Outer Source Address (OSA) is the ingress switch ID; the Outer Destination Address (ODA) is the egress switch ID.</a:t>
            </a:r>
            <a:endParaRPr lang="en-US" sz="1600" dirty="0"/>
          </a:p>
        </p:txBody>
      </p:sp>
      <p:sp>
        <p:nvSpPr>
          <p:cNvPr id="5" name="Shape 3"/>
          <p:cNvSpPr/>
          <p:nvPr/>
        </p:nvSpPr>
        <p:spPr>
          <a:xfrm>
            <a:off x="470916" y="178308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920240"/>
            <a:ext cx="73152" cy="1188720"/>
          </a:xfrm>
          <a:prstGeom prst="rect">
            <a:avLst/>
          </a:prstGeom>
          <a:solidFill>
            <a:srgbClr val="3A7CB8"/>
          </a:solidFill>
          <a:ln/>
        </p:spPr>
      </p:sp>
      <p:sp>
        <p:nvSpPr>
          <p:cNvPr id="7" name="Text 5"/>
          <p:cNvSpPr/>
          <p:nvPr/>
        </p:nvSpPr>
        <p:spPr>
          <a:xfrm>
            <a:off x="777240" y="192024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FabricPath Header Fields</a:t>
            </a:r>
            <a:endParaRPr lang="en-US" sz="1400" dirty="0"/>
          </a:p>
        </p:txBody>
      </p:sp>
      <p:sp>
        <p:nvSpPr>
          <p:cNvPr id="8" name="Text 6"/>
          <p:cNvSpPr/>
          <p:nvPr/>
        </p:nvSpPr>
        <p:spPr>
          <a:xfrm>
            <a:off x="790956" y="2266348"/>
            <a:ext cx="10515600" cy="6858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ODA (egress switch ID), OSA (ingress switch ID), FTag (forwarding tag), TTL (hop count), FTAG EtherType. The LID is the address of the next interface (hop-by-hop).</a:t>
            </a:r>
            <a:endParaRPr lang="en-US" dirty="0"/>
          </a:p>
        </p:txBody>
      </p:sp>
      <p:sp>
        <p:nvSpPr>
          <p:cNvPr id="9" name="Shape 7"/>
          <p:cNvSpPr/>
          <p:nvPr/>
        </p:nvSpPr>
        <p:spPr>
          <a:xfrm>
            <a:off x="457200" y="333756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10" name="Shape 8"/>
          <p:cNvSpPr/>
          <p:nvPr/>
        </p:nvSpPr>
        <p:spPr>
          <a:xfrm>
            <a:off x="457200" y="3337560"/>
            <a:ext cx="73152" cy="1188720"/>
          </a:xfrm>
          <a:prstGeom prst="rect">
            <a:avLst/>
          </a:prstGeom>
          <a:solidFill>
            <a:srgbClr val="3A7CB8"/>
          </a:solidFill>
          <a:ln/>
        </p:spPr>
      </p:sp>
      <p:sp>
        <p:nvSpPr>
          <p:cNvPr id="11" name="Text 9"/>
          <p:cNvSpPr/>
          <p:nvPr/>
        </p:nvSpPr>
        <p:spPr>
          <a:xfrm>
            <a:off x="777240" y="333756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Core Behavior</a:t>
            </a:r>
            <a:endParaRPr lang="en-US" sz="1400" dirty="0"/>
          </a:p>
        </p:txBody>
      </p:sp>
      <p:sp>
        <p:nvSpPr>
          <p:cNvPr id="12" name="Text 10"/>
          <p:cNvSpPr/>
          <p:nvPr/>
        </p:nvSpPr>
        <p:spPr>
          <a:xfrm>
            <a:off x="836676" y="3634740"/>
            <a:ext cx="10515600" cy="6858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As the frame traverses the FP network, all devices work only with the FP header. FP interfaces work only with ODAs/OSAs — they never learn CE host MAC addresses.</a:t>
            </a:r>
            <a:endParaRPr lang="en-US" dirty="0"/>
          </a:p>
        </p:txBody>
      </p:sp>
      <p:sp>
        <p:nvSpPr>
          <p:cNvPr id="13" name="Shape 11"/>
          <p:cNvSpPr/>
          <p:nvPr/>
        </p:nvSpPr>
        <p:spPr>
          <a:xfrm>
            <a:off x="457200" y="4754880"/>
            <a:ext cx="11247120" cy="1188720"/>
          </a:xfrm>
          <a:prstGeom prst="rect">
            <a:avLst/>
          </a:prstGeom>
          <a:solidFill>
            <a:srgbClr val="FFFFFF"/>
          </a:solidFill>
          <a:ln/>
          <a:effectLst>
            <a:outerShdw blurRad="50800" dist="25400" dir="8100000" algn="bl" rotWithShape="0">
              <a:srgbClr val="000000">
                <a:alpha val="12000"/>
              </a:srgbClr>
            </a:outerShdw>
          </a:effectLst>
        </p:spPr>
      </p:sp>
      <p:sp>
        <p:nvSpPr>
          <p:cNvPr id="14" name="Shape 12"/>
          <p:cNvSpPr/>
          <p:nvPr/>
        </p:nvSpPr>
        <p:spPr>
          <a:xfrm>
            <a:off x="457200" y="4754880"/>
            <a:ext cx="73152" cy="1188720"/>
          </a:xfrm>
          <a:prstGeom prst="rect">
            <a:avLst/>
          </a:prstGeom>
          <a:solidFill>
            <a:srgbClr val="3A7CB8"/>
          </a:solidFill>
          <a:ln/>
        </p:spPr>
      </p:sp>
      <p:sp>
        <p:nvSpPr>
          <p:cNvPr id="15" name="Text 13"/>
          <p:cNvSpPr/>
          <p:nvPr/>
        </p:nvSpPr>
        <p:spPr>
          <a:xfrm>
            <a:off x="777240" y="475488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Edge Behavior</a:t>
            </a:r>
            <a:endParaRPr lang="en-US" sz="1400" dirty="0"/>
          </a:p>
        </p:txBody>
      </p:sp>
      <p:sp>
        <p:nvSpPr>
          <p:cNvPr id="16" name="Text 14"/>
          <p:cNvSpPr/>
          <p:nvPr/>
        </p:nvSpPr>
        <p:spPr>
          <a:xfrm>
            <a:off x="790956" y="5052060"/>
            <a:ext cx="10515600" cy="6858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When the frame egresses the FP network, the FP device strips the FP header and the original CE frame continues on the CE network unchanged.</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FABRICPATH — MAC ADDRESS IMPROVEMENTS</a:t>
            </a:r>
            <a:endParaRPr lang="en-US" sz="2600" dirty="0"/>
          </a:p>
        </p:txBody>
      </p:sp>
      <p:sp>
        <p:nvSpPr>
          <p:cNvPr id="4" name="Text 2"/>
          <p:cNvSpPr/>
          <p:nvPr/>
        </p:nvSpPr>
        <p:spPr>
          <a:xfrm>
            <a:off x="457200" y="1005840"/>
            <a:ext cx="109728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FabricPath significantly reduces MAC table size and complexity through multiple mechanisms</a:t>
            </a:r>
            <a:r>
              <a:rPr lang="en-US" sz="1300" dirty="0">
                <a:solidFill>
                  <a:srgbClr val="1E293B"/>
                </a:solidFill>
                <a:latin typeface="Calibri" pitchFamily="34" charset="0"/>
                <a:ea typeface="Calibri" pitchFamily="34" charset="-122"/>
                <a:cs typeface="Calibri" pitchFamily="34" charset="-120"/>
              </a:rPr>
              <a:t>:</a:t>
            </a:r>
            <a:endParaRPr lang="en-US" sz="1300" dirty="0"/>
          </a:p>
        </p:txBody>
      </p:sp>
      <p:sp>
        <p:nvSpPr>
          <p:cNvPr id="5" name="Shape 3"/>
          <p:cNvSpPr/>
          <p:nvPr/>
        </p:nvSpPr>
        <p:spPr>
          <a:xfrm>
            <a:off x="457200" y="164592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645920"/>
            <a:ext cx="73152" cy="1005840"/>
          </a:xfrm>
          <a:prstGeom prst="rect">
            <a:avLst/>
          </a:prstGeom>
          <a:solidFill>
            <a:srgbClr val="3A7CB8"/>
          </a:solidFill>
          <a:ln/>
        </p:spPr>
      </p:sp>
      <p:sp>
        <p:nvSpPr>
          <p:cNvPr id="7" name="Text 5"/>
          <p:cNvSpPr/>
          <p:nvPr/>
        </p:nvSpPr>
        <p:spPr>
          <a:xfrm>
            <a:off x="777240" y="1645920"/>
            <a:ext cx="3657600" cy="100584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Conversational Learning at CE Edge</a:t>
            </a:r>
            <a:endParaRPr lang="en-US" sz="1300" dirty="0"/>
          </a:p>
        </p:txBody>
      </p:sp>
      <p:sp>
        <p:nvSpPr>
          <p:cNvPr id="8" name="Text 6"/>
          <p:cNvSpPr/>
          <p:nvPr/>
        </p:nvSpPr>
        <p:spPr>
          <a:xfrm>
            <a:off x="4572000" y="1645920"/>
            <a:ext cx="6858000" cy="1005840"/>
          </a:xfrm>
          <a:prstGeom prst="rect">
            <a:avLst/>
          </a:prstGeom>
          <a:noFill/>
          <a:ln/>
        </p:spPr>
        <p:txBody>
          <a:bodyPr wrap="square" rtlCol="0" anchor="ctr"/>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An interface learns a source MAC only if it already has a destination MAC for that conversation. Prevents learning MACs for one-way flows, dramatically reducing table size.</a:t>
            </a:r>
            <a:endParaRPr lang="en-US" sz="1600" dirty="0"/>
          </a:p>
        </p:txBody>
      </p:sp>
      <p:sp>
        <p:nvSpPr>
          <p:cNvPr id="9" name="Shape 7"/>
          <p:cNvSpPr/>
          <p:nvPr/>
        </p:nvSpPr>
        <p:spPr>
          <a:xfrm>
            <a:off x="457200" y="283464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0" name="Shape 8"/>
          <p:cNvSpPr/>
          <p:nvPr/>
        </p:nvSpPr>
        <p:spPr>
          <a:xfrm>
            <a:off x="457200" y="2834640"/>
            <a:ext cx="73152" cy="1005840"/>
          </a:xfrm>
          <a:prstGeom prst="rect">
            <a:avLst/>
          </a:prstGeom>
          <a:solidFill>
            <a:srgbClr val="3A7CB8"/>
          </a:solidFill>
          <a:ln/>
        </p:spPr>
      </p:sp>
      <p:sp>
        <p:nvSpPr>
          <p:cNvPr id="11" name="Text 9"/>
          <p:cNvSpPr/>
          <p:nvPr/>
        </p:nvSpPr>
        <p:spPr>
          <a:xfrm>
            <a:off x="777240" y="2834640"/>
            <a:ext cx="3657600" cy="100584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No CE MACs in FP Core</a:t>
            </a:r>
            <a:endParaRPr lang="en-US" sz="1300" dirty="0"/>
          </a:p>
        </p:txBody>
      </p:sp>
      <p:sp>
        <p:nvSpPr>
          <p:cNvPr id="12" name="Text 10"/>
          <p:cNvSpPr/>
          <p:nvPr/>
        </p:nvSpPr>
        <p:spPr>
          <a:xfrm>
            <a:off x="4572000" y="2834640"/>
            <a:ext cx="6858000" cy="1005840"/>
          </a:xfrm>
          <a:prstGeom prst="rect">
            <a:avLst/>
          </a:prstGeom>
          <a:noFill/>
          <a:ln/>
        </p:spPr>
        <p:txBody>
          <a:bodyPr wrap="square" rtlCol="0" anchor="ctr"/>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Core devices never need to know customer/end-host MAC addresses. They only work with FabricPath switch IDs.</a:t>
            </a:r>
            <a:endParaRPr lang="en-US" sz="1600" dirty="0"/>
          </a:p>
        </p:txBody>
      </p:sp>
      <p:sp>
        <p:nvSpPr>
          <p:cNvPr id="13" name="Shape 11"/>
          <p:cNvSpPr/>
          <p:nvPr/>
        </p:nvSpPr>
        <p:spPr>
          <a:xfrm>
            <a:off x="457200" y="402336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4" name="Shape 12"/>
          <p:cNvSpPr/>
          <p:nvPr/>
        </p:nvSpPr>
        <p:spPr>
          <a:xfrm>
            <a:off x="457200" y="4023360"/>
            <a:ext cx="73152" cy="1005840"/>
          </a:xfrm>
          <a:prstGeom prst="rect">
            <a:avLst/>
          </a:prstGeom>
          <a:solidFill>
            <a:srgbClr val="3A7CB8"/>
          </a:solidFill>
          <a:ln/>
        </p:spPr>
      </p:sp>
      <p:sp>
        <p:nvSpPr>
          <p:cNvPr id="15" name="Text 13"/>
          <p:cNvSpPr/>
          <p:nvPr/>
        </p:nvSpPr>
        <p:spPr>
          <a:xfrm>
            <a:off x="777240" y="4023360"/>
            <a:ext cx="3657600" cy="100584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Hierarchical MACs in Core</a:t>
            </a:r>
            <a:endParaRPr lang="en-US" sz="1300" dirty="0"/>
          </a:p>
        </p:txBody>
      </p:sp>
      <p:sp>
        <p:nvSpPr>
          <p:cNvPr id="16" name="Text 14"/>
          <p:cNvSpPr/>
          <p:nvPr/>
        </p:nvSpPr>
        <p:spPr>
          <a:xfrm>
            <a:off x="4572000" y="4023360"/>
            <a:ext cx="6858000" cy="1005840"/>
          </a:xfrm>
          <a:prstGeom prst="rect">
            <a:avLst/>
          </a:prstGeom>
          <a:noFill/>
          <a:ln/>
        </p:spPr>
        <p:txBody>
          <a:bodyPr wrap="square" rtlCol="0" anchor="ctr"/>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FP MAC addresses (OSA/ODA) are hierarchical — proportional to the number of FP switches, not end hosts. Results in much smaller MAC tables in the core.</a:t>
            </a:r>
            <a:endParaRPr lang="en-US" sz="1600" dirty="0"/>
          </a:p>
        </p:txBody>
      </p:sp>
      <p:sp>
        <p:nvSpPr>
          <p:cNvPr id="17" name="Shape 15"/>
          <p:cNvSpPr/>
          <p:nvPr/>
        </p:nvSpPr>
        <p:spPr>
          <a:xfrm>
            <a:off x="457200" y="521208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8" name="Shape 16"/>
          <p:cNvSpPr/>
          <p:nvPr/>
        </p:nvSpPr>
        <p:spPr>
          <a:xfrm>
            <a:off x="457200" y="5212080"/>
            <a:ext cx="73152" cy="1005840"/>
          </a:xfrm>
          <a:prstGeom prst="rect">
            <a:avLst/>
          </a:prstGeom>
          <a:solidFill>
            <a:srgbClr val="3A7CB8"/>
          </a:solidFill>
          <a:ln/>
        </p:spPr>
      </p:sp>
      <p:sp>
        <p:nvSpPr>
          <p:cNvPr id="19" name="Text 17"/>
          <p:cNvSpPr/>
          <p:nvPr/>
        </p:nvSpPr>
        <p:spPr>
          <a:xfrm>
            <a:off x="777240" y="5212080"/>
            <a:ext cx="3657600" cy="1005840"/>
          </a:xfrm>
          <a:prstGeom prst="rect">
            <a:avLst/>
          </a:prstGeom>
          <a:noFill/>
          <a:ln/>
        </p:spPr>
        <p:txBody>
          <a:bodyPr wrap="square" rtlCol="0" anchor="ctr"/>
          <a:lstStyle/>
          <a:p>
            <a:pPr marL="0" indent="0">
              <a:buNone/>
            </a:pPr>
            <a:r>
              <a:rPr lang="en-US" sz="1300" b="1" dirty="0">
                <a:solidFill>
                  <a:srgbClr val="1B3A5C"/>
                </a:solidFill>
                <a:latin typeface="Georgia" pitchFamily="34" charset="0"/>
                <a:ea typeface="Georgia" pitchFamily="34" charset="-122"/>
                <a:cs typeface="Georgia" pitchFamily="34" charset="-120"/>
              </a:rPr>
              <a:t>IS-IS Discovery (No Timeout)</a:t>
            </a:r>
            <a:endParaRPr lang="en-US" sz="1300" dirty="0"/>
          </a:p>
        </p:txBody>
      </p:sp>
      <p:sp>
        <p:nvSpPr>
          <p:cNvPr id="20" name="Text 18"/>
          <p:cNvSpPr/>
          <p:nvPr/>
        </p:nvSpPr>
        <p:spPr>
          <a:xfrm>
            <a:off x="4572000" y="5212080"/>
            <a:ext cx="6858000" cy="1005840"/>
          </a:xfrm>
          <a:prstGeom prst="rect">
            <a:avLst/>
          </a:prstGeom>
          <a:noFill/>
          <a:ln/>
        </p:spPr>
        <p:txBody>
          <a:bodyPr wrap="square" rtlCol="0" anchor="ctr"/>
          <a:lstStyle/>
          <a:p>
            <a:pPr marL="0" indent="0">
              <a:lnSpc>
                <a:spcPct val="140000"/>
              </a:lnSpc>
              <a:buNone/>
            </a:pPr>
            <a:r>
              <a:rPr lang="en-US" sz="1400" dirty="0">
                <a:solidFill>
                  <a:srgbClr val="1E293B"/>
                </a:solidFill>
                <a:latin typeface="Calibri" pitchFamily="34" charset="0"/>
                <a:ea typeface="Calibri" pitchFamily="34" charset="-122"/>
                <a:cs typeface="Calibri" pitchFamily="34" charset="-120"/>
              </a:rPr>
              <a:t>FP MAC addresses are discovered via IS-IS (not learned from data plane) and do not age out. This eliminates periodic re-flooding.</a:t>
            </a:r>
            <a:endParaRPr lang="en-US" sz="1400" dirty="0"/>
          </a:p>
        </p:txBody>
      </p:sp>
      <p:sp>
        <p:nvSpPr>
          <p:cNvPr id="21" name="Text 19"/>
          <p:cNvSpPr/>
          <p:nvPr/>
        </p:nvSpPr>
        <p:spPr>
          <a:xfrm>
            <a:off x="457200" y="6217920"/>
            <a:ext cx="10972800" cy="365760"/>
          </a:xfrm>
          <a:prstGeom prst="rect">
            <a:avLst/>
          </a:prstGeom>
          <a:noFill/>
          <a:ln/>
        </p:spPr>
        <p:txBody>
          <a:bodyPr wrap="square" rtlCol="0" anchor="t"/>
          <a:lstStyle/>
          <a:p>
            <a:pPr marL="0" indent="0">
              <a:lnSpc>
                <a:spcPct val="140000"/>
              </a:lnSpc>
              <a:buNone/>
            </a:pPr>
            <a:r>
              <a:rPr lang="en-US" sz="1200" i="1" dirty="0">
                <a:solidFill>
                  <a:srgbClr val="64748B"/>
                </a:solidFill>
                <a:latin typeface="Calibri" pitchFamily="34" charset="0"/>
                <a:ea typeface="Calibri" pitchFamily="34" charset="-122"/>
                <a:cs typeface="Calibri" pitchFamily="34" charset="-120"/>
              </a:rPr>
              <a:t>FabricPath separates addresses from location, allowing VMs to be moved freely across the fabric.</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F59E0B"/>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F59E0B"/>
                </a:solidFill>
                <a:latin typeface="Calibri" pitchFamily="34" charset="0"/>
                <a:ea typeface="Calibri" pitchFamily="34" charset="-122"/>
                <a:cs typeface="Calibri" pitchFamily="34" charset="-120"/>
              </a:rPr>
              <a:t>MODULE 3</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Provider Bridging</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IEEE 802.1ad / Q-in-Q</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Double VLAN tagging  •  Customer isolation  •  Metro Ethernet  •  0:45–1:05</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3.1 PROVIDER BRIDGING OVERVIEW AND MOTIVATION</a:t>
            </a:r>
            <a:endParaRPr lang="en-US" sz="2600" dirty="0"/>
          </a:p>
        </p:txBody>
      </p:sp>
      <p:sp>
        <p:nvSpPr>
          <p:cNvPr id="4" name="Text 2"/>
          <p:cNvSpPr/>
          <p:nvPr/>
        </p:nvSpPr>
        <p:spPr>
          <a:xfrm>
            <a:off x="457200" y="1005840"/>
            <a:ext cx="10972800" cy="91440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Provider Bridging, standardized in IEEE 802.1ad (2005, later folded into IEEE 802.1Q-2011), enables the transport of customer Ethernet traffic across a provider network while maintaining isolation. The technology is commonly known as Q-in-Q because it stacks one 802.1Q VLAN tag inside another.</a:t>
            </a:r>
            <a:endParaRPr lang="en-US" sz="2000" dirty="0"/>
          </a:p>
        </p:txBody>
      </p:sp>
      <p:sp>
        <p:nvSpPr>
          <p:cNvPr id="5" name="Text 3"/>
          <p:cNvSpPr/>
          <p:nvPr/>
        </p:nvSpPr>
        <p:spPr>
          <a:xfrm>
            <a:off x="401052" y="2456046"/>
            <a:ext cx="10972800" cy="27432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VLAN space exhaustion: a single 802.1Q tag provides only 4,094 VLANs, insufficient for large providers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Customer VLAN isolation: customers may use overlapping VLAN IDs, requiring provider-level separation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Transparent Ethernet services: providers offer E-Line, E-LAN services where customer traffic is transported unchanged</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Operational simplicity: straightforward tag-stacking requires minimal changes to existing equipment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3.2 Q-IN-Q FRAME STRUCTURE</a:t>
            </a:r>
            <a:endParaRPr lang="en-US" sz="2600" dirty="0"/>
          </a:p>
        </p:txBody>
      </p:sp>
      <p:sp>
        <p:nvSpPr>
          <p:cNvPr id="4" name="Text 2"/>
          <p:cNvSpPr/>
          <p:nvPr/>
        </p:nvSpPr>
        <p:spPr>
          <a:xfrm>
            <a:off x="401053" y="777240"/>
            <a:ext cx="109728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Provider Bridging adds a second VLAN tag, the Service VLAN (S-VLAN, EtherType 0x88A8), to the outside of the customer's existing C-VLAN tag (EtherType 0x8100).</a:t>
            </a:r>
            <a:endParaRPr lang="en-US" dirty="0"/>
          </a:p>
        </p:txBody>
      </p:sp>
      <p:pic>
        <p:nvPicPr>
          <p:cNvPr id="5" name="Image 0" descr="preencoded.png"/>
          <p:cNvPicPr>
            <a:picLocks noChangeAspect="1"/>
          </p:cNvPicPr>
          <p:nvPr/>
        </p:nvPicPr>
        <p:blipFill>
          <a:blip r:embed="rId3"/>
          <a:stretch>
            <a:fillRect/>
          </a:stretch>
        </p:blipFill>
        <p:spPr>
          <a:xfrm>
            <a:off x="914400" y="1645920"/>
            <a:ext cx="10332720" cy="48463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MEF SERVICE TYPES</a:t>
            </a:r>
            <a:endParaRPr lang="en-US" sz="2600" dirty="0"/>
          </a:p>
        </p:txBody>
      </p:sp>
      <p:sp>
        <p:nvSpPr>
          <p:cNvPr id="4" name="Shape 2"/>
          <p:cNvSpPr/>
          <p:nvPr/>
        </p:nvSpPr>
        <p:spPr>
          <a:xfrm>
            <a:off x="457200" y="1097280"/>
            <a:ext cx="11247120" cy="137160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97280"/>
            <a:ext cx="73152" cy="1371600"/>
          </a:xfrm>
          <a:prstGeom prst="rect">
            <a:avLst/>
          </a:prstGeom>
          <a:solidFill>
            <a:srgbClr val="F59E0B"/>
          </a:solidFill>
          <a:ln/>
        </p:spPr>
      </p:sp>
      <p:sp>
        <p:nvSpPr>
          <p:cNvPr id="6" name="Text 4"/>
          <p:cNvSpPr/>
          <p:nvPr/>
        </p:nvSpPr>
        <p:spPr>
          <a:xfrm>
            <a:off x="777240" y="1097280"/>
            <a:ext cx="10515600" cy="457200"/>
          </a:xfrm>
          <a:prstGeom prst="rect">
            <a:avLst/>
          </a:prstGeom>
          <a:noFill/>
          <a:ln/>
        </p:spPr>
        <p:txBody>
          <a:bodyPr wrap="square" rtlCol="0" anchor="b"/>
          <a:lstStyle/>
          <a:p>
            <a:pPr marL="0" indent="0">
              <a:buNone/>
            </a:pPr>
            <a:r>
              <a:rPr lang="en-US" sz="1800" b="1" dirty="0">
                <a:solidFill>
                  <a:srgbClr val="7D4510"/>
                </a:solidFill>
                <a:latin typeface="Georgia" pitchFamily="34" charset="0"/>
                <a:ea typeface="Georgia" pitchFamily="34" charset="-122"/>
                <a:cs typeface="Georgia" pitchFamily="34" charset="-120"/>
              </a:rPr>
              <a:t>E-Line (Point-to-Point)</a:t>
            </a:r>
            <a:endParaRPr lang="en-US" sz="1800" dirty="0"/>
          </a:p>
        </p:txBody>
      </p:sp>
      <p:sp>
        <p:nvSpPr>
          <p:cNvPr id="7" name="Text 5"/>
          <p:cNvSpPr/>
          <p:nvPr/>
        </p:nvSpPr>
        <p:spPr>
          <a:xfrm>
            <a:off x="777240" y="1645920"/>
            <a:ext cx="10515600" cy="73152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A dedicated S-VLAN connects two customer sites, providing a virtual Ethernet leased line.</a:t>
            </a:r>
            <a:endParaRPr lang="en-US" sz="2000" dirty="0"/>
          </a:p>
        </p:txBody>
      </p:sp>
      <p:sp>
        <p:nvSpPr>
          <p:cNvPr id="8" name="Shape 6"/>
          <p:cNvSpPr/>
          <p:nvPr/>
        </p:nvSpPr>
        <p:spPr>
          <a:xfrm>
            <a:off x="457200" y="2743200"/>
            <a:ext cx="11247120" cy="137160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743200"/>
            <a:ext cx="73152" cy="1371600"/>
          </a:xfrm>
          <a:prstGeom prst="rect">
            <a:avLst/>
          </a:prstGeom>
          <a:solidFill>
            <a:srgbClr val="F59E0B"/>
          </a:solidFill>
          <a:ln/>
        </p:spPr>
      </p:sp>
      <p:sp>
        <p:nvSpPr>
          <p:cNvPr id="10" name="Text 8"/>
          <p:cNvSpPr/>
          <p:nvPr/>
        </p:nvSpPr>
        <p:spPr>
          <a:xfrm>
            <a:off x="777240" y="2743200"/>
            <a:ext cx="10515600" cy="457200"/>
          </a:xfrm>
          <a:prstGeom prst="rect">
            <a:avLst/>
          </a:prstGeom>
          <a:noFill/>
          <a:ln/>
        </p:spPr>
        <p:txBody>
          <a:bodyPr wrap="square" rtlCol="0" anchor="b"/>
          <a:lstStyle/>
          <a:p>
            <a:pPr marL="0" indent="0">
              <a:buNone/>
            </a:pPr>
            <a:r>
              <a:rPr lang="en-US" sz="1800" b="1" dirty="0">
                <a:solidFill>
                  <a:srgbClr val="7D4510"/>
                </a:solidFill>
                <a:latin typeface="Georgia" pitchFamily="34" charset="0"/>
                <a:ea typeface="Georgia" pitchFamily="34" charset="-122"/>
                <a:cs typeface="Georgia" pitchFamily="34" charset="-120"/>
              </a:rPr>
              <a:t>E-LAN (Multipoint-to-Multipoint)</a:t>
            </a:r>
            <a:endParaRPr lang="en-US" sz="1800" dirty="0"/>
          </a:p>
        </p:txBody>
      </p:sp>
      <p:sp>
        <p:nvSpPr>
          <p:cNvPr id="11" name="Text 9"/>
          <p:cNvSpPr/>
          <p:nvPr/>
        </p:nvSpPr>
        <p:spPr>
          <a:xfrm>
            <a:off x="777240" y="3291840"/>
            <a:ext cx="10515600" cy="73152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A single S-VLAN connects multiple customer sites with full any-to-any connectivity.</a:t>
            </a:r>
            <a:endParaRPr lang="en-US" sz="2000" dirty="0"/>
          </a:p>
        </p:txBody>
      </p:sp>
      <p:sp>
        <p:nvSpPr>
          <p:cNvPr id="12" name="Shape 10"/>
          <p:cNvSpPr/>
          <p:nvPr/>
        </p:nvSpPr>
        <p:spPr>
          <a:xfrm>
            <a:off x="457200" y="4389120"/>
            <a:ext cx="11247120" cy="1371600"/>
          </a:xfrm>
          <a:prstGeom prst="rect">
            <a:avLst/>
          </a:prstGeom>
          <a:solidFill>
            <a:srgbClr val="FFFFFF"/>
          </a:solidFill>
          <a:ln/>
          <a:effectLst>
            <a:outerShdw blurRad="50800" dist="25400" dir="8100000" algn="bl" rotWithShape="0">
              <a:srgbClr val="000000">
                <a:alpha val="12000"/>
              </a:srgbClr>
            </a:outerShdw>
          </a:effectLst>
        </p:spPr>
      </p:sp>
      <p:sp>
        <p:nvSpPr>
          <p:cNvPr id="13" name="Shape 11"/>
          <p:cNvSpPr/>
          <p:nvPr/>
        </p:nvSpPr>
        <p:spPr>
          <a:xfrm>
            <a:off x="457200" y="4389120"/>
            <a:ext cx="73152" cy="1371600"/>
          </a:xfrm>
          <a:prstGeom prst="rect">
            <a:avLst/>
          </a:prstGeom>
          <a:solidFill>
            <a:srgbClr val="F59E0B"/>
          </a:solidFill>
          <a:ln/>
        </p:spPr>
      </p:sp>
      <p:sp>
        <p:nvSpPr>
          <p:cNvPr id="14" name="Text 12"/>
          <p:cNvSpPr/>
          <p:nvPr/>
        </p:nvSpPr>
        <p:spPr>
          <a:xfrm>
            <a:off x="777240" y="4389120"/>
            <a:ext cx="10515600" cy="457200"/>
          </a:xfrm>
          <a:prstGeom prst="rect">
            <a:avLst/>
          </a:prstGeom>
          <a:noFill/>
          <a:ln/>
        </p:spPr>
        <p:txBody>
          <a:bodyPr wrap="square" rtlCol="0" anchor="b"/>
          <a:lstStyle/>
          <a:p>
            <a:pPr marL="0" indent="0">
              <a:buNone/>
            </a:pPr>
            <a:r>
              <a:rPr lang="en-US" sz="1800" b="1" dirty="0">
                <a:solidFill>
                  <a:srgbClr val="7D4510"/>
                </a:solidFill>
                <a:latin typeface="Georgia" pitchFamily="34" charset="0"/>
                <a:ea typeface="Georgia" pitchFamily="34" charset="-122"/>
                <a:cs typeface="Georgia" pitchFamily="34" charset="-120"/>
              </a:rPr>
              <a:t>E-Tree (Rooted Multipoint)</a:t>
            </a:r>
            <a:endParaRPr lang="en-US" sz="1800" dirty="0"/>
          </a:p>
        </p:txBody>
      </p:sp>
      <p:sp>
        <p:nvSpPr>
          <p:cNvPr id="15" name="Text 13"/>
          <p:cNvSpPr/>
          <p:nvPr/>
        </p:nvSpPr>
        <p:spPr>
          <a:xfrm>
            <a:off x="777240" y="4937760"/>
            <a:ext cx="10515600" cy="73152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Leaf sites communicate with root sites but not directly with each other.</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3.3 PROVIDER BRIDGE OPERATION</a:t>
            </a:r>
            <a:endParaRPr lang="en-US" sz="2600" dirty="0"/>
          </a:p>
        </p:txBody>
      </p:sp>
      <p:pic>
        <p:nvPicPr>
          <p:cNvPr id="4" name="Image 0" descr="preencoded.png"/>
          <p:cNvPicPr>
            <a:picLocks noChangeAspect="1"/>
          </p:cNvPicPr>
          <p:nvPr/>
        </p:nvPicPr>
        <p:blipFill>
          <a:blip r:embed="rId3"/>
          <a:stretch>
            <a:fillRect/>
          </a:stretch>
        </p:blipFill>
        <p:spPr>
          <a:xfrm>
            <a:off x="914400" y="1005840"/>
            <a:ext cx="10332720" cy="52120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PROVIDER EDGE AND CORE OPERATIONS</a:t>
            </a:r>
            <a:endParaRPr lang="en-US" sz="2600" dirty="0"/>
          </a:p>
        </p:txBody>
      </p:sp>
      <p:sp>
        <p:nvSpPr>
          <p:cNvPr id="4" name="Text 2"/>
          <p:cNvSpPr/>
          <p:nvPr/>
        </p:nvSpPr>
        <p:spPr>
          <a:xfrm>
            <a:off x="457200" y="1005840"/>
            <a:ext cx="109728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At the Provider Edge (UNI)</a:t>
            </a:r>
            <a:endParaRPr lang="en-US" sz="1800" dirty="0"/>
          </a:p>
        </p:txBody>
      </p:sp>
      <p:sp>
        <p:nvSpPr>
          <p:cNvPr id="5" name="Text 3"/>
          <p:cNvSpPr/>
          <p:nvPr/>
        </p:nvSpPr>
        <p:spPr>
          <a:xfrm>
            <a:off x="457200" y="1463040"/>
            <a:ext cx="109728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At the User-Network Interface, the provider edge switch inserts S-VLAN tags. Common mapping strategies:</a:t>
            </a:r>
            <a:endParaRPr lang="en-US" dirty="0"/>
          </a:p>
        </p:txBody>
      </p:sp>
      <p:sp>
        <p:nvSpPr>
          <p:cNvPr id="6" name="Shape 4"/>
          <p:cNvSpPr/>
          <p:nvPr/>
        </p:nvSpPr>
        <p:spPr>
          <a:xfrm>
            <a:off x="457200" y="2103120"/>
            <a:ext cx="11247120" cy="502920"/>
          </a:xfrm>
          <a:prstGeom prst="rect">
            <a:avLst/>
          </a:prstGeom>
          <a:solidFill>
            <a:srgbClr val="FFFFFF"/>
          </a:solidFill>
          <a:ln/>
          <a:effectLst>
            <a:outerShdw blurRad="50800" dist="25400" dir="8100000" algn="bl" rotWithShape="0">
              <a:srgbClr val="000000">
                <a:alpha val="12000"/>
              </a:srgbClr>
            </a:outerShdw>
          </a:effectLst>
        </p:spPr>
      </p:sp>
      <p:sp>
        <p:nvSpPr>
          <p:cNvPr id="7" name="Text 5"/>
          <p:cNvSpPr/>
          <p:nvPr/>
        </p:nvSpPr>
        <p:spPr>
          <a:xfrm>
            <a:off x="731520" y="2103120"/>
            <a:ext cx="10789920" cy="502920"/>
          </a:xfrm>
          <a:prstGeom prst="rect">
            <a:avLst/>
          </a:prstGeom>
          <a:noFill/>
          <a:ln/>
        </p:spPr>
        <p:txBody>
          <a:bodyPr wrap="square" rtlCol="0" anchor="ctr"/>
          <a:lstStyle/>
          <a:p>
            <a:pPr marL="0" indent="0">
              <a:buNone/>
            </a:pPr>
            <a:r>
              <a:rPr lang="en-US" b="1" dirty="0">
                <a:solidFill>
                  <a:srgbClr val="1B3A5C"/>
                </a:solidFill>
                <a:latin typeface="Calibri" pitchFamily="34" charset="0"/>
                <a:ea typeface="Calibri" pitchFamily="34" charset="-122"/>
                <a:cs typeface="Calibri" pitchFamily="34" charset="-120"/>
              </a:rPr>
              <a:t>Port-based:</a:t>
            </a:r>
            <a:r>
              <a:rPr lang="en-US" dirty="0">
                <a:solidFill>
                  <a:srgbClr val="1E293B"/>
                </a:solidFill>
                <a:latin typeface="Calibri" pitchFamily="34" charset="0"/>
                <a:ea typeface="Calibri" pitchFamily="34" charset="-122"/>
                <a:cs typeface="Calibri" pitchFamily="34" charset="-120"/>
              </a:rPr>
              <a:t> All traffic from a physical port receives the same S-VLAN tag. Simplest and most common.</a:t>
            </a:r>
            <a:endParaRPr lang="en-US" dirty="0"/>
          </a:p>
        </p:txBody>
      </p:sp>
      <p:sp>
        <p:nvSpPr>
          <p:cNvPr id="8" name="Shape 6"/>
          <p:cNvSpPr/>
          <p:nvPr/>
        </p:nvSpPr>
        <p:spPr>
          <a:xfrm>
            <a:off x="457200" y="2743200"/>
            <a:ext cx="11247120" cy="502920"/>
          </a:xfrm>
          <a:prstGeom prst="rect">
            <a:avLst/>
          </a:prstGeom>
          <a:solidFill>
            <a:srgbClr val="FFFFFF"/>
          </a:solidFill>
          <a:ln/>
          <a:effectLst>
            <a:outerShdw blurRad="50800" dist="25400" dir="8100000" algn="bl" rotWithShape="0">
              <a:srgbClr val="000000">
                <a:alpha val="12000"/>
              </a:srgbClr>
            </a:outerShdw>
          </a:effectLst>
        </p:spPr>
      </p:sp>
      <p:sp>
        <p:nvSpPr>
          <p:cNvPr id="9" name="Text 7"/>
          <p:cNvSpPr/>
          <p:nvPr/>
        </p:nvSpPr>
        <p:spPr>
          <a:xfrm>
            <a:off x="731520" y="2743200"/>
            <a:ext cx="10789920" cy="502920"/>
          </a:xfrm>
          <a:prstGeom prst="rect">
            <a:avLst/>
          </a:prstGeom>
          <a:noFill/>
          <a:ln/>
        </p:spPr>
        <p:txBody>
          <a:bodyPr wrap="square" rtlCol="0" anchor="ctr"/>
          <a:lstStyle/>
          <a:p>
            <a:pPr marL="0" indent="0">
              <a:buNone/>
            </a:pPr>
            <a:r>
              <a:rPr lang="en-US" b="1" dirty="0">
                <a:solidFill>
                  <a:srgbClr val="1B3A5C"/>
                </a:solidFill>
                <a:latin typeface="Calibri" pitchFamily="34" charset="0"/>
                <a:ea typeface="Calibri" pitchFamily="34" charset="-122"/>
                <a:cs typeface="Calibri" pitchFamily="34" charset="-120"/>
              </a:rPr>
              <a:t>C-VLAN-based:</a:t>
            </a:r>
            <a:r>
              <a:rPr lang="en-US" dirty="0">
                <a:solidFill>
                  <a:srgbClr val="1E293B"/>
                </a:solidFill>
                <a:latin typeface="Calibri" pitchFamily="34" charset="0"/>
                <a:ea typeface="Calibri" pitchFamily="34" charset="-122"/>
                <a:cs typeface="Calibri" pitchFamily="34" charset="-120"/>
              </a:rPr>
              <a:t> Different customer VLANs map to different S-VLANs for service differentiation.</a:t>
            </a:r>
            <a:endParaRPr lang="en-US" dirty="0"/>
          </a:p>
        </p:txBody>
      </p:sp>
      <p:sp>
        <p:nvSpPr>
          <p:cNvPr id="10" name="Shape 8"/>
          <p:cNvSpPr/>
          <p:nvPr/>
        </p:nvSpPr>
        <p:spPr>
          <a:xfrm>
            <a:off x="457200" y="3383280"/>
            <a:ext cx="11247120" cy="502920"/>
          </a:xfrm>
          <a:prstGeom prst="rect">
            <a:avLst/>
          </a:prstGeom>
          <a:solidFill>
            <a:srgbClr val="FFFFFF"/>
          </a:solidFill>
          <a:ln/>
          <a:effectLst>
            <a:outerShdw blurRad="50800" dist="25400" dir="8100000" algn="bl" rotWithShape="0">
              <a:srgbClr val="000000">
                <a:alpha val="12000"/>
              </a:srgbClr>
            </a:outerShdw>
          </a:effectLst>
        </p:spPr>
      </p:sp>
      <p:sp>
        <p:nvSpPr>
          <p:cNvPr id="11" name="Text 9"/>
          <p:cNvSpPr/>
          <p:nvPr/>
        </p:nvSpPr>
        <p:spPr>
          <a:xfrm>
            <a:off x="731520" y="3383280"/>
            <a:ext cx="10789920" cy="502920"/>
          </a:xfrm>
          <a:prstGeom prst="rect">
            <a:avLst/>
          </a:prstGeom>
          <a:noFill/>
          <a:ln/>
        </p:spPr>
        <p:txBody>
          <a:bodyPr wrap="square" rtlCol="0" anchor="ctr"/>
          <a:lstStyle/>
          <a:p>
            <a:pPr marL="0" indent="0">
              <a:buNone/>
            </a:pPr>
            <a:r>
              <a:rPr lang="en-US" sz="1300" b="1" dirty="0">
                <a:solidFill>
                  <a:srgbClr val="1B3A5C"/>
                </a:solidFill>
                <a:latin typeface="Calibri" pitchFamily="34" charset="0"/>
                <a:ea typeface="Calibri" pitchFamily="34" charset="-122"/>
                <a:cs typeface="Calibri" pitchFamily="34" charset="-120"/>
              </a:rPr>
              <a:t>Combined:</a:t>
            </a:r>
            <a:r>
              <a:rPr lang="en-US" sz="1300" dirty="0">
                <a:solidFill>
                  <a:srgbClr val="1E293B"/>
                </a:solidFill>
                <a:latin typeface="Calibri" pitchFamily="34" charset="0"/>
                <a:ea typeface="Calibri" pitchFamily="34" charset="-122"/>
                <a:cs typeface="Calibri" pitchFamily="34" charset="-120"/>
              </a:rPr>
              <a:t> Port and VLAN-based mapping together for granular control.</a:t>
            </a:r>
            <a:endParaRPr lang="en-US" sz="1300" dirty="0"/>
          </a:p>
        </p:txBody>
      </p:sp>
      <p:sp>
        <p:nvSpPr>
          <p:cNvPr id="12" name="Text 10"/>
          <p:cNvSpPr/>
          <p:nvPr/>
        </p:nvSpPr>
        <p:spPr>
          <a:xfrm>
            <a:off x="457200" y="4206240"/>
            <a:ext cx="109728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Within the Provider Network</a:t>
            </a:r>
            <a:endParaRPr lang="en-US" sz="1800" dirty="0"/>
          </a:p>
        </p:txBody>
      </p:sp>
      <p:sp>
        <p:nvSpPr>
          <p:cNvPr id="13" name="Text 11"/>
          <p:cNvSpPr/>
          <p:nvPr/>
        </p:nvSpPr>
        <p:spPr>
          <a:xfrm>
            <a:off x="457200" y="4663440"/>
            <a:ext cx="10972800" cy="13716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Inside the provider network, switches forward based only on the outer S-VLAN tag and destination MAC address. The C-VLAN tag is opaque to core switches. However, the provider network still learns customer MAC addresses, which creates scalability issues in large deployments.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3.4 PROVIDER BRIDGING — ADVANTAGES AND LIMITATIONS</a:t>
            </a:r>
            <a:endParaRPr lang="en-US" sz="2600" dirty="0"/>
          </a:p>
        </p:txBody>
      </p:sp>
      <p:sp>
        <p:nvSpPr>
          <p:cNvPr id="4" name="Shape 2"/>
          <p:cNvSpPr/>
          <p:nvPr/>
        </p:nvSpPr>
        <p:spPr>
          <a:xfrm>
            <a:off x="365760" y="100584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365760" y="1005840"/>
            <a:ext cx="5577840" cy="502920"/>
          </a:xfrm>
          <a:prstGeom prst="rect">
            <a:avLst/>
          </a:prstGeom>
          <a:solidFill>
            <a:srgbClr val="0D9488"/>
          </a:solidFill>
          <a:ln/>
        </p:spPr>
      </p:sp>
      <p:sp>
        <p:nvSpPr>
          <p:cNvPr id="6" name="Text 4"/>
          <p:cNvSpPr/>
          <p:nvPr/>
        </p:nvSpPr>
        <p:spPr>
          <a:xfrm>
            <a:off x="54864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ADVANTAGES</a:t>
            </a:r>
            <a:endParaRPr lang="en-US" sz="1800" dirty="0"/>
          </a:p>
        </p:txBody>
      </p:sp>
      <p:sp>
        <p:nvSpPr>
          <p:cNvPr id="7" name="Text 5"/>
          <p:cNvSpPr/>
          <p:nvPr/>
        </p:nvSpPr>
        <p:spPr>
          <a:xfrm>
            <a:off x="640080" y="169164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Simple, well-understood technology based on standard VLAN tagging</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Widely supported: nearly all enterprise and carrier switches support Q-in-Q</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Expands VLAN space to ~16.7 million logical service instances (S-VLAN × C-VLAN)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Customer VLAN transparency: customers retain full control of their VLAN space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Minimal overhead: only 4 additional bytes per frame</a:t>
            </a:r>
            <a:endParaRPr lang="en-US" dirty="0"/>
          </a:p>
        </p:txBody>
      </p:sp>
      <p:sp>
        <p:nvSpPr>
          <p:cNvPr id="8" name="Shape 6"/>
          <p:cNvSpPr/>
          <p:nvPr/>
        </p:nvSpPr>
        <p:spPr>
          <a:xfrm>
            <a:off x="6217920" y="100584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6217920" y="1005840"/>
            <a:ext cx="5577840" cy="502920"/>
          </a:xfrm>
          <a:prstGeom prst="rect">
            <a:avLst/>
          </a:prstGeom>
          <a:solidFill>
            <a:srgbClr val="EF4444"/>
          </a:solidFill>
          <a:ln/>
        </p:spPr>
      </p:sp>
      <p:sp>
        <p:nvSpPr>
          <p:cNvPr id="10" name="Text 8"/>
          <p:cNvSpPr/>
          <p:nvPr/>
        </p:nvSpPr>
        <p:spPr>
          <a:xfrm>
            <a:off x="640080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LIMITATIONS</a:t>
            </a:r>
            <a:endParaRPr lang="en-US" sz="1800" dirty="0"/>
          </a:p>
        </p:txBody>
      </p:sp>
      <p:sp>
        <p:nvSpPr>
          <p:cNvPr id="11" name="Text 9"/>
          <p:cNvSpPr/>
          <p:nvPr/>
        </p:nvSpPr>
        <p:spPr>
          <a:xfrm>
            <a:off x="6400800" y="125730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MAC address scalability: provider core must learn all customer MAC addresses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STP dependency: provider network still relies on STP for loop prevention</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Limited fault isolation: customer broadcast storms can affect the provider core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Security concerns: customer MAC addresses are visible to the provider backbone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3.5 PROVIDER BRIDGING DEPLOYMENT SCENARIOS</a:t>
            </a:r>
            <a:endParaRPr lang="en-US" sz="2600" dirty="0"/>
          </a:p>
        </p:txBody>
      </p:sp>
      <p:sp>
        <p:nvSpPr>
          <p:cNvPr id="4" name="Shape 2"/>
          <p:cNvSpPr/>
          <p:nvPr/>
        </p:nvSpPr>
        <p:spPr>
          <a:xfrm>
            <a:off x="457200" y="109728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97280"/>
            <a:ext cx="73152" cy="1005840"/>
          </a:xfrm>
          <a:prstGeom prst="rect">
            <a:avLst/>
          </a:prstGeom>
          <a:solidFill>
            <a:srgbClr val="F59E0B"/>
          </a:solidFill>
          <a:ln/>
        </p:spPr>
      </p:sp>
      <p:sp>
        <p:nvSpPr>
          <p:cNvPr id="6" name="Text 4"/>
          <p:cNvSpPr/>
          <p:nvPr/>
        </p:nvSpPr>
        <p:spPr>
          <a:xfrm>
            <a:off x="777240" y="1097280"/>
            <a:ext cx="10515600" cy="411480"/>
          </a:xfrm>
          <a:prstGeom prst="rect">
            <a:avLst/>
          </a:prstGeom>
          <a:noFill/>
          <a:ln/>
        </p:spPr>
        <p:txBody>
          <a:bodyPr wrap="square" rtlCol="0" anchor="b"/>
          <a:lstStyle/>
          <a:p>
            <a:pPr marL="0" indent="0">
              <a:buNone/>
            </a:pPr>
            <a:r>
              <a:rPr lang="en-US" sz="1600" b="1" dirty="0">
                <a:solidFill>
                  <a:srgbClr val="7D4510"/>
                </a:solidFill>
                <a:latin typeface="Georgia" pitchFamily="34" charset="0"/>
                <a:ea typeface="Georgia" pitchFamily="34" charset="-122"/>
                <a:cs typeface="Georgia" pitchFamily="34" charset="-120"/>
              </a:rPr>
              <a:t>Metro Ethernet Services</a:t>
            </a:r>
            <a:endParaRPr lang="en-US" sz="1600" dirty="0"/>
          </a:p>
        </p:txBody>
      </p:sp>
      <p:sp>
        <p:nvSpPr>
          <p:cNvPr id="7" name="Text 5"/>
          <p:cNvSpPr/>
          <p:nvPr/>
        </p:nvSpPr>
        <p:spPr>
          <a:xfrm>
            <a:off x="777240" y="1554480"/>
            <a:ext cx="105156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Primary use case for provider Ethernet connectivity between customer sites.</a:t>
            </a:r>
            <a:endParaRPr lang="en-US" dirty="0"/>
          </a:p>
        </p:txBody>
      </p:sp>
      <p:sp>
        <p:nvSpPr>
          <p:cNvPr id="8" name="Shape 6"/>
          <p:cNvSpPr/>
          <p:nvPr/>
        </p:nvSpPr>
        <p:spPr>
          <a:xfrm>
            <a:off x="457200" y="233172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331720"/>
            <a:ext cx="73152" cy="1005840"/>
          </a:xfrm>
          <a:prstGeom prst="rect">
            <a:avLst/>
          </a:prstGeom>
          <a:solidFill>
            <a:srgbClr val="F59E0B"/>
          </a:solidFill>
          <a:ln/>
        </p:spPr>
      </p:sp>
      <p:sp>
        <p:nvSpPr>
          <p:cNvPr id="10" name="Text 8"/>
          <p:cNvSpPr/>
          <p:nvPr/>
        </p:nvSpPr>
        <p:spPr>
          <a:xfrm>
            <a:off x="777240" y="2331720"/>
            <a:ext cx="10515600" cy="411480"/>
          </a:xfrm>
          <a:prstGeom prst="rect">
            <a:avLst/>
          </a:prstGeom>
          <a:noFill/>
          <a:ln/>
        </p:spPr>
        <p:txBody>
          <a:bodyPr wrap="square" rtlCol="0" anchor="b"/>
          <a:lstStyle/>
          <a:p>
            <a:pPr marL="0" indent="0">
              <a:buNone/>
            </a:pPr>
            <a:r>
              <a:rPr lang="en-US" sz="1600" b="1" dirty="0">
                <a:solidFill>
                  <a:srgbClr val="7D4510"/>
                </a:solidFill>
                <a:latin typeface="Georgia" pitchFamily="34" charset="0"/>
                <a:ea typeface="Georgia" pitchFamily="34" charset="-122"/>
                <a:cs typeface="Georgia" pitchFamily="34" charset="-120"/>
              </a:rPr>
              <a:t>Data Center Interconnect</a:t>
            </a:r>
            <a:endParaRPr lang="en-US" sz="1600" dirty="0"/>
          </a:p>
        </p:txBody>
      </p:sp>
      <p:sp>
        <p:nvSpPr>
          <p:cNvPr id="11" name="Text 9"/>
          <p:cNvSpPr/>
          <p:nvPr/>
        </p:nvSpPr>
        <p:spPr>
          <a:xfrm>
            <a:off x="777240" y="2788920"/>
            <a:ext cx="105156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Layer 2 extension between data centers within a metro area.</a:t>
            </a:r>
            <a:endParaRPr lang="en-US" dirty="0"/>
          </a:p>
        </p:txBody>
      </p:sp>
      <p:sp>
        <p:nvSpPr>
          <p:cNvPr id="12" name="Shape 10"/>
          <p:cNvSpPr/>
          <p:nvPr/>
        </p:nvSpPr>
        <p:spPr>
          <a:xfrm>
            <a:off x="457200" y="356616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3" name="Shape 11"/>
          <p:cNvSpPr/>
          <p:nvPr/>
        </p:nvSpPr>
        <p:spPr>
          <a:xfrm>
            <a:off x="457200" y="3566160"/>
            <a:ext cx="73152" cy="1005840"/>
          </a:xfrm>
          <a:prstGeom prst="rect">
            <a:avLst/>
          </a:prstGeom>
          <a:solidFill>
            <a:srgbClr val="F59E0B"/>
          </a:solidFill>
          <a:ln/>
        </p:spPr>
      </p:sp>
      <p:sp>
        <p:nvSpPr>
          <p:cNvPr id="14" name="Text 12"/>
          <p:cNvSpPr/>
          <p:nvPr/>
        </p:nvSpPr>
        <p:spPr>
          <a:xfrm>
            <a:off x="777240" y="3566160"/>
            <a:ext cx="10515600" cy="411480"/>
          </a:xfrm>
          <a:prstGeom prst="rect">
            <a:avLst/>
          </a:prstGeom>
          <a:noFill/>
          <a:ln/>
        </p:spPr>
        <p:txBody>
          <a:bodyPr wrap="square" rtlCol="0" anchor="b"/>
          <a:lstStyle/>
          <a:p>
            <a:pPr marL="0" indent="0">
              <a:buNone/>
            </a:pPr>
            <a:r>
              <a:rPr lang="en-US" sz="1600" b="1" dirty="0">
                <a:solidFill>
                  <a:srgbClr val="7D4510"/>
                </a:solidFill>
                <a:latin typeface="Georgia" pitchFamily="34" charset="0"/>
                <a:ea typeface="Georgia" pitchFamily="34" charset="-122"/>
                <a:cs typeface="Georgia" pitchFamily="34" charset="-120"/>
              </a:rPr>
              <a:t>Wholesale Ethernet</a:t>
            </a:r>
            <a:endParaRPr lang="en-US" sz="1600" dirty="0"/>
          </a:p>
        </p:txBody>
      </p:sp>
      <p:sp>
        <p:nvSpPr>
          <p:cNvPr id="15" name="Text 13"/>
          <p:cNvSpPr/>
          <p:nvPr/>
        </p:nvSpPr>
        <p:spPr>
          <a:xfrm>
            <a:off x="777240" y="4023360"/>
            <a:ext cx="105156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Upstream providers offering transport to downstream operators.</a:t>
            </a:r>
            <a:endParaRPr lang="en-US" dirty="0"/>
          </a:p>
        </p:txBody>
      </p:sp>
      <p:sp>
        <p:nvSpPr>
          <p:cNvPr id="16" name="Shape 14"/>
          <p:cNvSpPr/>
          <p:nvPr/>
        </p:nvSpPr>
        <p:spPr>
          <a:xfrm>
            <a:off x="457200" y="480060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7" name="Shape 15"/>
          <p:cNvSpPr/>
          <p:nvPr/>
        </p:nvSpPr>
        <p:spPr>
          <a:xfrm>
            <a:off x="457200" y="4800600"/>
            <a:ext cx="73152" cy="1005840"/>
          </a:xfrm>
          <a:prstGeom prst="rect">
            <a:avLst/>
          </a:prstGeom>
          <a:solidFill>
            <a:srgbClr val="F59E0B"/>
          </a:solidFill>
          <a:ln/>
        </p:spPr>
      </p:sp>
      <p:sp>
        <p:nvSpPr>
          <p:cNvPr id="18" name="Text 16"/>
          <p:cNvSpPr/>
          <p:nvPr/>
        </p:nvSpPr>
        <p:spPr>
          <a:xfrm>
            <a:off x="777240" y="4800600"/>
            <a:ext cx="10515600" cy="411480"/>
          </a:xfrm>
          <a:prstGeom prst="rect">
            <a:avLst/>
          </a:prstGeom>
          <a:noFill/>
          <a:ln/>
        </p:spPr>
        <p:txBody>
          <a:bodyPr wrap="square" rtlCol="0" anchor="b"/>
          <a:lstStyle/>
          <a:p>
            <a:pPr marL="0" indent="0">
              <a:buNone/>
            </a:pPr>
            <a:r>
              <a:rPr lang="en-US" sz="1600" b="1" dirty="0">
                <a:solidFill>
                  <a:srgbClr val="7D4510"/>
                </a:solidFill>
                <a:latin typeface="Georgia" pitchFamily="34" charset="0"/>
                <a:ea typeface="Georgia" pitchFamily="34" charset="-122"/>
                <a:cs typeface="Georgia" pitchFamily="34" charset="-120"/>
              </a:rPr>
              <a:t>Enterprise WAN</a:t>
            </a:r>
            <a:endParaRPr lang="en-US" sz="1600" dirty="0"/>
          </a:p>
        </p:txBody>
      </p:sp>
      <p:sp>
        <p:nvSpPr>
          <p:cNvPr id="19" name="Text 17"/>
          <p:cNvSpPr/>
          <p:nvPr/>
        </p:nvSpPr>
        <p:spPr>
          <a:xfrm>
            <a:off x="777240" y="5257800"/>
            <a:ext cx="10515600" cy="457200"/>
          </a:xfrm>
          <a:prstGeom prst="rect">
            <a:avLst/>
          </a:prstGeom>
          <a:noFill/>
          <a:ln/>
        </p:spPr>
        <p:txBody>
          <a:bodyPr wrap="square" rtlCol="0" anchor="t"/>
          <a:lstStyle/>
          <a:p>
            <a:pPr marL="0" indent="0">
              <a:lnSpc>
                <a:spcPct val="140000"/>
              </a:lnSpc>
              <a:buNone/>
            </a:pPr>
            <a:r>
              <a:rPr lang="en-US" sz="1300" dirty="0">
                <a:solidFill>
                  <a:srgbClr val="1E293B"/>
                </a:solidFill>
                <a:latin typeface="Calibri" pitchFamily="34" charset="0"/>
                <a:ea typeface="Calibri" pitchFamily="34" charset="-122"/>
                <a:cs typeface="Calibri" pitchFamily="34" charset="-120"/>
              </a:rPr>
              <a:t>Segregating traffic from different departments or subsidiaries.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00C9A7"/>
                </a:solidFill>
                <a:latin typeface="Calibri" pitchFamily="34" charset="0"/>
                <a:ea typeface="Calibri" pitchFamily="34" charset="-122"/>
                <a:cs typeface="Calibri" pitchFamily="34" charset="-120"/>
              </a:rPr>
              <a:t>MODULE 4</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Provider Backbone Bridging</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IEEE 802.1ah / MAC-in-MAC</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Complete MAC isolation  •  24-bit I-SID  •  Backbone scalability  •  1:05–1:25</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4.1 PBB OVERVIEW AND MOTIVATION</a:t>
            </a:r>
            <a:endParaRPr lang="en-US" sz="2600" dirty="0"/>
          </a:p>
        </p:txBody>
      </p:sp>
      <p:sp>
        <p:nvSpPr>
          <p:cNvPr id="4" name="Text 2"/>
          <p:cNvSpPr/>
          <p:nvPr/>
        </p:nvSpPr>
        <p:spPr>
          <a:xfrm>
            <a:off x="457200" y="1005840"/>
            <a:ext cx="10972800" cy="1371600"/>
          </a:xfrm>
          <a:prstGeom prst="rect">
            <a:avLst/>
          </a:prstGeom>
          <a:noFill/>
          <a:ln/>
        </p:spPr>
        <p:txBody>
          <a:bodyPr wrap="square" rtlCol="0" anchor="t"/>
          <a:lstStyle/>
          <a:p>
            <a:pPr marL="0" indent="0">
              <a:lnSpc>
                <a:spcPct val="140000"/>
              </a:lnSpc>
              <a:buNone/>
            </a:pPr>
            <a:r>
              <a:rPr lang="en-US" sz="2400" dirty="0">
                <a:solidFill>
                  <a:srgbClr val="1E293B"/>
                </a:solidFill>
                <a:latin typeface="Calibri" pitchFamily="34" charset="0"/>
                <a:ea typeface="Calibri" pitchFamily="34" charset="-122"/>
                <a:cs typeface="Calibri" pitchFamily="34" charset="-120"/>
              </a:rPr>
              <a:t>Provider Backbone Bridging (PBB), standardized in IEEE 802.1ah (2008), addresses the scalability limitations of Provider Bridging. PBB encapsulates the entire customer frame, including MAC addresses, inside a new backbone MAC header. </a:t>
            </a:r>
          </a:p>
          <a:p>
            <a:pPr marL="0" indent="0">
              <a:lnSpc>
                <a:spcPct val="140000"/>
              </a:lnSpc>
              <a:buNone/>
            </a:pPr>
            <a:r>
              <a:rPr lang="en-US" sz="2400" dirty="0">
                <a:solidFill>
                  <a:srgbClr val="1E293B"/>
                </a:solidFill>
                <a:latin typeface="Calibri" pitchFamily="34" charset="0"/>
                <a:ea typeface="Calibri" pitchFamily="34" charset="-122"/>
                <a:cs typeface="Calibri" pitchFamily="34" charset="-120"/>
              </a:rPr>
              <a:t>While Q-in-Q solved the VLAN scalability problem, it did not address MAC address scalability. PBB solves this by hiding customer MACs from the backbone entirely.</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4.2 PBB MAC-IN-MAC ENCAPSULATION</a:t>
            </a:r>
            <a:endParaRPr lang="en-US" sz="2600" dirty="0"/>
          </a:p>
        </p:txBody>
      </p:sp>
      <p:sp>
        <p:nvSpPr>
          <p:cNvPr id="4" name="Text 2"/>
          <p:cNvSpPr/>
          <p:nvPr/>
        </p:nvSpPr>
        <p:spPr>
          <a:xfrm>
            <a:off x="457200" y="713232"/>
            <a:ext cx="10972800" cy="45720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PBB encapsulates the entire customer Ethernet frame inside a new backbone header with new source and destination MAC addresses belonging to the provider backbone.</a:t>
            </a:r>
            <a:endParaRPr lang="en-US" sz="1600" dirty="0"/>
          </a:p>
        </p:txBody>
      </p:sp>
      <p:pic>
        <p:nvPicPr>
          <p:cNvPr id="5" name="Image 0" descr="preencoded.png"/>
          <p:cNvPicPr>
            <a:picLocks noChangeAspect="1"/>
          </p:cNvPicPr>
          <p:nvPr/>
        </p:nvPicPr>
        <p:blipFill>
          <a:blip r:embed="rId3"/>
          <a:stretch>
            <a:fillRect/>
          </a:stretch>
        </p:blipFill>
        <p:spPr>
          <a:xfrm>
            <a:off x="731520" y="1645920"/>
            <a:ext cx="10698480" cy="5029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4.3 PBB NETWORK COMPONENTS</a:t>
            </a:r>
            <a:endParaRPr lang="en-US" sz="2600" dirty="0"/>
          </a:p>
        </p:txBody>
      </p:sp>
      <p:pic>
        <p:nvPicPr>
          <p:cNvPr id="4" name="Image 0" descr="preencoded.png"/>
          <p:cNvPicPr>
            <a:picLocks noChangeAspect="1"/>
          </p:cNvPicPr>
          <p:nvPr/>
        </p:nvPicPr>
        <p:blipFill>
          <a:blip r:embed="rId3"/>
          <a:stretch>
            <a:fillRect/>
          </a:stretch>
        </p:blipFill>
        <p:spPr>
          <a:xfrm>
            <a:off x="914400" y="1005840"/>
            <a:ext cx="10332720" cy="54864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BEB/BCB ROLES AND FORWARDING</a:t>
            </a:r>
            <a:endParaRPr lang="en-US" sz="2600" dirty="0"/>
          </a:p>
        </p:txBody>
      </p:sp>
      <p:sp>
        <p:nvSpPr>
          <p:cNvPr id="4" name="Shape 2"/>
          <p:cNvSpPr/>
          <p:nvPr/>
        </p:nvSpPr>
        <p:spPr>
          <a:xfrm>
            <a:off x="457200" y="1097280"/>
            <a:ext cx="11247120" cy="137160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97280"/>
            <a:ext cx="73152" cy="1371600"/>
          </a:xfrm>
          <a:prstGeom prst="rect">
            <a:avLst/>
          </a:prstGeom>
          <a:solidFill>
            <a:srgbClr val="8E44AD"/>
          </a:solidFill>
          <a:ln/>
        </p:spPr>
      </p:sp>
      <p:sp>
        <p:nvSpPr>
          <p:cNvPr id="6" name="Text 4"/>
          <p:cNvSpPr/>
          <p:nvPr/>
        </p:nvSpPr>
        <p:spPr>
          <a:xfrm>
            <a:off x="777240" y="1097280"/>
            <a:ext cx="10515600" cy="457200"/>
          </a:xfrm>
          <a:prstGeom prst="rect">
            <a:avLst/>
          </a:prstGeom>
          <a:noFill/>
          <a:ln/>
        </p:spPr>
        <p:txBody>
          <a:bodyPr wrap="square" rtlCol="0" anchor="b"/>
          <a:lstStyle/>
          <a:p>
            <a:pPr marL="0" indent="0">
              <a:buNone/>
            </a:pPr>
            <a:r>
              <a:rPr lang="en-US" sz="1700" b="1" dirty="0">
                <a:solidFill>
                  <a:srgbClr val="1B3A5C"/>
                </a:solidFill>
                <a:latin typeface="Georgia" pitchFamily="34" charset="0"/>
                <a:ea typeface="Georgia" pitchFamily="34" charset="-122"/>
                <a:cs typeface="Georgia" pitchFamily="34" charset="-120"/>
              </a:rPr>
              <a:t>Backbone Edge Bridge (BEB)</a:t>
            </a:r>
            <a:endParaRPr lang="en-US" sz="1700" dirty="0"/>
          </a:p>
        </p:txBody>
      </p:sp>
      <p:sp>
        <p:nvSpPr>
          <p:cNvPr id="7" name="Text 5"/>
          <p:cNvSpPr/>
          <p:nvPr/>
        </p:nvSpPr>
        <p:spPr>
          <a:xfrm>
            <a:off x="777240" y="1645920"/>
            <a:ext cx="10515600" cy="77724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Performs encapsulation/decapsulation. Maps customer frames to I-SIDs and backbone MAC headers. Learns customer MAC addresses per I-SID.</a:t>
            </a:r>
            <a:endParaRPr lang="en-US" dirty="0"/>
          </a:p>
        </p:txBody>
      </p:sp>
      <p:sp>
        <p:nvSpPr>
          <p:cNvPr id="8" name="Shape 6"/>
          <p:cNvSpPr/>
          <p:nvPr/>
        </p:nvSpPr>
        <p:spPr>
          <a:xfrm>
            <a:off x="457200" y="2743200"/>
            <a:ext cx="11247120" cy="137160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743200"/>
            <a:ext cx="73152" cy="1371600"/>
          </a:xfrm>
          <a:prstGeom prst="rect">
            <a:avLst/>
          </a:prstGeom>
          <a:solidFill>
            <a:srgbClr val="1B3A5C"/>
          </a:solidFill>
          <a:ln/>
        </p:spPr>
      </p:sp>
      <p:sp>
        <p:nvSpPr>
          <p:cNvPr id="10" name="Text 8"/>
          <p:cNvSpPr/>
          <p:nvPr/>
        </p:nvSpPr>
        <p:spPr>
          <a:xfrm>
            <a:off x="777240" y="2743200"/>
            <a:ext cx="10515600" cy="457200"/>
          </a:xfrm>
          <a:prstGeom prst="rect">
            <a:avLst/>
          </a:prstGeom>
          <a:noFill/>
          <a:ln/>
        </p:spPr>
        <p:txBody>
          <a:bodyPr wrap="square" rtlCol="0" anchor="b"/>
          <a:lstStyle/>
          <a:p>
            <a:pPr marL="0" indent="0">
              <a:buNone/>
            </a:pPr>
            <a:r>
              <a:rPr lang="en-US" sz="1700" b="1" dirty="0">
                <a:solidFill>
                  <a:srgbClr val="1B3A5C"/>
                </a:solidFill>
                <a:latin typeface="Georgia" pitchFamily="34" charset="0"/>
                <a:ea typeface="Georgia" pitchFamily="34" charset="-122"/>
                <a:cs typeface="Georgia" pitchFamily="34" charset="-120"/>
              </a:rPr>
              <a:t>Backbone Core Bridge (BCB)</a:t>
            </a:r>
            <a:endParaRPr lang="en-US" sz="1700" dirty="0"/>
          </a:p>
        </p:txBody>
      </p:sp>
      <p:sp>
        <p:nvSpPr>
          <p:cNvPr id="11" name="Text 9"/>
          <p:cNvSpPr/>
          <p:nvPr/>
        </p:nvSpPr>
        <p:spPr>
          <a:xfrm>
            <a:off x="777240" y="3291840"/>
            <a:ext cx="10515600" cy="77724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Forwards based only on backbone MACs (B-DA, B-SA) and B-VLAN tags. Never sees customer MAC addresses — the key to PBB scalability.</a:t>
            </a:r>
            <a:endParaRPr lang="en-US" dirty="0"/>
          </a:p>
        </p:txBody>
      </p:sp>
      <p:sp>
        <p:nvSpPr>
          <p:cNvPr id="12" name="Text 10"/>
          <p:cNvSpPr/>
          <p:nvPr/>
        </p:nvSpPr>
        <p:spPr>
          <a:xfrm>
            <a:off x="457200" y="4572000"/>
            <a:ext cx="10972800" cy="365760"/>
          </a:xfrm>
          <a:prstGeom prst="rect">
            <a:avLst/>
          </a:prstGeom>
          <a:noFill/>
          <a:ln/>
        </p:spPr>
        <p:txBody>
          <a:bodyPr wrap="square" rtlCol="0" anchor="ctr"/>
          <a:lstStyle/>
          <a:p>
            <a:pPr marL="0" indent="0">
              <a:buNone/>
            </a:pPr>
            <a:r>
              <a:rPr lang="en-US" sz="1800" b="1" dirty="0">
                <a:solidFill>
                  <a:srgbClr val="1B3A5C"/>
                </a:solidFill>
                <a:latin typeface="Georgia" pitchFamily="34" charset="0"/>
                <a:ea typeface="Georgia" pitchFamily="34" charset="-122"/>
                <a:cs typeface="Georgia" pitchFamily="34" charset="-120"/>
              </a:rPr>
              <a:t>Control Plane and Forwarding</a:t>
            </a:r>
            <a:endParaRPr lang="en-US" sz="1800" dirty="0"/>
          </a:p>
        </p:txBody>
      </p:sp>
      <p:sp>
        <p:nvSpPr>
          <p:cNvPr id="13" name="Text 11"/>
          <p:cNvSpPr/>
          <p:nvPr/>
        </p:nvSpPr>
        <p:spPr>
          <a:xfrm>
            <a:off x="457200" y="5029200"/>
            <a:ext cx="10972800" cy="137160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The BEB performs standard MAC learning on customer frames, associating customer MACs with I-SIDs and remote BEB backbone MACs. BCBs perform simple forwarding using only backbone MAC addresses. A backbone serving 10,000 customers with 1,000 MACs each requires only ~200 backbone MAC entries at the BCB, versus 10 million with Q-in-Q.</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4.5 PBB-TE (TRAFFIC ENGINEERING)</a:t>
            </a:r>
            <a:endParaRPr lang="en-US" sz="2600" dirty="0"/>
          </a:p>
        </p:txBody>
      </p:sp>
      <p:sp>
        <p:nvSpPr>
          <p:cNvPr id="4" name="Text 2"/>
          <p:cNvSpPr/>
          <p:nvPr/>
        </p:nvSpPr>
        <p:spPr>
          <a:xfrm>
            <a:off x="457200" y="1005840"/>
            <a:ext cx="109728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PBB-TE (IEEE 802.1Qay) enhances PBB by replacing STP with explicitly provisioned, deterministic paths:</a:t>
            </a:r>
            <a:endParaRPr lang="en-US" dirty="0"/>
          </a:p>
        </p:txBody>
      </p:sp>
      <p:sp>
        <p:nvSpPr>
          <p:cNvPr id="5" name="Text 3"/>
          <p:cNvSpPr/>
          <p:nvPr/>
        </p:nvSpPr>
        <p:spPr>
          <a:xfrm>
            <a:off x="457200" y="1645920"/>
            <a:ext cx="10972800" cy="27432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Connection-oriented forwarding with provisioned paths, similar to MPLS LSPs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Deterministic performance with guaranteed bandwidth and bounded latency</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50 ms protection switching using pre-provisioned backup paths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Elimination of MAC learning and flooding in the backbone core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OAM capabilities compatible with IEEE 802.1ag Connectivity Fault Management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4.6 PBB — ADVANTAGES AND LIMITATIONS</a:t>
            </a:r>
            <a:endParaRPr lang="en-US" sz="2600" dirty="0"/>
          </a:p>
        </p:txBody>
      </p:sp>
      <p:sp>
        <p:nvSpPr>
          <p:cNvPr id="4" name="Shape 2"/>
          <p:cNvSpPr/>
          <p:nvPr/>
        </p:nvSpPr>
        <p:spPr>
          <a:xfrm>
            <a:off x="365760" y="100584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365760" y="1005840"/>
            <a:ext cx="5577840" cy="502920"/>
          </a:xfrm>
          <a:prstGeom prst="rect">
            <a:avLst/>
          </a:prstGeom>
          <a:solidFill>
            <a:srgbClr val="0D9488"/>
          </a:solidFill>
          <a:ln/>
        </p:spPr>
      </p:sp>
      <p:sp>
        <p:nvSpPr>
          <p:cNvPr id="6" name="Text 4"/>
          <p:cNvSpPr/>
          <p:nvPr/>
        </p:nvSpPr>
        <p:spPr>
          <a:xfrm>
            <a:off x="54864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ADVANTAGES</a:t>
            </a:r>
            <a:endParaRPr lang="en-US" sz="1800" dirty="0"/>
          </a:p>
        </p:txBody>
      </p:sp>
      <p:sp>
        <p:nvSpPr>
          <p:cNvPr id="7" name="Text 5"/>
          <p:cNvSpPr/>
          <p:nvPr/>
        </p:nvSpPr>
        <p:spPr>
          <a:xfrm>
            <a:off x="640080" y="169164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Complete MAC address isolation: backbone never learns customer MACs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24-bit I-SID provides 16 million service instances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Simplified backbone with small MAC tables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Enhanced security: customer MACs invisible to the backbone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Compatible with PBB-TE for deterministic transport</a:t>
            </a:r>
            <a:endParaRPr lang="en-US" dirty="0"/>
          </a:p>
        </p:txBody>
      </p:sp>
      <p:sp>
        <p:nvSpPr>
          <p:cNvPr id="8" name="Shape 6"/>
          <p:cNvSpPr/>
          <p:nvPr/>
        </p:nvSpPr>
        <p:spPr>
          <a:xfrm>
            <a:off x="6217920" y="1005840"/>
            <a:ext cx="5577840" cy="530352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6217920" y="1005840"/>
            <a:ext cx="5577840" cy="502920"/>
          </a:xfrm>
          <a:prstGeom prst="rect">
            <a:avLst/>
          </a:prstGeom>
          <a:solidFill>
            <a:srgbClr val="EF4444"/>
          </a:solidFill>
          <a:ln/>
        </p:spPr>
      </p:sp>
      <p:sp>
        <p:nvSpPr>
          <p:cNvPr id="10" name="Text 8"/>
          <p:cNvSpPr/>
          <p:nvPr/>
        </p:nvSpPr>
        <p:spPr>
          <a:xfrm>
            <a:off x="6400800" y="1005840"/>
            <a:ext cx="4572000" cy="50292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LIMITATIONS</a:t>
            </a:r>
            <a:endParaRPr lang="en-US" sz="1800" dirty="0"/>
          </a:p>
        </p:txBody>
      </p:sp>
      <p:sp>
        <p:nvSpPr>
          <p:cNvPr id="11" name="Text 9"/>
          <p:cNvSpPr/>
          <p:nvPr/>
        </p:nvSpPr>
        <p:spPr>
          <a:xfrm>
            <a:off x="6511491" y="1691640"/>
            <a:ext cx="5029200" cy="41148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Significant per-frame overhead: ~18 additional bytes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Increased complexity at the BEB</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Less widespread vendor support than Q-in-Q</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Competition from MPLS/VPLS and EVPN solutions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MTU considerations: requires larger MTU support throughout the backbone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4.7 PBB DEPLOYMENT SCENARIOS</a:t>
            </a:r>
            <a:endParaRPr lang="en-US" sz="2600" dirty="0"/>
          </a:p>
        </p:txBody>
      </p:sp>
      <p:sp>
        <p:nvSpPr>
          <p:cNvPr id="4" name="Shape 2"/>
          <p:cNvSpPr/>
          <p:nvPr/>
        </p:nvSpPr>
        <p:spPr>
          <a:xfrm>
            <a:off x="457200" y="109728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97280"/>
            <a:ext cx="73152" cy="1005840"/>
          </a:xfrm>
          <a:prstGeom prst="rect">
            <a:avLst/>
          </a:prstGeom>
          <a:solidFill>
            <a:srgbClr val="00C9A7"/>
          </a:solidFill>
          <a:ln/>
        </p:spPr>
      </p:sp>
      <p:sp>
        <p:nvSpPr>
          <p:cNvPr id="6" name="Text 4"/>
          <p:cNvSpPr/>
          <p:nvPr/>
        </p:nvSpPr>
        <p:spPr>
          <a:xfrm>
            <a:off x="777240" y="1097280"/>
            <a:ext cx="10515600" cy="41148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Large-Scale Metro Ethernet</a:t>
            </a:r>
            <a:endParaRPr lang="en-US" sz="1600" dirty="0"/>
          </a:p>
        </p:txBody>
      </p:sp>
      <p:sp>
        <p:nvSpPr>
          <p:cNvPr id="7" name="Text 5"/>
          <p:cNvSpPr/>
          <p:nvPr/>
        </p:nvSpPr>
        <p:spPr>
          <a:xfrm>
            <a:off x="777240" y="1554480"/>
            <a:ext cx="105156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Thousands of customers with millions of MAC addresses.</a:t>
            </a:r>
            <a:endParaRPr lang="en-US" dirty="0"/>
          </a:p>
        </p:txBody>
      </p:sp>
      <p:sp>
        <p:nvSpPr>
          <p:cNvPr id="8" name="Shape 6"/>
          <p:cNvSpPr/>
          <p:nvPr/>
        </p:nvSpPr>
        <p:spPr>
          <a:xfrm>
            <a:off x="457200" y="233172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331720"/>
            <a:ext cx="73152" cy="1005840"/>
          </a:xfrm>
          <a:prstGeom prst="rect">
            <a:avLst/>
          </a:prstGeom>
          <a:solidFill>
            <a:srgbClr val="00C9A7"/>
          </a:solidFill>
          <a:ln/>
        </p:spPr>
      </p:sp>
      <p:sp>
        <p:nvSpPr>
          <p:cNvPr id="10" name="Text 8"/>
          <p:cNvSpPr/>
          <p:nvPr/>
        </p:nvSpPr>
        <p:spPr>
          <a:xfrm>
            <a:off x="777240" y="2331720"/>
            <a:ext cx="10515600" cy="41148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Carrier Ethernet Backbones</a:t>
            </a:r>
            <a:endParaRPr lang="en-US" sz="1600" dirty="0"/>
          </a:p>
        </p:txBody>
      </p:sp>
      <p:sp>
        <p:nvSpPr>
          <p:cNvPr id="11" name="Text 9"/>
          <p:cNvSpPr/>
          <p:nvPr/>
        </p:nvSpPr>
        <p:spPr>
          <a:xfrm>
            <a:off x="777240" y="2788920"/>
            <a:ext cx="10515600" cy="45720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Tier 1 and 2 providers, often with PBB-TE for traffic engineering.</a:t>
            </a:r>
            <a:endParaRPr lang="en-US" dirty="0"/>
          </a:p>
        </p:txBody>
      </p:sp>
      <p:sp>
        <p:nvSpPr>
          <p:cNvPr id="12" name="Shape 10"/>
          <p:cNvSpPr/>
          <p:nvPr/>
        </p:nvSpPr>
        <p:spPr>
          <a:xfrm>
            <a:off x="411480" y="356616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3" name="Shape 11"/>
          <p:cNvSpPr/>
          <p:nvPr/>
        </p:nvSpPr>
        <p:spPr>
          <a:xfrm>
            <a:off x="457200" y="3566160"/>
            <a:ext cx="73152" cy="1005840"/>
          </a:xfrm>
          <a:prstGeom prst="rect">
            <a:avLst/>
          </a:prstGeom>
          <a:solidFill>
            <a:srgbClr val="00C9A7"/>
          </a:solidFill>
          <a:ln/>
        </p:spPr>
      </p:sp>
      <p:sp>
        <p:nvSpPr>
          <p:cNvPr id="14" name="Text 12"/>
          <p:cNvSpPr/>
          <p:nvPr/>
        </p:nvSpPr>
        <p:spPr>
          <a:xfrm>
            <a:off x="777240" y="3566160"/>
            <a:ext cx="10515600" cy="41148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Mobile Backhaul</a:t>
            </a:r>
            <a:endParaRPr lang="en-US" sz="1600" dirty="0"/>
          </a:p>
        </p:txBody>
      </p:sp>
      <p:sp>
        <p:nvSpPr>
          <p:cNvPr id="15" name="Text 13"/>
          <p:cNvSpPr/>
          <p:nvPr/>
        </p:nvSpPr>
        <p:spPr>
          <a:xfrm>
            <a:off x="777240" y="4023360"/>
            <a:ext cx="10515600" cy="45720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Converged Ethernet backbone for LTE/5G cell site connectivity.</a:t>
            </a:r>
            <a:endParaRPr lang="en-US" sz="1600" dirty="0"/>
          </a:p>
        </p:txBody>
      </p:sp>
      <p:sp>
        <p:nvSpPr>
          <p:cNvPr id="16" name="Shape 14"/>
          <p:cNvSpPr/>
          <p:nvPr/>
        </p:nvSpPr>
        <p:spPr>
          <a:xfrm>
            <a:off x="457200" y="4800600"/>
            <a:ext cx="11247120" cy="1005840"/>
          </a:xfrm>
          <a:prstGeom prst="rect">
            <a:avLst/>
          </a:prstGeom>
          <a:solidFill>
            <a:srgbClr val="FFFFFF"/>
          </a:solidFill>
          <a:ln/>
          <a:effectLst>
            <a:outerShdw blurRad="50800" dist="25400" dir="8100000" algn="bl" rotWithShape="0">
              <a:srgbClr val="000000">
                <a:alpha val="12000"/>
              </a:srgbClr>
            </a:outerShdw>
          </a:effectLst>
        </p:spPr>
      </p:sp>
      <p:sp>
        <p:nvSpPr>
          <p:cNvPr id="17" name="Shape 15"/>
          <p:cNvSpPr/>
          <p:nvPr/>
        </p:nvSpPr>
        <p:spPr>
          <a:xfrm>
            <a:off x="457200" y="4800600"/>
            <a:ext cx="73152" cy="1005840"/>
          </a:xfrm>
          <a:prstGeom prst="rect">
            <a:avLst/>
          </a:prstGeom>
          <a:solidFill>
            <a:srgbClr val="00C9A7"/>
          </a:solidFill>
          <a:ln/>
        </p:spPr>
      </p:sp>
      <p:sp>
        <p:nvSpPr>
          <p:cNvPr id="18" name="Text 16"/>
          <p:cNvSpPr/>
          <p:nvPr/>
        </p:nvSpPr>
        <p:spPr>
          <a:xfrm>
            <a:off x="777240" y="4800600"/>
            <a:ext cx="10515600" cy="41148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Utility/Transportation Networks</a:t>
            </a:r>
            <a:endParaRPr lang="en-US" sz="1600" dirty="0"/>
          </a:p>
        </p:txBody>
      </p:sp>
      <p:sp>
        <p:nvSpPr>
          <p:cNvPr id="19" name="Text 17"/>
          <p:cNvSpPr/>
          <p:nvPr/>
        </p:nvSpPr>
        <p:spPr>
          <a:xfrm>
            <a:off x="777240" y="5257800"/>
            <a:ext cx="10515600" cy="45720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Mission-critical networks requiring PBB-TE deterministic performance.</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PBB — INDUSTRY PERSPECTIVE AND REMAINING CHALLENGES</a:t>
            </a:r>
            <a:endParaRPr lang="en-US" sz="2600" dirty="0"/>
          </a:p>
        </p:txBody>
      </p:sp>
      <p:sp>
        <p:nvSpPr>
          <p:cNvPr id="4" name="Text 2"/>
          <p:cNvSpPr/>
          <p:nvPr/>
        </p:nvSpPr>
        <p:spPr>
          <a:xfrm>
            <a:off x="457200" y="777240"/>
            <a:ext cx="10972800" cy="73152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From the cloud networking perspective: IEEE 802.1ah encapsulates end-user traffic in the provider's MAC address header, allowing the BEB to support large numbers of service instances while hiding customer MACs from the BCB.</a:t>
            </a:r>
            <a:endParaRPr lang="en-US" sz="1600" dirty="0"/>
          </a:p>
        </p:txBody>
      </p:sp>
      <p:sp>
        <p:nvSpPr>
          <p:cNvPr id="5" name="Shape 3"/>
          <p:cNvSpPr/>
          <p:nvPr/>
        </p:nvSpPr>
        <p:spPr>
          <a:xfrm>
            <a:off x="493776" y="1915427"/>
            <a:ext cx="11247120" cy="1371600"/>
          </a:xfrm>
          <a:prstGeom prst="rect">
            <a:avLst/>
          </a:prstGeom>
          <a:solidFill>
            <a:srgbClr val="F0E5F5"/>
          </a:solidFill>
          <a:ln/>
          <a:effectLst>
            <a:outerShdw blurRad="50800" dist="25400" dir="8100000" algn="bl" rotWithShape="0">
              <a:srgbClr val="000000">
                <a:alpha val="12000"/>
              </a:srgbClr>
            </a:outerShdw>
          </a:effectLst>
        </p:spPr>
      </p:sp>
      <p:sp>
        <p:nvSpPr>
          <p:cNvPr id="6" name="Shape 4"/>
          <p:cNvSpPr/>
          <p:nvPr/>
        </p:nvSpPr>
        <p:spPr>
          <a:xfrm>
            <a:off x="457200" y="1920240"/>
            <a:ext cx="73152" cy="1371600"/>
          </a:xfrm>
          <a:prstGeom prst="rect">
            <a:avLst/>
          </a:prstGeom>
          <a:solidFill>
            <a:srgbClr val="00C9A7"/>
          </a:solidFill>
          <a:ln/>
        </p:spPr>
      </p:sp>
      <p:sp>
        <p:nvSpPr>
          <p:cNvPr id="7" name="Text 5"/>
          <p:cNvSpPr/>
          <p:nvPr/>
        </p:nvSpPr>
        <p:spPr>
          <a:xfrm>
            <a:off x="777240" y="1920240"/>
            <a:ext cx="10515600" cy="411480"/>
          </a:xfrm>
          <a:prstGeom prst="rect">
            <a:avLst/>
          </a:prstGeom>
          <a:noFill/>
          <a:ln/>
        </p:spPr>
        <p:txBody>
          <a:bodyPr wrap="square" rtlCol="0" anchor="b"/>
          <a:lstStyle/>
          <a:p>
            <a:pPr marL="0" indent="0">
              <a:buNone/>
            </a:pPr>
            <a:r>
              <a:rPr lang="en-US" sz="1400" b="1" dirty="0">
                <a:solidFill>
                  <a:srgbClr val="1B3A5C"/>
                </a:solidFill>
                <a:latin typeface="Georgia" pitchFamily="34" charset="0"/>
                <a:ea typeface="Georgia" pitchFamily="34" charset="-122"/>
                <a:cs typeface="Georgia" pitchFamily="34" charset="-120"/>
              </a:rPr>
              <a:t>Remaining Challenge:</a:t>
            </a:r>
            <a:endParaRPr lang="en-US" sz="1400" dirty="0"/>
          </a:p>
        </p:txBody>
      </p:sp>
      <p:sp>
        <p:nvSpPr>
          <p:cNvPr id="8" name="Text 6"/>
          <p:cNvSpPr/>
          <p:nvPr/>
        </p:nvSpPr>
        <p:spPr>
          <a:xfrm>
            <a:off x="777240" y="2377440"/>
            <a:ext cx="10515600" cy="86868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In addition to IEEE 802.1ad capabilities, PBB hides customer MACs through MAC-in-MAC encapsulation. However, it faces challenges with features many provider networks want: multipathing, traffic engineering, and carrier-class resiliency — because it still relies on Spanning Tree Protocols for loop avoidance.</a:t>
            </a:r>
            <a:endParaRPr lang="en-US" dirty="0"/>
          </a:p>
        </p:txBody>
      </p:sp>
      <p:sp>
        <p:nvSpPr>
          <p:cNvPr id="9" name="Text 7"/>
          <p:cNvSpPr/>
          <p:nvPr/>
        </p:nvSpPr>
        <p:spPr>
          <a:xfrm>
            <a:off x="457200" y="3657600"/>
            <a:ext cx="10972800" cy="731520"/>
          </a:xfrm>
          <a:prstGeom prst="rect">
            <a:avLst/>
          </a:prstGeom>
          <a:noFill/>
          <a:ln/>
        </p:spPr>
        <p:txBody>
          <a:bodyPr wrap="square" rtlCol="0" anchor="t"/>
          <a:lstStyle/>
          <a:p>
            <a:pPr marL="0" indent="0">
              <a:lnSpc>
                <a:spcPct val="140000"/>
              </a:lnSpc>
              <a:buNone/>
            </a:pPr>
            <a:r>
              <a:rPr lang="en-US" i="1" dirty="0">
                <a:solidFill>
                  <a:srgbClr val="64748B"/>
                </a:solidFill>
                <a:latin typeface="Calibri" pitchFamily="34" charset="0"/>
                <a:ea typeface="Calibri" pitchFamily="34" charset="-122"/>
                <a:cs typeface="Calibri" pitchFamily="34" charset="-120"/>
              </a:rPr>
              <a:t>This is why PBB-TE (802.1Qay) was developed as an enhancement, and why the industry has increasingly turned to MPLS/EVPN which provides both multipathing and traffic engineering natively.</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00C9A7"/>
                </a:solidFill>
                <a:latin typeface="Calibri" pitchFamily="34" charset="0"/>
                <a:ea typeface="Calibri" pitchFamily="34" charset="-122"/>
                <a:cs typeface="Calibri" pitchFamily="34" charset="-120"/>
              </a:rPr>
              <a:t>MODULE 5</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Comparative Analysis &amp;</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Decision Framework</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Side-by-side comparison  •  When to use each  •  1:25–1:50</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TECHNOLOGY COMPARISON OVERVIEW</a:t>
            </a:r>
            <a:endParaRPr lang="en-US" sz="2600" dirty="0"/>
          </a:p>
        </p:txBody>
      </p:sp>
      <p:pic>
        <p:nvPicPr>
          <p:cNvPr id="4" name="Image 0" descr="preencoded.png"/>
          <p:cNvPicPr>
            <a:picLocks noChangeAspect="1"/>
          </p:cNvPicPr>
          <p:nvPr/>
        </p:nvPicPr>
        <p:blipFill>
          <a:blip r:embed="rId3"/>
          <a:stretch>
            <a:fillRect/>
          </a:stretch>
        </p:blipFill>
        <p:spPr>
          <a:xfrm>
            <a:off x="914400" y="1005840"/>
            <a:ext cx="10332720" cy="5486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5.1 SIDE-BY-SIDE COMPARISON</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564946473"/>
              </p:ext>
            </p:extLst>
          </p:nvPr>
        </p:nvGraphicFramePr>
        <p:xfrm>
          <a:off x="259882" y="986589"/>
          <a:ext cx="11612880" cy="527304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TRILL</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Provider Bridging (Q-in-Q)</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PBB (MAC-in-MAC)</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extLst>
                  <a:ext uri="{0D108BD9-81ED-4DB2-BD59-A6C34878D82A}">
                    <a16:rowId xmlns:a16="http://schemas.microsoft.com/office/drawing/2014/main" val="10000"/>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Standard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IETF (RFC 6325+)</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IEEE 802.1ad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IEEE 802.1ah</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Primary Domain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Data Center / Campus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SP Metro Ethernet</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SP Backbone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Encapsulation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TRILL hdr + outer Ethernet</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Outer S-VLAN tag (Q-in-Q)</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Full MAC-in-MAC header</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Loop Prevention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IS-IS + Hop Count</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Spanning Tree Protocol</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STP (or PBB-TE)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Multipath</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Yes (ECMP via IS-IS)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No (STP single path)</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No (unless PBB-TE)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Convergence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Sub-second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30–50 sec (classic STP)</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30–50s / 50ms (PBB-TE)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MAC Scalability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Same as traditional</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Poor (cust MACs in backbone)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Excellent (MACs hidden)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VLAN Scalability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4,094 (802.1Q)</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~16.7M (S×C VLAN)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16M (24-bit I-SID)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Per-Frame Overhead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~16 bytes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~4 bytes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~18 bytes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Control Plane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IS-IS link-state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STP / MSTP</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STP or PBB-TE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Cust MAC Visibility</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Visible end-to-end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Visible in provider core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Hidden from backbone</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1"/>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Vendor Support</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Limited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Universal</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Selected vendors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2"/>
                  </a:ext>
                </a:extLst>
              </a:tr>
              <a:tr h="0">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Industry Status</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Declining (VXLAN/EVPN)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Widely deployed</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800" dirty="0">
                          <a:solidFill>
                            <a:srgbClr val="1E293B"/>
                          </a:solidFill>
                          <a:latin typeface="Calibri" pitchFamily="34" charset="0"/>
                          <a:ea typeface="Calibri" pitchFamily="34" charset="-122"/>
                          <a:cs typeface="Calibri" pitchFamily="34" charset="-120"/>
                        </a:rPr>
                        <a:t>Niche (MPLS/EVPN)</a:t>
                      </a:r>
                      <a:endParaRPr lang="en-US" sz="18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5.2 WHEN TO USE EACH TECHNOLOGY</a:t>
            </a:r>
            <a:endParaRPr lang="en-US" sz="2600" dirty="0"/>
          </a:p>
        </p:txBody>
      </p:sp>
      <p:sp>
        <p:nvSpPr>
          <p:cNvPr id="4" name="Shape 2"/>
          <p:cNvSpPr/>
          <p:nvPr/>
        </p:nvSpPr>
        <p:spPr>
          <a:xfrm>
            <a:off x="274320" y="1005840"/>
            <a:ext cx="3749040" cy="548640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274320" y="1005840"/>
            <a:ext cx="3749040" cy="502920"/>
          </a:xfrm>
          <a:prstGeom prst="rect">
            <a:avLst/>
          </a:prstGeom>
          <a:solidFill>
            <a:srgbClr val="3A7CB8"/>
          </a:solidFill>
          <a:ln/>
        </p:spPr>
      </p:sp>
      <p:sp>
        <p:nvSpPr>
          <p:cNvPr id="6" name="Text 4"/>
          <p:cNvSpPr/>
          <p:nvPr/>
        </p:nvSpPr>
        <p:spPr>
          <a:xfrm>
            <a:off x="411480" y="1005840"/>
            <a:ext cx="347472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Choose TRILL When:</a:t>
            </a:r>
            <a:endParaRPr lang="en-US" sz="1400" dirty="0"/>
          </a:p>
        </p:txBody>
      </p:sp>
      <p:sp>
        <p:nvSpPr>
          <p:cNvPr id="7" name="Text 5"/>
          <p:cNvSpPr/>
          <p:nvPr/>
        </p:nvSpPr>
        <p:spPr>
          <a:xfrm>
            <a:off x="457200" y="1691640"/>
            <a:ext cx="338328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You need multipath Layer 2 forwarding in a data center or campus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STP convergence time is unacceptable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Dense switch interconnections and you want to use all bandwidth</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Your vendor supports TRILL or a TRILL-derived fabric</a:t>
            </a:r>
            <a:endParaRPr lang="en-US" dirty="0"/>
          </a:p>
        </p:txBody>
      </p:sp>
      <p:sp>
        <p:nvSpPr>
          <p:cNvPr id="8" name="Shape 6"/>
          <p:cNvSpPr/>
          <p:nvPr/>
        </p:nvSpPr>
        <p:spPr>
          <a:xfrm>
            <a:off x="457200" y="5029200"/>
            <a:ext cx="3291840" cy="18288"/>
          </a:xfrm>
          <a:prstGeom prst="rect">
            <a:avLst/>
          </a:prstGeom>
          <a:solidFill>
            <a:srgbClr val="E2E8F0"/>
          </a:solidFill>
          <a:ln/>
        </p:spPr>
      </p:sp>
      <p:sp>
        <p:nvSpPr>
          <p:cNvPr id="9" name="Text 7"/>
          <p:cNvSpPr/>
          <p:nvPr/>
        </p:nvSpPr>
        <p:spPr>
          <a:xfrm>
            <a:off x="457200" y="5166360"/>
            <a:ext cx="3291840" cy="457200"/>
          </a:xfrm>
          <a:prstGeom prst="rect">
            <a:avLst/>
          </a:prstGeom>
          <a:noFill/>
          <a:ln/>
        </p:spPr>
        <p:txBody>
          <a:bodyPr wrap="square" rtlCol="0" anchor="t"/>
          <a:lstStyle/>
          <a:p>
            <a:pPr marL="0" indent="0">
              <a:lnSpc>
                <a:spcPct val="140000"/>
              </a:lnSpc>
              <a:buNone/>
            </a:pPr>
            <a:r>
              <a:rPr lang="en-US" sz="1200" i="1" dirty="0">
                <a:solidFill>
                  <a:srgbClr val="64748B"/>
                </a:solidFill>
                <a:latin typeface="Calibri" pitchFamily="34" charset="0"/>
                <a:ea typeface="Calibri" pitchFamily="34" charset="-122"/>
                <a:cs typeface="Calibri" pitchFamily="34" charset="-120"/>
              </a:rPr>
              <a:t>Consider VXLAN/EVPN for new deployments</a:t>
            </a:r>
            <a:endParaRPr lang="en-US" sz="1200" dirty="0"/>
          </a:p>
        </p:txBody>
      </p:sp>
      <p:sp>
        <p:nvSpPr>
          <p:cNvPr id="10" name="Shape 8"/>
          <p:cNvSpPr/>
          <p:nvPr/>
        </p:nvSpPr>
        <p:spPr>
          <a:xfrm>
            <a:off x="4206240" y="1005840"/>
            <a:ext cx="3749040" cy="5486400"/>
          </a:xfrm>
          <a:prstGeom prst="rect">
            <a:avLst/>
          </a:prstGeom>
          <a:solidFill>
            <a:srgbClr val="FFFFFF"/>
          </a:solidFill>
          <a:ln/>
          <a:effectLst>
            <a:outerShdw blurRad="50800" dist="25400" dir="8100000" algn="bl" rotWithShape="0">
              <a:srgbClr val="000000">
                <a:alpha val="12000"/>
              </a:srgbClr>
            </a:outerShdw>
          </a:effectLst>
        </p:spPr>
      </p:sp>
      <p:sp>
        <p:nvSpPr>
          <p:cNvPr id="11" name="Shape 9"/>
          <p:cNvSpPr/>
          <p:nvPr/>
        </p:nvSpPr>
        <p:spPr>
          <a:xfrm>
            <a:off x="4206240" y="1005840"/>
            <a:ext cx="3749040" cy="502920"/>
          </a:xfrm>
          <a:prstGeom prst="rect">
            <a:avLst/>
          </a:prstGeom>
          <a:solidFill>
            <a:srgbClr val="F59E0B"/>
          </a:solidFill>
          <a:ln/>
        </p:spPr>
      </p:sp>
      <p:sp>
        <p:nvSpPr>
          <p:cNvPr id="12" name="Text 10"/>
          <p:cNvSpPr/>
          <p:nvPr/>
        </p:nvSpPr>
        <p:spPr>
          <a:xfrm>
            <a:off x="4343400" y="1005840"/>
            <a:ext cx="347472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Choose Q-in-Q When:</a:t>
            </a:r>
            <a:endParaRPr lang="en-US" sz="1400" dirty="0"/>
          </a:p>
        </p:txBody>
      </p:sp>
      <p:sp>
        <p:nvSpPr>
          <p:cNvPr id="13" name="Text 11"/>
          <p:cNvSpPr/>
          <p:nvPr/>
        </p:nvSpPr>
        <p:spPr>
          <a:xfrm>
            <a:off x="4404360" y="1691640"/>
            <a:ext cx="338328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Offering Metro Ethernet services to moderate customer count</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MAC address scale is manageable (thousands, not millions)</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You need simplicity, low overhead, universal vendor support</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Multi-vendor interoperability is essential</a:t>
            </a:r>
            <a:endParaRPr lang="en-US" dirty="0"/>
          </a:p>
        </p:txBody>
      </p:sp>
      <p:sp>
        <p:nvSpPr>
          <p:cNvPr id="14" name="Shape 12"/>
          <p:cNvSpPr/>
          <p:nvPr/>
        </p:nvSpPr>
        <p:spPr>
          <a:xfrm>
            <a:off x="4389120" y="5029200"/>
            <a:ext cx="3291840" cy="18288"/>
          </a:xfrm>
          <a:prstGeom prst="rect">
            <a:avLst/>
          </a:prstGeom>
          <a:solidFill>
            <a:srgbClr val="E2E8F0"/>
          </a:solidFill>
          <a:ln/>
        </p:spPr>
      </p:sp>
      <p:sp>
        <p:nvSpPr>
          <p:cNvPr id="15" name="Text 13"/>
          <p:cNvSpPr/>
          <p:nvPr/>
        </p:nvSpPr>
        <p:spPr>
          <a:xfrm>
            <a:off x="4389120" y="5166360"/>
            <a:ext cx="3291840" cy="457200"/>
          </a:xfrm>
          <a:prstGeom prst="rect">
            <a:avLst/>
          </a:prstGeom>
          <a:noFill/>
          <a:ln/>
        </p:spPr>
        <p:txBody>
          <a:bodyPr wrap="square" rtlCol="0" anchor="t"/>
          <a:lstStyle/>
          <a:p>
            <a:pPr marL="0" indent="0">
              <a:lnSpc>
                <a:spcPct val="140000"/>
              </a:lnSpc>
              <a:buNone/>
            </a:pPr>
            <a:r>
              <a:rPr lang="en-US" sz="1400" i="1" dirty="0">
                <a:solidFill>
                  <a:srgbClr val="64748B"/>
                </a:solidFill>
                <a:latin typeface="Calibri" pitchFamily="34" charset="0"/>
                <a:ea typeface="Calibri" pitchFamily="34" charset="-122"/>
                <a:cs typeface="Calibri" pitchFamily="34" charset="-120"/>
              </a:rPr>
              <a:t>Ideal for &lt;1K customers</a:t>
            </a:r>
            <a:endParaRPr lang="en-US" sz="1400" dirty="0"/>
          </a:p>
        </p:txBody>
      </p:sp>
      <p:sp>
        <p:nvSpPr>
          <p:cNvPr id="16" name="Shape 14"/>
          <p:cNvSpPr/>
          <p:nvPr/>
        </p:nvSpPr>
        <p:spPr>
          <a:xfrm>
            <a:off x="8138160" y="1005840"/>
            <a:ext cx="3749040" cy="5486400"/>
          </a:xfrm>
          <a:prstGeom prst="rect">
            <a:avLst/>
          </a:prstGeom>
          <a:solidFill>
            <a:srgbClr val="FFFFFF"/>
          </a:solidFill>
          <a:ln/>
          <a:effectLst>
            <a:outerShdw blurRad="50800" dist="25400" dir="8100000" algn="bl" rotWithShape="0">
              <a:srgbClr val="000000">
                <a:alpha val="12000"/>
              </a:srgbClr>
            </a:outerShdw>
          </a:effectLst>
        </p:spPr>
      </p:sp>
      <p:sp>
        <p:nvSpPr>
          <p:cNvPr id="17" name="Shape 15"/>
          <p:cNvSpPr/>
          <p:nvPr/>
        </p:nvSpPr>
        <p:spPr>
          <a:xfrm>
            <a:off x="8138160" y="1005840"/>
            <a:ext cx="3749040" cy="502920"/>
          </a:xfrm>
          <a:prstGeom prst="rect">
            <a:avLst/>
          </a:prstGeom>
          <a:solidFill>
            <a:srgbClr val="1B3A5C"/>
          </a:solidFill>
          <a:ln/>
        </p:spPr>
      </p:sp>
      <p:sp>
        <p:nvSpPr>
          <p:cNvPr id="18" name="Text 16"/>
          <p:cNvSpPr/>
          <p:nvPr/>
        </p:nvSpPr>
        <p:spPr>
          <a:xfrm>
            <a:off x="8275320" y="1005840"/>
            <a:ext cx="3474720" cy="502920"/>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Choose PBB When:</a:t>
            </a:r>
            <a:endParaRPr lang="en-US" sz="1400" dirty="0"/>
          </a:p>
        </p:txBody>
      </p:sp>
      <p:sp>
        <p:nvSpPr>
          <p:cNvPr id="19" name="Text 17"/>
          <p:cNvSpPr/>
          <p:nvPr/>
        </p:nvSpPr>
        <p:spPr>
          <a:xfrm>
            <a:off x="8348312" y="1257300"/>
            <a:ext cx="3383280" cy="3200400"/>
          </a:xfrm>
          <a:prstGeom prst="rect">
            <a:avLst/>
          </a:prstGeom>
          <a:noFill/>
          <a:ln/>
        </p:spPr>
        <p:txBody>
          <a:bodyPr wrap="square" rtlCol="0" anchor="ctr"/>
          <a:lstStyle/>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Large provider needing backbone MAC scalability</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Customer MAC isolation and security are critical</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Deterministic, connection-oriented forwarding (PBB-TE)</a:t>
            </a:r>
            <a:endParaRPr lang="en-US" dirty="0"/>
          </a:p>
          <a:p>
            <a:pPr marL="342900" indent="-342900">
              <a:spcAft>
                <a:spcPts val="600"/>
              </a:spcAft>
              <a:buSzPct val="100000"/>
              <a:buChar char="•"/>
            </a:pPr>
            <a:r>
              <a:rPr lang="en-US" dirty="0">
                <a:solidFill>
                  <a:srgbClr val="1E293B"/>
                </a:solidFill>
                <a:latin typeface="Calibri" pitchFamily="34" charset="0"/>
                <a:ea typeface="Calibri" pitchFamily="34" charset="-122"/>
                <a:cs typeface="Calibri" pitchFamily="34" charset="-120"/>
              </a:rPr>
              <a:t>Backbone must scale without exponential MAC growth</a:t>
            </a:r>
            <a:endParaRPr lang="en-US" dirty="0"/>
          </a:p>
        </p:txBody>
      </p:sp>
      <p:sp>
        <p:nvSpPr>
          <p:cNvPr id="20" name="Shape 18"/>
          <p:cNvSpPr/>
          <p:nvPr/>
        </p:nvSpPr>
        <p:spPr>
          <a:xfrm>
            <a:off x="8321040" y="5029200"/>
            <a:ext cx="3291840" cy="18288"/>
          </a:xfrm>
          <a:prstGeom prst="rect">
            <a:avLst/>
          </a:prstGeom>
          <a:solidFill>
            <a:srgbClr val="E2E8F0"/>
          </a:solidFill>
          <a:ln/>
        </p:spPr>
      </p:sp>
      <p:sp>
        <p:nvSpPr>
          <p:cNvPr id="21" name="Text 19"/>
          <p:cNvSpPr/>
          <p:nvPr/>
        </p:nvSpPr>
        <p:spPr>
          <a:xfrm>
            <a:off x="8366760" y="5143500"/>
            <a:ext cx="3291840" cy="457200"/>
          </a:xfrm>
          <a:prstGeom prst="rect">
            <a:avLst/>
          </a:prstGeom>
          <a:noFill/>
          <a:ln/>
        </p:spPr>
        <p:txBody>
          <a:bodyPr wrap="square" rtlCol="0" anchor="t"/>
          <a:lstStyle/>
          <a:p>
            <a:pPr marL="0" indent="0">
              <a:lnSpc>
                <a:spcPct val="140000"/>
              </a:lnSpc>
              <a:buNone/>
            </a:pPr>
            <a:r>
              <a:rPr lang="en-US" sz="1200" i="1" dirty="0">
                <a:solidFill>
                  <a:srgbClr val="64748B"/>
                </a:solidFill>
                <a:latin typeface="Calibri" pitchFamily="34" charset="0"/>
                <a:ea typeface="Calibri" pitchFamily="34" charset="-122"/>
                <a:cs typeface="Calibri" pitchFamily="34" charset="-120"/>
              </a:rPr>
              <a:t>Consider MPLS/EVPN for new backbone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5.3 LAYERED AND COMBINED DEPLOYMENTS</a:t>
            </a:r>
            <a:endParaRPr lang="en-US" sz="2600" dirty="0"/>
          </a:p>
        </p:txBody>
      </p:sp>
      <p:pic>
        <p:nvPicPr>
          <p:cNvPr id="4" name="Image 0" descr="preencoded.png"/>
          <p:cNvPicPr>
            <a:picLocks noChangeAspect="1"/>
          </p:cNvPicPr>
          <p:nvPr/>
        </p:nvPicPr>
        <p:blipFill>
          <a:blip r:embed="rId3"/>
          <a:stretch>
            <a:fillRect/>
          </a:stretch>
        </p:blipFill>
        <p:spPr>
          <a:xfrm>
            <a:off x="457200" y="1005840"/>
            <a:ext cx="11247120" cy="52120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LAYERED DEPLOYMENT DETAILS</a:t>
            </a:r>
            <a:endParaRPr lang="en-US" sz="2600" dirty="0"/>
          </a:p>
        </p:txBody>
      </p:sp>
      <p:sp>
        <p:nvSpPr>
          <p:cNvPr id="4" name="Text 2"/>
          <p:cNvSpPr/>
          <p:nvPr/>
        </p:nvSpPr>
        <p:spPr>
          <a:xfrm>
            <a:off x="457200" y="1005840"/>
            <a:ext cx="10972800" cy="365760"/>
          </a:xfrm>
          <a:prstGeom prst="rect">
            <a:avLst/>
          </a:prstGeom>
          <a:noFill/>
          <a:ln/>
        </p:spPr>
        <p:txBody>
          <a:bodyPr wrap="square" rtlCol="0" anchor="t"/>
          <a:lstStyle/>
          <a:p>
            <a:pPr marL="0" indent="0">
              <a:lnSpc>
                <a:spcPct val="140000"/>
              </a:lnSpc>
              <a:buNone/>
            </a:pPr>
            <a:r>
              <a:rPr lang="en-US" sz="1300" dirty="0">
                <a:solidFill>
                  <a:srgbClr val="1E293B"/>
                </a:solidFill>
                <a:latin typeface="Calibri" pitchFamily="34" charset="0"/>
                <a:ea typeface="Calibri" pitchFamily="34" charset="-122"/>
                <a:cs typeface="Calibri" pitchFamily="34" charset="-120"/>
              </a:rPr>
              <a:t>These technologies can be layered or combined in architectures:</a:t>
            </a:r>
            <a:endParaRPr lang="en-US" sz="1300" dirty="0"/>
          </a:p>
        </p:txBody>
      </p:sp>
      <p:sp>
        <p:nvSpPr>
          <p:cNvPr id="5" name="Shape 3"/>
          <p:cNvSpPr/>
          <p:nvPr/>
        </p:nvSpPr>
        <p:spPr>
          <a:xfrm>
            <a:off x="457200" y="155448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554480"/>
            <a:ext cx="73152" cy="1234440"/>
          </a:xfrm>
          <a:prstGeom prst="rect">
            <a:avLst/>
          </a:prstGeom>
          <a:solidFill>
            <a:srgbClr val="00C9A7"/>
          </a:solidFill>
          <a:ln/>
        </p:spPr>
      </p:sp>
      <p:sp>
        <p:nvSpPr>
          <p:cNvPr id="7" name="Text 5"/>
          <p:cNvSpPr/>
          <p:nvPr/>
        </p:nvSpPr>
        <p:spPr>
          <a:xfrm>
            <a:off x="777240" y="1554480"/>
            <a:ext cx="10698480" cy="1234440"/>
          </a:xfrm>
          <a:prstGeom prst="rect">
            <a:avLst/>
          </a:prstGeom>
          <a:noFill/>
          <a:ln/>
        </p:spPr>
        <p:txBody>
          <a:bodyPr wrap="square" rtlCol="0" anchor="ctr"/>
          <a:lstStyle/>
          <a:p>
            <a:pPr marL="0" indent="0">
              <a:buNone/>
            </a:pPr>
            <a:r>
              <a:rPr lang="en-US" sz="2000" b="1" dirty="0">
                <a:solidFill>
                  <a:srgbClr val="1B3A5C"/>
                </a:solidFill>
                <a:latin typeface="Georgia" pitchFamily="34" charset="0"/>
                <a:ea typeface="Georgia" pitchFamily="34" charset="-122"/>
                <a:cs typeface="Georgia" pitchFamily="34" charset="-120"/>
              </a:rPr>
              <a:t>PBB over Provider Bridging:</a:t>
            </a:r>
            <a:r>
              <a:rPr lang="en-US" dirty="0">
                <a:solidFill>
                  <a:srgbClr val="1E293B"/>
                </a:solidFill>
                <a:latin typeface="Calibri" pitchFamily="34" charset="0"/>
                <a:ea typeface="Calibri" pitchFamily="34" charset="-122"/>
                <a:cs typeface="Calibri" pitchFamily="34" charset="-120"/>
              </a:rPr>
              <a:t> Customer traffic is tagged with S-VLANs at the metro edge, then encapsulated in PBB backbone headers for core transport. This creates a natural hierarchy: Q-in-Q at access, PBB at backbone.</a:t>
            </a:r>
            <a:endParaRPr lang="en-US" sz="2000" dirty="0"/>
          </a:p>
        </p:txBody>
      </p:sp>
      <p:sp>
        <p:nvSpPr>
          <p:cNvPr id="8" name="Shape 6"/>
          <p:cNvSpPr/>
          <p:nvPr/>
        </p:nvSpPr>
        <p:spPr>
          <a:xfrm>
            <a:off x="457200" y="301752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017520"/>
            <a:ext cx="73152" cy="1234440"/>
          </a:xfrm>
          <a:prstGeom prst="rect">
            <a:avLst/>
          </a:prstGeom>
          <a:solidFill>
            <a:srgbClr val="00C9A7"/>
          </a:solidFill>
          <a:ln/>
        </p:spPr>
      </p:sp>
      <p:sp>
        <p:nvSpPr>
          <p:cNvPr id="10" name="Text 8"/>
          <p:cNvSpPr/>
          <p:nvPr/>
        </p:nvSpPr>
        <p:spPr>
          <a:xfrm>
            <a:off x="777240" y="3017520"/>
            <a:ext cx="10698480" cy="1234440"/>
          </a:xfrm>
          <a:prstGeom prst="rect">
            <a:avLst/>
          </a:prstGeom>
          <a:noFill/>
          <a:ln/>
        </p:spPr>
        <p:txBody>
          <a:bodyPr wrap="square" rtlCol="0" anchor="ctr"/>
          <a:lstStyle/>
          <a:p>
            <a:pPr marL="0" indent="0">
              <a:buNone/>
            </a:pPr>
            <a:r>
              <a:rPr lang="en-US" sz="2000" b="1" dirty="0">
                <a:solidFill>
                  <a:srgbClr val="1B3A5C"/>
                </a:solidFill>
                <a:latin typeface="Georgia" pitchFamily="34" charset="0"/>
                <a:ea typeface="Georgia" pitchFamily="34" charset="-122"/>
                <a:cs typeface="Georgia" pitchFamily="34" charset="-120"/>
              </a:rPr>
              <a:t>PBB-EVPN (RFC 7623):</a:t>
            </a:r>
            <a:r>
              <a:rPr lang="en-US" dirty="0">
                <a:solidFill>
                  <a:srgbClr val="1E293B"/>
                </a:solidFill>
                <a:latin typeface="Calibri" pitchFamily="34" charset="0"/>
                <a:ea typeface="Calibri" pitchFamily="34" charset="-122"/>
                <a:cs typeface="Calibri" pitchFamily="34" charset="-120"/>
              </a:rPr>
              <a:t> Combines PBB MAC-in-MAC data plane with BGP-based EVPN control plane. Provides MAC scalability benefits of PBB with advanced EVPN control plane capabilities.</a:t>
            </a:r>
            <a:endParaRPr lang="en-US" sz="2000" dirty="0"/>
          </a:p>
        </p:txBody>
      </p:sp>
      <p:sp>
        <p:nvSpPr>
          <p:cNvPr id="11" name="Shape 9"/>
          <p:cNvSpPr/>
          <p:nvPr/>
        </p:nvSpPr>
        <p:spPr>
          <a:xfrm>
            <a:off x="457200" y="4480560"/>
            <a:ext cx="11247120" cy="123444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480560"/>
            <a:ext cx="73152" cy="1234440"/>
          </a:xfrm>
          <a:prstGeom prst="rect">
            <a:avLst/>
          </a:prstGeom>
          <a:solidFill>
            <a:srgbClr val="00C9A7"/>
          </a:solidFill>
          <a:ln/>
        </p:spPr>
      </p:sp>
      <p:sp>
        <p:nvSpPr>
          <p:cNvPr id="13" name="Text 11"/>
          <p:cNvSpPr/>
          <p:nvPr/>
        </p:nvSpPr>
        <p:spPr>
          <a:xfrm>
            <a:off x="777240" y="4480560"/>
            <a:ext cx="10698480" cy="1234440"/>
          </a:xfrm>
          <a:prstGeom prst="rect">
            <a:avLst/>
          </a:prstGeom>
          <a:noFill/>
          <a:ln/>
        </p:spPr>
        <p:txBody>
          <a:bodyPr wrap="square" rtlCol="0" anchor="ctr"/>
          <a:lstStyle/>
          <a:p>
            <a:pPr marL="0" indent="0">
              <a:buNone/>
            </a:pPr>
            <a:r>
              <a:rPr lang="en-US" sz="2000" b="1" dirty="0">
                <a:solidFill>
                  <a:srgbClr val="1B3A5C"/>
                </a:solidFill>
                <a:latin typeface="Georgia" pitchFamily="34" charset="0"/>
                <a:ea typeface="Georgia" pitchFamily="34" charset="-122"/>
                <a:cs typeface="Georgia" pitchFamily="34" charset="-120"/>
              </a:rPr>
              <a:t>TRILL within PBB:</a:t>
            </a:r>
            <a:r>
              <a:rPr lang="en-US" dirty="0">
                <a:solidFill>
                  <a:srgbClr val="1E293B"/>
                </a:solidFill>
                <a:latin typeface="Calibri" pitchFamily="34" charset="0"/>
                <a:ea typeface="Calibri" pitchFamily="34" charset="-122"/>
                <a:cs typeface="Calibri" pitchFamily="34" charset="-120"/>
              </a:rPr>
              <a:t> Could theoretically replace STP in a PBB backbone for multipath core forwarding, but has seen limited practical deployment.</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5.4 ARCHITECTURAL PHILOSOPHY COMPARISON</a:t>
            </a:r>
            <a:endParaRPr lang="en-US" sz="2600" dirty="0"/>
          </a:p>
        </p:txBody>
      </p:sp>
      <p:sp>
        <p:nvSpPr>
          <p:cNvPr id="4" name="Shape 2"/>
          <p:cNvSpPr/>
          <p:nvPr/>
        </p:nvSpPr>
        <p:spPr>
          <a:xfrm>
            <a:off x="487680" y="1005840"/>
            <a:ext cx="11247120" cy="1554480"/>
          </a:xfrm>
          <a:prstGeom prst="rect">
            <a:avLst/>
          </a:prstGeom>
          <a:solidFill>
            <a:srgbClr val="FFFFFF"/>
          </a:solidFill>
          <a:ln/>
          <a:effectLst>
            <a:outerShdw blurRad="50800" dist="25400" dir="8100000" algn="bl" rotWithShape="0">
              <a:srgbClr val="000000">
                <a:alpha val="12000"/>
              </a:srgbClr>
            </a:outerShdw>
          </a:effectLst>
        </p:spPr>
      </p:sp>
      <p:sp>
        <p:nvSpPr>
          <p:cNvPr id="5" name="Shape 3"/>
          <p:cNvSpPr/>
          <p:nvPr/>
        </p:nvSpPr>
        <p:spPr>
          <a:xfrm>
            <a:off x="457200" y="1005840"/>
            <a:ext cx="73152" cy="1554480"/>
          </a:xfrm>
          <a:prstGeom prst="rect">
            <a:avLst/>
          </a:prstGeom>
          <a:solidFill>
            <a:srgbClr val="3A7CB8"/>
          </a:solidFill>
          <a:ln/>
        </p:spPr>
      </p:sp>
      <p:sp>
        <p:nvSpPr>
          <p:cNvPr id="6" name="Text 4"/>
          <p:cNvSpPr/>
          <p:nvPr/>
        </p:nvSpPr>
        <p:spPr>
          <a:xfrm>
            <a:off x="777240" y="1005840"/>
            <a:ext cx="10515600" cy="457200"/>
          </a:xfrm>
          <a:prstGeom prst="rect">
            <a:avLst/>
          </a:prstGeom>
          <a:noFill/>
          <a:ln/>
        </p:spPr>
        <p:txBody>
          <a:bodyPr wrap="square" rtlCol="0" anchor="b"/>
          <a:lstStyle/>
          <a:p>
            <a:pPr marL="0" indent="0">
              <a:buNone/>
            </a:pPr>
            <a:r>
              <a:rPr lang="en-US" sz="1600" b="1" dirty="0">
                <a:solidFill>
                  <a:srgbClr val="3A7CB8"/>
                </a:solidFill>
                <a:latin typeface="Georgia" pitchFamily="34" charset="0"/>
                <a:ea typeface="Georgia" pitchFamily="34" charset="-122"/>
                <a:cs typeface="Georgia" pitchFamily="34" charset="-120"/>
              </a:rPr>
              <a:t>TRILL — Routing at Layer 2</a:t>
            </a:r>
            <a:endParaRPr lang="en-US" sz="1600" dirty="0"/>
          </a:p>
        </p:txBody>
      </p:sp>
      <p:sp>
        <p:nvSpPr>
          <p:cNvPr id="7" name="Text 5"/>
          <p:cNvSpPr/>
          <p:nvPr/>
        </p:nvSpPr>
        <p:spPr>
          <a:xfrm>
            <a:off x="777240" y="1508760"/>
            <a:ext cx="10515600" cy="91440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Brings Layer 3 routing intelligence (link-state routing, shortest-path computation, multipath) down to Layer 2. Makes bridges routing-aware while remaining transparent to end stations.</a:t>
            </a:r>
            <a:endParaRPr lang="en-US" sz="2000" dirty="0"/>
          </a:p>
        </p:txBody>
      </p:sp>
      <p:sp>
        <p:nvSpPr>
          <p:cNvPr id="8" name="Shape 6"/>
          <p:cNvSpPr/>
          <p:nvPr/>
        </p:nvSpPr>
        <p:spPr>
          <a:xfrm>
            <a:off x="457200" y="2834640"/>
            <a:ext cx="11247120" cy="155448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2834640"/>
            <a:ext cx="73152" cy="1554480"/>
          </a:xfrm>
          <a:prstGeom prst="rect">
            <a:avLst/>
          </a:prstGeom>
          <a:solidFill>
            <a:srgbClr val="F59E0B"/>
          </a:solidFill>
          <a:ln/>
        </p:spPr>
      </p:sp>
      <p:sp>
        <p:nvSpPr>
          <p:cNvPr id="10" name="Text 8"/>
          <p:cNvSpPr/>
          <p:nvPr/>
        </p:nvSpPr>
        <p:spPr>
          <a:xfrm>
            <a:off x="777240" y="2834640"/>
            <a:ext cx="10515600" cy="457200"/>
          </a:xfrm>
          <a:prstGeom prst="rect">
            <a:avLst/>
          </a:prstGeom>
          <a:noFill/>
          <a:ln/>
        </p:spPr>
        <p:txBody>
          <a:bodyPr wrap="square" rtlCol="0" anchor="b"/>
          <a:lstStyle/>
          <a:p>
            <a:pPr marL="0" indent="0">
              <a:buNone/>
            </a:pPr>
            <a:r>
              <a:rPr lang="en-US" sz="1600" b="1" dirty="0">
                <a:solidFill>
                  <a:srgbClr val="F59E0B"/>
                </a:solidFill>
                <a:latin typeface="Georgia" pitchFamily="34" charset="0"/>
                <a:ea typeface="Georgia" pitchFamily="34" charset="-122"/>
                <a:cs typeface="Georgia" pitchFamily="34" charset="-120"/>
              </a:rPr>
              <a:t>Provider Bridging — Service Tagging</a:t>
            </a:r>
            <a:endParaRPr lang="en-US" sz="1600" dirty="0"/>
          </a:p>
        </p:txBody>
      </p:sp>
      <p:sp>
        <p:nvSpPr>
          <p:cNvPr id="11" name="Text 9"/>
          <p:cNvSpPr/>
          <p:nvPr/>
        </p:nvSpPr>
        <p:spPr>
          <a:xfrm>
            <a:off x="777240" y="3337560"/>
            <a:ext cx="10515600" cy="91440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Incremental extension of existing VLAN tagging. The network's forwarding model remains unchanged (learn-and-forward with STP). A conservative approach that minimizes change while solving VLAN isolation.</a:t>
            </a:r>
            <a:endParaRPr lang="en-US" sz="2000" dirty="0"/>
          </a:p>
        </p:txBody>
      </p:sp>
      <p:sp>
        <p:nvSpPr>
          <p:cNvPr id="12" name="Shape 10"/>
          <p:cNvSpPr/>
          <p:nvPr/>
        </p:nvSpPr>
        <p:spPr>
          <a:xfrm>
            <a:off x="457200" y="4663440"/>
            <a:ext cx="11247120" cy="1554480"/>
          </a:xfrm>
          <a:prstGeom prst="rect">
            <a:avLst/>
          </a:prstGeom>
          <a:solidFill>
            <a:srgbClr val="FFFFFF"/>
          </a:solidFill>
          <a:ln/>
          <a:effectLst>
            <a:outerShdw blurRad="50800" dist="25400" dir="8100000" algn="bl" rotWithShape="0">
              <a:srgbClr val="000000">
                <a:alpha val="12000"/>
              </a:srgbClr>
            </a:outerShdw>
          </a:effectLst>
        </p:spPr>
      </p:sp>
      <p:sp>
        <p:nvSpPr>
          <p:cNvPr id="13" name="Shape 11"/>
          <p:cNvSpPr/>
          <p:nvPr/>
        </p:nvSpPr>
        <p:spPr>
          <a:xfrm>
            <a:off x="457200" y="4663440"/>
            <a:ext cx="73152" cy="1554480"/>
          </a:xfrm>
          <a:prstGeom prst="rect">
            <a:avLst/>
          </a:prstGeom>
          <a:solidFill>
            <a:srgbClr val="1B3A5C"/>
          </a:solidFill>
          <a:ln/>
        </p:spPr>
      </p:sp>
      <p:sp>
        <p:nvSpPr>
          <p:cNvPr id="14" name="Text 12"/>
          <p:cNvSpPr/>
          <p:nvPr/>
        </p:nvSpPr>
        <p:spPr>
          <a:xfrm>
            <a:off x="777240" y="4663440"/>
            <a:ext cx="10515600" cy="457200"/>
          </a:xfrm>
          <a:prstGeom prst="rect">
            <a:avLst/>
          </a:prstGeom>
          <a:noFill/>
          <a:ln/>
        </p:spPr>
        <p:txBody>
          <a:bodyPr wrap="square" rtlCol="0" anchor="b"/>
          <a:lstStyle/>
          <a:p>
            <a:pPr marL="0" indent="0">
              <a:buNone/>
            </a:pPr>
            <a:r>
              <a:rPr lang="en-US" sz="1600" b="1" dirty="0">
                <a:solidFill>
                  <a:srgbClr val="1B3A5C"/>
                </a:solidFill>
                <a:latin typeface="Georgia" pitchFamily="34" charset="0"/>
                <a:ea typeface="Georgia" pitchFamily="34" charset="-122"/>
                <a:cs typeface="Georgia" pitchFamily="34" charset="-120"/>
              </a:rPr>
              <a:t>PBB — Hierarchical Encapsulation</a:t>
            </a:r>
            <a:endParaRPr lang="en-US" sz="1600" dirty="0"/>
          </a:p>
        </p:txBody>
      </p:sp>
      <p:sp>
        <p:nvSpPr>
          <p:cNvPr id="15" name="Text 13"/>
          <p:cNvSpPr/>
          <p:nvPr/>
        </p:nvSpPr>
        <p:spPr>
          <a:xfrm>
            <a:off x="777240" y="5129463"/>
            <a:ext cx="10515600" cy="914400"/>
          </a:xfrm>
          <a:prstGeom prst="rect">
            <a:avLst/>
          </a:prstGeom>
          <a:noFill/>
          <a:ln/>
        </p:spPr>
        <p:txBody>
          <a:bodyPr wrap="square" rtlCol="0" anchor="t"/>
          <a:lstStyle/>
          <a:p>
            <a:pPr marL="0" indent="0">
              <a:lnSpc>
                <a:spcPct val="140000"/>
              </a:lnSpc>
              <a:buNone/>
            </a:pPr>
            <a:r>
              <a:rPr lang="en-US" sz="1600" dirty="0">
                <a:solidFill>
                  <a:srgbClr val="1E293B"/>
                </a:solidFill>
                <a:latin typeface="Calibri" pitchFamily="34" charset="0"/>
                <a:ea typeface="Calibri" pitchFamily="34" charset="-122"/>
                <a:cs typeface="Calibri" pitchFamily="34" charset="-120"/>
              </a:rPr>
              <a:t>Creates a clean separation between customer and backbone domains. The backbone operates independently of customer addressing. Classic networking principle of layered abstraction applied to Ethernet.</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5.5 DECISION FRAMEWORK SUMMARY</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3514449296"/>
              </p:ext>
            </p:extLst>
          </p:nvPr>
        </p:nvGraphicFramePr>
        <p:xfrm>
          <a:off x="274320" y="914400"/>
          <a:ext cx="11622024" cy="4419600"/>
        </p:xfrm>
        <a:graphic>
          <a:graphicData uri="http://schemas.openxmlformats.org/drawingml/2006/table">
            <a:tbl>
              <a:tblPr/>
              <a:tblGrid>
                <a:gridCol w="2926080">
                  <a:extLst>
                    <a:ext uri="{9D8B030D-6E8A-4147-A177-3AD203B41FA5}">
                      <a16:colId xmlns:a16="http://schemas.microsoft.com/office/drawing/2014/main" val="20000"/>
                    </a:ext>
                  </a:extLst>
                </a:gridCol>
                <a:gridCol w="2898648">
                  <a:extLst>
                    <a:ext uri="{9D8B030D-6E8A-4147-A177-3AD203B41FA5}">
                      <a16:colId xmlns:a16="http://schemas.microsoft.com/office/drawing/2014/main" val="20001"/>
                    </a:ext>
                  </a:extLst>
                </a:gridCol>
                <a:gridCol w="2898648">
                  <a:extLst>
                    <a:ext uri="{9D8B030D-6E8A-4147-A177-3AD203B41FA5}">
                      <a16:colId xmlns:a16="http://schemas.microsoft.com/office/drawing/2014/main" val="20002"/>
                    </a:ext>
                  </a:extLst>
                </a:gridCol>
                <a:gridCol w="2898648">
                  <a:extLst>
                    <a:ext uri="{9D8B030D-6E8A-4147-A177-3AD203B41FA5}">
                      <a16:colId xmlns:a16="http://schemas.microsoft.com/office/drawing/2014/main" val="20003"/>
                    </a:ext>
                  </a:extLst>
                </a:gridCol>
              </a:tblGrid>
              <a:tr h="0">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Requirement</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TRILL</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Q-in-Q</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PBB</a:t>
                      </a:r>
                      <a:endParaRPr lang="en-US" sz="2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440"/>
                    </a:solidFill>
                  </a:tcPr>
                </a:tc>
                <a:extLst>
                  <a:ext uri="{0D108BD9-81ED-4DB2-BD59-A6C34878D82A}">
                    <a16:rowId xmlns:a16="http://schemas.microsoft.com/office/drawing/2014/main" val="10000"/>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Data Center Fabric</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Recommended*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Not designed for this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Not designed for this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Metro Ethernet Access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Wrong scope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Recommended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Overkill</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Metro Ethernet Backbone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Wrong scope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Limited scalability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Recommended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Small Provider (&lt;1K cust)</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Unnecessary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Ideal</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Unnecessary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Large Provider (&gt;10K cust)</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Wrong scope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MAC scale issues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Ideal</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Multipath Requirement</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Core capability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Not supported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Requires PBB-TE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Sub-second Failover</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Core capability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STP limited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With PBB-TE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MAC Address Isolation</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Not provided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Not provided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Core capability</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Minimal Frame Overhead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~16 bytes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~4 bytes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~18 bytes</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Multi-vendor Interop</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Limited</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Universal</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2000" dirty="0">
                          <a:solidFill>
                            <a:srgbClr val="1E293B"/>
                          </a:solidFill>
                          <a:latin typeface="Calibri" pitchFamily="34" charset="0"/>
                          <a:ea typeface="Calibri" pitchFamily="34" charset="-122"/>
                          <a:cs typeface="Calibri" pitchFamily="34" charset="-120"/>
                        </a:rPr>
                        <a:t>○ Moderate</a:t>
                      </a:r>
                      <a:endParaRPr lang="en-US" sz="2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p:nvPr/>
        </p:nvSpPr>
        <p:spPr>
          <a:xfrm>
            <a:off x="457200" y="6217920"/>
            <a:ext cx="10972800" cy="365760"/>
          </a:xfrm>
          <a:prstGeom prst="rect">
            <a:avLst/>
          </a:prstGeom>
          <a:noFill/>
          <a:ln/>
        </p:spPr>
        <p:txBody>
          <a:bodyPr wrap="square" rtlCol="0" anchor="t"/>
          <a:lstStyle/>
          <a:p>
            <a:pPr marL="0" indent="0">
              <a:lnSpc>
                <a:spcPct val="140000"/>
              </a:lnSpc>
              <a:buNone/>
            </a:pPr>
            <a:r>
              <a:rPr lang="en-US" sz="1100" i="1" dirty="0">
                <a:solidFill>
                  <a:srgbClr val="64748B"/>
                </a:solidFill>
                <a:latin typeface="Calibri" pitchFamily="34" charset="0"/>
                <a:ea typeface="Calibri" pitchFamily="34" charset="-122"/>
                <a:cs typeface="Calibri" pitchFamily="34" charset="-120"/>
              </a:rPr>
              <a:t>* For new data center deployments, VXLAN/EVPN is generally preferred over TRILL.</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334155"/>
          </a:solidFill>
          <a:ln/>
        </p:spPr>
      </p:sp>
      <p:sp>
        <p:nvSpPr>
          <p:cNvPr id="3" name="Text 1"/>
          <p:cNvSpPr/>
          <p:nvPr/>
        </p:nvSpPr>
        <p:spPr>
          <a:xfrm>
            <a:off x="731520" y="1828800"/>
            <a:ext cx="9144000" cy="548640"/>
          </a:xfrm>
          <a:prstGeom prst="rect">
            <a:avLst/>
          </a:prstGeom>
          <a:noFill/>
          <a:ln/>
        </p:spPr>
        <p:txBody>
          <a:bodyPr wrap="square" rtlCol="0" anchor="ctr"/>
          <a:lstStyle/>
          <a:p>
            <a:pPr marL="0" indent="0">
              <a:buNone/>
            </a:pPr>
            <a:r>
              <a:rPr lang="en-US" sz="1800" kern="0" spc="600" dirty="0">
                <a:solidFill>
                  <a:srgbClr val="334155"/>
                </a:solidFill>
                <a:latin typeface="Calibri" pitchFamily="34" charset="0"/>
                <a:ea typeface="Calibri" pitchFamily="34" charset="-122"/>
                <a:cs typeface="Calibri" pitchFamily="34" charset="-120"/>
              </a:rPr>
              <a:t>MODULE 6</a:t>
            </a:r>
            <a:endParaRPr lang="en-US" sz="1800" dirty="0"/>
          </a:p>
        </p:txBody>
      </p:sp>
      <p:sp>
        <p:nvSpPr>
          <p:cNvPr id="4" name="Text 2"/>
          <p:cNvSpPr/>
          <p:nvPr/>
        </p:nvSpPr>
        <p:spPr>
          <a:xfrm>
            <a:off x="731520" y="2468880"/>
            <a:ext cx="8229600" cy="164592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Case Studies, Summary</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&amp; Q&amp;A</a:t>
            </a:r>
            <a:endParaRPr lang="en-US" sz="3800" dirty="0"/>
          </a:p>
        </p:txBody>
      </p:sp>
      <p:sp>
        <p:nvSpPr>
          <p:cNvPr id="5" name="Text 3"/>
          <p:cNvSpPr/>
          <p:nvPr/>
        </p:nvSpPr>
        <p:spPr>
          <a:xfrm>
            <a:off x="731520" y="4206240"/>
            <a:ext cx="8229600" cy="45720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Real-world deployment examples  •  Key takeaways  •  1:50–2:00</a:t>
            </a:r>
            <a:endParaRPr lang="en-US" sz="1400" dirty="0"/>
          </a:p>
        </p:txBody>
      </p:sp>
      <p:pic>
        <p:nvPicPr>
          <p:cNvPr id="6" name="Image 0" descr="preencoded.png"/>
          <p:cNvPicPr>
            <a:picLocks noChangeAspect="1"/>
          </p:cNvPicPr>
          <p:nvPr/>
        </p:nvPicPr>
        <p:blipFill>
          <a:blip r:embed="rId3"/>
          <a:stretch>
            <a:fillRect/>
          </a:stretch>
        </p:blipFill>
        <p:spPr>
          <a:xfrm>
            <a:off x="10058400" y="2286000"/>
            <a:ext cx="1371600" cy="13716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6.1 CASE STUDY 1: REGIONAL METRO ETHERNET PROVIDER</a:t>
            </a:r>
            <a:endParaRPr lang="en-US" sz="2600" dirty="0"/>
          </a:p>
        </p:txBody>
      </p:sp>
      <p:sp>
        <p:nvSpPr>
          <p:cNvPr id="4" name="Text 2"/>
          <p:cNvSpPr/>
          <p:nvPr/>
        </p:nvSpPr>
        <p:spPr>
          <a:xfrm>
            <a:off x="457200" y="812533"/>
            <a:ext cx="10972800" cy="731520"/>
          </a:xfrm>
          <a:prstGeom prst="rect">
            <a:avLst/>
          </a:prstGeom>
          <a:noFill/>
          <a:ln/>
        </p:spPr>
        <p:txBody>
          <a:bodyPr wrap="square" rtlCol="0" anchor="t"/>
          <a:lstStyle/>
          <a:p>
            <a:pPr marL="0" indent="0">
              <a:lnSpc>
                <a:spcPct val="140000"/>
              </a:lnSpc>
              <a:buNone/>
            </a:pPr>
            <a:r>
              <a:rPr lang="en-US" sz="2000" dirty="0">
                <a:solidFill>
                  <a:srgbClr val="1E293B"/>
                </a:solidFill>
                <a:latin typeface="Calibri" pitchFamily="34" charset="0"/>
                <a:ea typeface="Calibri" pitchFamily="34" charset="-122"/>
                <a:cs typeface="Calibri" pitchFamily="34" charset="-120"/>
              </a:rPr>
              <a:t>A regional service provider with 2,000 business customers across a metropolitan area needed to offer Ethernet connectivity services. Each customer required 1–10 VLANs.</a:t>
            </a:r>
            <a:endParaRPr lang="en-US" sz="2000" dirty="0"/>
          </a:p>
        </p:txBody>
      </p:sp>
      <p:sp>
        <p:nvSpPr>
          <p:cNvPr id="5" name="Shape 3"/>
          <p:cNvSpPr/>
          <p:nvPr/>
        </p:nvSpPr>
        <p:spPr>
          <a:xfrm>
            <a:off x="457200" y="192024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920240"/>
            <a:ext cx="73152" cy="1051560"/>
          </a:xfrm>
          <a:prstGeom prst="rect">
            <a:avLst/>
          </a:prstGeom>
          <a:solidFill>
            <a:srgbClr val="F59E0B"/>
          </a:solidFill>
          <a:ln/>
        </p:spPr>
      </p:sp>
      <p:sp>
        <p:nvSpPr>
          <p:cNvPr id="7" name="Text 5"/>
          <p:cNvSpPr/>
          <p:nvPr/>
        </p:nvSpPr>
        <p:spPr>
          <a:xfrm>
            <a:off x="777240" y="1920240"/>
            <a:ext cx="10698480" cy="1051560"/>
          </a:xfrm>
          <a:prstGeom prst="rect">
            <a:avLst/>
          </a:prstGeom>
          <a:noFill/>
          <a:ln/>
        </p:spPr>
        <p:txBody>
          <a:bodyPr wrap="square" rtlCol="0" anchor="ctr"/>
          <a:lstStyle/>
          <a:p>
            <a:pPr marL="0" indent="0">
              <a:buNone/>
            </a:pPr>
            <a:r>
              <a:rPr lang="en-US" sz="2400" b="1" dirty="0">
                <a:solidFill>
                  <a:srgbClr val="1B3A5C"/>
                </a:solidFill>
                <a:latin typeface="Calibri" pitchFamily="34" charset="0"/>
                <a:ea typeface="Calibri" pitchFamily="34" charset="-122"/>
                <a:cs typeface="Calibri" pitchFamily="34" charset="-120"/>
              </a:rPr>
              <a:t>Challenge:</a:t>
            </a:r>
            <a:r>
              <a:rPr lang="en-US" sz="2000" dirty="0">
                <a:solidFill>
                  <a:srgbClr val="1E293B"/>
                </a:solidFill>
                <a:latin typeface="Calibri" pitchFamily="34" charset="0"/>
                <a:ea typeface="Calibri" pitchFamily="34" charset="-122"/>
                <a:cs typeface="Calibri" pitchFamily="34" charset="-120"/>
              </a:rPr>
              <a:t> Standard 802.1Q VLANs were insufficient, and customer VLAN ranges overlapped</a:t>
            </a:r>
            <a:r>
              <a:rPr lang="en-US" sz="1600" dirty="0">
                <a:solidFill>
                  <a:srgbClr val="1E293B"/>
                </a:solidFill>
                <a:latin typeface="Calibri" pitchFamily="34" charset="0"/>
                <a:ea typeface="Calibri" pitchFamily="34" charset="-122"/>
                <a:cs typeface="Calibri" pitchFamily="34" charset="-120"/>
              </a:rPr>
              <a:t>.</a:t>
            </a:r>
            <a:endParaRPr lang="en-US" dirty="0"/>
          </a:p>
        </p:txBody>
      </p:sp>
      <p:sp>
        <p:nvSpPr>
          <p:cNvPr id="8" name="Shape 6"/>
          <p:cNvSpPr/>
          <p:nvPr/>
        </p:nvSpPr>
        <p:spPr>
          <a:xfrm>
            <a:off x="457200" y="324612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200400"/>
            <a:ext cx="73152" cy="1051560"/>
          </a:xfrm>
          <a:prstGeom prst="rect">
            <a:avLst/>
          </a:prstGeom>
          <a:solidFill>
            <a:srgbClr val="F59E0B"/>
          </a:solidFill>
          <a:ln/>
        </p:spPr>
      </p:sp>
      <p:sp>
        <p:nvSpPr>
          <p:cNvPr id="10" name="Text 8"/>
          <p:cNvSpPr/>
          <p:nvPr/>
        </p:nvSpPr>
        <p:spPr>
          <a:xfrm>
            <a:off x="777240" y="320040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Solution:</a:t>
            </a:r>
            <a:r>
              <a:rPr lang="en-US" dirty="0">
                <a:solidFill>
                  <a:srgbClr val="1E293B"/>
                </a:solidFill>
                <a:latin typeface="Calibri" pitchFamily="34" charset="0"/>
                <a:ea typeface="Calibri" pitchFamily="34" charset="-122"/>
                <a:cs typeface="Calibri" pitchFamily="34" charset="-120"/>
              </a:rPr>
              <a:t> Provider Bridging (Q-in-Q). Each customer assigned a unique S-VLAN. Total MAC count ~50,000</a:t>
            </a:r>
            <a:r>
              <a:rPr lang="en-US" sz="1600" dirty="0">
                <a:solidFill>
                  <a:srgbClr val="1E293B"/>
                </a:solidFill>
                <a:latin typeface="Calibri" pitchFamily="34" charset="0"/>
                <a:ea typeface="Calibri" pitchFamily="34" charset="-122"/>
                <a:cs typeface="Calibri" pitchFamily="34" charset="-120"/>
              </a:rPr>
              <a:t>.</a:t>
            </a:r>
            <a:endParaRPr lang="en-US" dirty="0"/>
          </a:p>
        </p:txBody>
      </p:sp>
      <p:sp>
        <p:nvSpPr>
          <p:cNvPr id="11" name="Shape 9"/>
          <p:cNvSpPr/>
          <p:nvPr/>
        </p:nvSpPr>
        <p:spPr>
          <a:xfrm>
            <a:off x="457200" y="448056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480560"/>
            <a:ext cx="73152" cy="1051560"/>
          </a:xfrm>
          <a:prstGeom prst="rect">
            <a:avLst/>
          </a:prstGeom>
          <a:solidFill>
            <a:srgbClr val="F59E0B"/>
          </a:solidFill>
          <a:ln/>
        </p:spPr>
      </p:sp>
      <p:sp>
        <p:nvSpPr>
          <p:cNvPr id="13" name="Text 11"/>
          <p:cNvSpPr/>
          <p:nvPr/>
        </p:nvSpPr>
        <p:spPr>
          <a:xfrm>
            <a:off x="777240" y="4480560"/>
            <a:ext cx="10698480" cy="1051560"/>
          </a:xfrm>
          <a:prstGeom prst="rect">
            <a:avLst/>
          </a:prstGeom>
          <a:noFill/>
          <a:ln/>
        </p:spPr>
        <p:txBody>
          <a:bodyPr wrap="square" rtlCol="0" anchor="ctr"/>
          <a:lstStyle/>
          <a:p>
            <a:pPr marL="0" indent="0">
              <a:buNone/>
            </a:pPr>
            <a:r>
              <a:rPr lang="en-US" sz="2400" b="1" dirty="0">
                <a:solidFill>
                  <a:srgbClr val="1B3A5C"/>
                </a:solidFill>
                <a:latin typeface="Calibri" pitchFamily="34" charset="0"/>
                <a:ea typeface="Calibri" pitchFamily="34" charset="-122"/>
                <a:cs typeface="Calibri" pitchFamily="34" charset="-120"/>
              </a:rPr>
              <a:t>Outcome:</a:t>
            </a:r>
            <a:r>
              <a:rPr lang="en-US" sz="2000" dirty="0">
                <a:solidFill>
                  <a:srgbClr val="1E293B"/>
                </a:solidFill>
                <a:latin typeface="Calibri" pitchFamily="34" charset="0"/>
                <a:ea typeface="Calibri" pitchFamily="34" charset="-122"/>
                <a:cs typeface="Calibri" pitchFamily="34" charset="-120"/>
              </a:rPr>
              <a:t> Rapid deployment with existing equipment, full customer isolation, familiar management tools</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6.2 CASE STUDY 2: NATIONAL CARRIER ETHERNET BACKBONE</a:t>
            </a:r>
            <a:endParaRPr lang="en-US" sz="2600" dirty="0"/>
          </a:p>
        </p:txBody>
      </p:sp>
      <p:sp>
        <p:nvSpPr>
          <p:cNvPr id="4" name="Text 2"/>
          <p:cNvSpPr/>
          <p:nvPr/>
        </p:nvSpPr>
        <p:spPr>
          <a:xfrm>
            <a:off x="457200" y="1005840"/>
            <a:ext cx="109728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A Tier 1 national carrier needed to transport Ethernet from 50,000+ customer sites across 100+ PoPs.</a:t>
            </a:r>
            <a:endParaRPr lang="en-US" dirty="0"/>
          </a:p>
        </p:txBody>
      </p:sp>
      <p:sp>
        <p:nvSpPr>
          <p:cNvPr id="5" name="Shape 3"/>
          <p:cNvSpPr/>
          <p:nvPr/>
        </p:nvSpPr>
        <p:spPr>
          <a:xfrm>
            <a:off x="457200" y="192024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920240"/>
            <a:ext cx="73152" cy="1051560"/>
          </a:xfrm>
          <a:prstGeom prst="rect">
            <a:avLst/>
          </a:prstGeom>
          <a:solidFill>
            <a:srgbClr val="00C9A7"/>
          </a:solidFill>
          <a:ln/>
        </p:spPr>
      </p:sp>
      <p:sp>
        <p:nvSpPr>
          <p:cNvPr id="7" name="Text 5"/>
          <p:cNvSpPr/>
          <p:nvPr/>
        </p:nvSpPr>
        <p:spPr>
          <a:xfrm>
            <a:off x="777240" y="192024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Challenge:</a:t>
            </a:r>
            <a:r>
              <a:rPr lang="en-US" dirty="0">
                <a:solidFill>
                  <a:srgbClr val="1E293B"/>
                </a:solidFill>
                <a:latin typeface="Calibri" pitchFamily="34" charset="0"/>
                <a:ea typeface="Calibri" pitchFamily="34" charset="-122"/>
                <a:cs typeface="Calibri" pitchFamily="34" charset="-120"/>
              </a:rPr>
              <a:t> Customer MAC count exceeded 5 million, overwhelming backbone switch tables</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457200" y="320040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200400"/>
            <a:ext cx="73152" cy="1051560"/>
          </a:xfrm>
          <a:prstGeom prst="rect">
            <a:avLst/>
          </a:prstGeom>
          <a:solidFill>
            <a:srgbClr val="00C9A7"/>
          </a:solidFill>
          <a:ln/>
        </p:spPr>
      </p:sp>
      <p:sp>
        <p:nvSpPr>
          <p:cNvPr id="10" name="Text 8"/>
          <p:cNvSpPr/>
          <p:nvPr/>
        </p:nvSpPr>
        <p:spPr>
          <a:xfrm>
            <a:off x="777240" y="320040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Solution:</a:t>
            </a:r>
            <a:r>
              <a:rPr lang="en-US" dirty="0">
                <a:solidFill>
                  <a:srgbClr val="1E293B"/>
                </a:solidFill>
                <a:latin typeface="Calibri" pitchFamily="34" charset="0"/>
                <a:ea typeface="Calibri" pitchFamily="34" charset="-122"/>
                <a:cs typeface="Calibri" pitchFamily="34" charset="-120"/>
              </a:rPr>
              <a:t> PBB (802.1ah) at backbone core with Q-in-Q (802.1ad) at metro edge. BCBs maintain only ~200 backbone MAC entries</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448056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480560"/>
            <a:ext cx="73152" cy="1051560"/>
          </a:xfrm>
          <a:prstGeom prst="rect">
            <a:avLst/>
          </a:prstGeom>
          <a:solidFill>
            <a:srgbClr val="00C9A7"/>
          </a:solidFill>
          <a:ln/>
        </p:spPr>
      </p:sp>
      <p:sp>
        <p:nvSpPr>
          <p:cNvPr id="13" name="Text 11"/>
          <p:cNvSpPr/>
          <p:nvPr/>
        </p:nvSpPr>
        <p:spPr>
          <a:xfrm>
            <a:off x="777240" y="448056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Outcome:</a:t>
            </a:r>
            <a:r>
              <a:rPr lang="en-US" dirty="0">
                <a:solidFill>
                  <a:srgbClr val="1E293B"/>
                </a:solidFill>
                <a:latin typeface="Calibri" pitchFamily="34" charset="0"/>
                <a:ea typeface="Calibri" pitchFamily="34" charset="-122"/>
                <a:cs typeface="Calibri" pitchFamily="34" charset="-120"/>
              </a:rPr>
              <a:t> Stable, small MAC tables. Complete customer isolation. Simplified service provisioning via I-SID</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6.3 CASE STUDY 3: LARGE ENTERPRISE DATA CENTER</a:t>
            </a:r>
            <a:endParaRPr lang="en-US" sz="2600" dirty="0"/>
          </a:p>
        </p:txBody>
      </p:sp>
      <p:sp>
        <p:nvSpPr>
          <p:cNvPr id="4" name="Text 2"/>
          <p:cNvSpPr/>
          <p:nvPr/>
        </p:nvSpPr>
        <p:spPr>
          <a:xfrm>
            <a:off x="457200" y="1005840"/>
            <a:ext cx="10972800" cy="731520"/>
          </a:xfrm>
          <a:prstGeom prst="rect">
            <a:avLst/>
          </a:prstGeom>
          <a:noFill/>
          <a:ln/>
        </p:spPr>
        <p:txBody>
          <a:bodyPr wrap="square" rtlCol="0" anchor="t"/>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A large enterprise with 5,000 servers hosting 50,000 VMs in a multi-tier switching fabric</a:t>
            </a:r>
            <a:r>
              <a:rPr lang="en-US" sz="1300" dirty="0">
                <a:solidFill>
                  <a:srgbClr val="1E293B"/>
                </a:solidFill>
                <a:latin typeface="Calibri" pitchFamily="34" charset="0"/>
                <a:ea typeface="Calibri" pitchFamily="34" charset="-122"/>
                <a:cs typeface="Calibri" pitchFamily="34" charset="-120"/>
              </a:rPr>
              <a:t>.</a:t>
            </a:r>
            <a:endParaRPr lang="en-US" sz="1300" dirty="0"/>
          </a:p>
        </p:txBody>
      </p:sp>
      <p:sp>
        <p:nvSpPr>
          <p:cNvPr id="5" name="Shape 3"/>
          <p:cNvSpPr/>
          <p:nvPr/>
        </p:nvSpPr>
        <p:spPr>
          <a:xfrm>
            <a:off x="457200" y="192024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920240"/>
            <a:ext cx="73152" cy="1051560"/>
          </a:xfrm>
          <a:prstGeom prst="rect">
            <a:avLst/>
          </a:prstGeom>
          <a:solidFill>
            <a:srgbClr val="3A7CB8"/>
          </a:solidFill>
          <a:ln/>
        </p:spPr>
      </p:sp>
      <p:sp>
        <p:nvSpPr>
          <p:cNvPr id="7" name="Text 5"/>
          <p:cNvSpPr/>
          <p:nvPr/>
        </p:nvSpPr>
        <p:spPr>
          <a:xfrm>
            <a:off x="777240" y="192024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Challenge:</a:t>
            </a:r>
            <a:r>
              <a:rPr lang="en-US" dirty="0">
                <a:solidFill>
                  <a:srgbClr val="1E293B"/>
                </a:solidFill>
                <a:latin typeface="Calibri" pitchFamily="34" charset="0"/>
                <a:ea typeface="Calibri" pitchFamily="34" charset="-122"/>
                <a:cs typeface="Calibri" pitchFamily="34" charset="-120"/>
              </a:rPr>
              <a:t> STP blocked 40% of bandwidth. VM migration needed Layer 2 adjacency. 30+ second convergence unacceptable</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457200" y="320040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200400"/>
            <a:ext cx="73152" cy="1051560"/>
          </a:xfrm>
          <a:prstGeom prst="rect">
            <a:avLst/>
          </a:prstGeom>
          <a:solidFill>
            <a:srgbClr val="3A7CB8"/>
          </a:solidFill>
          <a:ln/>
        </p:spPr>
      </p:sp>
      <p:sp>
        <p:nvSpPr>
          <p:cNvPr id="10" name="Text 8"/>
          <p:cNvSpPr/>
          <p:nvPr/>
        </p:nvSpPr>
        <p:spPr>
          <a:xfrm>
            <a:off x="777240" y="320040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Solution:</a:t>
            </a:r>
            <a:r>
              <a:rPr lang="en-US" dirty="0">
                <a:solidFill>
                  <a:srgbClr val="1E293B"/>
                </a:solidFill>
                <a:latin typeface="Calibri" pitchFamily="34" charset="0"/>
                <a:ea typeface="Calibri" pitchFamily="34" charset="-122"/>
                <a:cs typeface="Calibri" pitchFamily="34" charset="-120"/>
              </a:rPr>
              <a:t> TRILL deployment across the fabric. All switches replaced with RBridge-capable equipment running IS-IS</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4480560"/>
            <a:ext cx="11247120" cy="105156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480560"/>
            <a:ext cx="73152" cy="1051560"/>
          </a:xfrm>
          <a:prstGeom prst="rect">
            <a:avLst/>
          </a:prstGeom>
          <a:solidFill>
            <a:srgbClr val="3A7CB8"/>
          </a:solidFill>
          <a:ln/>
        </p:spPr>
      </p:sp>
      <p:sp>
        <p:nvSpPr>
          <p:cNvPr id="13" name="Text 11"/>
          <p:cNvSpPr/>
          <p:nvPr/>
        </p:nvSpPr>
        <p:spPr>
          <a:xfrm>
            <a:off x="777240" y="4480560"/>
            <a:ext cx="10698480" cy="1051560"/>
          </a:xfrm>
          <a:prstGeom prst="rect">
            <a:avLst/>
          </a:prstGeom>
          <a:noFill/>
          <a:ln/>
        </p:spPr>
        <p:txBody>
          <a:bodyPr wrap="square" rtlCol="0" anchor="ctr"/>
          <a:lstStyle/>
          <a:p>
            <a:pPr marL="0" indent="0">
              <a:buNone/>
            </a:pPr>
            <a:r>
              <a:rPr lang="en-US" sz="2000" b="1" dirty="0">
                <a:solidFill>
                  <a:srgbClr val="1B3A5C"/>
                </a:solidFill>
                <a:latin typeface="Calibri" pitchFamily="34" charset="0"/>
                <a:ea typeface="Calibri" pitchFamily="34" charset="-122"/>
                <a:cs typeface="Calibri" pitchFamily="34" charset="-120"/>
              </a:rPr>
              <a:t>Outcome:</a:t>
            </a:r>
            <a:r>
              <a:rPr lang="en-US" dirty="0">
                <a:solidFill>
                  <a:srgbClr val="1E293B"/>
                </a:solidFill>
                <a:latin typeface="Calibri" pitchFamily="34" charset="0"/>
                <a:ea typeface="Calibri" pitchFamily="34" charset="-122"/>
                <a:cs typeface="Calibri" pitchFamily="34" charset="-120"/>
              </a:rPr>
              <a:t> Bandwidth doubled (60% to ~100% utilization). Seamless VM migration. Sub-second failure recovery</a:t>
            </a:r>
            <a:r>
              <a:rPr lang="en-US" sz="1300" dirty="0">
                <a:solidFill>
                  <a:srgbClr val="1E293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0F2440"/>
          </a:solidFill>
          <a:ln/>
        </p:spPr>
      </p:sp>
      <p:sp>
        <p:nvSpPr>
          <p:cNvPr id="3" name="Text 1"/>
          <p:cNvSpPr/>
          <p:nvPr/>
        </p:nvSpPr>
        <p:spPr>
          <a:xfrm>
            <a:off x="457200" y="73152"/>
            <a:ext cx="10972800" cy="64008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6.4 LECTURE SUMMARY</a:t>
            </a:r>
            <a:endParaRPr lang="en-US" sz="2600" dirty="0"/>
          </a:p>
        </p:txBody>
      </p:sp>
      <p:sp>
        <p:nvSpPr>
          <p:cNvPr id="4" name="Text 2"/>
          <p:cNvSpPr/>
          <p:nvPr/>
        </p:nvSpPr>
        <p:spPr>
          <a:xfrm>
            <a:off x="457200" y="1005840"/>
            <a:ext cx="10972800" cy="457200"/>
          </a:xfrm>
          <a:prstGeom prst="rect">
            <a:avLst/>
          </a:prstGeom>
          <a:noFill/>
          <a:ln/>
        </p:spPr>
        <p:txBody>
          <a:bodyPr wrap="square" rtlCol="0" anchor="t"/>
          <a:lstStyle/>
          <a:p>
            <a:pPr marL="0" indent="0">
              <a:lnSpc>
                <a:spcPct val="140000"/>
              </a:lnSpc>
              <a:buNone/>
            </a:pPr>
            <a:r>
              <a:rPr lang="en-US" sz="1300" dirty="0">
                <a:solidFill>
                  <a:srgbClr val="1E293B"/>
                </a:solidFill>
                <a:latin typeface="Calibri" pitchFamily="34" charset="0"/>
                <a:ea typeface="Calibri" pitchFamily="34" charset="-122"/>
                <a:cs typeface="Calibri" pitchFamily="34" charset="-120"/>
              </a:rPr>
              <a:t>This lecture has covered three critical Layer 2 bridging technologies, each addressing distinct challenges:</a:t>
            </a:r>
            <a:endParaRPr lang="en-US" sz="1300" dirty="0"/>
          </a:p>
        </p:txBody>
      </p:sp>
      <p:sp>
        <p:nvSpPr>
          <p:cNvPr id="5" name="Shape 3"/>
          <p:cNvSpPr/>
          <p:nvPr/>
        </p:nvSpPr>
        <p:spPr>
          <a:xfrm>
            <a:off x="457200" y="1645920"/>
            <a:ext cx="11247120" cy="1280160"/>
          </a:xfrm>
          <a:prstGeom prst="rect">
            <a:avLst/>
          </a:prstGeom>
          <a:solidFill>
            <a:srgbClr val="FFFFFF"/>
          </a:solidFill>
          <a:ln/>
          <a:effectLst>
            <a:outerShdw blurRad="50800" dist="25400" dir="8100000" algn="bl" rotWithShape="0">
              <a:srgbClr val="000000">
                <a:alpha val="12000"/>
              </a:srgbClr>
            </a:outerShdw>
          </a:effectLst>
        </p:spPr>
      </p:sp>
      <p:sp>
        <p:nvSpPr>
          <p:cNvPr id="6" name="Shape 4"/>
          <p:cNvSpPr/>
          <p:nvPr/>
        </p:nvSpPr>
        <p:spPr>
          <a:xfrm>
            <a:off x="457200" y="1645920"/>
            <a:ext cx="73152" cy="1280160"/>
          </a:xfrm>
          <a:prstGeom prst="rect">
            <a:avLst/>
          </a:prstGeom>
          <a:solidFill>
            <a:srgbClr val="3A7CB8"/>
          </a:solidFill>
          <a:ln/>
        </p:spPr>
      </p:sp>
      <p:sp>
        <p:nvSpPr>
          <p:cNvPr id="7" name="Text 5"/>
          <p:cNvSpPr/>
          <p:nvPr/>
        </p:nvSpPr>
        <p:spPr>
          <a:xfrm>
            <a:off x="777240" y="1645920"/>
            <a:ext cx="10698480" cy="1280160"/>
          </a:xfrm>
          <a:prstGeom prst="rect">
            <a:avLst/>
          </a:prstGeom>
          <a:noFill/>
          <a:ln/>
        </p:spPr>
        <p:txBody>
          <a:bodyPr wrap="square" rtlCol="0" anchor="ctr"/>
          <a:lstStyle/>
          <a:p>
            <a:pPr marL="0" indent="0">
              <a:buNone/>
            </a:pPr>
            <a:r>
              <a:rPr lang="en-US" sz="1500" b="1" dirty="0">
                <a:solidFill>
                  <a:srgbClr val="3A7CB8"/>
                </a:solidFill>
                <a:latin typeface="Georgia" pitchFamily="34" charset="0"/>
                <a:ea typeface="Georgia" pitchFamily="34" charset="-122"/>
                <a:cs typeface="Georgia" pitchFamily="34" charset="-120"/>
              </a:rPr>
              <a:t>TRILL </a:t>
            </a:r>
            <a:r>
              <a:rPr lang="en-US" sz="1300" dirty="0">
                <a:solidFill>
                  <a:srgbClr val="1E293B"/>
                </a:solidFill>
                <a:latin typeface="Calibri" pitchFamily="34" charset="0"/>
                <a:ea typeface="Calibri" pitchFamily="34" charset="-122"/>
                <a:cs typeface="Calibri" pitchFamily="34" charset="-120"/>
              </a:rPr>
              <a:t>brings routing intelligence to Layer 2, enabling multipath forwarding and fast convergence in data center and campus networks. It makes bridges smarter.</a:t>
            </a:r>
            <a:endParaRPr lang="en-US" sz="1500" dirty="0"/>
          </a:p>
        </p:txBody>
      </p:sp>
      <p:sp>
        <p:nvSpPr>
          <p:cNvPr id="8" name="Shape 6"/>
          <p:cNvSpPr/>
          <p:nvPr/>
        </p:nvSpPr>
        <p:spPr>
          <a:xfrm>
            <a:off x="457200" y="3154680"/>
            <a:ext cx="11247120" cy="1280160"/>
          </a:xfrm>
          <a:prstGeom prst="rect">
            <a:avLst/>
          </a:prstGeom>
          <a:solidFill>
            <a:srgbClr val="FFFFFF"/>
          </a:solidFill>
          <a:ln/>
          <a:effectLst>
            <a:outerShdw blurRad="50800" dist="25400" dir="8100000" algn="bl" rotWithShape="0">
              <a:srgbClr val="000000">
                <a:alpha val="12000"/>
              </a:srgbClr>
            </a:outerShdw>
          </a:effectLst>
        </p:spPr>
      </p:sp>
      <p:sp>
        <p:nvSpPr>
          <p:cNvPr id="9" name="Shape 7"/>
          <p:cNvSpPr/>
          <p:nvPr/>
        </p:nvSpPr>
        <p:spPr>
          <a:xfrm>
            <a:off x="457200" y="3154680"/>
            <a:ext cx="73152" cy="1280160"/>
          </a:xfrm>
          <a:prstGeom prst="rect">
            <a:avLst/>
          </a:prstGeom>
          <a:solidFill>
            <a:srgbClr val="F59E0B"/>
          </a:solidFill>
          <a:ln/>
        </p:spPr>
      </p:sp>
      <p:sp>
        <p:nvSpPr>
          <p:cNvPr id="10" name="Text 8"/>
          <p:cNvSpPr/>
          <p:nvPr/>
        </p:nvSpPr>
        <p:spPr>
          <a:xfrm>
            <a:off x="777240" y="3154680"/>
            <a:ext cx="10698480" cy="1280160"/>
          </a:xfrm>
          <a:prstGeom prst="rect">
            <a:avLst/>
          </a:prstGeom>
          <a:noFill/>
          <a:ln/>
        </p:spPr>
        <p:txBody>
          <a:bodyPr wrap="square" rtlCol="0" anchor="ctr"/>
          <a:lstStyle/>
          <a:p>
            <a:pPr marL="0" indent="0">
              <a:buNone/>
            </a:pPr>
            <a:r>
              <a:rPr lang="en-US" sz="1500" b="1" dirty="0">
                <a:solidFill>
                  <a:srgbClr val="F59E0B"/>
                </a:solidFill>
                <a:latin typeface="Georgia" pitchFamily="34" charset="0"/>
                <a:ea typeface="Georgia" pitchFamily="34" charset="-122"/>
                <a:cs typeface="Georgia" pitchFamily="34" charset="-120"/>
              </a:rPr>
              <a:t>Provider Bridging (Q-in-Q) </a:t>
            </a:r>
            <a:r>
              <a:rPr lang="en-US" sz="1300" dirty="0">
                <a:solidFill>
                  <a:srgbClr val="1E293B"/>
                </a:solidFill>
                <a:latin typeface="Calibri" pitchFamily="34" charset="0"/>
                <a:ea typeface="Calibri" pitchFamily="34" charset="-122"/>
                <a:cs typeface="Calibri" pitchFamily="34" charset="-120"/>
              </a:rPr>
              <a:t>extends VLAN tagging with a simple, incremental approach to customer isolation in metro networks. It represents practical, minimal change.</a:t>
            </a:r>
            <a:endParaRPr lang="en-US" sz="1500" dirty="0"/>
          </a:p>
        </p:txBody>
      </p:sp>
      <p:sp>
        <p:nvSpPr>
          <p:cNvPr id="11" name="Shape 9"/>
          <p:cNvSpPr/>
          <p:nvPr/>
        </p:nvSpPr>
        <p:spPr>
          <a:xfrm>
            <a:off x="457200" y="4663440"/>
            <a:ext cx="11247120" cy="1280160"/>
          </a:xfrm>
          <a:prstGeom prst="rect">
            <a:avLst/>
          </a:prstGeom>
          <a:solidFill>
            <a:srgbClr val="FFFFFF"/>
          </a:solidFill>
          <a:ln/>
          <a:effectLst>
            <a:outerShdw blurRad="50800" dist="25400" dir="8100000" algn="bl" rotWithShape="0">
              <a:srgbClr val="000000">
                <a:alpha val="12000"/>
              </a:srgbClr>
            </a:outerShdw>
          </a:effectLst>
        </p:spPr>
      </p:sp>
      <p:sp>
        <p:nvSpPr>
          <p:cNvPr id="12" name="Shape 10"/>
          <p:cNvSpPr/>
          <p:nvPr/>
        </p:nvSpPr>
        <p:spPr>
          <a:xfrm>
            <a:off x="457200" y="4663440"/>
            <a:ext cx="73152" cy="1280160"/>
          </a:xfrm>
          <a:prstGeom prst="rect">
            <a:avLst/>
          </a:prstGeom>
          <a:solidFill>
            <a:srgbClr val="1B3A5C"/>
          </a:solidFill>
          <a:ln/>
        </p:spPr>
      </p:sp>
      <p:sp>
        <p:nvSpPr>
          <p:cNvPr id="13" name="Text 11"/>
          <p:cNvSpPr/>
          <p:nvPr/>
        </p:nvSpPr>
        <p:spPr>
          <a:xfrm>
            <a:off x="777240" y="4663440"/>
            <a:ext cx="10698480" cy="1280160"/>
          </a:xfrm>
          <a:prstGeom prst="rect">
            <a:avLst/>
          </a:prstGeom>
          <a:noFill/>
          <a:ln/>
        </p:spPr>
        <p:txBody>
          <a:bodyPr wrap="square"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Provider Backbone Bridging (MAC-in-MAC) </a:t>
            </a:r>
            <a:r>
              <a:rPr lang="en-US" sz="1300" dirty="0">
                <a:solidFill>
                  <a:srgbClr val="1E293B"/>
                </a:solidFill>
                <a:latin typeface="Calibri" pitchFamily="34" charset="0"/>
                <a:ea typeface="Calibri" pitchFamily="34" charset="-122"/>
                <a:cs typeface="Calibri" pitchFamily="34" charset="-120"/>
              </a:rPr>
              <a:t>introduces hierarchical encapsulation for massive scalability by hiding customer MACs from the backbone. It represents clean architectural separation.</a:t>
            </a:r>
            <a:endParaRPr lang="en-US" sz="1500" dirty="0"/>
          </a:p>
        </p:txBody>
      </p:sp>
      <p:sp>
        <p:nvSpPr>
          <p:cNvPr id="14" name="Text 12"/>
          <p:cNvSpPr/>
          <p:nvPr/>
        </p:nvSpPr>
        <p:spPr>
          <a:xfrm>
            <a:off x="457200" y="6035040"/>
            <a:ext cx="10972800" cy="640080"/>
          </a:xfrm>
          <a:prstGeom prst="rect">
            <a:avLst/>
          </a:prstGeom>
          <a:noFill/>
          <a:ln/>
        </p:spPr>
        <p:txBody>
          <a:bodyPr wrap="square" rtlCol="0" anchor="t"/>
          <a:lstStyle/>
          <a:p>
            <a:pPr marL="0" indent="0">
              <a:lnSpc>
                <a:spcPct val="140000"/>
              </a:lnSpc>
              <a:buNone/>
            </a:pPr>
            <a:r>
              <a:rPr lang="en-US" sz="1200" dirty="0">
                <a:solidFill>
                  <a:srgbClr val="64748B"/>
                </a:solidFill>
                <a:latin typeface="Calibri" pitchFamily="34" charset="0"/>
                <a:ea typeface="Calibri" pitchFamily="34" charset="-122"/>
                <a:cs typeface="Calibri" pitchFamily="34" charset="-120"/>
              </a:rPr>
              <a:t>While all three continue to have deployments, the industry has increasingly moved toward overlay technologies (VXLAN) with modern control planes (EVPN) that combine many of the best ideas from these technologies.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sp>
        <p:nvSpPr>
          <p:cNvPr id="3" name="Text 1"/>
          <p:cNvSpPr/>
          <p:nvPr/>
        </p:nvSpPr>
        <p:spPr>
          <a:xfrm>
            <a:off x="457200" y="274320"/>
            <a:ext cx="10972800" cy="73152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731520" y="1280160"/>
            <a:ext cx="10698480" cy="804672"/>
          </a:xfrm>
          <a:prstGeom prst="rect">
            <a:avLst/>
          </a:prstGeom>
          <a:solidFill>
            <a:srgbClr val="1B3A5C"/>
          </a:solidFill>
          <a:ln/>
        </p:spPr>
      </p:sp>
      <p:sp>
        <p:nvSpPr>
          <p:cNvPr id="5" name="Text 3"/>
          <p:cNvSpPr/>
          <p:nvPr/>
        </p:nvSpPr>
        <p:spPr>
          <a:xfrm>
            <a:off x="731520" y="1280160"/>
            <a:ext cx="640080" cy="804672"/>
          </a:xfrm>
          <a:prstGeom prst="rect">
            <a:avLst/>
          </a:prstGeom>
          <a:noFill/>
          <a:ln/>
        </p:spPr>
        <p:txBody>
          <a:bodyPr wrap="square"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1</a:t>
            </a:r>
            <a:endParaRPr lang="en-US" sz="2400" dirty="0"/>
          </a:p>
        </p:txBody>
      </p:sp>
      <p:sp>
        <p:nvSpPr>
          <p:cNvPr id="6" name="Text 4"/>
          <p:cNvSpPr/>
          <p:nvPr/>
        </p:nvSpPr>
        <p:spPr>
          <a:xfrm>
            <a:off x="1463040" y="1280160"/>
            <a:ext cx="9784080" cy="8046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No single technology addresses all Layer 2 challenges; the right choice depends on deployment domain and scale.</a:t>
            </a:r>
            <a:endParaRPr lang="en-US" sz="1400" dirty="0"/>
          </a:p>
        </p:txBody>
      </p:sp>
      <p:sp>
        <p:nvSpPr>
          <p:cNvPr id="7" name="Shape 5"/>
          <p:cNvSpPr/>
          <p:nvPr/>
        </p:nvSpPr>
        <p:spPr>
          <a:xfrm>
            <a:off x="731520" y="2286000"/>
            <a:ext cx="10698480" cy="804672"/>
          </a:xfrm>
          <a:prstGeom prst="rect">
            <a:avLst/>
          </a:prstGeom>
          <a:solidFill>
            <a:srgbClr val="1B3A5C"/>
          </a:solidFill>
          <a:ln/>
        </p:spPr>
      </p:sp>
      <p:sp>
        <p:nvSpPr>
          <p:cNvPr id="8" name="Text 6"/>
          <p:cNvSpPr/>
          <p:nvPr/>
        </p:nvSpPr>
        <p:spPr>
          <a:xfrm>
            <a:off x="731520" y="2286000"/>
            <a:ext cx="640080" cy="804672"/>
          </a:xfrm>
          <a:prstGeom prst="rect">
            <a:avLst/>
          </a:prstGeom>
          <a:noFill/>
          <a:ln/>
        </p:spPr>
        <p:txBody>
          <a:bodyPr wrap="square"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2</a:t>
            </a:r>
            <a:endParaRPr lang="en-US" sz="2400" dirty="0"/>
          </a:p>
        </p:txBody>
      </p:sp>
      <p:sp>
        <p:nvSpPr>
          <p:cNvPr id="9" name="Text 7"/>
          <p:cNvSpPr/>
          <p:nvPr/>
        </p:nvSpPr>
        <p:spPr>
          <a:xfrm>
            <a:off x="1463040" y="2286000"/>
            <a:ext cx="9784080" cy="8046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MAC address scalability is often the overlooked bottleneck; PBB directly addresses this while TRILL and Q-in-Q do not.</a:t>
            </a:r>
            <a:endParaRPr lang="en-US" sz="1400" dirty="0"/>
          </a:p>
        </p:txBody>
      </p:sp>
      <p:sp>
        <p:nvSpPr>
          <p:cNvPr id="10" name="Shape 8"/>
          <p:cNvSpPr/>
          <p:nvPr/>
        </p:nvSpPr>
        <p:spPr>
          <a:xfrm>
            <a:off x="731520" y="3291840"/>
            <a:ext cx="10698480" cy="804672"/>
          </a:xfrm>
          <a:prstGeom prst="rect">
            <a:avLst/>
          </a:prstGeom>
          <a:solidFill>
            <a:srgbClr val="1B3A5C"/>
          </a:solidFill>
          <a:ln/>
        </p:spPr>
      </p:sp>
      <p:sp>
        <p:nvSpPr>
          <p:cNvPr id="11" name="Text 9"/>
          <p:cNvSpPr/>
          <p:nvPr/>
        </p:nvSpPr>
        <p:spPr>
          <a:xfrm>
            <a:off x="731520" y="3291840"/>
            <a:ext cx="640080" cy="804672"/>
          </a:xfrm>
          <a:prstGeom prst="rect">
            <a:avLst/>
          </a:prstGeom>
          <a:noFill/>
          <a:ln/>
        </p:spPr>
        <p:txBody>
          <a:bodyPr wrap="square"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463040" y="3291840"/>
            <a:ext cx="9784080" cy="8046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Multipath forwarding is essential for efficiency; TRILL pioneered this at Layer 2, and the concept lives on in ECMP-based IP fabrics.</a:t>
            </a:r>
            <a:endParaRPr lang="en-US" sz="1400" dirty="0"/>
          </a:p>
        </p:txBody>
      </p:sp>
      <p:sp>
        <p:nvSpPr>
          <p:cNvPr id="13" name="Shape 11"/>
          <p:cNvSpPr/>
          <p:nvPr/>
        </p:nvSpPr>
        <p:spPr>
          <a:xfrm>
            <a:off x="731520" y="4297680"/>
            <a:ext cx="10698480" cy="804672"/>
          </a:xfrm>
          <a:prstGeom prst="rect">
            <a:avLst/>
          </a:prstGeom>
          <a:solidFill>
            <a:srgbClr val="1B3A5C"/>
          </a:solidFill>
          <a:ln/>
        </p:spPr>
      </p:sp>
      <p:sp>
        <p:nvSpPr>
          <p:cNvPr id="14" name="Text 12"/>
          <p:cNvSpPr/>
          <p:nvPr/>
        </p:nvSpPr>
        <p:spPr>
          <a:xfrm>
            <a:off x="731520" y="4297680"/>
            <a:ext cx="640080" cy="804672"/>
          </a:xfrm>
          <a:prstGeom prst="rect">
            <a:avLst/>
          </a:prstGeom>
          <a:noFill/>
          <a:ln/>
        </p:spPr>
        <p:txBody>
          <a:bodyPr wrap="square"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4</a:t>
            </a:r>
            <a:endParaRPr lang="en-US" sz="2400" dirty="0"/>
          </a:p>
        </p:txBody>
      </p:sp>
      <p:sp>
        <p:nvSpPr>
          <p:cNvPr id="15" name="Text 13"/>
          <p:cNvSpPr/>
          <p:nvPr/>
        </p:nvSpPr>
        <p:spPr>
          <a:xfrm>
            <a:off x="1463040" y="4297680"/>
            <a:ext cx="9784080" cy="8046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These technologies can be layered (Q-in-Q at access, PBB at backbone) for comprehensive, scalable architecture.</a:t>
            </a:r>
            <a:endParaRPr lang="en-US" sz="1400" dirty="0"/>
          </a:p>
        </p:txBody>
      </p:sp>
      <p:sp>
        <p:nvSpPr>
          <p:cNvPr id="16" name="Shape 14"/>
          <p:cNvSpPr/>
          <p:nvPr/>
        </p:nvSpPr>
        <p:spPr>
          <a:xfrm>
            <a:off x="731520" y="5303520"/>
            <a:ext cx="10698480" cy="804672"/>
          </a:xfrm>
          <a:prstGeom prst="rect">
            <a:avLst/>
          </a:prstGeom>
          <a:solidFill>
            <a:srgbClr val="1B3A5C"/>
          </a:solidFill>
          <a:ln/>
        </p:spPr>
      </p:sp>
      <p:sp>
        <p:nvSpPr>
          <p:cNvPr id="17" name="Text 15"/>
          <p:cNvSpPr/>
          <p:nvPr/>
        </p:nvSpPr>
        <p:spPr>
          <a:xfrm>
            <a:off x="731520" y="5303520"/>
            <a:ext cx="640080" cy="804672"/>
          </a:xfrm>
          <a:prstGeom prst="rect">
            <a:avLst/>
          </a:prstGeom>
          <a:noFill/>
          <a:ln/>
        </p:spPr>
        <p:txBody>
          <a:bodyPr wrap="square" rtlCol="0" anchor="ctr"/>
          <a:lstStyle/>
          <a:p>
            <a:pPr marL="0" indent="0" algn="ctr">
              <a:buNone/>
            </a:pPr>
            <a:r>
              <a:rPr lang="en-US" sz="2400" b="1" dirty="0">
                <a:solidFill>
                  <a:srgbClr val="00C9A7"/>
                </a:solidFill>
                <a:latin typeface="Georgia" pitchFamily="34" charset="0"/>
                <a:ea typeface="Georgia" pitchFamily="34" charset="-122"/>
                <a:cs typeface="Georgia" pitchFamily="34" charset="-120"/>
              </a:rPr>
              <a:t>5</a:t>
            </a:r>
            <a:endParaRPr lang="en-US" sz="2400" dirty="0"/>
          </a:p>
        </p:txBody>
      </p:sp>
      <p:sp>
        <p:nvSpPr>
          <p:cNvPr id="18" name="Text 16"/>
          <p:cNvSpPr/>
          <p:nvPr/>
        </p:nvSpPr>
        <p:spPr>
          <a:xfrm>
            <a:off x="1463040" y="5303520"/>
            <a:ext cx="9784080" cy="80467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Always evaluate against modern alternatives (VXLAN, EVPN, SR-MPLS) before committing to a technology for new deployments.</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C9A7"/>
          </a:solidFill>
          <a:ln/>
        </p:spPr>
      </p:sp>
      <p:sp>
        <p:nvSpPr>
          <p:cNvPr id="3" name="Text 1"/>
          <p:cNvSpPr/>
          <p:nvPr/>
        </p:nvSpPr>
        <p:spPr>
          <a:xfrm>
            <a:off x="914400" y="2286000"/>
            <a:ext cx="10332720" cy="137160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 END OF LECTURE —</a:t>
            </a:r>
            <a:endParaRPr lang="en-US" sz="4400" dirty="0"/>
          </a:p>
        </p:txBody>
      </p:sp>
      <p:sp>
        <p:nvSpPr>
          <p:cNvPr id="4" name="Text 2"/>
          <p:cNvSpPr/>
          <p:nvPr/>
        </p:nvSpPr>
        <p:spPr>
          <a:xfrm>
            <a:off x="914400" y="3840480"/>
            <a:ext cx="10332720" cy="731520"/>
          </a:xfrm>
          <a:prstGeom prst="rect">
            <a:avLst/>
          </a:prstGeom>
          <a:noFill/>
          <a:ln/>
        </p:spPr>
        <p:txBody>
          <a:bodyPr wrap="square" rtlCol="0" anchor="ctr"/>
          <a:lstStyle/>
          <a:p>
            <a:pPr marL="0" indent="0" algn="ctr">
              <a:buNone/>
            </a:pPr>
            <a:r>
              <a:rPr lang="en-US" sz="2000" i="1" dirty="0">
                <a:solidFill>
                  <a:srgbClr val="00C9A7"/>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4806</Words>
  <Application>Microsoft Office PowerPoint</Application>
  <PresentationFormat>Widescreen</PresentationFormat>
  <Paragraphs>549</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Network Bridging Technologies — Complete Lecture</dc:title>
  <dc:subject>PptxGenJS Presentation</dc:subject>
  <dc:creator>Network Technologies Lecture</dc:creator>
  <cp:lastModifiedBy>Kingsley, Scott</cp:lastModifiedBy>
  <cp:revision>2</cp:revision>
  <dcterms:created xsi:type="dcterms:W3CDTF">2026-02-10T23:48:11Z</dcterms:created>
  <dcterms:modified xsi:type="dcterms:W3CDTF">2026-02-11T02:58:58Z</dcterms:modified>
</cp:coreProperties>
</file>