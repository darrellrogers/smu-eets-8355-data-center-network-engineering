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22"/>
  </p:notesMasterIdLst>
  <p:handoutMasterIdLst>
    <p:handoutMasterId r:id="rId23"/>
  </p:handoutMasterIdLst>
  <p:sldIdLst>
    <p:sldId id="258" r:id="rId2"/>
    <p:sldId id="479" r:id="rId3"/>
    <p:sldId id="485" r:id="rId4"/>
    <p:sldId id="486" r:id="rId5"/>
    <p:sldId id="487" r:id="rId6"/>
    <p:sldId id="488" r:id="rId7"/>
    <p:sldId id="489" r:id="rId8"/>
    <p:sldId id="491" r:id="rId9"/>
    <p:sldId id="492" r:id="rId10"/>
    <p:sldId id="494" r:id="rId11"/>
    <p:sldId id="493" r:id="rId12"/>
    <p:sldId id="495" r:id="rId13"/>
    <p:sldId id="496" r:id="rId14"/>
    <p:sldId id="497" r:id="rId15"/>
    <p:sldId id="498" r:id="rId16"/>
    <p:sldId id="499" r:id="rId17"/>
    <p:sldId id="500" r:id="rId18"/>
    <p:sldId id="501" r:id="rId19"/>
    <p:sldId id="507" r:id="rId20"/>
    <p:sldId id="510" r:id="rId21"/>
  </p:sldIdLst>
  <p:sldSz cx="9144000" cy="6858000" type="screen4x3"/>
  <p:notesSz cx="7102475" cy="9388475"/>
  <p:defaultTex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04">
          <p15:clr>
            <a:srgbClr val="A4A3A4"/>
          </p15:clr>
        </p15:guide>
        <p15:guide id="3" orient="horz" pos="4136">
          <p15:clr>
            <a:srgbClr val="A4A3A4"/>
          </p15:clr>
        </p15:guide>
        <p15:guide id="4" pos="2880">
          <p15:clr>
            <a:srgbClr val="A4A3A4"/>
          </p15:clr>
        </p15:guide>
        <p15:guide id="5" pos="144">
          <p15:clr>
            <a:srgbClr val="A4A3A4"/>
          </p15:clr>
        </p15:guide>
        <p15:guide id="6" pos="5568">
          <p15:clr>
            <a:srgbClr val="A4A3A4"/>
          </p15:clr>
        </p15:guide>
      </p15:sldGuideLst>
    </p:ext>
    <p:ext uri="{2D200454-40CA-4A62-9FC3-DE9A4176ACB9}">
      <p15:notesGuideLst xmlns:p15="http://schemas.microsoft.com/office/powerpoint/2012/main">
        <p15:guide id="1" orient="horz" pos="2957">
          <p15:clr>
            <a:srgbClr val="A4A3A4"/>
          </p15:clr>
        </p15:guide>
        <p15:guide id="2" pos="223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96D97"/>
    <a:srgbClr val="00EA6A"/>
    <a:srgbClr val="16DE0C"/>
    <a:srgbClr val="FFFF00"/>
    <a:srgbClr val="1F09BF"/>
    <a:srgbClr val="FBFBFB"/>
    <a:srgbClr val="2A3A6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06" autoAdjust="0"/>
    <p:restoredTop sz="86834" autoAdjust="0"/>
  </p:normalViewPr>
  <p:slideViewPr>
    <p:cSldViewPr>
      <p:cViewPr varScale="1">
        <p:scale>
          <a:sx n="75" d="100"/>
          <a:sy n="75" d="100"/>
        </p:scale>
        <p:origin x="1469" y="53"/>
      </p:cViewPr>
      <p:guideLst>
        <p:guide orient="horz" pos="2160"/>
        <p:guide orient="horz" pos="4004"/>
        <p:guide orient="horz" pos="4136"/>
        <p:guide pos="2880"/>
        <p:guide pos="144"/>
        <p:guide pos="55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0" d="100"/>
          <a:sy n="120" d="100"/>
        </p:scale>
        <p:origin x="-1472" y="-104"/>
      </p:cViewPr>
      <p:guideLst>
        <p:guide orient="horz" pos="2957"/>
        <p:guide pos="223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bwMode="auto">
          <a:xfrm>
            <a:off x="0" y="0"/>
            <a:ext cx="3078163" cy="469900"/>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lvl1pPr eaLnBrk="1" hangingPunct="1">
              <a:defRPr sz="1200" dirty="0">
                <a:latin typeface="Arial" charset="0"/>
              </a:defRPr>
            </a:lvl1pPr>
          </a:lstStyle>
          <a:p>
            <a:pPr>
              <a:defRPr/>
            </a:pPr>
            <a:endParaRPr lang="en-US"/>
          </a:p>
        </p:txBody>
      </p:sp>
      <p:sp>
        <p:nvSpPr>
          <p:cNvPr id="89091" name="Rectangle 3"/>
          <p:cNvSpPr>
            <a:spLocks noGrp="1" noChangeArrowheads="1"/>
          </p:cNvSpPr>
          <p:nvPr>
            <p:ph type="dt" sz="quarter" idx="1"/>
          </p:nvPr>
        </p:nvSpPr>
        <p:spPr bwMode="auto">
          <a:xfrm>
            <a:off x="4024313" y="0"/>
            <a:ext cx="3078162" cy="469900"/>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lvl1pPr algn="r" eaLnBrk="1" hangingPunct="1">
              <a:defRPr sz="1200" dirty="0">
                <a:latin typeface="Arial" charset="0"/>
              </a:defRPr>
            </a:lvl1pPr>
          </a:lstStyle>
          <a:p>
            <a:pPr>
              <a:defRPr/>
            </a:pPr>
            <a:endParaRPr lang="en-US"/>
          </a:p>
        </p:txBody>
      </p:sp>
      <p:sp>
        <p:nvSpPr>
          <p:cNvPr id="89092" name="Rectangle 4"/>
          <p:cNvSpPr>
            <a:spLocks noGrp="1" noChangeArrowheads="1"/>
          </p:cNvSpPr>
          <p:nvPr>
            <p:ph type="ftr" sz="quarter" idx="2"/>
          </p:nvPr>
        </p:nvSpPr>
        <p:spPr bwMode="auto">
          <a:xfrm>
            <a:off x="0" y="8918575"/>
            <a:ext cx="3078163" cy="469900"/>
          </a:xfrm>
          <a:prstGeom prst="rect">
            <a:avLst/>
          </a:prstGeom>
          <a:noFill/>
          <a:ln w="9525">
            <a:noFill/>
            <a:miter lim="800000"/>
            <a:headEnd/>
            <a:tailEnd/>
          </a:ln>
          <a:effectLst/>
        </p:spPr>
        <p:txBody>
          <a:bodyPr vert="horz" wrap="square" lIns="94229" tIns="47114" rIns="94229" bIns="47114" numCol="1" anchor="b" anchorCtr="0" compatLnSpc="1">
            <a:prstTxWarp prst="textNoShape">
              <a:avLst/>
            </a:prstTxWarp>
          </a:bodyPr>
          <a:lstStyle>
            <a:lvl1pPr eaLnBrk="1" hangingPunct="1">
              <a:defRPr sz="1200" dirty="0">
                <a:latin typeface="Arial" charset="0"/>
              </a:defRPr>
            </a:lvl1pPr>
          </a:lstStyle>
          <a:p>
            <a:pPr>
              <a:defRPr/>
            </a:pPr>
            <a:endParaRPr lang="en-US"/>
          </a:p>
        </p:txBody>
      </p:sp>
      <p:sp>
        <p:nvSpPr>
          <p:cNvPr id="89093" name="Rectangle 5"/>
          <p:cNvSpPr>
            <a:spLocks noGrp="1" noChangeArrowheads="1"/>
          </p:cNvSpPr>
          <p:nvPr>
            <p:ph type="sldNum" sz="quarter" idx="3"/>
          </p:nvPr>
        </p:nvSpPr>
        <p:spPr bwMode="auto">
          <a:xfrm>
            <a:off x="4024313" y="8918575"/>
            <a:ext cx="3078162" cy="469900"/>
          </a:xfrm>
          <a:prstGeom prst="rect">
            <a:avLst/>
          </a:prstGeom>
          <a:noFill/>
          <a:ln w="9525">
            <a:noFill/>
            <a:miter lim="800000"/>
            <a:headEnd/>
            <a:tailEnd/>
          </a:ln>
          <a:effectLst/>
        </p:spPr>
        <p:txBody>
          <a:bodyPr vert="horz" wrap="square" lIns="94229" tIns="47114" rIns="94229" bIns="47114" numCol="1" anchor="b" anchorCtr="0" compatLnSpc="1">
            <a:prstTxWarp prst="textNoShape">
              <a:avLst/>
            </a:prstTxWarp>
          </a:bodyPr>
          <a:lstStyle>
            <a:lvl1pPr algn="r" eaLnBrk="1" hangingPunct="1">
              <a:defRPr sz="1200">
                <a:latin typeface="Arial" charset="0"/>
              </a:defRPr>
            </a:lvl1pPr>
          </a:lstStyle>
          <a:p>
            <a:pPr>
              <a:defRPr/>
            </a:pPr>
            <a:fld id="{F1EF77BD-5CB1-4944-8A87-BF9CC4AB0D0C}" type="slidenum">
              <a:rPr lang="en-US"/>
              <a:pPr>
                <a:defRPr/>
              </a:pPr>
              <a:t>‹#›</a:t>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8163" cy="469900"/>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lvl1pPr eaLnBrk="1" hangingPunct="1">
              <a:defRPr sz="1200" b="0" dirty="0">
                <a:latin typeface="Arial" charset="0"/>
              </a:defRPr>
            </a:lvl1pPr>
          </a:lstStyle>
          <a:p>
            <a:pPr>
              <a:defRPr/>
            </a:pPr>
            <a:endParaRPr lang="en-US"/>
          </a:p>
        </p:txBody>
      </p:sp>
      <p:sp>
        <p:nvSpPr>
          <p:cNvPr id="6147" name="Rectangle 3"/>
          <p:cNvSpPr>
            <a:spLocks noGrp="1" noChangeArrowheads="1"/>
          </p:cNvSpPr>
          <p:nvPr>
            <p:ph type="dt" idx="1"/>
          </p:nvPr>
        </p:nvSpPr>
        <p:spPr bwMode="auto">
          <a:xfrm>
            <a:off x="4022725" y="0"/>
            <a:ext cx="3078163" cy="469900"/>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lvl1pPr algn="r" eaLnBrk="1" hangingPunct="1">
              <a:defRPr sz="1200" b="0" dirty="0">
                <a:latin typeface="Arial"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1204913" y="704850"/>
            <a:ext cx="4692650" cy="35194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709613" y="4459288"/>
            <a:ext cx="5683250" cy="4224337"/>
          </a:xfrm>
          <a:prstGeom prst="rect">
            <a:avLst/>
          </a:prstGeom>
          <a:noFill/>
          <a:ln w="9525">
            <a:noFill/>
            <a:miter lim="800000"/>
            <a:headEnd/>
            <a:tailEnd/>
          </a:ln>
          <a:effectLst/>
        </p:spPr>
        <p:txBody>
          <a:bodyPr vert="horz" wrap="square" lIns="94229" tIns="47114" rIns="94229" bIns="471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916988"/>
            <a:ext cx="3078163" cy="469900"/>
          </a:xfrm>
          <a:prstGeom prst="rect">
            <a:avLst/>
          </a:prstGeom>
          <a:noFill/>
          <a:ln w="9525">
            <a:noFill/>
            <a:miter lim="800000"/>
            <a:headEnd/>
            <a:tailEnd/>
          </a:ln>
          <a:effectLst/>
        </p:spPr>
        <p:txBody>
          <a:bodyPr vert="horz" wrap="square" lIns="94229" tIns="47114" rIns="94229" bIns="47114" numCol="1" anchor="b" anchorCtr="0" compatLnSpc="1">
            <a:prstTxWarp prst="textNoShape">
              <a:avLst/>
            </a:prstTxWarp>
          </a:bodyPr>
          <a:lstStyle>
            <a:lvl1pPr eaLnBrk="1" hangingPunct="1">
              <a:defRPr sz="1200" b="0" dirty="0">
                <a:latin typeface="Arial" charset="0"/>
              </a:defRPr>
            </a:lvl1pPr>
          </a:lstStyle>
          <a:p>
            <a:pPr>
              <a:defRPr/>
            </a:pPr>
            <a:endParaRPr lang="en-US"/>
          </a:p>
        </p:txBody>
      </p:sp>
      <p:sp>
        <p:nvSpPr>
          <p:cNvPr id="6151" name="Rectangle 7"/>
          <p:cNvSpPr>
            <a:spLocks noGrp="1" noChangeArrowheads="1"/>
          </p:cNvSpPr>
          <p:nvPr>
            <p:ph type="sldNum" sz="quarter" idx="5"/>
          </p:nvPr>
        </p:nvSpPr>
        <p:spPr bwMode="auto">
          <a:xfrm>
            <a:off x="4022725" y="8916988"/>
            <a:ext cx="3078163" cy="469900"/>
          </a:xfrm>
          <a:prstGeom prst="rect">
            <a:avLst/>
          </a:prstGeom>
          <a:noFill/>
          <a:ln w="9525">
            <a:noFill/>
            <a:miter lim="800000"/>
            <a:headEnd/>
            <a:tailEnd/>
          </a:ln>
          <a:effectLst/>
        </p:spPr>
        <p:txBody>
          <a:bodyPr vert="horz" wrap="square" lIns="94229" tIns="47114" rIns="94229" bIns="47114" numCol="1" anchor="b" anchorCtr="0" compatLnSpc="1">
            <a:prstTxWarp prst="textNoShape">
              <a:avLst/>
            </a:prstTxWarp>
          </a:bodyPr>
          <a:lstStyle>
            <a:lvl1pPr algn="r" eaLnBrk="1" hangingPunct="1">
              <a:defRPr sz="1200" b="0">
                <a:latin typeface="Arial" charset="0"/>
              </a:defRPr>
            </a:lvl1pPr>
          </a:lstStyle>
          <a:p>
            <a:pPr>
              <a:defRPr/>
            </a:pPr>
            <a:fld id="{5492BE55-415B-4C61-8BDC-47CCE601F3AE}"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a:ln/>
        </p:spPr>
      </p:sp>
      <p:sp>
        <p:nvSpPr>
          <p:cNvPr id="153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153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29A29C25-4D74-4B8A-9BE8-7537562D086A}" type="slidenum">
              <a:rPr lang="en-US" altLang="en-US" b="0" smtClean="0"/>
              <a:pPr/>
              <a:t>0</a:t>
            </a:fld>
            <a:endParaRPr lang="en-US" altLang="en-US" b="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8C11DAB6-06E1-4BA4-B274-F7FA42042BFC}" type="slidenum">
              <a:rPr lang="en-US" altLang="en-US" b="0" smtClean="0"/>
              <a:pPr/>
              <a:t>2</a:t>
            </a:fld>
            <a:endParaRPr lang="en-US" altLang="en-US" b="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492BE55-415B-4C61-8BDC-47CCE601F3AE}" type="slidenum">
              <a:rPr lang="en-US" smtClean="0"/>
              <a:pPr>
                <a:defRPr/>
              </a:pPr>
              <a:t>13</a:t>
            </a:fld>
            <a:endParaRPr lang="en-US" dirty="0"/>
          </a:p>
        </p:txBody>
      </p:sp>
    </p:spTree>
    <p:extLst>
      <p:ext uri="{BB962C8B-B14F-4D97-AF65-F5344CB8AC3E}">
        <p14:creationId xmlns:p14="http://schemas.microsoft.com/office/powerpoint/2010/main" val="4922254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F0E30DBA-162F-45D5-AA7D-F6A62CD2E02F}" type="slidenum">
              <a:rPr lang="en-US" altLang="en-US" b="0" smtClean="0"/>
              <a:pPr/>
              <a:t>15</a:t>
            </a:fld>
            <a:endParaRPr lang="en-US" altLang="en-US" b="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2F2FA38C-1648-4F05-8ADF-F373EDF0E9A4}" type="slidenum">
              <a:rPr lang="en-US" altLang="en-US" b="0" smtClean="0"/>
              <a:pPr/>
              <a:t>16</a:t>
            </a:fld>
            <a:endParaRPr lang="en-US" altLang="en-US" b="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477BDAB7-2AAE-4C5A-97E3-DE0FE35A0028}" type="slidenum">
              <a:rPr lang="en-US" altLang="en-US" b="0" smtClean="0"/>
              <a:pPr/>
              <a:t>17</a:t>
            </a:fld>
            <a:endParaRPr lang="en-US" altLang="en-US" b="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33C8D15F-482F-40FB-A15A-4D74722634C9}" type="slidenum">
              <a:rPr lang="en-US" altLang="en-US" b="0" smtClean="0"/>
              <a:pPr/>
              <a:t>18</a:t>
            </a:fld>
            <a:endParaRPr lang="en-US" altLang="en-US" b="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39149F69-FA07-463A-A805-B04FCC93B434}" type="slidenum">
              <a:rPr lang="en-US" altLang="en-US" b="0" smtClean="0"/>
              <a:pPr/>
              <a:t>19</a:t>
            </a:fld>
            <a:endParaRPr lang="en-US" altLang="en-US"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36" descr="stmntpg_bkgrd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p:cNvSpPr>
            <a:spLocks noGrp="1" noChangeArrowheads="1"/>
          </p:cNvSpPr>
          <p:nvPr>
            <p:ph type="ctrTitle"/>
          </p:nvPr>
        </p:nvSpPr>
        <p:spPr>
          <a:xfrm>
            <a:off x="533401" y="1931988"/>
            <a:ext cx="8153400" cy="887412"/>
          </a:xfrm>
        </p:spPr>
        <p:txBody>
          <a:bodyPr/>
          <a:lstStyle>
            <a:lvl1pPr algn="ctr">
              <a:defRPr sz="5400" cap="small" baseline="0">
                <a:solidFill>
                  <a:schemeClr val="bg1"/>
                </a:solidFill>
                <a:effectLst>
                  <a:outerShdw blurRad="38100" dist="38100" dir="2700000" algn="tl">
                    <a:srgbClr val="000000"/>
                  </a:outerShdw>
                </a:effectLst>
                <a:latin typeface="Calibri" pitchFamily="34" charset="0"/>
              </a:defRPr>
            </a:lvl1pPr>
          </a:lstStyle>
          <a:p>
            <a:r>
              <a:rPr lang="en-US" dirty="0"/>
              <a:t>Click to edit Master title style</a:t>
            </a:r>
          </a:p>
        </p:txBody>
      </p:sp>
      <p:sp>
        <p:nvSpPr>
          <p:cNvPr id="7172" name="Rectangle 4"/>
          <p:cNvSpPr>
            <a:spLocks noGrp="1" noChangeArrowheads="1"/>
          </p:cNvSpPr>
          <p:nvPr>
            <p:ph type="subTitle" idx="1"/>
          </p:nvPr>
        </p:nvSpPr>
        <p:spPr>
          <a:xfrm>
            <a:off x="631825" y="2898775"/>
            <a:ext cx="7851775" cy="3121025"/>
          </a:xfrm>
        </p:spPr>
        <p:txBody>
          <a:bodyPr/>
          <a:lstStyle>
            <a:lvl1pPr marL="0" indent="0" algn="ctr">
              <a:buFontTx/>
              <a:buNone/>
              <a:defRPr sz="3200" i="0">
                <a:solidFill>
                  <a:schemeClr val="bg1"/>
                </a:solidFill>
                <a:effectLst>
                  <a:outerShdw blurRad="38100" dist="38100" dir="2700000" algn="tl">
                    <a:srgbClr val="000000"/>
                  </a:outerShdw>
                </a:effectLst>
                <a:latin typeface="Calibri" pitchFamily="34" charset="0"/>
              </a:defRPr>
            </a:lvl1pPr>
          </a:lstStyle>
          <a:p>
            <a:r>
              <a:rPr lang="en-US" dirty="0"/>
              <a:t>Click to edit Master subtitle style</a:t>
            </a:r>
          </a:p>
        </p:txBody>
      </p:sp>
    </p:spTree>
    <p:extLst>
      <p:ext uri="{BB962C8B-B14F-4D97-AF65-F5344CB8AC3E}">
        <p14:creationId xmlns:p14="http://schemas.microsoft.com/office/powerpoint/2010/main" val="35620471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22237"/>
            <a:ext cx="8686800" cy="563563"/>
          </a:xfrm>
        </p:spPr>
        <p:txBody>
          <a:bodyPr/>
          <a:lstStyle>
            <a:lvl1pPr>
              <a:defRPr sz="3600" b="0">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81000" y="990600"/>
            <a:ext cx="8382000" cy="4953000"/>
          </a:xfrm>
        </p:spPr>
        <p:txBody>
          <a:bodyPr/>
          <a:lstStyle>
            <a:lvl1pPr>
              <a:buClr>
                <a:schemeClr val="tx2"/>
              </a:buClr>
              <a:defRPr sz="3200">
                <a:latin typeface="Calibri" pitchFamily="34" charset="0"/>
              </a:defRPr>
            </a:lvl1pPr>
            <a:lvl2pPr>
              <a:buClr>
                <a:srgbClr val="C00000"/>
              </a:buClr>
              <a:buFont typeface="Wingdings" pitchFamily="2" charset="2"/>
              <a:buChar char="§"/>
              <a:defRPr sz="2800">
                <a:latin typeface="Calibri" pitchFamily="34" charset="0"/>
              </a:defRPr>
            </a:lvl2pPr>
            <a:lvl3pPr>
              <a:defRPr sz="2400">
                <a:latin typeface="Calibri" pitchFamily="34" charset="0"/>
              </a:defRPr>
            </a:lvl3pPr>
            <a:lvl4pPr>
              <a:defRPr sz="2400">
                <a:latin typeface="Calibri" pitchFamily="34" charset="0"/>
              </a:defRPr>
            </a:lvl4pPr>
            <a:lvl5pPr>
              <a:defRPr sz="2400">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p:cNvSpPr>
            <a:spLocks noGrp="1"/>
          </p:cNvSpPr>
          <p:nvPr>
            <p:ph type="sldNum" sz="quarter" idx="10"/>
          </p:nvPr>
        </p:nvSpPr>
        <p:spPr>
          <a:xfrm>
            <a:off x="8686800" y="6400800"/>
            <a:ext cx="155575" cy="152400"/>
          </a:xfrm>
        </p:spPr>
        <p:txBody>
          <a:bodyPr/>
          <a:lstStyle>
            <a:lvl1pPr>
              <a:defRPr/>
            </a:lvl1pPr>
          </a:lstStyle>
          <a:p>
            <a:pPr>
              <a:defRPr/>
            </a:pPr>
            <a:fld id="{B246B472-F13D-443A-A20F-A1027652A8F5}" type="slidenum">
              <a:rPr lang="en-US"/>
              <a:pPr>
                <a:defRPr/>
              </a:pPr>
              <a:t>‹#›</a:t>
            </a:fld>
            <a:endParaRPr lang="en-US" dirty="0"/>
          </a:p>
        </p:txBody>
      </p:sp>
    </p:spTree>
    <p:extLst>
      <p:ext uri="{BB962C8B-B14F-4D97-AF65-F5344CB8AC3E}">
        <p14:creationId xmlns:p14="http://schemas.microsoft.com/office/powerpoint/2010/main" val="134625101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800" b="1" cap="small" baseline="0">
                <a:solidFill>
                  <a:schemeClr val="tx1"/>
                </a:solidFill>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Slide Number Placeholder 3"/>
          <p:cNvSpPr>
            <a:spLocks noGrp="1"/>
          </p:cNvSpPr>
          <p:nvPr>
            <p:ph type="sldNum" sz="quarter" idx="10"/>
          </p:nvPr>
        </p:nvSpPr>
        <p:spPr>
          <a:xfrm>
            <a:off x="8686800" y="6400800"/>
            <a:ext cx="155575" cy="152400"/>
          </a:xfrm>
        </p:spPr>
        <p:txBody>
          <a:bodyPr/>
          <a:lstStyle>
            <a:lvl1pPr>
              <a:defRPr/>
            </a:lvl1pPr>
          </a:lstStyle>
          <a:p>
            <a:pPr>
              <a:defRPr/>
            </a:pPr>
            <a:fld id="{CACBC019-ACAB-4E1D-89E2-110707EDC6A7}" type="slidenum">
              <a:rPr lang="en-US"/>
              <a:pPr>
                <a:defRPr/>
              </a:pPr>
              <a:t>‹#›</a:t>
            </a:fld>
            <a:endParaRPr lang="en-US" dirty="0"/>
          </a:p>
        </p:txBody>
      </p:sp>
    </p:spTree>
    <p:extLst>
      <p:ext uri="{BB962C8B-B14F-4D97-AF65-F5344CB8AC3E}">
        <p14:creationId xmlns:p14="http://schemas.microsoft.com/office/powerpoint/2010/main" val="3819514478"/>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sz="half" idx="1"/>
          </p:nvPr>
        </p:nvSpPr>
        <p:spPr>
          <a:xfrm>
            <a:off x="228600" y="15240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8686800" y="6400800"/>
            <a:ext cx="155575" cy="152400"/>
          </a:xfrm>
        </p:spPr>
        <p:txBody>
          <a:bodyPr/>
          <a:lstStyle>
            <a:lvl1pPr>
              <a:defRPr/>
            </a:lvl1pPr>
          </a:lstStyle>
          <a:p>
            <a:pPr>
              <a:defRPr/>
            </a:pPr>
            <a:fld id="{2E70CC99-86B1-4E29-B5AA-7533FFDE0643}" type="slidenum">
              <a:rPr lang="en-US"/>
              <a:pPr>
                <a:defRPr/>
              </a:pPr>
              <a:t>‹#›</a:t>
            </a:fld>
            <a:endParaRPr lang="en-US" dirty="0"/>
          </a:p>
        </p:txBody>
      </p:sp>
    </p:spTree>
    <p:extLst>
      <p:ext uri="{BB962C8B-B14F-4D97-AF65-F5344CB8AC3E}">
        <p14:creationId xmlns:p14="http://schemas.microsoft.com/office/powerpoint/2010/main" val="366506751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8600" y="46038"/>
            <a:ext cx="8229600" cy="563562"/>
          </a:xfrm>
        </p:spPr>
        <p:txBody>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457200" y="91440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676400"/>
            <a:ext cx="4040188" cy="4449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91440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676400"/>
            <a:ext cx="4041775" cy="4449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0"/>
          </p:nvPr>
        </p:nvSpPr>
        <p:spPr>
          <a:xfrm>
            <a:off x="8686800" y="6400800"/>
            <a:ext cx="155575" cy="152400"/>
          </a:xfrm>
        </p:spPr>
        <p:txBody>
          <a:bodyPr/>
          <a:lstStyle>
            <a:lvl1pPr>
              <a:defRPr/>
            </a:lvl1pPr>
          </a:lstStyle>
          <a:p>
            <a:pPr>
              <a:defRPr/>
            </a:pPr>
            <a:fld id="{821DFFC6-BC7C-4C84-B93C-CAB4D5D51CFC}" type="slidenum">
              <a:rPr lang="en-US"/>
              <a:pPr>
                <a:defRPr/>
              </a:pPr>
              <a:t>‹#›</a:t>
            </a:fld>
            <a:endParaRPr lang="en-US" dirty="0"/>
          </a:p>
        </p:txBody>
      </p:sp>
    </p:spTree>
    <p:extLst>
      <p:ext uri="{BB962C8B-B14F-4D97-AF65-F5344CB8AC3E}">
        <p14:creationId xmlns:p14="http://schemas.microsoft.com/office/powerpoint/2010/main" val="374396032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Slide Number Placeholder 2"/>
          <p:cNvSpPr>
            <a:spLocks noGrp="1"/>
          </p:cNvSpPr>
          <p:nvPr>
            <p:ph type="sldNum" sz="quarter" idx="10"/>
          </p:nvPr>
        </p:nvSpPr>
        <p:spPr>
          <a:xfrm>
            <a:off x="8686800" y="6400800"/>
            <a:ext cx="155575" cy="152400"/>
          </a:xfrm>
        </p:spPr>
        <p:txBody>
          <a:bodyPr/>
          <a:lstStyle>
            <a:lvl1pPr>
              <a:defRPr/>
            </a:lvl1pPr>
          </a:lstStyle>
          <a:p>
            <a:pPr>
              <a:defRPr/>
            </a:pPr>
            <a:fld id="{D66A2CCE-9398-4F4E-8C47-46A2496F28B1}" type="slidenum">
              <a:rPr lang="en-US"/>
              <a:pPr>
                <a:defRPr/>
              </a:pPr>
              <a:t>‹#›</a:t>
            </a:fld>
            <a:endParaRPr lang="en-US" dirty="0"/>
          </a:p>
        </p:txBody>
      </p:sp>
    </p:spTree>
    <p:extLst>
      <p:ext uri="{BB962C8B-B14F-4D97-AF65-F5344CB8AC3E}">
        <p14:creationId xmlns:p14="http://schemas.microsoft.com/office/powerpoint/2010/main" val="265437279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8686800" y="6400800"/>
            <a:ext cx="155575" cy="152400"/>
          </a:xfrm>
        </p:spPr>
        <p:txBody>
          <a:bodyPr/>
          <a:lstStyle>
            <a:lvl1pPr>
              <a:defRPr/>
            </a:lvl1pPr>
          </a:lstStyle>
          <a:p>
            <a:pPr>
              <a:defRPr/>
            </a:pPr>
            <a:fld id="{5CD8E648-F204-4E1D-BBAD-E03353E6116B}" type="slidenum">
              <a:rPr lang="en-US"/>
              <a:pPr>
                <a:defRPr/>
              </a:pPr>
              <a:t>‹#›</a:t>
            </a:fld>
            <a:endParaRPr lang="en-US" dirty="0"/>
          </a:p>
        </p:txBody>
      </p:sp>
    </p:spTree>
    <p:extLst>
      <p:ext uri="{BB962C8B-B14F-4D97-AF65-F5344CB8AC3E}">
        <p14:creationId xmlns:p14="http://schemas.microsoft.com/office/powerpoint/2010/main" val="70217492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8686800" y="6400800"/>
            <a:ext cx="155575" cy="152400"/>
          </a:xfrm>
        </p:spPr>
        <p:txBody>
          <a:bodyPr/>
          <a:lstStyle>
            <a:lvl1pPr>
              <a:defRPr/>
            </a:lvl1pPr>
          </a:lstStyle>
          <a:p>
            <a:pPr>
              <a:defRPr/>
            </a:pPr>
            <a:fld id="{4534DBA0-6869-4A64-A78A-47D703F21A60}" type="slidenum">
              <a:rPr lang="en-US"/>
              <a:pPr>
                <a:defRPr/>
              </a:pPr>
              <a:t>‹#›</a:t>
            </a:fld>
            <a:endParaRPr lang="en-US" dirty="0"/>
          </a:p>
        </p:txBody>
      </p:sp>
    </p:spTree>
    <p:extLst>
      <p:ext uri="{BB962C8B-B14F-4D97-AF65-F5344CB8AC3E}">
        <p14:creationId xmlns:p14="http://schemas.microsoft.com/office/powerpoint/2010/main" val="190600646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8839200" y="6400800"/>
            <a:ext cx="155575" cy="152400"/>
          </a:xfrm>
        </p:spPr>
        <p:txBody>
          <a:bodyPr/>
          <a:lstStyle>
            <a:lvl1pPr>
              <a:defRPr/>
            </a:lvl1pPr>
          </a:lstStyle>
          <a:p>
            <a:pPr>
              <a:defRPr/>
            </a:pPr>
            <a:fld id="{2BA12162-5794-40D6-B50F-AB9F52D16E83}" type="slidenum">
              <a:rPr lang="en-US"/>
              <a:pPr>
                <a:defRPr/>
              </a:pPr>
              <a:t>‹#›</a:t>
            </a:fld>
            <a:endParaRPr lang="en-US" dirty="0"/>
          </a:p>
        </p:txBody>
      </p:sp>
    </p:spTree>
    <p:extLst>
      <p:ext uri="{BB962C8B-B14F-4D97-AF65-F5344CB8AC3E}">
        <p14:creationId xmlns:p14="http://schemas.microsoft.com/office/powerpoint/2010/main" val="91000227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sldNum" sz="quarter" idx="10"/>
          </p:nvPr>
        </p:nvSpPr>
        <p:spPr>
          <a:ln/>
        </p:spPr>
        <p:txBody>
          <a:bodyPr/>
          <a:lstStyle>
            <a:lvl1pPr>
              <a:defRPr/>
            </a:lvl1pPr>
          </a:lstStyle>
          <a:p>
            <a:pPr>
              <a:defRPr/>
            </a:pPr>
            <a:fld id="{BC27C517-0F3D-4184-B8AB-F0235985847C}" type="slidenum">
              <a:rPr lang="en-US"/>
              <a:pPr>
                <a:defRPr/>
              </a:pPr>
              <a:t>‹#›</a:t>
            </a:fld>
            <a:endParaRPr lang="en-US" dirty="0"/>
          </a:p>
        </p:txBody>
      </p:sp>
    </p:spTree>
    <p:extLst>
      <p:ext uri="{BB962C8B-B14F-4D97-AF65-F5344CB8AC3E}">
        <p14:creationId xmlns:p14="http://schemas.microsoft.com/office/powerpoint/2010/main" val="214809556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685800"/>
            <a:ext cx="2171700" cy="5181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685800"/>
            <a:ext cx="6362700" cy="5181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sldNum" sz="quarter" idx="10"/>
          </p:nvPr>
        </p:nvSpPr>
        <p:spPr>
          <a:ln/>
        </p:spPr>
        <p:txBody>
          <a:bodyPr/>
          <a:lstStyle>
            <a:lvl1pPr>
              <a:defRPr/>
            </a:lvl1pPr>
          </a:lstStyle>
          <a:p>
            <a:pPr>
              <a:defRPr/>
            </a:pPr>
            <a:fld id="{B78F8DF1-E32F-487A-A03B-4C66C9E23436}" type="slidenum">
              <a:rPr lang="en-US"/>
              <a:pPr>
                <a:defRPr/>
              </a:pPr>
              <a:t>‹#›</a:t>
            </a:fld>
            <a:endParaRPr lang="en-US" dirty="0"/>
          </a:p>
        </p:txBody>
      </p:sp>
    </p:spTree>
    <p:extLst>
      <p:ext uri="{BB962C8B-B14F-4D97-AF65-F5344CB8AC3E}">
        <p14:creationId xmlns:p14="http://schemas.microsoft.com/office/powerpoint/2010/main" val="46364616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1" descr="textpg_bkgrd2b2"/>
          <p:cNvPicPr>
            <a:picLocks noChangeAspect="1" noChangeArrowheads="1"/>
          </p:cNvPicPr>
          <p:nvPr userDrawn="1"/>
        </p:nvPicPr>
        <p:blipFill>
          <a:blip r:embed="rId2">
            <a:extLst>
              <a:ext uri="{28A0092B-C50C-407E-A947-70E740481C1C}">
                <a14:useLocalDpi xmlns:a14="http://schemas.microsoft.com/office/drawing/2010/main" val="0"/>
              </a:ext>
            </a:extLst>
          </a:blip>
          <a:srcRect r="8560" b="8560"/>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4" name="Slide Number Placeholder 2"/>
          <p:cNvSpPr>
            <a:spLocks noGrp="1"/>
          </p:cNvSpPr>
          <p:nvPr>
            <p:ph type="sldNum" sz="quarter" idx="10"/>
          </p:nvPr>
        </p:nvSpPr>
        <p:spPr/>
        <p:txBody>
          <a:bodyPr/>
          <a:lstStyle>
            <a:lvl1pPr>
              <a:defRPr smtClean="0"/>
            </a:lvl1pPr>
          </a:lstStyle>
          <a:p>
            <a:pPr>
              <a:defRPr/>
            </a:pPr>
            <a:fld id="{538C0F76-81D8-476D-8F46-DED873548582}" type="slidenum">
              <a:rPr lang="en-US"/>
              <a:pPr>
                <a:defRPr/>
              </a:pPr>
              <a:t>‹#›</a:t>
            </a:fld>
            <a:endParaRPr lang="en-US" dirty="0"/>
          </a:p>
        </p:txBody>
      </p:sp>
    </p:spTree>
    <p:extLst>
      <p:ext uri="{BB962C8B-B14F-4D97-AF65-F5344CB8AC3E}">
        <p14:creationId xmlns:p14="http://schemas.microsoft.com/office/powerpoint/2010/main" val="99410993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folHlink"/>
        </a:solidFill>
        <a:effectLst/>
      </p:bgPr>
    </p:bg>
    <p:spTree>
      <p:nvGrpSpPr>
        <p:cNvPr id="1" name=""/>
        <p:cNvGrpSpPr/>
        <p:nvPr/>
      </p:nvGrpSpPr>
      <p:grpSpPr>
        <a:xfrm>
          <a:off x="0" y="0"/>
          <a:ext cx="0" cy="0"/>
          <a:chOff x="0" y="0"/>
          <a:chExt cx="0" cy="0"/>
        </a:xfrm>
      </p:grpSpPr>
      <p:sp>
        <p:nvSpPr>
          <p:cNvPr id="1032" name="Rectangle 8"/>
          <p:cNvSpPr>
            <a:spLocks noGrp="1" noChangeArrowheads="1"/>
          </p:cNvSpPr>
          <p:nvPr>
            <p:ph type="sldNum" sz="quarter" idx="4"/>
          </p:nvPr>
        </p:nvSpPr>
        <p:spPr bwMode="auto">
          <a:xfrm>
            <a:off x="6245225" y="6400800"/>
            <a:ext cx="155575" cy="152400"/>
          </a:xfrm>
          <a:prstGeom prst="rect">
            <a:avLst/>
          </a:prstGeom>
          <a:noFill/>
          <a:ln w="9525">
            <a:noFill/>
            <a:miter lim="800000"/>
            <a:headEnd/>
            <a:tailEnd/>
          </a:ln>
          <a:effectLst/>
        </p:spPr>
        <p:txBody>
          <a:bodyPr vert="horz" wrap="none" lIns="0" tIns="0" rIns="0" bIns="0" numCol="1" anchor="ctr" anchorCtr="1" compatLnSpc="1">
            <a:prstTxWarp prst="textNoShape">
              <a:avLst/>
            </a:prstTxWarp>
            <a:spAutoFit/>
          </a:bodyPr>
          <a:lstStyle>
            <a:lvl1pPr eaLnBrk="1" hangingPunct="1">
              <a:defRPr sz="1000" b="0">
                <a:solidFill>
                  <a:schemeClr val="tx2"/>
                </a:solidFill>
                <a:latin typeface="Arial" charset="0"/>
              </a:defRPr>
            </a:lvl1pPr>
          </a:lstStyle>
          <a:p>
            <a:pPr>
              <a:defRPr/>
            </a:pPr>
            <a:fld id="{D5035B4C-9E6B-4EC6-9CFD-7B91BB6E801D}" type="slidenum">
              <a:rPr lang="en-US"/>
              <a:pPr>
                <a:defRPr/>
              </a:pPr>
              <a:t>‹#›</a:t>
            </a:fld>
            <a:endParaRPr lang="en-US" dirty="0"/>
          </a:p>
        </p:txBody>
      </p:sp>
      <p:pic>
        <p:nvPicPr>
          <p:cNvPr id="1027" name="Picture 21" descr="textpg_bkgrd2b2"/>
          <p:cNvPicPr>
            <a:picLocks noChangeAspect="1" noChangeArrowheads="1"/>
          </p:cNvPicPr>
          <p:nvPr/>
        </p:nvPicPr>
        <p:blipFill>
          <a:blip r:embed="rId14">
            <a:extLst>
              <a:ext uri="{28A0092B-C50C-407E-A947-70E740481C1C}">
                <a14:useLocalDpi xmlns:a14="http://schemas.microsoft.com/office/drawing/2010/main" val="0"/>
              </a:ext>
            </a:extLst>
          </a:blip>
          <a:srcRect r="5511" b="5511"/>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 name="Rectangle 2"/>
          <p:cNvSpPr>
            <a:spLocks noGrp="1" noChangeArrowheads="1"/>
          </p:cNvSpPr>
          <p:nvPr>
            <p:ph type="title"/>
          </p:nvPr>
        </p:nvSpPr>
        <p:spPr bwMode="auto">
          <a:xfrm>
            <a:off x="228600" y="0"/>
            <a:ext cx="8686800" cy="639763"/>
          </a:xfrm>
          <a:prstGeom prst="rect">
            <a:avLst/>
          </a:prstGeom>
          <a:noFill/>
          <a:ln w="9525" algn="ctr">
            <a:noFill/>
            <a:miter lim="800000"/>
            <a:headEnd/>
            <a:tailEnd/>
          </a:ln>
          <a:effectLst/>
        </p:spPr>
        <p:txBody>
          <a:bodyPr vert="horz" wrap="square" lIns="0" tIns="0" rIns="0" bIns="0" numCol="1" anchor="b" anchorCtr="0" compatLnSpc="1">
            <a:prstTxWarp prst="textNoShape">
              <a:avLst/>
            </a:prstTxWarp>
          </a:bodyPr>
          <a:lstStyle/>
          <a:p>
            <a:pPr lvl="0"/>
            <a:r>
              <a:rPr lang="en-US" dirty="0"/>
              <a:t>Click to edit Master title style</a:t>
            </a:r>
          </a:p>
        </p:txBody>
      </p:sp>
      <p:sp>
        <p:nvSpPr>
          <p:cNvPr id="1029" name="Rectangle 3"/>
          <p:cNvSpPr>
            <a:spLocks noGrp="1" noChangeArrowheads="1"/>
          </p:cNvSpPr>
          <p:nvPr>
            <p:ph type="body" idx="1"/>
          </p:nvPr>
        </p:nvSpPr>
        <p:spPr bwMode="auto">
          <a:xfrm>
            <a:off x="228600" y="838200"/>
            <a:ext cx="86868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75"/>
          <p:cNvSpPr>
            <a:spLocks noChangeArrowheads="1"/>
          </p:cNvSpPr>
          <p:nvPr/>
        </p:nvSpPr>
        <p:spPr bwMode="auto">
          <a:xfrm>
            <a:off x="0" y="6248400"/>
            <a:ext cx="9144000" cy="609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en-US" altLang="en-US"/>
          </a:p>
        </p:txBody>
      </p:sp>
      <p:pic>
        <p:nvPicPr>
          <p:cNvPr id="1031" name="Picture 7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7000" y="6324600"/>
            <a:ext cx="2971800" cy="460375"/>
          </a:xfrm>
          <a:prstGeom prst="rect">
            <a:avLst/>
          </a:prstGeom>
          <a:solidFill>
            <a:srgbClr val="EDEDED"/>
          </a:solidFill>
          <a:ln>
            <a:noFill/>
          </a:ln>
          <a:extLst>
            <a:ext uri="{91240B29-F687-4F45-9708-019B960494DF}">
              <a14:hiddenLine xmlns:a14="http://schemas.microsoft.com/office/drawing/2010/main" w="88900" cap="sq">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71" r:id="rId10"/>
    <p:sldLayoutId id="2147483672" r:id="rId11"/>
    <p:sldLayoutId id="2147483682" r:id="rId12"/>
  </p:sldLayoutIdLst>
  <p:transition/>
  <p:hf hdr="0" ftr="0" dt="0"/>
  <p:txStyles>
    <p:titleStyle>
      <a:lvl1pPr algn="l" rtl="0" eaLnBrk="0" fontAlgn="base" hangingPunct="0">
        <a:spcBef>
          <a:spcPct val="0"/>
        </a:spcBef>
        <a:spcAft>
          <a:spcPct val="0"/>
        </a:spcAft>
        <a:defRPr sz="3200" cap="small">
          <a:solidFill>
            <a:schemeClr val="bg1"/>
          </a:solidFill>
          <a:latin typeface="Calibri" pitchFamily="34" charset="0"/>
          <a:ea typeface="+mj-ea"/>
          <a:cs typeface="+mj-cs"/>
        </a:defRPr>
      </a:lvl1pPr>
      <a:lvl2pPr algn="l" rtl="0" eaLnBrk="0" fontAlgn="base" hangingPunct="0">
        <a:spcBef>
          <a:spcPct val="0"/>
        </a:spcBef>
        <a:spcAft>
          <a:spcPct val="0"/>
        </a:spcAft>
        <a:defRPr sz="3200">
          <a:solidFill>
            <a:schemeClr val="bg1"/>
          </a:solidFill>
          <a:latin typeface="Calibri" panose="020F0502020204030204" pitchFamily="34" charset="0"/>
        </a:defRPr>
      </a:lvl2pPr>
      <a:lvl3pPr algn="l" rtl="0" eaLnBrk="0" fontAlgn="base" hangingPunct="0">
        <a:spcBef>
          <a:spcPct val="0"/>
        </a:spcBef>
        <a:spcAft>
          <a:spcPct val="0"/>
        </a:spcAft>
        <a:defRPr sz="3200">
          <a:solidFill>
            <a:schemeClr val="bg1"/>
          </a:solidFill>
          <a:latin typeface="Calibri" panose="020F0502020204030204" pitchFamily="34" charset="0"/>
        </a:defRPr>
      </a:lvl3pPr>
      <a:lvl4pPr algn="l" rtl="0" eaLnBrk="0" fontAlgn="base" hangingPunct="0">
        <a:spcBef>
          <a:spcPct val="0"/>
        </a:spcBef>
        <a:spcAft>
          <a:spcPct val="0"/>
        </a:spcAft>
        <a:defRPr sz="3200">
          <a:solidFill>
            <a:schemeClr val="bg1"/>
          </a:solidFill>
          <a:latin typeface="Calibri" panose="020F0502020204030204" pitchFamily="34" charset="0"/>
        </a:defRPr>
      </a:lvl4pPr>
      <a:lvl5pPr algn="l" rtl="0" eaLnBrk="0" fontAlgn="base" hangingPunct="0">
        <a:spcBef>
          <a:spcPct val="0"/>
        </a:spcBef>
        <a:spcAft>
          <a:spcPct val="0"/>
        </a:spcAft>
        <a:defRPr sz="3200">
          <a:solidFill>
            <a:schemeClr val="bg1"/>
          </a:solidFill>
          <a:latin typeface="Calibri" panose="020F0502020204030204" pitchFamily="34" charset="0"/>
        </a:defRPr>
      </a:lvl5pPr>
      <a:lvl6pPr marL="457200" algn="l" rtl="0" fontAlgn="base">
        <a:spcBef>
          <a:spcPct val="0"/>
        </a:spcBef>
        <a:spcAft>
          <a:spcPct val="0"/>
        </a:spcAft>
        <a:defRPr sz="2400">
          <a:solidFill>
            <a:schemeClr val="tx1"/>
          </a:solidFill>
          <a:latin typeface="Arial" charset="0"/>
        </a:defRPr>
      </a:lvl6pPr>
      <a:lvl7pPr marL="914400" algn="l" rtl="0" fontAlgn="base">
        <a:spcBef>
          <a:spcPct val="0"/>
        </a:spcBef>
        <a:spcAft>
          <a:spcPct val="0"/>
        </a:spcAft>
        <a:defRPr sz="2400">
          <a:solidFill>
            <a:schemeClr val="tx1"/>
          </a:solidFill>
          <a:latin typeface="Arial" charset="0"/>
        </a:defRPr>
      </a:lvl7pPr>
      <a:lvl8pPr marL="1371600" algn="l" rtl="0" fontAlgn="base">
        <a:spcBef>
          <a:spcPct val="0"/>
        </a:spcBef>
        <a:spcAft>
          <a:spcPct val="0"/>
        </a:spcAft>
        <a:defRPr sz="2400">
          <a:solidFill>
            <a:schemeClr val="tx1"/>
          </a:solidFill>
          <a:latin typeface="Arial" charset="0"/>
        </a:defRPr>
      </a:lvl8pPr>
      <a:lvl9pPr marL="1828800" algn="l" rtl="0" fontAlgn="base">
        <a:spcBef>
          <a:spcPct val="0"/>
        </a:spcBef>
        <a:spcAft>
          <a:spcPct val="0"/>
        </a:spcAft>
        <a:defRPr sz="2400">
          <a:solidFill>
            <a:schemeClr val="tx1"/>
          </a:solidFill>
          <a:latin typeface="Arial" charset="0"/>
        </a:defRPr>
      </a:lvl9pPr>
    </p:titleStyle>
    <p:bodyStyle>
      <a:lvl1pPr marL="228600" indent="-228600" algn="l" rtl="0" eaLnBrk="0" fontAlgn="base" hangingPunct="0">
        <a:spcBef>
          <a:spcPct val="20000"/>
        </a:spcBef>
        <a:spcAft>
          <a:spcPct val="0"/>
        </a:spcAft>
        <a:buClr>
          <a:schemeClr val="hlink"/>
        </a:buClr>
        <a:buChar char="•"/>
        <a:defRPr sz="2000">
          <a:solidFill>
            <a:schemeClr val="tx1"/>
          </a:solidFill>
          <a:latin typeface="+mn-lt"/>
          <a:ea typeface="+mn-ea"/>
          <a:cs typeface="+mn-cs"/>
        </a:defRPr>
      </a:lvl1pPr>
      <a:lvl2pPr marL="565150" indent="-222250" algn="l" rtl="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mn-lt"/>
        </a:defRPr>
      </a:lvl2pPr>
      <a:lvl3pPr marL="908050" indent="-228600" algn="l" rtl="0" eaLnBrk="0" fontAlgn="base" hangingPunct="0">
        <a:spcBef>
          <a:spcPct val="20000"/>
        </a:spcBef>
        <a:spcAft>
          <a:spcPct val="0"/>
        </a:spcAft>
        <a:buClr>
          <a:srgbClr val="918C5A"/>
        </a:buClr>
        <a:buChar char="•"/>
        <a:defRPr sz="1600">
          <a:solidFill>
            <a:schemeClr val="tx1"/>
          </a:solidFill>
          <a:latin typeface="+mn-lt"/>
        </a:defRPr>
      </a:lvl3pPr>
      <a:lvl4pPr marL="1250950" indent="-228600" algn="l" rtl="0" eaLnBrk="0" fontAlgn="base" hangingPunct="0">
        <a:spcBef>
          <a:spcPct val="20000"/>
        </a:spcBef>
        <a:spcAft>
          <a:spcPct val="0"/>
        </a:spcAft>
        <a:buClr>
          <a:srgbClr val="918C5A"/>
        </a:buClr>
        <a:buChar char="•"/>
        <a:defRPr sz="1600">
          <a:solidFill>
            <a:schemeClr val="tx1"/>
          </a:solidFill>
          <a:latin typeface="+mn-lt"/>
        </a:defRPr>
      </a:lvl4pPr>
      <a:lvl5pPr marL="1593850" indent="-228600" algn="l" rtl="0" eaLnBrk="0" fontAlgn="base" hangingPunct="0">
        <a:spcBef>
          <a:spcPct val="20000"/>
        </a:spcBef>
        <a:spcAft>
          <a:spcPct val="0"/>
        </a:spcAft>
        <a:buClr>
          <a:srgbClr val="918C5A"/>
        </a:buClr>
        <a:buChar char="•"/>
        <a:defRPr sz="1600">
          <a:solidFill>
            <a:schemeClr val="tx1"/>
          </a:solidFill>
          <a:latin typeface="+mn-lt"/>
        </a:defRPr>
      </a:lvl5pPr>
      <a:lvl6pPr marL="2051050" indent="-228600" algn="l" rtl="0" fontAlgn="base">
        <a:spcBef>
          <a:spcPct val="20000"/>
        </a:spcBef>
        <a:spcAft>
          <a:spcPct val="0"/>
        </a:spcAft>
        <a:buClr>
          <a:srgbClr val="918C5A"/>
        </a:buClr>
        <a:buChar char="•"/>
        <a:defRPr sz="1600">
          <a:solidFill>
            <a:schemeClr val="tx1"/>
          </a:solidFill>
          <a:latin typeface="+mn-lt"/>
        </a:defRPr>
      </a:lvl6pPr>
      <a:lvl7pPr marL="2508250" indent="-228600" algn="l" rtl="0" fontAlgn="base">
        <a:spcBef>
          <a:spcPct val="20000"/>
        </a:spcBef>
        <a:spcAft>
          <a:spcPct val="0"/>
        </a:spcAft>
        <a:buClr>
          <a:srgbClr val="918C5A"/>
        </a:buClr>
        <a:buChar char="•"/>
        <a:defRPr sz="1600">
          <a:solidFill>
            <a:schemeClr val="tx1"/>
          </a:solidFill>
          <a:latin typeface="+mn-lt"/>
        </a:defRPr>
      </a:lvl7pPr>
      <a:lvl8pPr marL="2965450" indent="-228600" algn="l" rtl="0" fontAlgn="base">
        <a:spcBef>
          <a:spcPct val="20000"/>
        </a:spcBef>
        <a:spcAft>
          <a:spcPct val="0"/>
        </a:spcAft>
        <a:buClr>
          <a:srgbClr val="918C5A"/>
        </a:buClr>
        <a:buChar char="•"/>
        <a:defRPr sz="1600">
          <a:solidFill>
            <a:schemeClr val="tx1"/>
          </a:solidFill>
          <a:latin typeface="+mn-lt"/>
        </a:defRPr>
      </a:lvl8pPr>
      <a:lvl9pPr marL="3422650" indent="-228600" algn="l" rtl="0" fontAlgn="base">
        <a:spcBef>
          <a:spcPct val="20000"/>
        </a:spcBef>
        <a:spcAft>
          <a:spcPct val="0"/>
        </a:spcAft>
        <a:buClr>
          <a:srgbClr val="918C5A"/>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QPqVtguOz4w"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Jqm_4TMmQz8"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42" name="Rectangle 10"/>
          <p:cNvSpPr>
            <a:spLocks noGrp="1" noChangeArrowheads="1"/>
          </p:cNvSpPr>
          <p:nvPr>
            <p:ph type="ctrTitle"/>
          </p:nvPr>
        </p:nvSpPr>
        <p:spPr>
          <a:xfrm>
            <a:off x="685800" y="1371600"/>
            <a:ext cx="7851775" cy="1725613"/>
          </a:xfrm>
        </p:spPr>
        <p:txBody>
          <a:bodyPr/>
          <a:lstStyle/>
          <a:p>
            <a:pPr eaLnBrk="1" hangingPunct="1">
              <a:defRPr/>
            </a:pPr>
            <a:r>
              <a:rPr lang="en-US" sz="4000" dirty="0"/>
              <a:t>EETS 8355: data center network engineering</a:t>
            </a:r>
          </a:p>
        </p:txBody>
      </p:sp>
      <p:sp>
        <p:nvSpPr>
          <p:cNvPr id="44043" name="Rectangle 11"/>
          <p:cNvSpPr>
            <a:spLocks noGrp="1" noChangeArrowheads="1"/>
          </p:cNvSpPr>
          <p:nvPr>
            <p:ph type="subTitle" idx="1"/>
          </p:nvPr>
        </p:nvSpPr>
        <p:spPr>
          <a:xfrm>
            <a:off x="631825" y="3657600"/>
            <a:ext cx="7851775" cy="1597025"/>
          </a:xfrm>
        </p:spPr>
        <p:txBody>
          <a:bodyPr/>
          <a:lstStyle/>
          <a:p>
            <a:pPr eaLnBrk="1" hangingPunct="1">
              <a:defRPr/>
            </a:pPr>
            <a:r>
              <a:rPr lang="en-US" sz="3600" dirty="0"/>
              <a:t>Dr. M. Scott Kingsley</a:t>
            </a:r>
            <a:endParaRPr lang="en-US" dirty="0"/>
          </a:p>
          <a:p>
            <a:pPr eaLnBrk="1" hangingPunct="1">
              <a:defRPr/>
            </a:pPr>
            <a:endParaRPr lang="en-US" sz="2800" dirty="0"/>
          </a:p>
          <a:p>
            <a:pPr eaLnBrk="1" hangingPunct="1">
              <a:defRPr/>
            </a:pPr>
            <a:r>
              <a:rPr lang="en-US" sz="2800" dirty="0"/>
              <a:t>Virtual Extensible LAN (VXLAN) 2</a:t>
            </a:r>
            <a:endParaRPr lang="en-US" sz="2800" dirty="0">
              <a:effectLst>
                <a:outerShdw blurRad="38100" dist="38100" dir="2700000" algn="tl">
                  <a:srgbClr val="000000">
                    <a:alpha val="43137"/>
                  </a:srgbClr>
                </a:outerShdw>
              </a:effectLst>
            </a:endParaRPr>
          </a:p>
          <a:p>
            <a:pPr eaLnBrk="1" hangingPunct="1">
              <a:defRPr/>
            </a:pPr>
            <a:endParaRPr lang="en-US" sz="24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163"/>
            <a:ext cx="8915400" cy="563562"/>
          </a:xfrm>
        </p:spPr>
        <p:txBody>
          <a:bodyPr/>
          <a:lstStyle/>
          <a:p>
            <a:pPr eaLnBrk="1" hangingPunct="1">
              <a:defRPr/>
            </a:pPr>
            <a:r>
              <a:rPr lang="en-US" dirty="0">
                <a:effectLst/>
              </a:rPr>
              <a:t>VXLAN PACKET FORWARDING </a:t>
            </a:r>
          </a:p>
        </p:txBody>
      </p:sp>
      <p:sp>
        <p:nvSpPr>
          <p:cNvPr id="35843" name="Content Placeholder 1"/>
          <p:cNvSpPr>
            <a:spLocks noGrp="1"/>
          </p:cNvSpPr>
          <p:nvPr>
            <p:ph idx="1"/>
          </p:nvPr>
        </p:nvSpPr>
        <p:spPr>
          <a:xfrm>
            <a:off x="254000" y="762000"/>
            <a:ext cx="8385175" cy="4038600"/>
          </a:xfrm>
        </p:spPr>
        <p:txBody>
          <a:bodyPr/>
          <a:lstStyle/>
          <a:p>
            <a:pPr eaLnBrk="1" hangingPunct="1"/>
            <a:r>
              <a:rPr lang="en-US" altLang="en-US" sz="2800" dirty="0"/>
              <a:t>As previously illustrated, VXLAN introduces an 8-byte VXLAN header that consists of a 24-bit VNID and a few reserved bits. </a:t>
            </a:r>
          </a:p>
          <a:p>
            <a:pPr eaLnBrk="1" hangingPunct="1"/>
            <a:r>
              <a:rPr lang="en-US" altLang="en-US" sz="2800" dirty="0"/>
              <a:t>The VXLAN header together with the original Ethernet frame goes in the UDP payload. </a:t>
            </a:r>
          </a:p>
          <a:p>
            <a:pPr eaLnBrk="1" hangingPunct="1"/>
            <a:r>
              <a:rPr lang="en-US" altLang="en-US" sz="2800" dirty="0"/>
              <a:t>The 24-bit VNID is used to identify Layer 2 segments and to maintain Layer 2 isolation between the segments. </a:t>
            </a:r>
          </a:p>
          <a:p>
            <a:pPr eaLnBrk="1" hangingPunct="1"/>
            <a:r>
              <a:rPr lang="en-US" altLang="en-US" sz="2800" dirty="0"/>
              <a:t>With all 24 bits in VNID, VXLAN can support 16 million LAN segments. </a:t>
            </a:r>
          </a:p>
          <a:p>
            <a:pPr eaLnBrk="1" hangingPunct="1"/>
            <a:r>
              <a:rPr lang="en-US" altLang="en-US" sz="2800" dirty="0"/>
              <a:t>Figure 5 on the  following slide and related explanation demonstrate how VXLAN packets are forwarded and processed. </a:t>
            </a:r>
          </a:p>
          <a:p>
            <a:pPr marL="0" indent="0" eaLnBrk="1" hangingPunct="1">
              <a:buNone/>
            </a:pPr>
            <a:endParaRPr lang="en-US" altLang="en-US" sz="2800" dirty="0"/>
          </a:p>
          <a:p>
            <a:pPr eaLnBrk="1" hangingPunct="1"/>
            <a:endParaRPr lang="en-US" altLang="en-US" sz="2800" dirty="0"/>
          </a:p>
        </p:txBody>
      </p:sp>
      <p:sp>
        <p:nvSpPr>
          <p:cNvPr id="3584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B3096269-EF66-4BD2-B35C-754A313A94F5}" type="slidenum">
              <a:rPr lang="en-US" altLang="en-US" b="0" smtClean="0">
                <a:solidFill>
                  <a:schemeClr val="tx2"/>
                </a:solidFill>
              </a:rPr>
              <a:pPr/>
              <a:t>1</a:t>
            </a:fld>
            <a:endParaRPr lang="en-US" altLang="en-US" b="0">
              <a:solidFill>
                <a:schemeClr val="tx2"/>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122238"/>
            <a:ext cx="8686800" cy="563562"/>
          </a:xfrm>
        </p:spPr>
        <p:txBody>
          <a:bodyPr/>
          <a:lstStyle/>
          <a:p>
            <a:pPr eaLnBrk="1" hangingPunct="1">
              <a:defRPr/>
            </a:pPr>
            <a:r>
              <a:rPr lang="en-US" dirty="0">
                <a:effectLst/>
              </a:rPr>
              <a:t>VXLAN PACKET FORWARDING </a:t>
            </a:r>
          </a:p>
        </p:txBody>
      </p:sp>
      <p:sp>
        <p:nvSpPr>
          <p:cNvPr id="36867"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6FC8EAFB-5729-4019-B9D0-143C624CE1E3}" type="slidenum">
              <a:rPr lang="en-US" altLang="en-US" b="0" smtClean="0">
                <a:solidFill>
                  <a:schemeClr val="tx2"/>
                </a:solidFill>
              </a:rPr>
              <a:pPr/>
              <a:t>2</a:t>
            </a:fld>
            <a:endParaRPr lang="en-US" altLang="en-US" b="0">
              <a:solidFill>
                <a:schemeClr val="tx2"/>
              </a:solidFill>
            </a:endParaRPr>
          </a:p>
        </p:txBody>
      </p:sp>
      <p:pic>
        <p:nvPicPr>
          <p:cNvPr id="36868"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 y="773113"/>
            <a:ext cx="9144000" cy="540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6869" name="Straight Connector 7"/>
          <p:cNvCxnSpPr>
            <a:cxnSpLocks noChangeShapeType="1"/>
          </p:cNvCxnSpPr>
          <p:nvPr/>
        </p:nvCxnSpPr>
        <p:spPr bwMode="auto">
          <a:xfrm>
            <a:off x="1752600" y="3657600"/>
            <a:ext cx="6248400" cy="0"/>
          </a:xfrm>
          <a:prstGeom prst="line">
            <a:avLst/>
          </a:prstGeom>
          <a:noFill/>
          <a:ln w="28575" algn="ctr">
            <a:solidFill>
              <a:srgbClr val="FF0000"/>
            </a:solidFill>
            <a:round/>
            <a:headEnd/>
            <a:tailEnd/>
          </a:ln>
        </p:spPr>
      </p:cxnSp>
      <p:cxnSp>
        <p:nvCxnSpPr>
          <p:cNvPr id="36870" name="Straight Connector 8"/>
          <p:cNvCxnSpPr>
            <a:cxnSpLocks noChangeShapeType="1"/>
          </p:cNvCxnSpPr>
          <p:nvPr/>
        </p:nvCxnSpPr>
        <p:spPr bwMode="auto">
          <a:xfrm>
            <a:off x="1752600" y="4953000"/>
            <a:ext cx="6553200" cy="0"/>
          </a:xfrm>
          <a:prstGeom prst="line">
            <a:avLst/>
          </a:prstGeom>
          <a:noFill/>
          <a:ln w="28575" algn="ctr">
            <a:solidFill>
              <a:srgbClr val="FF0000"/>
            </a:solidFill>
            <a:round/>
            <a:headEnd/>
            <a:tailEnd/>
          </a:ln>
        </p:spPr>
      </p:cxnSp>
      <p:sp>
        <p:nvSpPr>
          <p:cNvPr id="2" name="TextBox 1">
            <a:extLst>
              <a:ext uri="{FF2B5EF4-FFF2-40B4-BE49-F238E27FC236}">
                <a16:creationId xmlns:a16="http://schemas.microsoft.com/office/drawing/2014/main" id="{42EDBA23-E637-4BC2-A0B6-47701F9C7B91}"/>
              </a:ext>
            </a:extLst>
          </p:cNvPr>
          <p:cNvSpPr txBox="1"/>
          <p:nvPr/>
        </p:nvSpPr>
        <p:spPr>
          <a:xfrm>
            <a:off x="3276600" y="6273839"/>
            <a:ext cx="5147563" cy="369332"/>
          </a:xfrm>
          <a:prstGeom prst="rect">
            <a:avLst/>
          </a:prstGeom>
          <a:noFill/>
        </p:spPr>
        <p:txBody>
          <a:bodyPr wrap="none" rtlCol="0">
            <a:spAutoFit/>
          </a:bodyPr>
          <a:lstStyle/>
          <a:p>
            <a:r>
              <a:rPr lang="en-US" dirty="0"/>
              <a:t>Figure 5: VLAN Packet Forwarding Illustrated</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122238"/>
            <a:ext cx="8686800" cy="563562"/>
          </a:xfrm>
        </p:spPr>
        <p:txBody>
          <a:bodyPr/>
          <a:lstStyle/>
          <a:p>
            <a:pPr eaLnBrk="1" hangingPunct="1">
              <a:defRPr/>
            </a:pPr>
            <a:r>
              <a:rPr lang="en-US" dirty="0">
                <a:effectLst/>
              </a:rPr>
              <a:t>VXLAN PACKET FORWARDING </a:t>
            </a:r>
          </a:p>
        </p:txBody>
      </p:sp>
      <p:sp>
        <p:nvSpPr>
          <p:cNvPr id="38915" name="Content Placeholder 6"/>
          <p:cNvSpPr>
            <a:spLocks noGrp="1"/>
          </p:cNvSpPr>
          <p:nvPr>
            <p:ph idx="1"/>
          </p:nvPr>
        </p:nvSpPr>
        <p:spPr/>
        <p:txBody>
          <a:bodyPr/>
          <a:lstStyle/>
          <a:p>
            <a:pPr eaLnBrk="1" hangingPunct="1"/>
            <a:r>
              <a:rPr lang="en-US" altLang="en-US" dirty="0"/>
              <a:t>In the VXLAN Packet Forwarding diagram on the previous slide, Host-A and Host-B in VXLAN segment 10 communicate with each other through the VXLAN tunnel between VTEP-1 and VTEP-2. </a:t>
            </a:r>
          </a:p>
          <a:p>
            <a:pPr eaLnBrk="1" hangingPunct="1"/>
            <a:r>
              <a:rPr lang="en-US" altLang="en-US" dirty="0"/>
              <a:t>This example assumes that address learning has been done on both sides, and corresponding MAC-to-VTEP mappings exist on both VTEPs. </a:t>
            </a:r>
          </a:p>
        </p:txBody>
      </p:sp>
      <p:sp>
        <p:nvSpPr>
          <p:cNvPr id="3891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3D6A9579-8D7E-4951-B22A-DAEA13651452}" type="slidenum">
              <a:rPr lang="en-US" altLang="en-US" b="0" smtClean="0">
                <a:solidFill>
                  <a:schemeClr val="tx2"/>
                </a:solidFill>
              </a:rPr>
              <a:pPr/>
              <a:t>3</a:t>
            </a:fld>
            <a:endParaRPr lang="en-US" altLang="en-US" b="0">
              <a:solidFill>
                <a:schemeClr val="tx2"/>
              </a:solidFill>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122238"/>
            <a:ext cx="8686800" cy="563562"/>
          </a:xfrm>
        </p:spPr>
        <p:txBody>
          <a:bodyPr/>
          <a:lstStyle/>
          <a:p>
            <a:pPr eaLnBrk="1" hangingPunct="1">
              <a:defRPr/>
            </a:pPr>
            <a:r>
              <a:rPr lang="en-US" dirty="0">
                <a:effectLst/>
              </a:rPr>
              <a:t>VXLAN PACKET FORWARDING </a:t>
            </a:r>
          </a:p>
        </p:txBody>
      </p:sp>
      <p:sp>
        <p:nvSpPr>
          <p:cNvPr id="39939" name="Content Placeholder 6"/>
          <p:cNvSpPr>
            <a:spLocks noGrp="1"/>
          </p:cNvSpPr>
          <p:nvPr>
            <p:ph idx="1"/>
          </p:nvPr>
        </p:nvSpPr>
        <p:spPr/>
        <p:txBody>
          <a:bodyPr/>
          <a:lstStyle/>
          <a:p>
            <a:pPr eaLnBrk="1" hangingPunct="1"/>
            <a:r>
              <a:rPr lang="en-US" altLang="en-US" dirty="0"/>
              <a:t>Host-A and Host-B in VXLAN segment 10 communicate with each other through the VXLAN tunnel between VTEP-1 and VTEP-2. </a:t>
            </a:r>
          </a:p>
          <a:p>
            <a:pPr eaLnBrk="1" hangingPunct="1"/>
            <a:r>
              <a:rPr lang="en-US" altLang="en-US" dirty="0"/>
              <a:t>This example assumes that address learning has been done on both sides, and corresponding MAC-to-VTEP mappings exist on both VTEPs. </a:t>
            </a:r>
          </a:p>
        </p:txBody>
      </p:sp>
      <p:sp>
        <p:nvSpPr>
          <p:cNvPr id="3994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7A8DC040-5036-4154-A479-4FCFF5B90C2E}" type="slidenum">
              <a:rPr lang="en-US" altLang="en-US" b="0" smtClean="0">
                <a:solidFill>
                  <a:schemeClr val="tx2"/>
                </a:solidFill>
              </a:rPr>
              <a:pPr/>
              <a:t>4</a:t>
            </a:fld>
            <a:endParaRPr lang="en-US" altLang="en-US" b="0">
              <a:solidFill>
                <a:schemeClr val="tx2"/>
              </a:solidFill>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122238"/>
            <a:ext cx="8686800" cy="563562"/>
          </a:xfrm>
        </p:spPr>
        <p:txBody>
          <a:bodyPr/>
          <a:lstStyle/>
          <a:p>
            <a:pPr eaLnBrk="1" hangingPunct="1">
              <a:defRPr/>
            </a:pPr>
            <a:r>
              <a:rPr lang="en-US" dirty="0">
                <a:effectLst/>
              </a:rPr>
              <a:t>VXLAN PACKET FORWARDING </a:t>
            </a:r>
          </a:p>
        </p:txBody>
      </p:sp>
      <p:sp>
        <p:nvSpPr>
          <p:cNvPr id="40963" name="Content Placeholder 6"/>
          <p:cNvSpPr>
            <a:spLocks noGrp="1"/>
          </p:cNvSpPr>
          <p:nvPr>
            <p:ph idx="1"/>
          </p:nvPr>
        </p:nvSpPr>
        <p:spPr/>
        <p:txBody>
          <a:bodyPr/>
          <a:lstStyle/>
          <a:p>
            <a:pPr marL="514350" indent="-514350" eaLnBrk="1" hangingPunct="1">
              <a:buFontTx/>
              <a:buAutoNum type="arabicPeriod"/>
            </a:pPr>
            <a:r>
              <a:rPr lang="en-US" altLang="en-US"/>
              <a:t>When Host-A sends traffic to Host-B, it forms Ethernet frames with MAC-B address of Host-B as the destination MAC address and sends them out to VTEP-1. </a:t>
            </a:r>
          </a:p>
        </p:txBody>
      </p:sp>
      <p:sp>
        <p:nvSpPr>
          <p:cNvPr id="4096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CDD4B7E1-1319-4A36-8372-A59DCB1AECCA}" type="slidenum">
              <a:rPr lang="en-US" altLang="en-US" b="0" smtClean="0">
                <a:solidFill>
                  <a:schemeClr val="tx2"/>
                </a:solidFill>
              </a:rPr>
              <a:pPr/>
              <a:t>5</a:t>
            </a:fld>
            <a:endParaRPr lang="en-US" altLang="en-US" b="0">
              <a:solidFill>
                <a:schemeClr val="tx2"/>
              </a:solidFill>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122238"/>
            <a:ext cx="8686800" cy="563562"/>
          </a:xfrm>
        </p:spPr>
        <p:txBody>
          <a:bodyPr/>
          <a:lstStyle/>
          <a:p>
            <a:pPr eaLnBrk="1" hangingPunct="1">
              <a:defRPr/>
            </a:pPr>
            <a:r>
              <a:rPr lang="en-US" dirty="0">
                <a:effectLst/>
              </a:rPr>
              <a:t>VXLAN PACKET FORWARDING </a:t>
            </a:r>
          </a:p>
        </p:txBody>
      </p:sp>
      <p:sp>
        <p:nvSpPr>
          <p:cNvPr id="41987" name="Content Placeholder 6"/>
          <p:cNvSpPr>
            <a:spLocks noGrp="1"/>
          </p:cNvSpPr>
          <p:nvPr>
            <p:ph idx="1"/>
          </p:nvPr>
        </p:nvSpPr>
        <p:spPr>
          <a:xfrm>
            <a:off x="228600" y="990600"/>
            <a:ext cx="8915400" cy="6019800"/>
          </a:xfrm>
        </p:spPr>
        <p:txBody>
          <a:bodyPr/>
          <a:lstStyle/>
          <a:p>
            <a:pPr marL="514350" indent="-514350" eaLnBrk="1" hangingPunct="1">
              <a:buFontTx/>
              <a:buAutoNum type="arabicPeriod" startAt="2"/>
            </a:pPr>
            <a:r>
              <a:rPr lang="en-US" altLang="en-US" sz="2800"/>
              <a:t>VTEP-1, with a mapping of MAC-B to VTEP-2 in its mapping table, performs VXLAN encapsulation on the packets by adding VXLAN, UDP, and outer IP address header to it. In the outer IP address header, the source IP address is the IP address of VTEP-1, and the destination IP address is the IP address of VTEP-2. </a:t>
            </a:r>
          </a:p>
          <a:p>
            <a:pPr marL="336550" lvl="1" indent="0" eaLnBrk="1" hangingPunct="1">
              <a:buFont typeface="Wingdings" pitchFamily="2" charset="2"/>
              <a:buNone/>
            </a:pPr>
            <a:r>
              <a:rPr lang="en-US" altLang="en-US"/>
              <a:t>   VTEP-1 then performs an IP address lookup for the IP </a:t>
            </a:r>
          </a:p>
          <a:p>
            <a:pPr marL="336550" lvl="1" indent="0" eaLnBrk="1" hangingPunct="1">
              <a:buFont typeface="Wingdings" pitchFamily="2" charset="2"/>
              <a:buNone/>
            </a:pPr>
            <a:r>
              <a:rPr lang="en-US" altLang="en-US"/>
              <a:t>   address of VTEP-2 to resolve the next hop in the transit  </a:t>
            </a:r>
          </a:p>
          <a:p>
            <a:pPr marL="336550" lvl="1" indent="0" eaLnBrk="1" hangingPunct="1">
              <a:buFont typeface="Wingdings" pitchFamily="2" charset="2"/>
              <a:buNone/>
            </a:pPr>
            <a:r>
              <a:rPr lang="en-US" altLang="en-US"/>
              <a:t>   network and subsequently uses the MAC address of the</a:t>
            </a:r>
          </a:p>
          <a:p>
            <a:pPr marL="336550" lvl="1" indent="0" eaLnBrk="1" hangingPunct="1">
              <a:buFont typeface="Wingdings" pitchFamily="2" charset="2"/>
              <a:buNone/>
            </a:pPr>
            <a:r>
              <a:rPr lang="en-US" altLang="en-US"/>
              <a:t>   next-hop device to further encapsulate the packets in an</a:t>
            </a:r>
          </a:p>
          <a:p>
            <a:pPr marL="336550" lvl="1" indent="0" eaLnBrk="1" hangingPunct="1">
              <a:buFont typeface="Wingdings" pitchFamily="2" charset="2"/>
              <a:buNone/>
            </a:pPr>
            <a:r>
              <a:rPr lang="en-US" altLang="en-US"/>
              <a:t>   Ethernet frame to send to the next-hop device. </a:t>
            </a:r>
          </a:p>
        </p:txBody>
      </p:sp>
      <p:sp>
        <p:nvSpPr>
          <p:cNvPr id="4198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86FFA838-E15F-416F-9271-D2BEF3B97EB2}" type="slidenum">
              <a:rPr lang="en-US" altLang="en-US" b="0" smtClean="0">
                <a:solidFill>
                  <a:schemeClr val="tx2"/>
                </a:solidFill>
              </a:rPr>
              <a:pPr/>
              <a:t>6</a:t>
            </a:fld>
            <a:endParaRPr lang="en-US" altLang="en-US" b="0">
              <a:solidFill>
                <a:schemeClr val="tx2"/>
              </a:solidFill>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122238"/>
            <a:ext cx="8686800" cy="563562"/>
          </a:xfrm>
        </p:spPr>
        <p:txBody>
          <a:bodyPr/>
          <a:lstStyle/>
          <a:p>
            <a:pPr eaLnBrk="1" hangingPunct="1">
              <a:defRPr/>
            </a:pPr>
            <a:r>
              <a:rPr lang="en-US" dirty="0">
                <a:effectLst/>
              </a:rPr>
              <a:t>VXLAN PACKET FORWARDING </a:t>
            </a:r>
          </a:p>
        </p:txBody>
      </p:sp>
      <p:sp>
        <p:nvSpPr>
          <p:cNvPr id="43011" name="Content Placeholder 6"/>
          <p:cNvSpPr>
            <a:spLocks noGrp="1"/>
          </p:cNvSpPr>
          <p:nvPr>
            <p:ph idx="1"/>
          </p:nvPr>
        </p:nvSpPr>
        <p:spPr>
          <a:xfrm>
            <a:off x="228600" y="990600"/>
            <a:ext cx="8915400" cy="6019800"/>
          </a:xfrm>
        </p:spPr>
        <p:txBody>
          <a:bodyPr/>
          <a:lstStyle/>
          <a:p>
            <a:pPr marL="514350" indent="-514350" eaLnBrk="1" hangingPunct="1">
              <a:buFontTx/>
              <a:buAutoNum type="arabicPeriod" startAt="3"/>
            </a:pPr>
            <a:r>
              <a:rPr lang="en-US" altLang="en-US" sz="2800"/>
              <a:t>Which subsequently uses the MAC address of the next-hop device to further encapsulate the packets in an Ethernet frame to send to the next-hop device. </a:t>
            </a:r>
          </a:p>
          <a:p>
            <a:pPr marL="514350" indent="-514350" eaLnBrk="1" hangingPunct="1">
              <a:buFontTx/>
              <a:buAutoNum type="arabicPeriod" startAt="3"/>
            </a:pPr>
            <a:r>
              <a:rPr lang="en-US" altLang="en-US" sz="2800"/>
              <a:t>The packets are routed toward VTEP-2 through the transport network based on their outer IP address header, which has the IP address of VTEP-2 as the destination address. </a:t>
            </a:r>
          </a:p>
          <a:p>
            <a:pPr marL="514350" indent="-514350" eaLnBrk="1" hangingPunct="1">
              <a:buFontTx/>
              <a:buAutoNum type="arabicPeriod" startAt="3"/>
            </a:pPr>
            <a:r>
              <a:rPr lang="en-US" altLang="en-US" sz="2800"/>
              <a:t>After VTEP-2 receives the packets, it strips off the outer Ethernet, IP, UDP, and VXLAN headers, and forwards the packets to Host-B, based on the original destination MAC address in the Ethernet frame. </a:t>
            </a:r>
          </a:p>
          <a:p>
            <a:pPr marL="514350" indent="-514350" eaLnBrk="1" hangingPunct="1">
              <a:buFontTx/>
              <a:buAutoNum type="arabicPeriod" startAt="3"/>
            </a:pPr>
            <a:endParaRPr lang="en-US" altLang="en-US" sz="2400"/>
          </a:p>
        </p:txBody>
      </p:sp>
      <p:sp>
        <p:nvSpPr>
          <p:cNvPr id="4301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C89626A5-B089-4AFD-9011-6FA56D6FB4B8}" type="slidenum">
              <a:rPr lang="en-US" altLang="en-US" b="0" smtClean="0">
                <a:solidFill>
                  <a:schemeClr val="tx2"/>
                </a:solidFill>
              </a:rPr>
              <a:pPr/>
              <a:t>7</a:t>
            </a:fld>
            <a:endParaRPr lang="en-US" altLang="en-US" b="0">
              <a:solidFill>
                <a:schemeClr val="tx2"/>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122238"/>
            <a:ext cx="8686800" cy="563562"/>
          </a:xfrm>
        </p:spPr>
        <p:txBody>
          <a:bodyPr/>
          <a:lstStyle/>
          <a:p>
            <a:pPr eaLnBrk="1" hangingPunct="1">
              <a:defRPr/>
            </a:pPr>
            <a:r>
              <a:rPr lang="en-US" dirty="0">
                <a:effectLst/>
              </a:rPr>
              <a:t>VXLAN FOR BUM</a:t>
            </a:r>
          </a:p>
        </p:txBody>
      </p:sp>
      <p:sp>
        <p:nvSpPr>
          <p:cNvPr id="7" name="Content Placeholder 6"/>
          <p:cNvSpPr>
            <a:spLocks noGrp="1"/>
          </p:cNvSpPr>
          <p:nvPr>
            <p:ph idx="1"/>
          </p:nvPr>
        </p:nvSpPr>
        <p:spPr>
          <a:xfrm>
            <a:off x="228600" y="822325"/>
            <a:ext cx="8686800" cy="6019800"/>
          </a:xfrm>
        </p:spPr>
        <p:txBody>
          <a:bodyPr/>
          <a:lstStyle/>
          <a:p>
            <a:pPr eaLnBrk="1" hangingPunct="1"/>
            <a:r>
              <a:rPr lang="en-US" altLang="en-US" sz="2800"/>
              <a:t>VXLAN on Cisco Nexus 9000 Series Switches uses existing Layer 2 mechanisms - flooding, and dynamic MAC address learning - to do the following: </a:t>
            </a:r>
          </a:p>
          <a:p>
            <a:pPr lvl="1" eaLnBrk="1" hangingPunct="1"/>
            <a:r>
              <a:rPr lang="en-US" altLang="en-US"/>
              <a:t>Transport broadcast, unknown unicast, and multicast traffic </a:t>
            </a:r>
          </a:p>
          <a:p>
            <a:pPr lvl="1" eaLnBrk="1" hangingPunct="1"/>
            <a:r>
              <a:rPr lang="en-US" altLang="en-US"/>
              <a:t>Discover remote VTEPs </a:t>
            </a:r>
          </a:p>
          <a:p>
            <a:pPr lvl="1" eaLnBrk="1" hangingPunct="1"/>
            <a:r>
              <a:rPr lang="en-US" altLang="en-US"/>
              <a:t>Learn remote host MAC addresses and MAC-to-VTEP mappings for each VXLAN segment </a:t>
            </a:r>
          </a:p>
          <a:p>
            <a:pPr eaLnBrk="1" hangingPunct="1"/>
            <a:r>
              <a:rPr lang="en-US" altLang="en-US" sz="2800"/>
              <a:t>For these traffic types, IP multicast is used to reduce the flooding scope of the set of hosts that are participating in the VXLAN segment. </a:t>
            </a:r>
          </a:p>
          <a:p>
            <a:pPr eaLnBrk="1" hangingPunct="1">
              <a:buFontTx/>
              <a:buAutoNum type="arabicPeriod" startAt="3"/>
            </a:pPr>
            <a:endParaRPr lang="en-US" altLang="en-US" sz="2800"/>
          </a:p>
        </p:txBody>
      </p:sp>
      <p:sp>
        <p:nvSpPr>
          <p:cNvPr id="4403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B9746DE1-99FE-44DB-92C3-188C4F3FA2EA}" type="slidenum">
              <a:rPr lang="en-US" altLang="en-US" b="0" smtClean="0">
                <a:solidFill>
                  <a:schemeClr val="tx2"/>
                </a:solidFill>
              </a:rPr>
              <a:pPr/>
              <a:t>8</a:t>
            </a:fld>
            <a:endParaRPr lang="en-US" altLang="en-US" b="0">
              <a:solidFill>
                <a:schemeClr val="tx2"/>
              </a:solidFill>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122238"/>
            <a:ext cx="8686800" cy="563562"/>
          </a:xfrm>
        </p:spPr>
        <p:txBody>
          <a:bodyPr/>
          <a:lstStyle/>
          <a:p>
            <a:pPr eaLnBrk="1" hangingPunct="1">
              <a:defRPr/>
            </a:pPr>
            <a:r>
              <a:rPr lang="en-US" dirty="0">
                <a:effectLst/>
              </a:rPr>
              <a:t>VXLAN FOR BUM</a:t>
            </a:r>
          </a:p>
        </p:txBody>
      </p:sp>
      <p:sp>
        <p:nvSpPr>
          <p:cNvPr id="46083" name="Content Placeholder 6"/>
          <p:cNvSpPr>
            <a:spLocks noGrp="1"/>
          </p:cNvSpPr>
          <p:nvPr>
            <p:ph idx="1"/>
          </p:nvPr>
        </p:nvSpPr>
        <p:spPr>
          <a:xfrm>
            <a:off x="76200" y="822325"/>
            <a:ext cx="9067800" cy="6019800"/>
          </a:xfrm>
        </p:spPr>
        <p:txBody>
          <a:bodyPr/>
          <a:lstStyle/>
          <a:p>
            <a:pPr eaLnBrk="1" hangingPunct="1"/>
            <a:r>
              <a:rPr lang="en-US" altLang="en-US" sz="2800" dirty="0"/>
              <a:t>Each VXLAN segment, or VNID, is mapped to an IP multicast group in the transport IP network. </a:t>
            </a:r>
          </a:p>
          <a:p>
            <a:pPr eaLnBrk="1" hangingPunct="1"/>
            <a:r>
              <a:rPr lang="en-US" altLang="en-US" sz="2800" dirty="0"/>
              <a:t>Each VTEP device is independently configured and joins this multicast group as an IP host through the Internet Group Management Protocol (IGMP). </a:t>
            </a:r>
          </a:p>
          <a:p>
            <a:pPr eaLnBrk="1" hangingPunct="1"/>
            <a:r>
              <a:rPr lang="en-US" altLang="en-US" sz="2800" dirty="0"/>
              <a:t>The IGMP joins trigger Protocol Independent Multicast (PIM) joins and signaling through the transport network for the particular multicast group. </a:t>
            </a:r>
          </a:p>
          <a:p>
            <a:pPr eaLnBrk="1" hangingPunct="1"/>
            <a:r>
              <a:rPr lang="en-US" altLang="en-US" sz="2800" dirty="0"/>
              <a:t>The multicast distribution tree for this group is built through the transport network based on the locations of participating VTEPs. The multicast tunnel of a VXLAN segment through the underlying IP network is shown in Figure 6. </a:t>
            </a:r>
            <a:endParaRPr lang="en-US" altLang="en-US" sz="2400" dirty="0"/>
          </a:p>
        </p:txBody>
      </p:sp>
      <p:sp>
        <p:nvSpPr>
          <p:cNvPr id="4608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9D060105-DCDB-4AB5-A7AE-E078567025AA}" type="slidenum">
              <a:rPr lang="en-US" altLang="en-US" b="0" smtClean="0">
                <a:solidFill>
                  <a:schemeClr val="tx2"/>
                </a:solidFill>
              </a:rPr>
              <a:pPr/>
              <a:t>9</a:t>
            </a:fld>
            <a:endParaRPr lang="en-US" altLang="en-US" b="0">
              <a:solidFill>
                <a:schemeClr val="tx2"/>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122238"/>
            <a:ext cx="8686800" cy="563562"/>
          </a:xfrm>
        </p:spPr>
        <p:txBody>
          <a:bodyPr/>
          <a:lstStyle/>
          <a:p>
            <a:pPr eaLnBrk="1" hangingPunct="1">
              <a:defRPr/>
            </a:pPr>
            <a:r>
              <a:rPr lang="en-US" dirty="0">
                <a:effectLst/>
              </a:rPr>
              <a:t>VXLAN FOR BUM</a:t>
            </a:r>
          </a:p>
        </p:txBody>
      </p:sp>
      <p:sp>
        <p:nvSpPr>
          <p:cNvPr id="45059"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AEBABECA-B4A3-4178-9138-6E3306EF901E}" type="slidenum">
              <a:rPr lang="en-US" altLang="en-US" b="0" smtClean="0">
                <a:solidFill>
                  <a:schemeClr val="tx2"/>
                </a:solidFill>
              </a:rPr>
              <a:pPr/>
              <a:t>10</a:t>
            </a:fld>
            <a:endParaRPr lang="en-US" altLang="en-US" b="0">
              <a:solidFill>
                <a:schemeClr val="tx2"/>
              </a:solidFill>
            </a:endParaRPr>
          </a:p>
        </p:txBody>
      </p:sp>
      <p:pic>
        <p:nvPicPr>
          <p:cNvPr id="45060" name="Picture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876300"/>
            <a:ext cx="8686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B53FF63C-32BC-4B14-84C7-6CD73CD8EF59}"/>
              </a:ext>
            </a:extLst>
          </p:cNvPr>
          <p:cNvSpPr txBox="1"/>
          <p:nvPr/>
        </p:nvSpPr>
        <p:spPr>
          <a:xfrm>
            <a:off x="2667000" y="5879068"/>
            <a:ext cx="4673074" cy="369332"/>
          </a:xfrm>
          <a:prstGeom prst="rect">
            <a:avLst/>
          </a:prstGeom>
          <a:noFill/>
        </p:spPr>
        <p:txBody>
          <a:bodyPr wrap="none" rtlCol="0">
            <a:spAutoFit/>
          </a:bodyPr>
          <a:lstStyle/>
          <a:p>
            <a:r>
              <a:rPr lang="en-US" dirty="0"/>
              <a:t>Figure 6: VXLAN using a multicast group</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457200" y="-30163"/>
            <a:ext cx="8686800" cy="563563"/>
          </a:xfrm>
        </p:spPr>
        <p:txBody>
          <a:bodyPr/>
          <a:lstStyle/>
          <a:p>
            <a:pPr eaLnBrk="1" hangingPunct="1">
              <a:defRPr/>
            </a:pPr>
            <a:r>
              <a:rPr lang="en-US" sz="2400" dirty="0">
                <a:effectLst/>
              </a:rPr>
              <a:t>REMOTE VTEP DISCOVERY AND REMOTE ADDRESS LEARNING</a:t>
            </a:r>
          </a:p>
        </p:txBody>
      </p:sp>
      <p:sp>
        <p:nvSpPr>
          <p:cNvPr id="47107" name="Content Placeholder 6"/>
          <p:cNvSpPr>
            <a:spLocks noGrp="1"/>
          </p:cNvSpPr>
          <p:nvPr>
            <p:ph idx="1"/>
          </p:nvPr>
        </p:nvSpPr>
        <p:spPr>
          <a:xfrm>
            <a:off x="76200" y="822325"/>
            <a:ext cx="9067800" cy="6019800"/>
          </a:xfrm>
        </p:spPr>
        <p:txBody>
          <a:bodyPr/>
          <a:lstStyle/>
          <a:p>
            <a:pPr eaLnBrk="1" hangingPunct="1"/>
            <a:r>
              <a:rPr lang="en-US" altLang="en-US" dirty="0"/>
              <a:t>This multicast group is used to transmit VXLAN broadcast, unknown unicast, and multicast traffic through the IP network, limiting Layer 2 flooding to those devices that have end systems participating in the same VXLAN segment. </a:t>
            </a:r>
          </a:p>
          <a:p>
            <a:pPr eaLnBrk="1" hangingPunct="1"/>
            <a:r>
              <a:rPr lang="en-US" altLang="en-US" dirty="0"/>
              <a:t>VTEPs communicate with one another through the flooded or multicast traffic in this multicast group. </a:t>
            </a:r>
            <a:endParaRPr lang="en-US" altLang="en-US" sz="2400" dirty="0"/>
          </a:p>
        </p:txBody>
      </p:sp>
      <p:sp>
        <p:nvSpPr>
          <p:cNvPr id="4710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22CF4824-FE16-4309-8885-67D387C8350C}" type="slidenum">
              <a:rPr lang="en-US" altLang="en-US" b="0" smtClean="0">
                <a:solidFill>
                  <a:schemeClr val="tx2"/>
                </a:solidFill>
              </a:rPr>
              <a:pPr/>
              <a:t>11</a:t>
            </a:fld>
            <a:endParaRPr lang="en-US" altLang="en-US" b="0">
              <a:solidFill>
                <a:schemeClr val="tx2"/>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457200" y="-30163"/>
            <a:ext cx="8686800" cy="563563"/>
          </a:xfrm>
        </p:spPr>
        <p:txBody>
          <a:bodyPr/>
          <a:lstStyle/>
          <a:p>
            <a:pPr eaLnBrk="1" hangingPunct="1">
              <a:defRPr/>
            </a:pPr>
            <a:r>
              <a:rPr lang="en-US" sz="2400" dirty="0">
                <a:effectLst/>
              </a:rPr>
              <a:t>REMOTE VTEP DISCOVERY AND REMOTE ADDRESS LEARNING</a:t>
            </a:r>
          </a:p>
        </p:txBody>
      </p:sp>
      <p:sp>
        <p:nvSpPr>
          <p:cNvPr id="48131" name="Content Placeholder 6"/>
          <p:cNvSpPr>
            <a:spLocks noGrp="1"/>
          </p:cNvSpPr>
          <p:nvPr>
            <p:ph idx="1"/>
          </p:nvPr>
        </p:nvSpPr>
        <p:spPr>
          <a:xfrm>
            <a:off x="76200" y="822325"/>
            <a:ext cx="9067800" cy="6019800"/>
          </a:xfrm>
        </p:spPr>
        <p:txBody>
          <a:bodyPr/>
          <a:lstStyle/>
          <a:p>
            <a:pPr eaLnBrk="1" hangingPunct="1"/>
            <a:r>
              <a:rPr lang="en-US" altLang="en-US" sz="2800" dirty="0"/>
              <a:t>The Cisco Nexus 9000 VXLAN implementation uses the classic Layer 2 data plane flooding and learning mechanisms for remote VTEP discovery and tenant address learning. </a:t>
            </a:r>
          </a:p>
          <a:p>
            <a:pPr eaLnBrk="1" hangingPunct="1"/>
            <a:r>
              <a:rPr lang="en-US" altLang="en-US" sz="2800" dirty="0"/>
              <a:t>The tenant VXLAN segment has VNID 10 and uses the multicast group 239.1.1.1 over the transport network. </a:t>
            </a:r>
          </a:p>
          <a:p>
            <a:pPr eaLnBrk="1" hangingPunct="1"/>
            <a:r>
              <a:rPr lang="en-US" altLang="en-US" sz="2800" dirty="0"/>
              <a:t>It has three participating VTEPs in the data center. </a:t>
            </a:r>
          </a:p>
          <a:p>
            <a:pPr eaLnBrk="1" hangingPunct="1"/>
            <a:r>
              <a:rPr lang="en-US" altLang="en-US" sz="2800" dirty="0"/>
              <a:t>Assume that no address learning has been performed between locations. </a:t>
            </a:r>
          </a:p>
          <a:p>
            <a:pPr eaLnBrk="1" hangingPunct="1"/>
            <a:r>
              <a:rPr lang="en-US" altLang="en-US" sz="2800" dirty="0"/>
              <a:t>End System A (with IP-A, MAC-A) starts IP communication with End System B (with IP-B, MAC-B). The sequence of steps is shown in Figure 7. </a:t>
            </a:r>
            <a:endParaRPr lang="en-US" altLang="en-US" sz="2000" dirty="0"/>
          </a:p>
        </p:txBody>
      </p:sp>
      <p:sp>
        <p:nvSpPr>
          <p:cNvPr id="4813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B56D62D3-8594-4718-94BD-574959128C3F}" type="slidenum">
              <a:rPr lang="en-US" altLang="en-US" b="0" smtClean="0">
                <a:solidFill>
                  <a:schemeClr val="tx2"/>
                </a:solidFill>
              </a:rPr>
              <a:pPr/>
              <a:t>12</a:t>
            </a:fld>
            <a:endParaRPr lang="en-US" altLang="en-US" b="0">
              <a:solidFill>
                <a:schemeClr val="tx2"/>
              </a:solidFill>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457200" y="-30163"/>
            <a:ext cx="8686800" cy="563563"/>
          </a:xfrm>
        </p:spPr>
        <p:txBody>
          <a:bodyPr/>
          <a:lstStyle/>
          <a:p>
            <a:pPr eaLnBrk="1" hangingPunct="1">
              <a:defRPr/>
            </a:pPr>
            <a:r>
              <a:rPr lang="en-US" sz="2400" dirty="0">
                <a:effectLst/>
              </a:rPr>
              <a:t>REMOTE VTEP DISCOVERY AND ADDRESS LEARNING</a:t>
            </a:r>
          </a:p>
        </p:txBody>
      </p:sp>
      <p:sp>
        <p:nvSpPr>
          <p:cNvPr id="49155"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0211CDEA-394C-45DC-AE02-D0538B47EA3E}" type="slidenum">
              <a:rPr lang="en-US" altLang="en-US" b="0" smtClean="0">
                <a:solidFill>
                  <a:schemeClr val="tx2"/>
                </a:solidFill>
              </a:rPr>
              <a:pPr/>
              <a:t>13</a:t>
            </a:fld>
            <a:endParaRPr lang="en-US" altLang="en-US" b="0">
              <a:solidFill>
                <a:schemeClr val="tx2"/>
              </a:solidFill>
            </a:endParaRPr>
          </a:p>
        </p:txBody>
      </p:sp>
      <p:pic>
        <p:nvPicPr>
          <p:cNvPr id="49156"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5438" y="749300"/>
            <a:ext cx="8493125" cy="488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4F472472-72B1-47C9-A777-87D555A10209}"/>
              </a:ext>
            </a:extLst>
          </p:cNvPr>
          <p:cNvSpPr txBox="1"/>
          <p:nvPr/>
        </p:nvSpPr>
        <p:spPr>
          <a:xfrm>
            <a:off x="2057400" y="5739368"/>
            <a:ext cx="6191888" cy="369332"/>
          </a:xfrm>
          <a:prstGeom prst="rect">
            <a:avLst/>
          </a:prstGeom>
          <a:noFill/>
        </p:spPr>
        <p:txBody>
          <a:bodyPr wrap="none" rtlCol="0">
            <a:spAutoFit/>
          </a:bodyPr>
          <a:lstStyle/>
          <a:p>
            <a:r>
              <a:rPr lang="en-US" dirty="0"/>
              <a:t>Figure 7: </a:t>
            </a:r>
            <a:r>
              <a:rPr lang="en-US" dirty="0">
                <a:latin typeface="Calibri" panose="020F0502020204030204" pitchFamily="34" charset="0"/>
                <a:cs typeface="Calibri" panose="020F0502020204030204" pitchFamily="34" charset="0"/>
              </a:rPr>
              <a:t>REMOTE VTEP DISCOVERY AND ADDRESS LEARNING</a:t>
            </a:r>
            <a:endParaRPr lang="en-US" sz="1100" dirty="0">
              <a:latin typeface="Calibri" panose="020F0502020204030204" pitchFamily="34" charset="0"/>
              <a:cs typeface="Calibri" panose="020F0502020204030204" pitchFamily="34"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457200" y="-30163"/>
            <a:ext cx="8686800" cy="563563"/>
          </a:xfrm>
        </p:spPr>
        <p:txBody>
          <a:bodyPr/>
          <a:lstStyle/>
          <a:p>
            <a:pPr eaLnBrk="1" hangingPunct="1">
              <a:defRPr/>
            </a:pPr>
            <a:r>
              <a:rPr lang="en-US" sz="2400" dirty="0">
                <a:effectLst/>
              </a:rPr>
              <a:t>REMOTE VTEP DISCOVERY AND REMOTE ADDRESS LEARNING</a:t>
            </a:r>
          </a:p>
        </p:txBody>
      </p:sp>
      <p:sp>
        <p:nvSpPr>
          <p:cNvPr id="50179" name="Content Placeholder 6"/>
          <p:cNvSpPr>
            <a:spLocks noGrp="1"/>
          </p:cNvSpPr>
          <p:nvPr>
            <p:ph idx="1"/>
          </p:nvPr>
        </p:nvSpPr>
        <p:spPr>
          <a:xfrm>
            <a:off x="266700" y="1066800"/>
            <a:ext cx="9067800" cy="6019800"/>
          </a:xfrm>
        </p:spPr>
        <p:txBody>
          <a:bodyPr/>
          <a:lstStyle/>
          <a:p>
            <a:pPr marL="514350" indent="-514350" eaLnBrk="1" hangingPunct="1">
              <a:buFontTx/>
              <a:buAutoNum type="arabicPeriod"/>
            </a:pPr>
            <a:r>
              <a:rPr lang="en-US" altLang="en-US"/>
              <a:t>End System A sends out an Address Resolution Protocol (ARP) request for IP-B on its Layer 2 VXLAN network. </a:t>
            </a:r>
          </a:p>
          <a:p>
            <a:pPr marL="514350" indent="-514350" eaLnBrk="1" hangingPunct="1">
              <a:buFontTx/>
              <a:buAutoNum type="arabicPeriod"/>
            </a:pPr>
            <a:r>
              <a:rPr lang="en-US" altLang="en-US"/>
              <a:t>VTEP-1 receives the ARP request. It does not yet have a mapping for IP-B. VTEP-1 encapsulates the ARP request in an IP multicast packet and forwards it to the VXLAN multicast group. The encapsulated multicast packet has the IP address of VTEP-1 as the source IP address and the VXLAN multicast group address as the destination IP address. </a:t>
            </a:r>
          </a:p>
        </p:txBody>
      </p:sp>
      <p:sp>
        <p:nvSpPr>
          <p:cNvPr id="5018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256CBFA4-1A7B-4E6B-81DC-80504F96BDDD}" type="slidenum">
              <a:rPr lang="en-US" altLang="en-US" b="0" smtClean="0">
                <a:solidFill>
                  <a:schemeClr val="tx2"/>
                </a:solidFill>
              </a:rPr>
              <a:pPr/>
              <a:t>14</a:t>
            </a:fld>
            <a:endParaRPr lang="en-US" altLang="en-US" b="0">
              <a:solidFill>
                <a:schemeClr val="tx2"/>
              </a:solidFill>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457200" y="-30163"/>
            <a:ext cx="8686800" cy="563563"/>
          </a:xfrm>
        </p:spPr>
        <p:txBody>
          <a:bodyPr/>
          <a:lstStyle/>
          <a:p>
            <a:pPr eaLnBrk="1" hangingPunct="1">
              <a:defRPr/>
            </a:pPr>
            <a:r>
              <a:rPr lang="en-US" sz="2400" dirty="0">
                <a:effectLst/>
              </a:rPr>
              <a:t>REMOTE VTEP DISCOVERY AND REMOTE ADDRESS LEARNING</a:t>
            </a:r>
          </a:p>
        </p:txBody>
      </p:sp>
      <p:sp>
        <p:nvSpPr>
          <p:cNvPr id="51203" name="Content Placeholder 6"/>
          <p:cNvSpPr>
            <a:spLocks noGrp="1"/>
          </p:cNvSpPr>
          <p:nvPr>
            <p:ph idx="1"/>
          </p:nvPr>
        </p:nvSpPr>
        <p:spPr>
          <a:xfrm>
            <a:off x="76200" y="822325"/>
            <a:ext cx="8766175" cy="6019800"/>
          </a:xfrm>
        </p:spPr>
        <p:txBody>
          <a:bodyPr/>
          <a:lstStyle/>
          <a:p>
            <a:pPr marL="514350" indent="-514350" eaLnBrk="1" hangingPunct="1">
              <a:buFontTx/>
              <a:buAutoNum type="arabicPeriod" startAt="3"/>
            </a:pPr>
            <a:r>
              <a:rPr lang="en-US" altLang="en-US" sz="2800"/>
              <a:t>The IP multicast packet is distributed to all members in the tree. VTEP-2 and VTEP-3 receive the encapsulated multicast packet because they’ve joined the VXLAN multicast group. They de-encapsulate the packet and check its VNID in the VXLAN header. If it matches their configured VXLAN segment VNID, they forward the ARP request to their local VXLAN network. They also learn the IP address of VTEP-1 from the outer IP address header and inspect the packet to learn the MAC address of End System A, placing this mapping in the local table. </a:t>
            </a:r>
          </a:p>
        </p:txBody>
      </p:sp>
      <p:sp>
        <p:nvSpPr>
          <p:cNvPr id="5120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B88CBE73-2A95-49FC-A865-80C072161F2D}" type="slidenum">
              <a:rPr lang="en-US" altLang="en-US" b="0" smtClean="0">
                <a:solidFill>
                  <a:schemeClr val="tx2"/>
                </a:solidFill>
              </a:rPr>
              <a:pPr/>
              <a:t>15</a:t>
            </a:fld>
            <a:endParaRPr lang="en-US" altLang="en-US" b="0">
              <a:solidFill>
                <a:schemeClr val="tx2"/>
              </a:solidFill>
            </a:endParaRPr>
          </a:p>
        </p:txBody>
      </p:sp>
      <p:sp>
        <p:nvSpPr>
          <p:cNvPr id="51205" name="TextBox 4"/>
          <p:cNvSpPr txBox="1">
            <a:spLocks noChangeArrowheads="1"/>
          </p:cNvSpPr>
          <p:nvPr/>
        </p:nvSpPr>
        <p:spPr bwMode="auto">
          <a:xfrm>
            <a:off x="3654425" y="6108700"/>
            <a:ext cx="5489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en-US" altLang="en-US" sz="1600" b="0"/>
          </a:p>
          <a:p>
            <a:pPr eaLnBrk="1" hangingPunct="1"/>
            <a:r>
              <a:rPr lang="en-US" altLang="en-US" sz="1600" b="0"/>
              <a:t> VXLAN Oerview: Cisco Nexus 9000 Series Switches</a:t>
            </a:r>
            <a:endParaRPr lang="en-US" altLang="en-US" sz="160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457200" y="-30163"/>
            <a:ext cx="8686800" cy="563563"/>
          </a:xfrm>
        </p:spPr>
        <p:txBody>
          <a:bodyPr/>
          <a:lstStyle/>
          <a:p>
            <a:pPr eaLnBrk="1" hangingPunct="1">
              <a:defRPr/>
            </a:pPr>
            <a:r>
              <a:rPr lang="en-US" sz="2400" dirty="0">
                <a:effectLst/>
              </a:rPr>
              <a:t>REMOTE VTEP DISCOVERY AND REMOTE ADDRESS LEARNING</a:t>
            </a:r>
          </a:p>
        </p:txBody>
      </p:sp>
      <p:sp>
        <p:nvSpPr>
          <p:cNvPr id="53251" name="Content Placeholder 6"/>
          <p:cNvSpPr>
            <a:spLocks noGrp="1"/>
          </p:cNvSpPr>
          <p:nvPr>
            <p:ph idx="1"/>
          </p:nvPr>
        </p:nvSpPr>
        <p:spPr>
          <a:xfrm>
            <a:off x="76200" y="822325"/>
            <a:ext cx="9067800" cy="6019800"/>
          </a:xfrm>
        </p:spPr>
        <p:txBody>
          <a:bodyPr/>
          <a:lstStyle/>
          <a:p>
            <a:pPr marL="514350" indent="-514350" eaLnBrk="1" hangingPunct="1">
              <a:buFontTx/>
              <a:buAutoNum type="arabicPeriod" startAt="4"/>
            </a:pPr>
            <a:r>
              <a:rPr lang="en-US" altLang="en-US"/>
              <a:t>End System B receives the ARP request forwarded by VTEP-2. It responds with its own MAC address (MAC-B), and learns the IP-A-to-MAC-A mapping. </a:t>
            </a:r>
          </a:p>
          <a:p>
            <a:pPr marL="514350" indent="-514350" eaLnBrk="1" hangingPunct="1">
              <a:buFontTx/>
              <a:buAutoNum type="arabicPeriod" startAt="4"/>
            </a:pPr>
            <a:r>
              <a:rPr lang="en-US" altLang="en-US"/>
              <a:t>VTEP-2 receives the ARP reply of End System B that has MAC-A as the destination MAC address. It now knows about MAC-A-to-IP-1 mapping. It can use the unicast tunnel to forward the ARP reply back to VTEP-1. In the encapsulated unicast packet, the source IP address is IP-2 and the destination IP address is IP-1. The ARP reply is encapsulated in the UDP payload. </a:t>
            </a:r>
          </a:p>
          <a:p>
            <a:pPr marL="514350" indent="-514350" eaLnBrk="1" hangingPunct="1">
              <a:buFontTx/>
              <a:buAutoNum type="arabicPeriod" startAt="4"/>
            </a:pPr>
            <a:endParaRPr lang="en-US" altLang="en-US"/>
          </a:p>
        </p:txBody>
      </p:sp>
      <p:sp>
        <p:nvSpPr>
          <p:cNvPr id="5325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6064753F-270D-4242-B834-2C37AE918022}" type="slidenum">
              <a:rPr lang="en-US" altLang="en-US" b="0" smtClean="0">
                <a:solidFill>
                  <a:schemeClr val="tx2"/>
                </a:solidFill>
              </a:rPr>
              <a:pPr/>
              <a:t>16</a:t>
            </a:fld>
            <a:endParaRPr lang="en-US" altLang="en-US" b="0">
              <a:solidFill>
                <a:schemeClr val="tx2"/>
              </a:solidFill>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457200" y="-30163"/>
            <a:ext cx="8686800" cy="563563"/>
          </a:xfrm>
        </p:spPr>
        <p:txBody>
          <a:bodyPr/>
          <a:lstStyle/>
          <a:p>
            <a:pPr eaLnBrk="1" hangingPunct="1">
              <a:defRPr/>
            </a:pPr>
            <a:r>
              <a:rPr lang="en-US" sz="2400" dirty="0">
                <a:effectLst/>
              </a:rPr>
              <a:t>REMOTE VTEP DISCOVERY AND REMOTE ADDRESS LEARNING</a:t>
            </a:r>
          </a:p>
        </p:txBody>
      </p:sp>
      <p:sp>
        <p:nvSpPr>
          <p:cNvPr id="55299" name="Content Placeholder 6"/>
          <p:cNvSpPr>
            <a:spLocks noGrp="1"/>
          </p:cNvSpPr>
          <p:nvPr>
            <p:ph idx="1"/>
          </p:nvPr>
        </p:nvSpPr>
        <p:spPr>
          <a:xfrm>
            <a:off x="76200" y="1066800"/>
            <a:ext cx="9067800" cy="6019800"/>
          </a:xfrm>
        </p:spPr>
        <p:txBody>
          <a:bodyPr/>
          <a:lstStyle/>
          <a:p>
            <a:pPr marL="514350" indent="-514350" eaLnBrk="1" hangingPunct="1">
              <a:buFontTx/>
              <a:buAutoNum type="arabicPeriod" startAt="6"/>
            </a:pPr>
            <a:r>
              <a:rPr lang="en-US" altLang="en-US"/>
              <a:t>VTEP-1 receives the encapsulated ARP reply from VTEP-2. It de-encapsulates and forwards the ARP reply to End System A. It also learns the IP address of VTEP-2 from the outer IP address header and inspects the original packet to learn MAC-B-to-IP-2 mapping. </a:t>
            </a:r>
          </a:p>
          <a:p>
            <a:pPr marL="514350" indent="-514350" eaLnBrk="1" hangingPunct="1">
              <a:buFontTx/>
              <a:buAutoNum type="arabicPeriod" startAt="6"/>
            </a:pPr>
            <a:r>
              <a:rPr lang="en-US" altLang="en-US"/>
              <a:t>Subsequent IP packets between End Systems A and B are unicast forwarded, based on the mapping information on VTEP-1 and VTEP-2, using the VXLAN tunnel between them. </a:t>
            </a:r>
          </a:p>
          <a:p>
            <a:pPr marL="514350" indent="-514350" eaLnBrk="1" hangingPunct="1">
              <a:buFontTx/>
              <a:buAutoNum type="arabicPeriod" startAt="4"/>
            </a:pPr>
            <a:endParaRPr lang="en-US" altLang="en-US" sz="2800"/>
          </a:p>
        </p:txBody>
      </p:sp>
      <p:sp>
        <p:nvSpPr>
          <p:cNvPr id="5530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B2578DF7-9335-4F82-B250-7FA4C4D4D91F}" type="slidenum">
              <a:rPr lang="en-US" altLang="en-US" b="0" smtClean="0">
                <a:solidFill>
                  <a:schemeClr val="tx2"/>
                </a:solidFill>
              </a:rPr>
              <a:pPr/>
              <a:t>17</a:t>
            </a:fld>
            <a:endParaRPr lang="en-US" altLang="en-US" b="0">
              <a:solidFill>
                <a:schemeClr val="tx2"/>
              </a:solidFill>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457200" y="-30163"/>
            <a:ext cx="8686800" cy="563563"/>
          </a:xfrm>
        </p:spPr>
        <p:txBody>
          <a:bodyPr/>
          <a:lstStyle/>
          <a:p>
            <a:pPr eaLnBrk="1" hangingPunct="1">
              <a:defRPr/>
            </a:pPr>
            <a:r>
              <a:rPr lang="en-US" sz="2400" dirty="0">
                <a:effectLst/>
              </a:rPr>
              <a:t>REMOTE VTEP DISCOVERY AND REMOTE ADDRESS LEARNING</a:t>
            </a:r>
          </a:p>
        </p:txBody>
      </p:sp>
      <p:sp>
        <p:nvSpPr>
          <p:cNvPr id="57347"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AB1A093A-5542-4902-AA5C-3D2A7A844190}" type="slidenum">
              <a:rPr lang="en-US" altLang="en-US" b="0" smtClean="0">
                <a:solidFill>
                  <a:schemeClr val="tx2"/>
                </a:solidFill>
              </a:rPr>
              <a:pPr/>
              <a:t>18</a:t>
            </a:fld>
            <a:endParaRPr lang="en-US" altLang="en-US" b="0">
              <a:solidFill>
                <a:schemeClr val="tx2"/>
              </a:solidFill>
            </a:endParaRPr>
          </a:p>
        </p:txBody>
      </p:sp>
      <p:sp>
        <p:nvSpPr>
          <p:cNvPr id="57348" name="Content Placeholder 1"/>
          <p:cNvSpPr>
            <a:spLocks noGrp="1"/>
          </p:cNvSpPr>
          <p:nvPr>
            <p:ph idx="1"/>
          </p:nvPr>
        </p:nvSpPr>
        <p:spPr/>
        <p:txBody>
          <a:bodyPr/>
          <a:lstStyle/>
          <a:p>
            <a:pPr eaLnBrk="1" hangingPunct="1"/>
            <a:r>
              <a:rPr lang="en-US" altLang="en-US">
                <a:hlinkClick r:id="rId3"/>
              </a:rPr>
              <a:t>https://www.youtube.com/watch?v=QPqVtguOz4w</a:t>
            </a:r>
            <a:endParaRPr lang="en-US" alt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122238"/>
            <a:ext cx="8686800" cy="563562"/>
          </a:xfrm>
        </p:spPr>
        <p:txBody>
          <a:bodyPr/>
          <a:lstStyle/>
          <a:p>
            <a:pPr eaLnBrk="1" hangingPunct="1">
              <a:defRPr/>
            </a:pPr>
            <a:r>
              <a:rPr lang="en-US">
                <a:effectLst/>
              </a:rPr>
              <a:t>VXLAN WITH WIRESHARK</a:t>
            </a:r>
            <a:endParaRPr lang="en-US" dirty="0">
              <a:effectLst/>
            </a:endParaRPr>
          </a:p>
        </p:txBody>
      </p:sp>
      <p:sp>
        <p:nvSpPr>
          <p:cNvPr id="59395" name="Content Placeholder 2"/>
          <p:cNvSpPr>
            <a:spLocks noGrp="1"/>
          </p:cNvSpPr>
          <p:nvPr>
            <p:ph idx="1"/>
          </p:nvPr>
        </p:nvSpPr>
        <p:spPr/>
        <p:txBody>
          <a:bodyPr/>
          <a:lstStyle/>
          <a:p>
            <a:pPr eaLnBrk="1" hangingPunct="1"/>
            <a:r>
              <a:rPr lang="en-US" altLang="en-US">
                <a:hlinkClick r:id="rId3"/>
              </a:rPr>
              <a:t>https://www.youtube.com/watch?v=Jqm_4TMmQz8</a:t>
            </a:r>
            <a:endParaRPr lang="en-US" altLang="en-US"/>
          </a:p>
          <a:p>
            <a:pPr eaLnBrk="1" hangingPunct="1"/>
            <a:endParaRPr lang="en-US" altLang="en-US"/>
          </a:p>
        </p:txBody>
      </p:sp>
      <p:sp>
        <p:nvSpPr>
          <p:cNvPr id="5939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fld id="{B1AC56E1-5366-4D43-8ACF-6DFB91465D6A}" type="slidenum">
              <a:rPr lang="en-US" altLang="en-US" b="0" smtClean="0">
                <a:solidFill>
                  <a:schemeClr val="tx2"/>
                </a:solidFill>
              </a:rPr>
              <a:pPr/>
              <a:t>19</a:t>
            </a:fld>
            <a:endParaRPr lang="en-US" altLang="en-US" b="0">
              <a:solidFill>
                <a:schemeClr val="tx2"/>
              </a:solidFill>
            </a:endParaRPr>
          </a:p>
        </p:txBody>
      </p:sp>
    </p:spTree>
  </p:cSld>
  <p:clrMapOvr>
    <a:masterClrMapping/>
  </p:clrMapOvr>
  <p:transition/>
</p:sld>
</file>

<file path=ppt/theme/theme1.xml><?xml version="1.0" encoding="utf-8"?>
<a:theme xmlns:a="http://schemas.openxmlformats.org/drawingml/2006/main" name="Default Design">
  <a:themeElements>
    <a:clrScheme name="">
      <a:dk1>
        <a:srgbClr val="000000"/>
      </a:dk1>
      <a:lt1>
        <a:srgbClr val="FFFFFF"/>
      </a:lt1>
      <a:dk2>
        <a:srgbClr val="0B3D91"/>
      </a:dk2>
      <a:lt2>
        <a:srgbClr val="000066"/>
      </a:lt2>
      <a:accent1>
        <a:srgbClr val="97A8D9"/>
      </a:accent1>
      <a:accent2>
        <a:srgbClr val="C7D2F5"/>
      </a:accent2>
      <a:accent3>
        <a:srgbClr val="FFFFFF"/>
      </a:accent3>
      <a:accent4>
        <a:srgbClr val="000000"/>
      </a:accent4>
      <a:accent5>
        <a:srgbClr val="C9D1E9"/>
      </a:accent5>
      <a:accent6>
        <a:srgbClr val="B4BEDE"/>
      </a:accent6>
      <a:hlink>
        <a:srgbClr val="DC241F"/>
      </a:hlink>
      <a:folHlink>
        <a:srgbClr val="CCCC99"/>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alpha val="50000"/>
          </a:schemeClr>
        </a:solidFill>
        <a:ln w="9525" cap="flat" cmpd="sng" algn="ctr">
          <a:solidFill>
            <a:srgbClr val="FFFF00"/>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66"/>
        </a:dk2>
        <a:lt2>
          <a:srgbClr val="808080"/>
        </a:lt2>
        <a:accent1>
          <a:srgbClr val="CCCC99"/>
        </a:accent1>
        <a:accent2>
          <a:srgbClr val="DC241F"/>
        </a:accent2>
        <a:accent3>
          <a:srgbClr val="FFFFFF"/>
        </a:accent3>
        <a:accent4>
          <a:srgbClr val="000000"/>
        </a:accent4>
        <a:accent5>
          <a:srgbClr val="E2E2CA"/>
        </a:accent5>
        <a:accent6>
          <a:srgbClr val="C7201B"/>
        </a:accent6>
        <a:hlink>
          <a:srgbClr val="0035AD"/>
        </a:hlink>
        <a:folHlink>
          <a:srgbClr val="918C5A"/>
        </a:folHlink>
      </a:clrScheme>
      <a:clrMap bg1="lt1" tx1="dk1" bg2="lt2" tx2="dk2" accent1="accent1" accent2="accent2" accent3="accent3" accent4="accent4" accent5="accent5" accent6="accent6" hlink="hlink" folHlink="folHlink"/>
    </a:extraClrScheme>
    <a:extraClrScheme>
      <a:clrScheme name="Default Design 14">
        <a:dk1>
          <a:srgbClr val="000000"/>
        </a:dk1>
        <a:lt1>
          <a:srgbClr val="FFFFFF"/>
        </a:lt1>
        <a:dk2>
          <a:srgbClr val="0B3D91"/>
        </a:dk2>
        <a:lt2>
          <a:srgbClr val="000066"/>
        </a:lt2>
        <a:accent1>
          <a:srgbClr val="70B2F4"/>
        </a:accent1>
        <a:accent2>
          <a:srgbClr val="C3EAFD"/>
        </a:accent2>
        <a:accent3>
          <a:srgbClr val="FFFFFF"/>
        </a:accent3>
        <a:accent4>
          <a:srgbClr val="000000"/>
        </a:accent4>
        <a:accent5>
          <a:srgbClr val="BBD5F8"/>
        </a:accent5>
        <a:accent6>
          <a:srgbClr val="B0D4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
      <a:clrScheme name="Default Design 15">
        <a:dk1>
          <a:srgbClr val="000000"/>
        </a:dk1>
        <a:lt1>
          <a:srgbClr val="FFFFFF"/>
        </a:lt1>
        <a:dk2>
          <a:srgbClr val="0B3D91"/>
        </a:dk2>
        <a:lt2>
          <a:srgbClr val="000066"/>
        </a:lt2>
        <a:accent1>
          <a:srgbClr val="70B2F4"/>
        </a:accent1>
        <a:accent2>
          <a:srgbClr val="C3DCFD"/>
        </a:accent2>
        <a:accent3>
          <a:srgbClr val="FFFFFF"/>
        </a:accent3>
        <a:accent4>
          <a:srgbClr val="000000"/>
        </a:accent4>
        <a:accent5>
          <a:srgbClr val="BBD5F8"/>
        </a:accent5>
        <a:accent6>
          <a:srgbClr val="B0C7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
      <a:clrScheme name="Default Design 16">
        <a:dk1>
          <a:srgbClr val="000000"/>
        </a:dk1>
        <a:lt1>
          <a:srgbClr val="FFFFFF"/>
        </a:lt1>
        <a:dk2>
          <a:srgbClr val="0B3D91"/>
        </a:dk2>
        <a:lt2>
          <a:srgbClr val="000066"/>
        </a:lt2>
        <a:accent1>
          <a:srgbClr val="70B2F4"/>
        </a:accent1>
        <a:accent2>
          <a:srgbClr val="C3E4FD"/>
        </a:accent2>
        <a:accent3>
          <a:srgbClr val="FFFFFF"/>
        </a:accent3>
        <a:accent4>
          <a:srgbClr val="000000"/>
        </a:accent4>
        <a:accent5>
          <a:srgbClr val="BBD5F8"/>
        </a:accent5>
        <a:accent6>
          <a:srgbClr val="B0CF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12239</TotalTime>
  <Words>1311</Words>
  <Application>Microsoft Office PowerPoint</Application>
  <PresentationFormat>On-screen Show (4:3)</PresentationFormat>
  <Paragraphs>99</Paragraphs>
  <Slides>20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Wingdings</vt:lpstr>
      <vt:lpstr>Default Design</vt:lpstr>
      <vt:lpstr>EETS 8355: data center network engineering</vt:lpstr>
      <vt:lpstr>VXLAN PACKET FORWARDING </vt:lpstr>
      <vt:lpstr>VXLAN PACKET FORWARDING </vt:lpstr>
      <vt:lpstr>VXLAN PACKET FORWARDING </vt:lpstr>
      <vt:lpstr>VXLAN PACKET FORWARDING </vt:lpstr>
      <vt:lpstr>VXLAN PACKET FORWARDING </vt:lpstr>
      <vt:lpstr>VXLAN PACKET FORWARDING </vt:lpstr>
      <vt:lpstr>VXLAN PACKET FORWARDING </vt:lpstr>
      <vt:lpstr>VXLAN FOR BUM</vt:lpstr>
      <vt:lpstr>VXLAN FOR BUM</vt:lpstr>
      <vt:lpstr>VXLAN FOR BUM</vt:lpstr>
      <vt:lpstr>REMOTE VTEP DISCOVERY AND REMOTE ADDRESS LEARNING</vt:lpstr>
      <vt:lpstr>REMOTE VTEP DISCOVERY AND REMOTE ADDRESS LEARNING</vt:lpstr>
      <vt:lpstr>REMOTE VTEP DISCOVERY AND ADDRESS LEARNING</vt:lpstr>
      <vt:lpstr>REMOTE VTEP DISCOVERY AND REMOTE ADDRESS LEARNING</vt:lpstr>
      <vt:lpstr>REMOTE VTEP DISCOVERY AND REMOTE ADDRESS LEARNING</vt:lpstr>
      <vt:lpstr>REMOTE VTEP DISCOVERY AND REMOTE ADDRESS LEARNING</vt:lpstr>
      <vt:lpstr>REMOTE VTEP DISCOVERY AND REMOTE ADDRESS LEARNING</vt:lpstr>
      <vt:lpstr>REMOTE VTEP DISCOVERY AND REMOTE ADDRESS LEARNING</vt:lpstr>
      <vt:lpstr>VXLAN WITH WIRESHARK</vt:lpstr>
    </vt:vector>
  </TitlesOfParts>
  <Company>SMU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SMU Generic Template: Blue</dc:title>
  <dc:creator>Marlin Kingsley</dc:creator>
  <cp:lastModifiedBy>Scott Kingsley</cp:lastModifiedBy>
  <cp:revision>790</cp:revision>
  <cp:lastPrinted>2021-03-09T21:44:55Z</cp:lastPrinted>
  <dcterms:created xsi:type="dcterms:W3CDTF">2004-08-08T18:58:35Z</dcterms:created>
  <dcterms:modified xsi:type="dcterms:W3CDTF">2022-12-12T00:39:29Z</dcterms:modified>
</cp:coreProperties>
</file>