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79" r:id="rId4"/>
    <p:sldId id="274" r:id="rId5"/>
    <p:sldId id="277" r:id="rId6"/>
    <p:sldId id="278" r:id="rId7"/>
    <p:sldId id="280" r:id="rId8"/>
    <p:sldId id="259" r:id="rId9"/>
    <p:sldId id="260" r:id="rId10"/>
    <p:sldId id="580" r:id="rId11"/>
    <p:sldId id="271" r:id="rId12"/>
    <p:sldId id="261" r:id="rId13"/>
    <p:sldId id="262" r:id="rId14"/>
    <p:sldId id="574" r:id="rId15"/>
    <p:sldId id="576" r:id="rId16"/>
    <p:sldId id="577" r:id="rId17"/>
    <p:sldId id="571" r:id="rId18"/>
    <p:sldId id="578" r:id="rId19"/>
    <p:sldId id="579" r:id="rId20"/>
    <p:sldId id="575" r:id="rId21"/>
    <p:sldId id="263" r:id="rId22"/>
    <p:sldId id="264" r:id="rId23"/>
    <p:sldId id="281" r:id="rId24"/>
    <p:sldId id="265" r:id="rId25"/>
    <p:sldId id="258" r:id="rId26"/>
    <p:sldId id="267" r:id="rId27"/>
    <p:sldId id="268" r:id="rId28"/>
    <p:sldId id="266" r:id="rId29"/>
    <p:sldId id="269" r:id="rId30"/>
    <p:sldId id="270" r:id="rId31"/>
  </p:sldIdLst>
  <p:sldSz cx="9144000" cy="5143500" type="screen16x9"/>
  <p:notesSz cx="7102475" cy="93884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2" d="100"/>
          <a:sy n="102" d="100"/>
        </p:scale>
        <p:origin x="91"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1909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Good morning, everyone. Today, we're diving deep into the critical world of network I/O virtualization, a topic central to high-performance data centers and NFV deployments. We'll be dissecting three key technologies: DPDK, SR-IOV, and VMDq. These aren't just buzzwords; they represent fundamental shifts in how we handle network traffic in virtualized environments. Each offers a distinct approach to overcoming the inherent bottlenecks of traditional networking. We'll explore their architectures, their trade-offs, and ultimately, how to choose the right tool for the right job. Let's start by understanding the core problem these technologies aim to solve.</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The fundamental challenge we face in modern data centers is that traditional kernel networking simply cannot keep pace with the demands of high-speed virtualized environments. When we're pushing 10 gigabits per second and beyond, the overhead of the standard packet path becomes a severe bottleneck. Every single packet triggers a CPU interrupt, forcing the CPU to context switch and process it through the kernel's network stack. This isn't just about CPU cycles; it's about multiple memory copies and the software virtual switch having to inspect and sort every frame. At high packet rates, say over a million packets per second, this overhead doesn't just add latency; it consumes entire CPU cores, leading to a non-linear degradation in performance. We need a better way to move packets efficiently. So, let's look at how the industry has responded to this challenge.</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B4874-3C41-F350-A6E1-3030F87C1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29242-95B5-2413-E699-CC2843ECA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EF06C0-0E64-4606-6673-382C9261497F}"/>
              </a:ext>
            </a:extLst>
          </p:cNvPr>
          <p:cNvSpPr>
            <a:spLocks noGrp="1"/>
          </p:cNvSpPr>
          <p:nvPr>
            <p:ph type="body" idx="1"/>
          </p:nvPr>
        </p:nvSpPr>
        <p:spPr/>
        <p:txBody>
          <a:bodyPr lIns="105540" tIns="52770" rIns="105540" bIns="52770"/>
          <a:lstStyle/>
          <a:p>
            <a:r>
              <a:rPr lang="en-US" dirty="0"/>
              <a:t>The fundamental challenge we face in modern data centers is that traditional kernel networking simply cannot keep pace with the demands of high-speed virtualized environments. When we're pushing 10 gigabits per second and beyond, the overhead of the standard packet path becomes a severe bottleneck. Every single packet triggers a CPU interrupt, forcing the CPU to context switch and process it through the kernel's network stack. This isn't just about CPU cycles; it's about multiple memory copies and the software virtual switch having to inspect and sort every frame. At high packet rates, say over a million packets per second, this overhead doesn't just add latency; it consumes entire CPU cores, leading to a non-linear degradation in performance. We need a better way to move packets efficiently. So, let's look at how the industry has responded to this challenge.</a:t>
            </a:r>
          </a:p>
        </p:txBody>
      </p:sp>
      <p:sp>
        <p:nvSpPr>
          <p:cNvPr id="4" name="Slide Number Placeholder 3">
            <a:extLst>
              <a:ext uri="{FF2B5EF4-FFF2-40B4-BE49-F238E27FC236}">
                <a16:creationId xmlns:a16="http://schemas.microsoft.com/office/drawing/2014/main" id="{E83024BB-B858-DB82-C536-0BF3B4596DD3}"/>
              </a:ext>
            </a:extLst>
          </p:cNvPr>
          <p:cNvSpPr>
            <a:spLocks noGrp="1"/>
          </p:cNvSpPr>
          <p:nvPr>
            <p:ph type="sldNum" sz="quarter" idx="10"/>
          </p:nvPr>
        </p:nvSpPr>
        <p:spPr/>
        <p:txBody>
          <a:bodyPr lIns="105540" tIns="52770" rIns="105540" bIns="52770"/>
          <a:lstStyle/>
          <a:p>
            <a:fld id="{F7021451-1387-4CA6-816F-3879F97B5CBC}" type="slidenum">
              <a:rPr lang="en-US"/>
              <a:t>3</a:t>
            </a:fld>
            <a:endParaRPr lang="en-US"/>
          </a:p>
        </p:txBody>
      </p:sp>
    </p:spTree>
    <p:extLst>
      <p:ext uri="{BB962C8B-B14F-4D97-AF65-F5344CB8AC3E}">
        <p14:creationId xmlns:p14="http://schemas.microsoft.com/office/powerpoint/2010/main" val="2159161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1FABA-DFFA-5850-71E4-A41B1C4589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9A691-6E3B-5F1A-EA1A-B67184805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D3ACC-6FA9-131F-7C99-F527E40A0861}"/>
              </a:ext>
            </a:extLst>
          </p:cNvPr>
          <p:cNvSpPr>
            <a:spLocks noGrp="1"/>
          </p:cNvSpPr>
          <p:nvPr>
            <p:ph type="body" idx="1"/>
          </p:nvPr>
        </p:nvSpPr>
        <p:spPr/>
        <p:txBody>
          <a:bodyPr lIns="105540" tIns="52770" rIns="105540" bIns="52770"/>
          <a:lstStyle/>
          <a:p>
            <a:r>
              <a:rPr lang="en-US" dirty="0"/>
              <a:t>The fundamental challenge we face in modern data centers is that traditional kernel networking simply cannot keep pace with the demands of high-speed virtualized environments. When we're pushing 10 gigabits per second and beyond, the overhead of the standard packet path becomes a severe bottleneck. Every single packet triggers a CPU interrupt, forcing the CPU to context switch and process it through the kernel's network stack. This isn't just about CPU cycles; it's about multiple memory copies and the software virtual switch having to inspect and sort every frame. At high packet rates, say over a million packets per second, this overhead doesn't just add latency; it consumes entire CPU cores, leading to a non-linear degradation in performance. We need a better way to move packets efficiently. So, let's look at how the industry has responded to this challenge.</a:t>
            </a:r>
          </a:p>
        </p:txBody>
      </p:sp>
      <p:sp>
        <p:nvSpPr>
          <p:cNvPr id="4" name="Slide Number Placeholder 3">
            <a:extLst>
              <a:ext uri="{FF2B5EF4-FFF2-40B4-BE49-F238E27FC236}">
                <a16:creationId xmlns:a16="http://schemas.microsoft.com/office/drawing/2014/main" id="{57F96AFC-0103-988A-5ABC-9B59459B463E}"/>
              </a:ext>
            </a:extLst>
          </p:cNvPr>
          <p:cNvSpPr>
            <a:spLocks noGrp="1"/>
          </p:cNvSpPr>
          <p:nvPr>
            <p:ph type="sldNum" sz="quarter" idx="10"/>
          </p:nvPr>
        </p:nvSpPr>
        <p:spPr/>
        <p:txBody>
          <a:bodyPr lIns="105540" tIns="52770" rIns="105540" bIns="52770"/>
          <a:lstStyle/>
          <a:p>
            <a:fld id="{F7021451-1387-4CA6-816F-3879F97B5CBC}" type="slidenum">
              <a:rPr lang="en-US"/>
              <a:t>4</a:t>
            </a:fld>
            <a:endParaRPr lang="en-US"/>
          </a:p>
        </p:txBody>
      </p:sp>
    </p:spTree>
    <p:extLst>
      <p:ext uri="{BB962C8B-B14F-4D97-AF65-F5344CB8AC3E}">
        <p14:creationId xmlns:p14="http://schemas.microsoft.com/office/powerpoint/2010/main" val="3594317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81F64-6521-94DA-C138-0A9319A8D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CF375-CD24-C128-6D51-333F8EA25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C6C64-2943-2692-A1B6-C6B2731DAE99}"/>
              </a:ext>
            </a:extLst>
          </p:cNvPr>
          <p:cNvSpPr>
            <a:spLocks noGrp="1"/>
          </p:cNvSpPr>
          <p:nvPr>
            <p:ph type="body" idx="1"/>
          </p:nvPr>
        </p:nvSpPr>
        <p:spPr/>
        <p:txBody>
          <a:bodyPr lIns="105540" tIns="52770" rIns="105540" bIns="52770"/>
          <a:lstStyle/>
          <a:p>
            <a:r>
              <a:rPr lang="en-US" dirty="0"/>
              <a:t>The fundamental challenge we face in modern data centers is that traditional kernel networking simply cannot keep pace with the demands of high-speed virtualized environments. When we're pushing 10 gigabits per second and beyond, the overhead of the standard packet path becomes a severe bottleneck. Every single packet triggers a CPU interrupt, forcing the CPU to context switch and process it through the kernel's network stack. This isn't just about CPU cycles; it's about multiple memory copies and the software virtual switch having to inspect and sort every frame. At high packet rates, say over a million packets per second, this overhead doesn't just add latency; it consumes entire CPU cores, leading to a non-linear degradation in performance. We need a better way to move packets efficiently. So, let's look at how the industry has responded to this challenge.</a:t>
            </a:r>
          </a:p>
        </p:txBody>
      </p:sp>
      <p:sp>
        <p:nvSpPr>
          <p:cNvPr id="4" name="Slide Number Placeholder 3">
            <a:extLst>
              <a:ext uri="{FF2B5EF4-FFF2-40B4-BE49-F238E27FC236}">
                <a16:creationId xmlns:a16="http://schemas.microsoft.com/office/drawing/2014/main" id="{CE8E2D96-D2A8-D4F9-A7C8-7D4384289E44}"/>
              </a:ext>
            </a:extLst>
          </p:cNvPr>
          <p:cNvSpPr>
            <a:spLocks noGrp="1"/>
          </p:cNvSpPr>
          <p:nvPr>
            <p:ph type="sldNum" sz="quarter" idx="10"/>
          </p:nvPr>
        </p:nvSpPr>
        <p:spPr/>
        <p:txBody>
          <a:bodyPr lIns="105540" tIns="52770" rIns="105540" bIns="52770"/>
          <a:lstStyle/>
          <a:p>
            <a:fld id="{F7021451-1387-4CA6-816F-3879F97B5CBC}" type="slidenum">
              <a:rPr lang="en-US"/>
              <a:t>5</a:t>
            </a:fld>
            <a:endParaRPr lang="en-US"/>
          </a:p>
        </p:txBody>
      </p:sp>
    </p:spTree>
    <p:extLst>
      <p:ext uri="{BB962C8B-B14F-4D97-AF65-F5344CB8AC3E}">
        <p14:creationId xmlns:p14="http://schemas.microsoft.com/office/powerpoint/2010/main" val="26228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A621-C73B-3080-E714-E986A472C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F2630-704C-F997-9AF0-5C7E6E615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DCAE2-7AF9-2F10-501A-9BC547DE9925}"/>
              </a:ext>
            </a:extLst>
          </p:cNvPr>
          <p:cNvSpPr>
            <a:spLocks noGrp="1"/>
          </p:cNvSpPr>
          <p:nvPr>
            <p:ph type="body" idx="1"/>
          </p:nvPr>
        </p:nvSpPr>
        <p:spPr/>
        <p:txBody>
          <a:bodyPr lIns="105540" tIns="52770" rIns="105540" bIns="52770"/>
          <a:lstStyle/>
          <a:p>
            <a:r>
              <a:rPr lang="en-US" dirty="0"/>
              <a:t>VMDq, or Virtual Machine Device Queues, is an Intel hardware-assist technology designed to alleviate one of the most CPU-intensive tasks of the software virtual switch: packet sorting. Instead of the hypervisor's CPU having to inspect every incoming packet to determine its destination VM, VMDq offloads this classification to the NIC hardware. Each VM gets its own dedicated hardware receive queue. The NIC then intelligently classifies incoming frames based on their MAC address and VLAN ID, placing them directly into the correct VM's queue. This means the hypervisor's vSwitch still handles final delivery and policy enforcement, but its most expensive operation has been moved into silicon. This approach maintains full compatibility with features like live migration, which is a significant advantage in many enterprise environments. Now, let's weigh the pros and cons of this approach.</a:t>
            </a:r>
          </a:p>
        </p:txBody>
      </p:sp>
      <p:sp>
        <p:nvSpPr>
          <p:cNvPr id="4" name="Slide Number Placeholder 3">
            <a:extLst>
              <a:ext uri="{FF2B5EF4-FFF2-40B4-BE49-F238E27FC236}">
                <a16:creationId xmlns:a16="http://schemas.microsoft.com/office/drawing/2014/main" id="{9EB07BE5-67E2-601F-6591-01BA0D9AB994}"/>
              </a:ext>
            </a:extLst>
          </p:cNvPr>
          <p:cNvSpPr>
            <a:spLocks noGrp="1"/>
          </p:cNvSpPr>
          <p:nvPr>
            <p:ph type="sldNum" sz="quarter" idx="10"/>
          </p:nvPr>
        </p:nvSpPr>
        <p:spPr/>
        <p:txBody>
          <a:bodyPr lIns="105540" tIns="52770" rIns="105540" bIns="52770"/>
          <a:lstStyle/>
          <a:p>
            <a:fld id="{F7021451-1387-4CA6-816F-3879F97B5CBC}" type="slidenum">
              <a:rPr lang="en-US"/>
              <a:t>6</a:t>
            </a:fld>
            <a:endParaRPr lang="en-US"/>
          </a:p>
        </p:txBody>
      </p:sp>
    </p:spTree>
    <p:extLst>
      <p:ext uri="{BB962C8B-B14F-4D97-AF65-F5344CB8AC3E}">
        <p14:creationId xmlns:p14="http://schemas.microsoft.com/office/powerpoint/2010/main" val="1919272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546F0-65E9-8769-8292-3786A6B9C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50EA1-602A-22E9-2B9D-79F01DDC3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2EF31-D9C2-1FFF-166B-4BB5A76C334D}"/>
              </a:ext>
            </a:extLst>
          </p:cNvPr>
          <p:cNvSpPr>
            <a:spLocks noGrp="1"/>
          </p:cNvSpPr>
          <p:nvPr>
            <p:ph type="body" idx="1"/>
          </p:nvPr>
        </p:nvSpPr>
        <p:spPr/>
        <p:txBody>
          <a:bodyPr lIns="105540" tIns="52770" rIns="105540" bIns="52770"/>
          <a:lstStyle/>
          <a:p>
            <a:r>
              <a:rPr lang="en-US" dirty="0"/>
              <a:t>VMDq, or Virtual Machine Device Queues, is an Intel hardware-assist technology designed to alleviate one of the most CPU-intensive tasks of the software virtual switch: packet sorting. Instead of the hypervisor's CPU having to inspect every incoming packet to determine its destination VM, VMDq offloads this classification to the NIC hardware. Each VM gets its own dedicated hardware receive queue. The NIC then intelligently classifies incoming frames based on their MAC address and VLAN ID, placing them directly into the correct VM's queue. This means the hypervisor's vSwitch still handles final delivery and policy enforcement, but its most expensive operation has been moved into silicon. This approach maintains full compatibility with features like live migration, which is a significant advantage in many enterprise environments. Now, let's weigh the pros and cons of this approach.</a:t>
            </a:r>
          </a:p>
        </p:txBody>
      </p:sp>
      <p:sp>
        <p:nvSpPr>
          <p:cNvPr id="4" name="Slide Number Placeholder 3">
            <a:extLst>
              <a:ext uri="{FF2B5EF4-FFF2-40B4-BE49-F238E27FC236}">
                <a16:creationId xmlns:a16="http://schemas.microsoft.com/office/drawing/2014/main" id="{B18D7DBA-885F-DAD1-60FE-8F2896139E1B}"/>
              </a:ext>
            </a:extLst>
          </p:cNvPr>
          <p:cNvSpPr>
            <a:spLocks noGrp="1"/>
          </p:cNvSpPr>
          <p:nvPr>
            <p:ph type="sldNum" sz="quarter" idx="10"/>
          </p:nvPr>
        </p:nvSpPr>
        <p:spPr/>
        <p:txBody>
          <a:bodyPr lIns="105540" tIns="52770" rIns="105540" bIns="52770"/>
          <a:lstStyle/>
          <a:p>
            <a:fld id="{F7021451-1387-4CA6-816F-3879F97B5CBC}" type="slidenum">
              <a:rPr lang="en-US"/>
              <a:t>7</a:t>
            </a:fld>
            <a:endParaRPr lang="en-US"/>
          </a:p>
        </p:txBody>
      </p:sp>
    </p:spTree>
    <p:extLst>
      <p:ext uri="{BB962C8B-B14F-4D97-AF65-F5344CB8AC3E}">
        <p14:creationId xmlns:p14="http://schemas.microsoft.com/office/powerpoint/2010/main" val="3364698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VMDq, or Virtual Machine Device Queues, is an Intel hardware-assist technology designed to alleviate one of the most CPU-intensive tasks of the software virtual switch: packet sorting. Instead of the hypervisor's CPU having to inspect every incoming packet to determine its destination VM, VMDq offloads this classification to the NIC hardware. Each VM gets its own dedicated hardware receive queue. The NIC then intelligently classifies incoming frames based on their MAC address and VLAN ID, placing them directly into the correct VM's queue. This means the hypervisor's vSwitch still handles final delivery and policy enforcement, but its most expensive operation has been moved into silicon. This approach maintains full compatibility with features like live migration, which is a significant advantage in many enterprise environments. Now, let's weigh the pros and cons of this approach.</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VMDq offers a practical and often sufficient performance boost, especially in general-purpose enterprise virtualization. Its primary advantage is significantly reducing the hypervisor's CPU load for packet sorting, freeing up those cycles for other VM workloads. Crucially, it maintains full compatibility with essential hypervisor features like live migration, security groups, and QoS policies, because the vSwitch remains in the data path. Deployment is also simpler than SR-IOV, requiring no complex BIOS or IOMMU configurations. However, VMDq doesn't eliminate the hypervisor from the data path entirely; it only offloads the sorting. This means its peak performance won't match SR-IOV or DPDK. It's also an Intel-proprietary technology, limiting hardware choice, and it's mutually exclusive with SR-IOV on the same port. So, VMDq is a great middle-ground solution when live migration is paramount and a moderate performance gain is acceptable. Next, we'll explore SR-IOV, which takes a much more aggressive approach to performance.</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6BEF-F86F-D23B-1F10-B7A42F7E2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A8406-3C52-361F-AF66-3A44635A6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EC2BD-3B23-90DC-9262-6847F836ECF6}"/>
              </a:ext>
            </a:extLst>
          </p:cNvPr>
          <p:cNvSpPr>
            <a:spLocks noGrp="1"/>
          </p:cNvSpPr>
          <p:nvPr>
            <p:ph type="body" idx="1"/>
          </p:nvPr>
        </p:nvSpPr>
        <p:spPr/>
        <p:txBody>
          <a:bodyPr lIns="105540" tIns="52770" rIns="105540" bIns="52770"/>
          <a:lstStyle/>
          <a:p>
            <a:r>
              <a:rPr lang="en-US" dirty="0"/>
              <a:t>VMDq, or Virtual Machine Device Queues, is an Intel hardware-assist technology designed to alleviate one of the most CPU-intensive tasks of the software virtual switch: packet sorting. Instead of the hypervisor's CPU having to inspect every incoming packet to determine its destination VM, VMDq offloads this classification to the NIC hardware. Each VM gets its own dedicated hardware receive queue. The NIC then intelligently classifies incoming frames based on their MAC address and VLAN ID, placing them directly into the correct VM's queue. This means the hypervisor's vSwitch still handles final delivery and policy enforcement, but its most expensive operation has been moved into silicon. This approach maintains full compatibility with features like live migration, which is a significant advantage in many enterprise environments. Now, let's weigh the pros and cons of this approach.</a:t>
            </a:r>
          </a:p>
        </p:txBody>
      </p:sp>
      <p:sp>
        <p:nvSpPr>
          <p:cNvPr id="4" name="Slide Number Placeholder 3">
            <a:extLst>
              <a:ext uri="{FF2B5EF4-FFF2-40B4-BE49-F238E27FC236}">
                <a16:creationId xmlns:a16="http://schemas.microsoft.com/office/drawing/2014/main" id="{526A330C-5BB9-C867-2D4E-19915B977290}"/>
              </a:ext>
            </a:extLst>
          </p:cNvPr>
          <p:cNvSpPr>
            <a:spLocks noGrp="1"/>
          </p:cNvSpPr>
          <p:nvPr>
            <p:ph type="sldNum" sz="quarter" idx="10"/>
          </p:nvPr>
        </p:nvSpPr>
        <p:spPr/>
        <p:txBody>
          <a:bodyPr lIns="105540" tIns="52770" rIns="105540" bIns="52770"/>
          <a:lstStyle/>
          <a:p>
            <a:fld id="{F7021451-1387-4CA6-816F-3879F97B5CBC}" type="slidenum">
              <a:rPr lang="en-US"/>
              <a:t>10</a:t>
            </a:fld>
            <a:endParaRPr lang="en-US"/>
          </a:p>
        </p:txBody>
      </p:sp>
    </p:spTree>
    <p:extLst>
      <p:ext uri="{BB962C8B-B14F-4D97-AF65-F5344CB8AC3E}">
        <p14:creationId xmlns:p14="http://schemas.microsoft.com/office/powerpoint/2010/main" val="1020623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439B6-602D-8746-CA00-6866CA470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082CF2-1156-B562-E681-7CF63A239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08906-AB0B-2C03-594A-5973BB460534}"/>
              </a:ext>
            </a:extLst>
          </p:cNvPr>
          <p:cNvSpPr>
            <a:spLocks noGrp="1"/>
          </p:cNvSpPr>
          <p:nvPr>
            <p:ph type="body" idx="1"/>
          </p:nvPr>
        </p:nvSpPr>
        <p:spPr/>
        <p:txBody>
          <a:bodyPr lIns="105540" tIns="52770" rIns="105540" bIns="52770"/>
          <a:lstStyle/>
          <a:p>
            <a:r>
              <a:rPr lang="en-US" dirty="0"/>
              <a:t>VMDq offers a practical and often sufficient performance boost, especially in general-purpose enterprise virtualization. Its primary advantage is significantly reducing the hypervisor's CPU load for packet sorting, freeing up those cycles for other VM workloads. Crucially, it maintains full compatibility with essential hypervisor features like live migration, security groups, and QoS policies, because the vSwitch remains in the data path. Deployment is also simpler than SR-IOV, requiring no complex BIOS or IOMMU configurations. However, VMDq doesn't eliminate the hypervisor from the data path entirely; it only offloads the sorting. This means its peak performance won't match SR-IOV or DPDK. It's also an Intel-proprietary technology, limiting hardware choice, and it's mutually exclusive with SR-IOV on the same port. So, VMDq is a great middle-ground solution when live migration is paramount and a moderate performance gain is acceptable. Next, we'll explore SR-IOV, which takes a much more aggressive approach to performance.</a:t>
            </a:r>
          </a:p>
        </p:txBody>
      </p:sp>
      <p:sp>
        <p:nvSpPr>
          <p:cNvPr id="4" name="Slide Number Placeholder 3">
            <a:extLst>
              <a:ext uri="{FF2B5EF4-FFF2-40B4-BE49-F238E27FC236}">
                <a16:creationId xmlns:a16="http://schemas.microsoft.com/office/drawing/2014/main" id="{44618593-E18D-B73F-4C1A-03CD42B30453}"/>
              </a:ext>
            </a:extLst>
          </p:cNvPr>
          <p:cNvSpPr>
            <a:spLocks noGrp="1"/>
          </p:cNvSpPr>
          <p:nvPr>
            <p:ph type="sldNum" sz="quarter" idx="10"/>
          </p:nvPr>
        </p:nvSpPr>
        <p:spPr/>
        <p:txBody>
          <a:bodyPr lIns="105540" tIns="52770" rIns="105540" bIns="52770"/>
          <a:lstStyle/>
          <a:p>
            <a:fld id="{F7021451-1387-4CA6-816F-3879F97B5CBC}" type="slidenum">
              <a:rPr lang="en-US"/>
              <a:t>11</a:t>
            </a:fld>
            <a:endParaRPr lang="en-US"/>
          </a:p>
        </p:txBody>
      </p:sp>
    </p:spTree>
    <p:extLst>
      <p:ext uri="{BB962C8B-B14F-4D97-AF65-F5344CB8AC3E}">
        <p14:creationId xmlns:p14="http://schemas.microsoft.com/office/powerpoint/2010/main" val="274451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SR-IOV offers a powerful way to achieve near bare-metal network performance within a virtualized environment. It does this by allowing a physical NIC to present itself as multiple independent PCIe devices. The key here is that a Virtual Function, or VF, is passed directly to a VM, completely bypassing the hypervisor's virtual switch and VMM data path. This direct access means the VM communicates with the NIC hardware as if it were a physical device, leveraging the IOMMU for secure DMA address translation. This architecture effectively removes several layers of software overhead, which we saw were bottlenecks in traditional networking. Now, let's look at the specific advantages and disadvantages of this approach.</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SR-IOV delivers the closest performance to bare metal of any virtualization networking technology, often within 1 to 3% of native NIC throughput. The host CPU is almost entirely removed from the data path, freeing up valuable cycles for other workloads. This makes SR-IOV ideal for latency-sensitive applications like high-frequency trading or telecom NFV. However, this performance comes with trade-offs. SR-IOV has strict hardware requirements, needing specific NIC, motherboard, and BIOS support. More critically, VM live migration is severely restricted because the VM holds a direct hardware reference to a specific physical NIC's VF. This means features like security groups and traffic monitoring are unavailable for SR-IOV paths. So, while it offers incredible speed, it sacrifices some operational flexibility. Next, we'll shift our focus to DPDK, a software-based approach to kernel bypass.</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DPDK, or the Data Plane Development Kit, is an open-source software framework that achieves near-line-rate performance by completely eliminating the OS kernel from the packet path. Instead of relying on interrupts, DPDK dedicates CPU cores to continuously poll the NIC for incoming packets. This polling model, while consuming dedicated CPU resources, eliminates interrupt overhead, context switching, and kernel system call latency. Packets are received directly into user-space memory buffers using hugepages, processed by the application, and transmitted back to the NIC without any kernel involvement. This makes DPDK particularly well-suited for East-West traffic, NFV service chaining, and high-performance virtual switching. Now, let's examine the specific advantages and disadvantages of this software-centric approach.</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DPDK offers unmatched flexibility and extremely high throughput, often achieving 10 to 100 gigabits per second on a single core with sub-microsecond latency. It requires no special NIC hardware, running on standard commodity adapters, and is highly programmable, allowing developers to build custom packet processing pipelines. This makes it a cornerstone for projects like OVS-DPDK and VPP. However, this power comes with its own set of challenges. The polling model permanently occupies dedicated CPU cores, even when there's no traffic, which means those cores can't be used for other workloads. Standard Linux network tools also don't work on DPDK interfaces, complicating troubleshooting. Development complexity is significantly higher, requiring specialized expertise. Live VM migration is also more complex, typically requiring OVS-DPDK. So, while DPDK delivers incredible performance and flexibility, it demands dedicated resources and a higher engineering effort. We've discussed how SR-IOV and DPDK bypass different layers of the networking stack. But what happens to the concept of switching when these technologies are in play?</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BC59A-B0EA-184E-45E2-2650887245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FEC26-D651-917E-9571-390451A06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71899-72AF-745A-1ADE-8D355C4218EC}"/>
              </a:ext>
            </a:extLst>
          </p:cNvPr>
          <p:cNvSpPr>
            <a:spLocks noGrp="1"/>
          </p:cNvSpPr>
          <p:nvPr>
            <p:ph type="body" idx="1"/>
          </p:nvPr>
        </p:nvSpPr>
        <p:spPr/>
        <p:txBody>
          <a:bodyPr lIns="105540" tIns="52770" rIns="105540" bIns="52770"/>
          <a:lstStyle/>
          <a:p>
            <a:r>
              <a:rPr lang="en-US" dirty="0"/>
              <a:t>VMDq, or Virtual Machine Device Queues, is an Intel hardware-assist technology designed to alleviate one of the most CPU-intensive tasks of the software virtual switch: packet sorting. Instead of the hypervisor's CPU having to inspect every incoming packet to determine its destination VM, VMDq offloads this classification to the NIC hardware. Each VM gets its own dedicated hardware receive queue. The NIC then intelligently classifies incoming frames based on their MAC address and VLAN ID, placing them directly into the correct VM's queue. This means the hypervisor's vSwitch still handles final delivery and policy enforcement, but its most expensive operation has been moved into silicon. This approach maintains full compatibility with features like live migration, which is a significant advantage in many enterprise environments. Now, let's weigh the pros and cons of this approach.</a:t>
            </a:r>
          </a:p>
        </p:txBody>
      </p:sp>
      <p:sp>
        <p:nvSpPr>
          <p:cNvPr id="4" name="Slide Number Placeholder 3">
            <a:extLst>
              <a:ext uri="{FF2B5EF4-FFF2-40B4-BE49-F238E27FC236}">
                <a16:creationId xmlns:a16="http://schemas.microsoft.com/office/drawing/2014/main" id="{E1E4B4B4-F847-2434-257B-AE2865DF5600}"/>
              </a:ext>
            </a:extLst>
          </p:cNvPr>
          <p:cNvSpPr>
            <a:spLocks noGrp="1"/>
          </p:cNvSpPr>
          <p:nvPr>
            <p:ph type="sldNum" sz="quarter" idx="10"/>
          </p:nvPr>
        </p:nvSpPr>
        <p:spPr/>
        <p:txBody>
          <a:bodyPr lIns="105540" tIns="52770" rIns="105540" bIns="52770"/>
          <a:lstStyle/>
          <a:p>
            <a:fld id="{F7021451-1387-4CA6-816F-3879F97B5CBC}" type="slidenum">
              <a:rPr lang="en-US"/>
              <a:t>23</a:t>
            </a:fld>
            <a:endParaRPr lang="en-US"/>
          </a:p>
        </p:txBody>
      </p:sp>
    </p:spTree>
    <p:extLst>
      <p:ext uri="{BB962C8B-B14F-4D97-AF65-F5344CB8AC3E}">
        <p14:creationId xmlns:p14="http://schemas.microsoft.com/office/powerpoint/2010/main" val="1013649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A common misconception is that SR-IOV and DPDK eliminate switching entirely. In reality, switching is never truly eliminated; it's simply moved to a different location within the architecture. For SR-IOV, the NIC itself contains an embedded switch, or eSwitch, which performs hardware-based Layer 2 forwarding. The hypervisor programs this eSwitch, and then the NIC handles packet delivery to the correct Virtual Function in hardware, without CPU involvement. With DPDK, especially in an OVS-DPDK setup, the switching table lives in user-space memory, and the Poll Mode Driver consults it at line rate, replacing the kernel vSwitch with a faster software equivalent. VMDq, as we discussed, uses NIC hardware to pre-sort frames, but the final forwarding decision still rests with the hypervisor's vSwitch. The common thread across all these approaches is the reliance on MAC addresses and VLAN tags for addressing. The key difference is where that lookup and forwarding decision happens. Next, we'll explore how SR-IOV and DPDK can be combined for even greater performance.</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To address these bottlenecks, the industry hasn't settled on a single solution, but rather three distinct approaches: DPDK, SR-IOV, and VMDq. Each of these technologies targets a different layer of overhead in that traditional packet path we just discussed. DPDK, for instance, is a software framework that completely bypasses the kernel, moving packet processing into user space. SR-IOV, on the other hand, is a hardware standard that allows virtual machines direct access to the NIC, effectively bypassing the hypervisor's virtual switch. And then we have VMDq, an Intel hardware offload that intelligently sorts packets on the NIC itself, reducing the CPU burden on the hypervisor. Understanding where each technology intervenes is crucial for selecting the optimal solution for your specific workload. Let's dive into the details of VMDq first.</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Now, let's look at a side-by-side comparison to clearly differentiate these technologies across key criteria. You'll notice that each method targets a different layer of overhead, leading to distinct performance characteristics and deployment scenarios. For instance, while SR-IOV offers the highest throughput, it comes with restrictions on live migration. DPDK, on the other hand, provides immense flexibility and programmability but demands dedicated CPU cores. VMDq strikes a balance, offering a performance boost while preserving full virtual switch features and live migration. Understanding these trade-offs is crucial, as the 'best' solution really depends on your specific workload requirements and infrastructure constraints. This comparison table should serve as a quick reference when evaluating your options. This brings us to our decision framework, which will help you choose the right technology for your needs.</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Choosing the right technology isn't about finding a single best solution; it's about matching the technology to your specific workload, traffic patterns, and operational needs. This decision framework helps clarify when to choose SR-IOV, DPDK, or VMDq. For example, if you need maximum North-South throughput and can tolerate live migration complexities, SR-IOV is your go-to. If your traffic is primarily East-West and you need highly programmable packet processing, DPDK is the answer. VMDq is ideal when you need a moderate performance boost without sacrificing live migration or existing virtual switch features. Remember, these aren't mutually exclusive choices. A single server can, and often does, run all three simultaneously, assigning different technologies to different virtual machines or network ports based on their unique requirements. With this framework in mind, let's summarise the key takeaways from our discussion.</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We've explored each technology individually, but the real power often comes from combining them. This slide illustrates how SR-IOV and DPDK can work together to create a two-level bypass, effectively eliminating both the hypervisor and the guest kernel from the packet path. SR-IOV handles the first bypass, passing a virtual function directly to the VM, which means the hypervisor's virtual switch and memory management unit are completely removed from the data path. Then, inside the VM, a DPDK application takes over, using a poll mode driver to interact directly with that virtual function, bypassing the guest operating system's kernel. This combined approach results in a packet path with no software overhead from either the hypervisor or the guest kernel, achieving performance within one to three percent of bare metal. This architecture is the foundation for modern telecom network function virtualisation deployments, like virtual routers and 5G user plane functions. Next, let's put all these technologies side-by-side for a direct comparison.</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To summarise, DPDK, SR-IOV, and VMDq are not competing technologies but rather complementary tools that address different aspects of virtualised networking performance. The core insight is that switching is never truly eliminated; it's simply relocated. SR-IOV moves it into the NIC's embedded switch, DPDK into a user-space flow table, and VMDq offloads classification to hardware queues. The combination of SR-IOV and DPDK represents the gold standard for network function virtualisation, providing a two-level bypass that achieves near bare-metal performance. This architecture is critical for demanding workloads like 5G user plane functions. Ultimately, a robust data center will likely deploy all three, leveraging each technology's strengths for specific workloads on the same physical server. This flexibility allows us to optimise performance across the entire virtualised environment. Finally, let's review the sources that informed this presentation.</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5540" tIns="52770" rIns="105540" bIns="52770"/>
          <a:lstStyle/>
          <a:p>
            <a:r>
              <a:rPr lang="en-US" dirty="0"/>
              <a:t>Here you'll find a comprehensive list of references and further reading that informed this presentation. These sources include white papers from Intel, documentation from Microsoft and Red Hat, and articles from industry experts. I've also highlighted the Intel VT-c Technology Brief as a featured source, as it provides foundational insights into both VMDq and SR-IOV hardware architectures. It's important to note that while the performance figures discussed are representative, actual results can vary significantly based on your specific hardware, workload, and configuration. I encourage you to explore these resources for a deeper dive into the technical details of each technology. Thank you for your time and attention.</a:t>
            </a:r>
          </a:p>
        </p:txBody>
      </p:sp>
      <p:sp>
        <p:nvSpPr>
          <p:cNvPr id="4" name="Slide Number Placeholder 3"/>
          <p:cNvSpPr>
            <a:spLocks noGrp="1"/>
          </p:cNvSpPr>
          <p:nvPr>
            <p:ph type="sldNum" sz="quarter" idx="10"/>
          </p:nvPr>
        </p:nvSpPr>
        <p:spPr/>
        <p:txBody>
          <a:bodyPr lIns="105540" tIns="52770" rIns="105540" bIns="52770"/>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91678"/>
            <a:ext cx="8686800" cy="422672"/>
          </a:xfrm>
        </p:spPr>
        <p:txBody>
          <a:bodyPr/>
          <a:lstStyle>
            <a:lvl1pPr>
              <a:defRPr sz="27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742950"/>
            <a:ext cx="8382000" cy="3714750"/>
          </a:xfrm>
        </p:spPr>
        <p:txBody>
          <a:bodyPr/>
          <a:lstStyle>
            <a:lvl1pPr>
              <a:buClr>
                <a:schemeClr val="tx2"/>
              </a:buClr>
              <a:defRPr sz="2400">
                <a:latin typeface="Calibri" pitchFamily="34" charset="0"/>
              </a:defRPr>
            </a:lvl1pPr>
            <a:lvl2pPr>
              <a:buClr>
                <a:srgbClr val="C00000"/>
              </a:buClr>
              <a:buFont typeface="Wingdings" pitchFamily="2" charset="2"/>
              <a:buChar char="§"/>
              <a:defRPr sz="2100">
                <a:latin typeface="Calibri" pitchFamily="34" charset="0"/>
              </a:defRPr>
            </a:lvl2pPr>
            <a:lvl3pPr>
              <a:defRPr sz="1800">
                <a:latin typeface="Calibri" pitchFamily="34" charset="0"/>
              </a:defRPr>
            </a:lvl3pPr>
            <a:lvl4pPr>
              <a:defRPr sz="1800">
                <a:latin typeface="Calibri" pitchFamily="34" charset="0"/>
              </a:defRPr>
            </a:lvl4pPr>
            <a:lvl5pPr>
              <a:defRPr sz="18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1" y="4800600"/>
            <a:ext cx="155575" cy="114300"/>
          </a:xfrm>
        </p:spPr>
        <p:txBody>
          <a:bodyPr/>
          <a:lstStyle>
            <a:lvl1pPr>
              <a:defRPr/>
            </a:lvl1pPr>
          </a:lstStyle>
          <a:p>
            <a:fld id="{1C0FA7A3-0FBF-4EC3-BE45-825983E95E58}" type="slidenum">
              <a:rPr lang="en-US"/>
              <a:pPr/>
              <a:t>‹#›</a:t>
            </a:fld>
            <a:endParaRPr lang="en-US" dirty="0"/>
          </a:p>
        </p:txBody>
      </p:sp>
    </p:spTree>
    <p:extLst>
      <p:ext uri="{BB962C8B-B14F-4D97-AF65-F5344CB8AC3E}">
        <p14:creationId xmlns:p14="http://schemas.microsoft.com/office/powerpoint/2010/main" val="2041070991"/>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QvKXbpV6WXk"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1DWxo2gF-RQ&amp;t=320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Shape 0"/>
          <p:cNvSpPr/>
          <p:nvPr/>
        </p:nvSpPr>
        <p:spPr>
          <a:xfrm>
            <a:off x="0" y="0"/>
            <a:ext cx="3429000" cy="5143500"/>
          </a:xfrm>
          <a:prstGeom prst="rect">
            <a:avLst/>
          </a:prstGeom>
          <a:solidFill>
            <a:srgbClr val="003087"/>
          </a:solidFill>
          <a:ln/>
        </p:spPr>
      </p:sp>
      <p:sp>
        <p:nvSpPr>
          <p:cNvPr id="5" name="Text 1"/>
          <p:cNvSpPr/>
          <p:nvPr/>
        </p:nvSpPr>
        <p:spPr>
          <a:xfrm>
            <a:off x="342900" y="816759"/>
            <a:ext cx="27432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FFFFFF">
                    <a:alpha val="55000"/>
                  </a:srgbClr>
                </a:solidFill>
                <a:latin typeface="Space Grotesk" pitchFamily="34" charset="0"/>
                <a:ea typeface="Space Grotesk" pitchFamily="34" charset="-122"/>
                <a:cs typeface="Space Grotesk" pitchFamily="34" charset="-120"/>
              </a:rPr>
              <a:t>TECHNICAL COMPARISON SERIES</a:t>
            </a:r>
            <a:endParaRPr lang="en-US" sz="936" dirty="0"/>
          </a:p>
        </p:txBody>
      </p:sp>
      <p:sp>
        <p:nvSpPr>
          <p:cNvPr id="6" name="Text 2"/>
          <p:cNvSpPr/>
          <p:nvPr/>
        </p:nvSpPr>
        <p:spPr>
          <a:xfrm>
            <a:off x="342900" y="1218595"/>
            <a:ext cx="2743200" cy="1134478"/>
          </a:xfrm>
          <a:prstGeom prst="rect">
            <a:avLst/>
          </a:prstGeom>
          <a:noFill/>
          <a:ln/>
        </p:spPr>
        <p:txBody>
          <a:bodyPr wrap="square" lIns="0" tIns="0" rIns="0" bIns="0" rtlCol="0" anchor="t">
            <a:spAutoFit/>
          </a:bodyPr>
          <a:lstStyle/>
          <a:p>
            <a:pPr marL="0" indent="0" algn="l">
              <a:lnSpc>
                <a:spcPts val="3000"/>
              </a:lnSpc>
              <a:buNone/>
            </a:pPr>
            <a:r>
              <a:rPr lang="en-US" sz="2331" b="1" dirty="0">
                <a:solidFill>
                  <a:srgbClr val="FFFFFF"/>
                </a:solidFill>
                <a:latin typeface="Playfair Display" pitchFamily="34" charset="0"/>
                <a:ea typeface="Playfair Display" pitchFamily="34" charset="-122"/>
                <a:cs typeface="Playfair Display" pitchFamily="34" charset="-120"/>
              </a:rPr>
              <a:t>Server Virtualization Technologies</a:t>
            </a:r>
            <a:endParaRPr lang="en-US" sz="2331" dirty="0"/>
          </a:p>
        </p:txBody>
      </p:sp>
      <p:sp>
        <p:nvSpPr>
          <p:cNvPr id="7" name="Text 3"/>
          <p:cNvSpPr/>
          <p:nvPr/>
        </p:nvSpPr>
        <p:spPr>
          <a:xfrm>
            <a:off x="342900" y="2780900"/>
            <a:ext cx="2743200" cy="874328"/>
          </a:xfrm>
          <a:prstGeom prst="rect">
            <a:avLst/>
          </a:prstGeom>
          <a:noFill/>
          <a:ln/>
        </p:spPr>
        <p:txBody>
          <a:bodyPr wrap="square" lIns="0" tIns="0" rIns="0" bIns="0" rtlCol="0" anchor="t">
            <a:spAutoFit/>
          </a:bodyPr>
          <a:lstStyle/>
          <a:p>
            <a:pPr marL="0" indent="0" algn="l">
              <a:lnSpc>
                <a:spcPts val="1700"/>
              </a:lnSpc>
              <a:buNone/>
            </a:pPr>
            <a:r>
              <a:rPr lang="en-US" sz="942" dirty="0">
                <a:solidFill>
                  <a:srgbClr val="FFFFFF">
                    <a:alpha val="78000"/>
                  </a:srgbClr>
                </a:solidFill>
                <a:latin typeface="Open Sans" pitchFamily="34" charset="0"/>
                <a:ea typeface="Open Sans" pitchFamily="34" charset="-122"/>
                <a:cs typeface="Open Sans" pitchFamily="34" charset="-120"/>
              </a:rPr>
              <a:t>A comparative analysis of DPDK, SR-IOV, and VMDq — three approaches to eliminating kernel and hypervisor overhead in high-performance virtualized networking.</a:t>
            </a:r>
            <a:endParaRPr lang="en-US" sz="942" dirty="0"/>
          </a:p>
        </p:txBody>
      </p:sp>
      <p:sp>
        <p:nvSpPr>
          <p:cNvPr id="8" name="Text 4"/>
          <p:cNvSpPr/>
          <p:nvPr/>
        </p:nvSpPr>
        <p:spPr>
          <a:xfrm>
            <a:off x="342900" y="3998128"/>
            <a:ext cx="2743200" cy="328613"/>
          </a:xfrm>
          <a:prstGeom prst="rect">
            <a:avLst/>
          </a:prstGeom>
          <a:noFill/>
          <a:ln/>
        </p:spPr>
        <p:txBody>
          <a:bodyPr wrap="square" lIns="0" tIns="0" rIns="0" bIns="0" rtlCol="0" anchor="t">
            <a:spAutoFit/>
          </a:bodyPr>
          <a:lstStyle/>
          <a:p>
            <a:pPr marL="0" indent="0" algn="l">
              <a:lnSpc>
                <a:spcPts val="1200"/>
              </a:lnSpc>
              <a:buNone/>
            </a:pPr>
            <a:r>
              <a:rPr lang="en-US" sz="942" kern="0" spc="1" dirty="0">
                <a:solidFill>
                  <a:srgbClr val="FFFFFF">
                    <a:alpha val="45000"/>
                  </a:srgbClr>
                </a:solidFill>
                <a:latin typeface="Space Grotesk" pitchFamily="34" charset="0"/>
                <a:ea typeface="Space Grotesk" pitchFamily="34" charset="-122"/>
                <a:cs typeface="Space Grotesk" pitchFamily="34" charset="-120"/>
              </a:rPr>
              <a:t>Data Center &amp; NFV Performance Engineering · February 2026</a:t>
            </a:r>
            <a:endParaRPr lang="en-US" sz="942" dirty="0"/>
          </a:p>
        </p:txBody>
      </p:sp>
      <p:sp>
        <p:nvSpPr>
          <p:cNvPr id="9" name="Shape 5"/>
          <p:cNvSpPr/>
          <p:nvPr/>
        </p:nvSpPr>
        <p:spPr>
          <a:xfrm>
            <a:off x="3393281" y="0"/>
            <a:ext cx="42863" cy="5143500"/>
          </a:xfrm>
          <a:prstGeom prst="rect">
            <a:avLst/>
          </a:prstGeom>
          <a:solidFill>
            <a:srgbClr val="E63946"/>
          </a:solidFill>
          <a:ln/>
        </p:spPr>
      </p:sp>
      <p:sp>
        <p:nvSpPr>
          <p:cNvPr id="10" name="Text 6"/>
          <p:cNvSpPr/>
          <p:nvPr/>
        </p:nvSpPr>
        <p:spPr>
          <a:xfrm>
            <a:off x="8204597" y="400050"/>
            <a:ext cx="482203"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4A4A6A"/>
                </a:solidFill>
                <a:latin typeface="Space Grotesk" pitchFamily="34" charset="0"/>
                <a:ea typeface="Space Grotesk" pitchFamily="34" charset="-122"/>
                <a:cs typeface="Space Grotesk" pitchFamily="34" charset="-120"/>
              </a:rPr>
              <a:t>01 / 15</a:t>
            </a:r>
            <a:endParaRPr lang="en-US" sz="942" dirty="0"/>
          </a:p>
        </p:txBody>
      </p:sp>
      <p:grpSp>
        <p:nvGrpSpPr>
          <p:cNvPr id="27" name="Group 26">
            <a:extLst>
              <a:ext uri="{FF2B5EF4-FFF2-40B4-BE49-F238E27FC236}">
                <a16:creationId xmlns:a16="http://schemas.microsoft.com/office/drawing/2014/main" id="{0488E5E3-E412-2C0B-931E-1260469087FE}"/>
              </a:ext>
            </a:extLst>
          </p:cNvPr>
          <p:cNvGrpSpPr/>
          <p:nvPr/>
        </p:nvGrpSpPr>
        <p:grpSpPr>
          <a:xfrm>
            <a:off x="3914775" y="3425233"/>
            <a:ext cx="4800600" cy="1144395"/>
            <a:chOff x="3886200" y="850692"/>
            <a:chExt cx="4800600" cy="1144395"/>
          </a:xfrm>
        </p:grpSpPr>
        <p:sp>
          <p:nvSpPr>
            <p:cNvPr id="11" name="Shape 7"/>
            <p:cNvSpPr/>
            <p:nvPr/>
          </p:nvSpPr>
          <p:spPr>
            <a:xfrm>
              <a:off x="3886200" y="850692"/>
              <a:ext cx="4800600" cy="1144395"/>
            </a:xfrm>
            <a:prstGeom prst="rect">
              <a:avLst/>
            </a:prstGeom>
            <a:solidFill>
              <a:srgbClr val="F7F8FC"/>
            </a:solidFill>
            <a:ln/>
          </p:spPr>
        </p:sp>
        <p:sp>
          <p:nvSpPr>
            <p:cNvPr id="12" name="Shape 8"/>
            <p:cNvSpPr/>
            <p:nvPr/>
          </p:nvSpPr>
          <p:spPr>
            <a:xfrm>
              <a:off x="3886200" y="850692"/>
              <a:ext cx="28575" cy="1144395"/>
            </a:xfrm>
            <a:prstGeom prst="rect">
              <a:avLst/>
            </a:prstGeom>
            <a:solidFill>
              <a:srgbClr val="003087"/>
            </a:solidFill>
            <a:ln/>
          </p:spPr>
        </p:sp>
        <p:grpSp>
          <p:nvGrpSpPr>
            <p:cNvPr id="2" name="Group 1">
              <a:extLst>
                <a:ext uri="{FF2B5EF4-FFF2-40B4-BE49-F238E27FC236}">
                  <a16:creationId xmlns:a16="http://schemas.microsoft.com/office/drawing/2014/main" id="{9A5E907E-751C-35F9-1854-42860E485AF3}"/>
                </a:ext>
              </a:extLst>
            </p:cNvPr>
            <p:cNvGrpSpPr/>
            <p:nvPr/>
          </p:nvGrpSpPr>
          <p:grpSpPr>
            <a:xfrm>
              <a:off x="4057650" y="993567"/>
              <a:ext cx="4457700" cy="858646"/>
              <a:chOff x="4057650" y="993567"/>
              <a:chExt cx="4457700" cy="858646"/>
            </a:xfrm>
          </p:grpSpPr>
          <p:sp>
            <p:nvSpPr>
              <p:cNvPr id="13" name="Text 9"/>
              <p:cNvSpPr/>
              <p:nvPr/>
            </p:nvSpPr>
            <p:spPr>
              <a:xfrm>
                <a:off x="4057650" y="993567"/>
                <a:ext cx="4457700"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03087"/>
                    </a:solidFill>
                    <a:latin typeface="Playfair Display" pitchFamily="34" charset="0"/>
                    <a:ea typeface="Playfair Display" pitchFamily="34" charset="-122"/>
                    <a:cs typeface="Playfair Display" pitchFamily="34" charset="-120"/>
                  </a:rPr>
                  <a:t>DPDK — Data Plane Development Kit</a:t>
                </a:r>
                <a:endParaRPr lang="en-US" sz="885" dirty="0"/>
              </a:p>
            </p:txBody>
          </p:sp>
          <p:sp>
            <p:nvSpPr>
              <p:cNvPr id="14" name="Text 10"/>
              <p:cNvSpPr/>
              <p:nvPr/>
            </p:nvSpPr>
            <p:spPr>
              <a:xfrm>
                <a:off x="4057650" y="1200736"/>
                <a:ext cx="4457700"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Open-source kernel-bypass framework. Moves packet processing into user space using Poll Mode Drivers. Eliminates interrupts and context switching. Best for East-West intra-server traffic.</a:t>
                </a:r>
                <a:endParaRPr lang="en-US" sz="996" dirty="0"/>
              </a:p>
            </p:txBody>
          </p:sp>
        </p:grpSp>
      </p:grpSp>
      <p:grpSp>
        <p:nvGrpSpPr>
          <p:cNvPr id="24" name="Group 23">
            <a:extLst>
              <a:ext uri="{FF2B5EF4-FFF2-40B4-BE49-F238E27FC236}">
                <a16:creationId xmlns:a16="http://schemas.microsoft.com/office/drawing/2014/main" id="{B795D6EC-2210-714F-1615-5D1148B0D5BF}"/>
              </a:ext>
            </a:extLst>
          </p:cNvPr>
          <p:cNvGrpSpPr/>
          <p:nvPr/>
        </p:nvGrpSpPr>
        <p:grpSpPr>
          <a:xfrm>
            <a:off x="3886200" y="1915808"/>
            <a:ext cx="4800600" cy="1144395"/>
            <a:chOff x="3886200" y="2137963"/>
            <a:chExt cx="4800600" cy="1144395"/>
          </a:xfrm>
        </p:grpSpPr>
        <p:sp>
          <p:nvSpPr>
            <p:cNvPr id="15" name="Shape 11"/>
            <p:cNvSpPr/>
            <p:nvPr/>
          </p:nvSpPr>
          <p:spPr>
            <a:xfrm>
              <a:off x="3886200" y="2137963"/>
              <a:ext cx="4800600" cy="1144395"/>
            </a:xfrm>
            <a:prstGeom prst="rect">
              <a:avLst/>
            </a:prstGeom>
            <a:solidFill>
              <a:srgbClr val="F7F8FC"/>
            </a:solidFill>
            <a:ln/>
          </p:spPr>
        </p:sp>
        <p:sp>
          <p:nvSpPr>
            <p:cNvPr id="16" name="Shape 12"/>
            <p:cNvSpPr/>
            <p:nvPr/>
          </p:nvSpPr>
          <p:spPr>
            <a:xfrm>
              <a:off x="3886200" y="2137963"/>
              <a:ext cx="28575" cy="1144395"/>
            </a:xfrm>
            <a:prstGeom prst="rect">
              <a:avLst/>
            </a:prstGeom>
            <a:solidFill>
              <a:srgbClr val="E63946"/>
            </a:solidFill>
            <a:ln/>
          </p:spPr>
        </p:sp>
        <p:sp>
          <p:nvSpPr>
            <p:cNvPr id="17" name="Text 13"/>
            <p:cNvSpPr/>
            <p:nvPr/>
          </p:nvSpPr>
          <p:spPr>
            <a:xfrm>
              <a:off x="4057650" y="2280838"/>
              <a:ext cx="4457700"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Playfair Display" pitchFamily="34" charset="0"/>
                  <a:ea typeface="Playfair Display" pitchFamily="34" charset="-122"/>
                  <a:cs typeface="Playfair Display" pitchFamily="34" charset="-120"/>
                </a:rPr>
                <a:t>SR-IOV — Single Root I/O Virtualization</a:t>
              </a:r>
              <a:endParaRPr lang="en-US" sz="885" dirty="0"/>
            </a:p>
          </p:txBody>
        </p:sp>
        <p:sp>
          <p:nvSpPr>
            <p:cNvPr id="18" name="Text 14"/>
            <p:cNvSpPr/>
            <p:nvPr/>
          </p:nvSpPr>
          <p:spPr>
            <a:xfrm>
              <a:off x="4057650" y="2488006"/>
              <a:ext cx="4457700"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PCI-SIG hardware standard. Partitions a NIC into Virtual Functions assigned directly to VMs. Bypasses the hypervisor vSwitch entirely via IOMMU DMA. Best for North-South inter-server traffic.</a:t>
              </a:r>
              <a:endParaRPr lang="en-US" sz="996" dirty="0"/>
            </a:p>
          </p:txBody>
        </p:sp>
      </p:grpSp>
      <p:grpSp>
        <p:nvGrpSpPr>
          <p:cNvPr id="26" name="Group 25">
            <a:extLst>
              <a:ext uri="{FF2B5EF4-FFF2-40B4-BE49-F238E27FC236}">
                <a16:creationId xmlns:a16="http://schemas.microsoft.com/office/drawing/2014/main" id="{C4DECE64-4A72-77AA-58E0-A27FF15F86D9}"/>
              </a:ext>
            </a:extLst>
          </p:cNvPr>
          <p:cNvGrpSpPr/>
          <p:nvPr/>
        </p:nvGrpSpPr>
        <p:grpSpPr>
          <a:xfrm>
            <a:off x="3886200" y="526558"/>
            <a:ext cx="4814887" cy="1166246"/>
            <a:chOff x="3886200" y="3425233"/>
            <a:chExt cx="4814887" cy="1166246"/>
          </a:xfrm>
        </p:grpSpPr>
        <p:sp>
          <p:nvSpPr>
            <p:cNvPr id="19" name="Shape 15"/>
            <p:cNvSpPr/>
            <p:nvPr/>
          </p:nvSpPr>
          <p:spPr>
            <a:xfrm>
              <a:off x="3900487" y="3447084"/>
              <a:ext cx="4800600" cy="1144395"/>
            </a:xfrm>
            <a:prstGeom prst="rect">
              <a:avLst/>
            </a:prstGeom>
            <a:solidFill>
              <a:srgbClr val="F7F8FC"/>
            </a:solidFill>
            <a:ln/>
          </p:spPr>
        </p:sp>
        <p:sp>
          <p:nvSpPr>
            <p:cNvPr id="20" name="Shape 16"/>
            <p:cNvSpPr/>
            <p:nvPr/>
          </p:nvSpPr>
          <p:spPr>
            <a:xfrm>
              <a:off x="3886200" y="3425233"/>
              <a:ext cx="28575" cy="1144395"/>
            </a:xfrm>
            <a:prstGeom prst="rect">
              <a:avLst/>
            </a:prstGeom>
            <a:solidFill>
              <a:srgbClr val="1A6B72"/>
            </a:solidFill>
            <a:ln/>
          </p:spPr>
        </p:sp>
        <p:grpSp>
          <p:nvGrpSpPr>
            <p:cNvPr id="25" name="Group 24">
              <a:extLst>
                <a:ext uri="{FF2B5EF4-FFF2-40B4-BE49-F238E27FC236}">
                  <a16:creationId xmlns:a16="http://schemas.microsoft.com/office/drawing/2014/main" id="{136D3370-6769-E47A-AC49-4EC325D6BD34}"/>
                </a:ext>
              </a:extLst>
            </p:cNvPr>
            <p:cNvGrpSpPr/>
            <p:nvPr/>
          </p:nvGrpSpPr>
          <p:grpSpPr>
            <a:xfrm>
              <a:off x="4057650" y="3568108"/>
              <a:ext cx="4457700" cy="858646"/>
              <a:chOff x="4057650" y="3568108"/>
              <a:chExt cx="4457700" cy="858646"/>
            </a:xfrm>
          </p:grpSpPr>
          <p:sp>
            <p:nvSpPr>
              <p:cNvPr id="21" name="Text 17"/>
              <p:cNvSpPr/>
              <p:nvPr/>
            </p:nvSpPr>
            <p:spPr>
              <a:xfrm>
                <a:off x="4057650" y="3568108"/>
                <a:ext cx="4457700"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Playfair Display" pitchFamily="34" charset="0"/>
                    <a:ea typeface="Playfair Display" pitchFamily="34" charset="-122"/>
                    <a:cs typeface="Playfair Display" pitchFamily="34" charset="-120"/>
                  </a:rPr>
                  <a:t>VMDq — Virtual Machine Device Queues</a:t>
                </a:r>
                <a:endParaRPr lang="en-US" sz="885" dirty="0"/>
              </a:p>
            </p:txBody>
          </p:sp>
          <p:sp>
            <p:nvSpPr>
              <p:cNvPr id="22" name="Text 18"/>
              <p:cNvSpPr/>
              <p:nvPr/>
            </p:nvSpPr>
            <p:spPr>
              <a:xfrm>
                <a:off x="4057650" y="3775277"/>
                <a:ext cx="4457700"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Intel hardware-assist offload. Assigns per-VM hardware queues on the NIC for automatic packet sorting. Keeps the vSwitch active. Best for general virtualization with live migration.</a:t>
                </a:r>
                <a:endParaRPr lang="en-US" sz="996" dirty="0"/>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457200" y="357188"/>
            <a:ext cx="328612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BACKGROUND</a:t>
            </a:r>
            <a:endParaRPr lang="en-US" sz="936" dirty="0"/>
          </a:p>
        </p:txBody>
      </p:sp>
      <p:sp>
        <p:nvSpPr>
          <p:cNvPr id="5" name="Text 1"/>
          <p:cNvSpPr/>
          <p:nvPr/>
        </p:nvSpPr>
        <p:spPr>
          <a:xfrm>
            <a:off x="457200" y="659011"/>
            <a:ext cx="7899568" cy="251159"/>
          </a:xfrm>
          <a:prstGeom prst="rect">
            <a:avLst/>
          </a:prstGeom>
          <a:noFill/>
          <a:ln/>
        </p:spPr>
        <p:txBody>
          <a:bodyPr wrap="square" lIns="0" tIns="0" rIns="0" bIns="0" rtlCol="0" anchor="t">
            <a:spAutoFit/>
          </a:bodyPr>
          <a:lstStyle/>
          <a:p>
            <a:pPr marL="0" indent="0" algn="l">
              <a:lnSpc>
                <a:spcPts val="2100"/>
              </a:lnSpc>
              <a:buNone/>
            </a:pPr>
            <a:r>
              <a:rPr lang="en-US" sz="1499" b="1" dirty="0">
                <a:solidFill>
                  <a:srgbClr val="1A1A2E"/>
                </a:solidFill>
                <a:latin typeface="Playfair Display" pitchFamily="34" charset="0"/>
              </a:rPr>
              <a:t>Server Virtualization</a:t>
            </a:r>
            <a:endParaRPr lang="en-US" sz="1499" dirty="0"/>
          </a:p>
        </p:txBody>
      </p:sp>
      <p:sp>
        <p:nvSpPr>
          <p:cNvPr id="41" name="Shape 37"/>
          <p:cNvSpPr/>
          <p:nvPr/>
        </p:nvSpPr>
        <p:spPr>
          <a:xfrm>
            <a:off x="0" y="6275533"/>
            <a:ext cx="9144000" cy="257175"/>
          </a:xfrm>
          <a:prstGeom prst="rect">
            <a:avLst/>
          </a:prstGeom>
          <a:solidFill>
            <a:srgbClr val="000000">
              <a:alpha val="0"/>
            </a:srgbClr>
          </a:solidFill>
          <a:ln/>
        </p:spPr>
      </p:sp>
      <p:sp>
        <p:nvSpPr>
          <p:cNvPr id="42" name="Shape 38"/>
          <p:cNvSpPr/>
          <p:nvPr/>
        </p:nvSpPr>
        <p:spPr>
          <a:xfrm>
            <a:off x="0" y="6275533"/>
            <a:ext cx="9144000" cy="7144"/>
          </a:xfrm>
          <a:prstGeom prst="rect">
            <a:avLst/>
          </a:prstGeom>
          <a:solidFill>
            <a:srgbClr val="EBEBF0"/>
          </a:solidFill>
          <a:ln/>
        </p:spPr>
      </p:sp>
      <p:sp>
        <p:nvSpPr>
          <p:cNvPr id="43" name="Text 39"/>
          <p:cNvSpPr/>
          <p:nvPr/>
        </p:nvSpPr>
        <p:spPr>
          <a:xfrm>
            <a:off x="457200" y="6317503"/>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pic>
        <p:nvPicPr>
          <p:cNvPr id="49" name="Picture 2" descr="https://www.safaribooksonline.com/library/view/cloud-networking/9780128007280/images/B9780128007280000060/f06-01-9780128007280.jpg">
            <a:extLst>
              <a:ext uri="{FF2B5EF4-FFF2-40B4-BE49-F238E27FC236}">
                <a16:creationId xmlns:a16="http://schemas.microsoft.com/office/drawing/2014/main" id="{810AC416-43CC-3F6B-1466-C91623957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23002"/>
            <a:ext cx="4784073" cy="3563310"/>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0400170F-7DE9-BE27-C755-6B3E7C1D67C5}"/>
              </a:ext>
            </a:extLst>
          </p:cNvPr>
          <p:cNvSpPr txBox="1"/>
          <p:nvPr/>
        </p:nvSpPr>
        <p:spPr>
          <a:xfrm>
            <a:off x="5574207" y="1111831"/>
            <a:ext cx="2858257" cy="3785652"/>
          </a:xfrm>
          <a:prstGeom prst="rect">
            <a:avLst/>
          </a:prstGeom>
          <a:noFill/>
        </p:spPr>
        <p:txBody>
          <a:bodyPr wrap="square">
            <a:spAutoFit/>
          </a:bodyPr>
          <a:lstStyle/>
          <a:p>
            <a:pPr marL="285750" indent="-285750">
              <a:buFont typeface="Arial" panose="020B0604020202020204" pitchFamily="34" charset="0"/>
              <a:buChar char="•"/>
            </a:pPr>
            <a:r>
              <a:rPr lang="en-US" sz="1600" dirty="0"/>
              <a:t>Originally, host servers were configured with one network connection per VM. </a:t>
            </a:r>
          </a:p>
          <a:p>
            <a:pPr marL="285750" indent="-285750">
              <a:buFont typeface="Arial" panose="020B0604020202020204" pitchFamily="34" charset="0"/>
              <a:buChar char="•"/>
            </a:pPr>
            <a:r>
              <a:rPr lang="en-US" sz="1600" dirty="0"/>
              <a:t>As 10GbE NICs started to enter the market, it became more cost effective to share a single connection among multiple VMs.</a:t>
            </a:r>
          </a:p>
          <a:p>
            <a:pPr marL="285750" indent="-285750">
              <a:buFont typeface="Arial" panose="020B0604020202020204" pitchFamily="34" charset="0"/>
              <a:buChar char="•"/>
            </a:pPr>
            <a:r>
              <a:rPr lang="en-US" sz="1600" dirty="0" err="1"/>
              <a:t>vSwitch</a:t>
            </a:r>
            <a:r>
              <a:rPr lang="en-US" sz="1600" dirty="0"/>
              <a:t> to a virtual top of rack (</a:t>
            </a:r>
            <a:r>
              <a:rPr lang="en-US" sz="1600" dirty="0" err="1"/>
              <a:t>ToR</a:t>
            </a:r>
            <a:r>
              <a:rPr lang="en-US" sz="1600" dirty="0"/>
              <a:t>) switch within the hypervisor, while the NIC provides the uplink ports for this virtual </a:t>
            </a:r>
            <a:r>
              <a:rPr lang="en-US" sz="1600" dirty="0" err="1"/>
              <a:t>ToR</a:t>
            </a:r>
            <a:r>
              <a:rPr lang="en-US" sz="1600" dirty="0"/>
              <a:t> that are shared among multiple servers.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090E8-D070-6AF9-2C02-D590EBAD5213}"/>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239CCAC2-6A9E-7FFA-EC32-9977685A9E7E}"/>
              </a:ext>
            </a:extLst>
          </p:cNvPr>
          <p:cNvSpPr/>
          <p:nvPr/>
        </p:nvSpPr>
        <p:spPr>
          <a:xfrm>
            <a:off x="457200" y="357188"/>
            <a:ext cx="328612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BACKGROUND</a:t>
            </a:r>
            <a:endParaRPr lang="en-US" sz="936" dirty="0"/>
          </a:p>
        </p:txBody>
      </p:sp>
      <p:sp>
        <p:nvSpPr>
          <p:cNvPr id="5" name="Text 1">
            <a:extLst>
              <a:ext uri="{FF2B5EF4-FFF2-40B4-BE49-F238E27FC236}">
                <a16:creationId xmlns:a16="http://schemas.microsoft.com/office/drawing/2014/main" id="{C1248338-1F02-1B85-F5B7-87124E544F31}"/>
              </a:ext>
            </a:extLst>
          </p:cNvPr>
          <p:cNvSpPr/>
          <p:nvPr/>
        </p:nvSpPr>
        <p:spPr>
          <a:xfrm>
            <a:off x="457200" y="659011"/>
            <a:ext cx="7899568" cy="251159"/>
          </a:xfrm>
          <a:prstGeom prst="rect">
            <a:avLst/>
          </a:prstGeom>
          <a:noFill/>
          <a:ln/>
        </p:spPr>
        <p:txBody>
          <a:bodyPr wrap="square" lIns="0" tIns="0" rIns="0" bIns="0" rtlCol="0" anchor="t">
            <a:spAutoFit/>
          </a:bodyPr>
          <a:lstStyle/>
          <a:p>
            <a:pPr marL="0" indent="0" algn="l">
              <a:lnSpc>
                <a:spcPts val="2100"/>
              </a:lnSpc>
              <a:buNone/>
            </a:pPr>
            <a:r>
              <a:rPr lang="en-US" sz="1499" b="1" dirty="0">
                <a:solidFill>
                  <a:srgbClr val="1A1A2E"/>
                </a:solidFill>
                <a:latin typeface="Playfair Display" pitchFamily="34" charset="0"/>
                <a:ea typeface="Playfair Display" pitchFamily="34" charset="-122"/>
                <a:cs typeface="Playfair Display" pitchFamily="34" charset="-120"/>
              </a:rPr>
              <a:t>Traditional Kernel Networking Cannot Keep Pace with Modern Data Center Demands</a:t>
            </a:r>
            <a:endParaRPr lang="en-US" sz="1499" dirty="0"/>
          </a:p>
        </p:txBody>
      </p:sp>
      <p:sp>
        <p:nvSpPr>
          <p:cNvPr id="6" name="Text 2">
            <a:extLst>
              <a:ext uri="{FF2B5EF4-FFF2-40B4-BE49-F238E27FC236}">
                <a16:creationId xmlns:a16="http://schemas.microsoft.com/office/drawing/2014/main" id="{316597AE-FA7E-2B7E-4A7A-BE8EAD3B03E3}"/>
              </a:ext>
            </a:extLst>
          </p:cNvPr>
          <p:cNvSpPr/>
          <p:nvPr/>
        </p:nvSpPr>
        <p:spPr>
          <a:xfrm>
            <a:off x="505361" y="961992"/>
            <a:ext cx="7475958" cy="740652"/>
          </a:xfrm>
          <a:prstGeom prst="rect">
            <a:avLst/>
          </a:prstGeom>
          <a:noFill/>
          <a:ln/>
        </p:spPr>
        <p:txBody>
          <a:bodyPr wrap="square" lIns="0" tIns="0" rIns="0" bIns="0" rtlCol="0" anchor="t">
            <a:spAutoFit/>
          </a:bodyPr>
          <a:lstStyle/>
          <a:p>
            <a:pPr marL="0" indent="0" algn="l">
              <a:lnSpc>
                <a:spcPts val="2000"/>
              </a:lnSpc>
              <a:buNone/>
            </a:pPr>
            <a:r>
              <a:rPr lang="en-US" sz="1050" dirty="0">
                <a:solidFill>
                  <a:srgbClr val="4A4A6A"/>
                </a:solidFill>
                <a:latin typeface="Open Sans" pitchFamily="34" charset="0"/>
                <a:ea typeface="Open Sans" pitchFamily="34" charset="-122"/>
                <a:cs typeface="Open Sans" pitchFamily="34" charset="-120"/>
              </a:rPr>
              <a:t>In a standard virtualized environment, every incoming network packet must travel through the host OS kernel before reaching a virtual machine. At 10 Gbps and above, this overhead consumes entire CPU cores and introduces microseconds of latency per packet — creating a severe bottleneck that limits both throughput and application density.</a:t>
            </a:r>
            <a:endParaRPr lang="en-US" sz="1050" dirty="0"/>
          </a:p>
        </p:txBody>
      </p:sp>
      <p:grpSp>
        <p:nvGrpSpPr>
          <p:cNvPr id="48" name="Group 47">
            <a:extLst>
              <a:ext uri="{FF2B5EF4-FFF2-40B4-BE49-F238E27FC236}">
                <a16:creationId xmlns:a16="http://schemas.microsoft.com/office/drawing/2014/main" id="{BA6F5E62-C112-AF47-6362-91E499642F72}"/>
              </a:ext>
            </a:extLst>
          </p:cNvPr>
          <p:cNvGrpSpPr/>
          <p:nvPr/>
        </p:nvGrpSpPr>
        <p:grpSpPr>
          <a:xfrm>
            <a:off x="335378" y="1861606"/>
            <a:ext cx="3807997" cy="2076782"/>
            <a:chOff x="183987" y="2773631"/>
            <a:chExt cx="3807997" cy="2076782"/>
          </a:xfrm>
        </p:grpSpPr>
        <p:sp>
          <p:nvSpPr>
            <p:cNvPr id="26" name="Text 22">
              <a:extLst>
                <a:ext uri="{FF2B5EF4-FFF2-40B4-BE49-F238E27FC236}">
                  <a16:creationId xmlns:a16="http://schemas.microsoft.com/office/drawing/2014/main" id="{0301CBE5-04DA-8478-92F8-763AB66CBEE4}"/>
                </a:ext>
              </a:extLst>
            </p:cNvPr>
            <p:cNvSpPr/>
            <p:nvPr/>
          </p:nvSpPr>
          <p:spPr>
            <a:xfrm>
              <a:off x="183987" y="2787919"/>
              <a:ext cx="214157"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E63946"/>
                  </a:solidFill>
                  <a:latin typeface="Playfair Display" pitchFamily="34" charset="0"/>
                  <a:ea typeface="Playfair Display" pitchFamily="34" charset="-122"/>
                  <a:cs typeface="Playfair Display" pitchFamily="34" charset="-120"/>
                </a:rPr>
                <a:t>01</a:t>
              </a:r>
              <a:endParaRPr lang="en-US" sz="1397" dirty="0"/>
            </a:p>
          </p:txBody>
        </p:sp>
        <p:sp>
          <p:nvSpPr>
            <p:cNvPr id="27" name="Text 23">
              <a:extLst>
                <a:ext uri="{FF2B5EF4-FFF2-40B4-BE49-F238E27FC236}">
                  <a16:creationId xmlns:a16="http://schemas.microsoft.com/office/drawing/2014/main" id="{63B0692C-3728-09DC-525D-84003ED764D9}"/>
                </a:ext>
              </a:extLst>
            </p:cNvPr>
            <p:cNvSpPr/>
            <p:nvPr/>
          </p:nvSpPr>
          <p:spPr>
            <a:xfrm>
              <a:off x="493325" y="2773631"/>
              <a:ext cx="347410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CPU Interrupt Per Packet</a:t>
              </a:r>
              <a:endParaRPr lang="en-US" sz="987" dirty="0"/>
            </a:p>
          </p:txBody>
        </p:sp>
        <p:sp>
          <p:nvSpPr>
            <p:cNvPr id="28" name="Text 24">
              <a:extLst>
                <a:ext uri="{FF2B5EF4-FFF2-40B4-BE49-F238E27FC236}">
                  <a16:creationId xmlns:a16="http://schemas.microsoft.com/office/drawing/2014/main" id="{7492D954-B734-C1A8-DD10-EDCBFE6D2E76}"/>
                </a:ext>
              </a:extLst>
            </p:cNvPr>
            <p:cNvSpPr/>
            <p:nvPr/>
          </p:nvSpPr>
          <p:spPr>
            <a:xfrm>
              <a:off x="493325" y="2996873"/>
              <a:ext cx="3474106" cy="67181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Every arriving packet fires a hardware interrupt (IRQ), forcing the CPU to stop its current task, save state, and invoke the kernel NIC driver — consuming cycles on every single frame.</a:t>
              </a:r>
              <a:endParaRPr lang="en-US" sz="996" dirty="0"/>
            </a:p>
          </p:txBody>
        </p:sp>
        <p:grpSp>
          <p:nvGrpSpPr>
            <p:cNvPr id="47" name="Group 46">
              <a:extLst>
                <a:ext uri="{FF2B5EF4-FFF2-40B4-BE49-F238E27FC236}">
                  <a16:creationId xmlns:a16="http://schemas.microsoft.com/office/drawing/2014/main" id="{39FF12D9-0F2F-E3F4-5494-73D259E52CF3}"/>
                </a:ext>
              </a:extLst>
            </p:cNvPr>
            <p:cNvGrpSpPr/>
            <p:nvPr/>
          </p:nvGrpSpPr>
          <p:grpSpPr>
            <a:xfrm>
              <a:off x="208540" y="3955352"/>
              <a:ext cx="3783444" cy="895061"/>
              <a:chOff x="183987" y="3904437"/>
              <a:chExt cx="3783444" cy="895061"/>
            </a:xfrm>
          </p:grpSpPr>
          <p:sp>
            <p:nvSpPr>
              <p:cNvPr id="29" name="Text 25">
                <a:extLst>
                  <a:ext uri="{FF2B5EF4-FFF2-40B4-BE49-F238E27FC236}">
                    <a16:creationId xmlns:a16="http://schemas.microsoft.com/office/drawing/2014/main" id="{E8C3CB42-3B58-61F3-20A6-168FD7589670}"/>
                  </a:ext>
                </a:extLst>
              </p:cNvPr>
              <p:cNvSpPr/>
              <p:nvPr/>
            </p:nvSpPr>
            <p:spPr>
              <a:xfrm>
                <a:off x="183987" y="3918724"/>
                <a:ext cx="214157"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E63946"/>
                    </a:solidFill>
                    <a:latin typeface="Playfair Display" pitchFamily="34" charset="0"/>
                    <a:ea typeface="Playfair Display" pitchFamily="34" charset="-122"/>
                    <a:cs typeface="Playfair Display" pitchFamily="34" charset="-120"/>
                  </a:rPr>
                  <a:t>02</a:t>
                </a:r>
                <a:endParaRPr lang="en-US" sz="1397" dirty="0"/>
              </a:p>
            </p:txBody>
          </p:sp>
          <p:sp>
            <p:nvSpPr>
              <p:cNvPr id="30" name="Text 26">
                <a:extLst>
                  <a:ext uri="{FF2B5EF4-FFF2-40B4-BE49-F238E27FC236}">
                    <a16:creationId xmlns:a16="http://schemas.microsoft.com/office/drawing/2014/main" id="{CE7FFE92-3F5C-E6DE-71D6-1BE7EA168CC8}"/>
                  </a:ext>
                </a:extLst>
              </p:cNvPr>
              <p:cNvSpPr/>
              <p:nvPr/>
            </p:nvSpPr>
            <p:spPr>
              <a:xfrm>
                <a:off x="493325" y="3904437"/>
                <a:ext cx="347410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Multiple Memory Copies</a:t>
                </a:r>
                <a:endParaRPr lang="en-US" sz="987" dirty="0"/>
              </a:p>
            </p:txBody>
          </p:sp>
          <p:sp>
            <p:nvSpPr>
              <p:cNvPr id="31" name="Text 27">
                <a:extLst>
                  <a:ext uri="{FF2B5EF4-FFF2-40B4-BE49-F238E27FC236}">
                    <a16:creationId xmlns:a16="http://schemas.microsoft.com/office/drawing/2014/main" id="{DE150A87-0858-8419-3DDD-8A1B18FABCCA}"/>
                  </a:ext>
                </a:extLst>
              </p:cNvPr>
              <p:cNvSpPr/>
              <p:nvPr/>
            </p:nvSpPr>
            <p:spPr>
              <a:xfrm>
                <a:off x="493325" y="4127679"/>
                <a:ext cx="3474106" cy="67181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Packet data is copied at least twice: from NIC DMA to host kernel memory, then from host memory to VM guest memory — each copy consuming CPU cycles and memory bandwidth.</a:t>
                </a:r>
                <a:endParaRPr lang="en-US" sz="996" dirty="0"/>
              </a:p>
            </p:txBody>
          </p:sp>
        </p:grpSp>
      </p:grpSp>
      <p:sp>
        <p:nvSpPr>
          <p:cNvPr id="41" name="Shape 37">
            <a:extLst>
              <a:ext uri="{FF2B5EF4-FFF2-40B4-BE49-F238E27FC236}">
                <a16:creationId xmlns:a16="http://schemas.microsoft.com/office/drawing/2014/main" id="{EF06B70B-DF7B-2D48-DBC8-DEA436AEA664}"/>
              </a:ext>
            </a:extLst>
          </p:cNvPr>
          <p:cNvSpPr/>
          <p:nvPr/>
        </p:nvSpPr>
        <p:spPr>
          <a:xfrm>
            <a:off x="0" y="6275533"/>
            <a:ext cx="9144000" cy="257175"/>
          </a:xfrm>
          <a:prstGeom prst="rect">
            <a:avLst/>
          </a:prstGeom>
          <a:solidFill>
            <a:srgbClr val="000000">
              <a:alpha val="0"/>
            </a:srgbClr>
          </a:solidFill>
          <a:ln/>
        </p:spPr>
      </p:sp>
      <p:sp>
        <p:nvSpPr>
          <p:cNvPr id="42" name="Shape 38">
            <a:extLst>
              <a:ext uri="{FF2B5EF4-FFF2-40B4-BE49-F238E27FC236}">
                <a16:creationId xmlns:a16="http://schemas.microsoft.com/office/drawing/2014/main" id="{C976DF20-8DFA-46D1-5A8B-095AEE6DE47C}"/>
              </a:ext>
            </a:extLst>
          </p:cNvPr>
          <p:cNvSpPr/>
          <p:nvPr/>
        </p:nvSpPr>
        <p:spPr>
          <a:xfrm>
            <a:off x="0" y="6275533"/>
            <a:ext cx="9144000" cy="7144"/>
          </a:xfrm>
          <a:prstGeom prst="rect">
            <a:avLst/>
          </a:prstGeom>
          <a:solidFill>
            <a:srgbClr val="EBEBF0"/>
          </a:solidFill>
          <a:ln/>
        </p:spPr>
      </p:sp>
      <p:sp>
        <p:nvSpPr>
          <p:cNvPr id="43" name="Text 39">
            <a:extLst>
              <a:ext uri="{FF2B5EF4-FFF2-40B4-BE49-F238E27FC236}">
                <a16:creationId xmlns:a16="http://schemas.microsoft.com/office/drawing/2014/main" id="{32C7AAE1-E80A-FF98-0369-0FA61E81F1D1}"/>
              </a:ext>
            </a:extLst>
          </p:cNvPr>
          <p:cNvSpPr/>
          <p:nvPr/>
        </p:nvSpPr>
        <p:spPr>
          <a:xfrm>
            <a:off x="457200" y="6317503"/>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grpSp>
        <p:nvGrpSpPr>
          <p:cNvPr id="46" name="Group 45">
            <a:extLst>
              <a:ext uri="{FF2B5EF4-FFF2-40B4-BE49-F238E27FC236}">
                <a16:creationId xmlns:a16="http://schemas.microsoft.com/office/drawing/2014/main" id="{0ED00ED9-C2C4-5116-1860-211D782B40AE}"/>
              </a:ext>
            </a:extLst>
          </p:cNvPr>
          <p:cNvGrpSpPr/>
          <p:nvPr/>
        </p:nvGrpSpPr>
        <p:grpSpPr>
          <a:xfrm>
            <a:off x="4143375" y="1859152"/>
            <a:ext cx="4543425" cy="3750497"/>
            <a:chOff x="4143375" y="2740242"/>
            <a:chExt cx="4543425" cy="3750497"/>
          </a:xfrm>
        </p:grpSpPr>
        <p:sp>
          <p:nvSpPr>
            <p:cNvPr id="32" name="Text 28">
              <a:extLst>
                <a:ext uri="{FF2B5EF4-FFF2-40B4-BE49-F238E27FC236}">
                  <a16:creationId xmlns:a16="http://schemas.microsoft.com/office/drawing/2014/main" id="{A3C8DB79-AB2A-C1FA-F2CC-F39AF12D1804}"/>
                </a:ext>
              </a:extLst>
            </p:cNvPr>
            <p:cNvSpPr/>
            <p:nvPr/>
          </p:nvSpPr>
          <p:spPr>
            <a:xfrm>
              <a:off x="4143375" y="2754530"/>
              <a:ext cx="2571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E63946"/>
                  </a:solidFill>
                  <a:latin typeface="Playfair Display" pitchFamily="34" charset="0"/>
                  <a:ea typeface="Playfair Display" pitchFamily="34" charset="-122"/>
                  <a:cs typeface="Playfair Display" pitchFamily="34" charset="-120"/>
                </a:rPr>
                <a:t>03</a:t>
              </a:r>
              <a:endParaRPr lang="en-US" sz="1397" dirty="0"/>
            </a:p>
          </p:txBody>
        </p:sp>
        <p:sp>
          <p:nvSpPr>
            <p:cNvPr id="33" name="Text 29">
              <a:extLst>
                <a:ext uri="{FF2B5EF4-FFF2-40B4-BE49-F238E27FC236}">
                  <a16:creationId xmlns:a16="http://schemas.microsoft.com/office/drawing/2014/main" id="{02BA3255-015D-EED5-00C3-52AC55BF1B1A}"/>
                </a:ext>
              </a:extLst>
            </p:cNvPr>
            <p:cNvSpPr/>
            <p:nvPr/>
          </p:nvSpPr>
          <p:spPr>
            <a:xfrm>
              <a:off x="4514850" y="2740242"/>
              <a:ext cx="41719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Software vSwitch Sorting Overhead</a:t>
              </a:r>
              <a:endParaRPr lang="en-US" sz="987" dirty="0"/>
            </a:p>
          </p:txBody>
        </p:sp>
        <p:sp>
          <p:nvSpPr>
            <p:cNvPr id="34" name="Text 30">
              <a:extLst>
                <a:ext uri="{FF2B5EF4-FFF2-40B4-BE49-F238E27FC236}">
                  <a16:creationId xmlns:a16="http://schemas.microsoft.com/office/drawing/2014/main" id="{650DAAE3-741B-8CD2-24F8-694E35FB79EC}"/>
                </a:ext>
              </a:extLst>
            </p:cNvPr>
            <p:cNvSpPr/>
            <p:nvPr/>
          </p:nvSpPr>
          <p:spPr>
            <a:xfrm>
              <a:off x="4514850" y="2963484"/>
              <a:ext cx="4171950" cy="67181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The hypervisor's software vSwitch must inspect the destination MAC and VLAN of every frame and sort it to the correct VM — a CPU-intensive operation that scales linearly with packet rate.</a:t>
              </a:r>
              <a:endParaRPr lang="en-US" sz="996" dirty="0"/>
            </a:p>
          </p:txBody>
        </p:sp>
        <p:sp>
          <p:nvSpPr>
            <p:cNvPr id="35" name="Text 31">
              <a:extLst>
                <a:ext uri="{FF2B5EF4-FFF2-40B4-BE49-F238E27FC236}">
                  <a16:creationId xmlns:a16="http://schemas.microsoft.com/office/drawing/2014/main" id="{8A552C6C-24B5-BB6A-414D-B69372661C0C}"/>
                </a:ext>
              </a:extLst>
            </p:cNvPr>
            <p:cNvSpPr/>
            <p:nvPr/>
          </p:nvSpPr>
          <p:spPr>
            <a:xfrm>
              <a:off x="4143375" y="3885335"/>
              <a:ext cx="2571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E63946"/>
                  </a:solidFill>
                  <a:latin typeface="Playfair Display" pitchFamily="34" charset="0"/>
                  <a:ea typeface="Playfair Display" pitchFamily="34" charset="-122"/>
                  <a:cs typeface="Playfair Display" pitchFamily="34" charset="-120"/>
                </a:rPr>
                <a:t>04</a:t>
              </a:r>
              <a:endParaRPr lang="en-US" sz="1397" dirty="0"/>
            </a:p>
          </p:txBody>
        </p:sp>
        <p:sp>
          <p:nvSpPr>
            <p:cNvPr id="36" name="Text 32">
              <a:extLst>
                <a:ext uri="{FF2B5EF4-FFF2-40B4-BE49-F238E27FC236}">
                  <a16:creationId xmlns:a16="http://schemas.microsoft.com/office/drawing/2014/main" id="{07F1EECA-E04A-1E1C-A1EF-A797A977907C}"/>
                </a:ext>
              </a:extLst>
            </p:cNvPr>
            <p:cNvSpPr/>
            <p:nvPr/>
          </p:nvSpPr>
          <p:spPr>
            <a:xfrm>
              <a:off x="4514850" y="3871047"/>
              <a:ext cx="41719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Context Switches Between Kernel and Hypervisor</a:t>
              </a:r>
              <a:endParaRPr lang="en-US" sz="987" dirty="0"/>
            </a:p>
          </p:txBody>
        </p:sp>
        <p:sp>
          <p:nvSpPr>
            <p:cNvPr id="37" name="Text 33">
              <a:extLst>
                <a:ext uri="{FF2B5EF4-FFF2-40B4-BE49-F238E27FC236}">
                  <a16:creationId xmlns:a16="http://schemas.microsoft.com/office/drawing/2014/main" id="{100C9F5A-E2A2-7E71-1E54-B1B7C9C02E71}"/>
                </a:ext>
              </a:extLst>
            </p:cNvPr>
            <p:cNvSpPr/>
            <p:nvPr/>
          </p:nvSpPr>
          <p:spPr>
            <a:xfrm>
              <a:off x="4514850" y="4094290"/>
              <a:ext cx="4171950" cy="67181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Each packet traversal involves multiple privilege-level transitions between user space, kernel space, and the hypervisor VMM — each transition flushing CPU pipeline state.</a:t>
              </a:r>
              <a:endParaRPr lang="en-US" sz="996" dirty="0"/>
            </a:p>
          </p:txBody>
        </p:sp>
        <p:sp>
          <p:nvSpPr>
            <p:cNvPr id="38" name="Text 34">
              <a:extLst>
                <a:ext uri="{FF2B5EF4-FFF2-40B4-BE49-F238E27FC236}">
                  <a16:creationId xmlns:a16="http://schemas.microsoft.com/office/drawing/2014/main" id="{ED374A3C-123D-AC65-28AC-165D3FE1BD48}"/>
                </a:ext>
              </a:extLst>
            </p:cNvPr>
            <p:cNvSpPr/>
            <p:nvPr/>
          </p:nvSpPr>
          <p:spPr>
            <a:xfrm>
              <a:off x="4143375" y="5016140"/>
              <a:ext cx="2571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E63946"/>
                  </a:solidFill>
                  <a:latin typeface="Playfair Display" pitchFamily="34" charset="0"/>
                  <a:ea typeface="Playfair Display" pitchFamily="34" charset="-122"/>
                  <a:cs typeface="Playfair Display" pitchFamily="34" charset="-120"/>
                </a:rPr>
                <a:t>05</a:t>
              </a:r>
              <a:endParaRPr lang="en-US" sz="1397" dirty="0"/>
            </a:p>
          </p:txBody>
        </p:sp>
        <p:sp>
          <p:nvSpPr>
            <p:cNvPr id="39" name="Text 35">
              <a:extLst>
                <a:ext uri="{FF2B5EF4-FFF2-40B4-BE49-F238E27FC236}">
                  <a16:creationId xmlns:a16="http://schemas.microsoft.com/office/drawing/2014/main" id="{5E935EAE-1FF8-D3D1-EBE5-6090E1698410}"/>
                </a:ext>
              </a:extLst>
            </p:cNvPr>
            <p:cNvSpPr/>
            <p:nvPr/>
          </p:nvSpPr>
          <p:spPr>
            <a:xfrm>
              <a:off x="4514850" y="5001853"/>
              <a:ext cx="41719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Non-Linear Degradation at Scale</a:t>
              </a:r>
              <a:endParaRPr lang="en-US" sz="987" dirty="0"/>
            </a:p>
          </p:txBody>
        </p:sp>
        <p:sp>
          <p:nvSpPr>
            <p:cNvPr id="40" name="Text 36">
              <a:extLst>
                <a:ext uri="{FF2B5EF4-FFF2-40B4-BE49-F238E27FC236}">
                  <a16:creationId xmlns:a16="http://schemas.microsoft.com/office/drawing/2014/main" id="{228C48BD-BFCE-CB4C-1820-71F8B9F85845}"/>
                </a:ext>
              </a:extLst>
            </p:cNvPr>
            <p:cNvSpPr/>
            <p:nvPr/>
          </p:nvSpPr>
          <p:spPr>
            <a:xfrm>
              <a:off x="4514850" y="5225095"/>
              <a:ext cx="4171950" cy="67181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Performance degrades severely above 1 million packets per second (Mpps). At 10 Gbps with 64-byte frames, the system must process ~14.8 Mpps — far beyond what the kernel path can sustain.</a:t>
              </a:r>
              <a:endParaRPr lang="en-US" sz="996" dirty="0"/>
            </a:p>
          </p:txBody>
        </p:sp>
        <p:sp>
          <p:nvSpPr>
            <p:cNvPr id="44" name="Text 40">
              <a:extLst>
                <a:ext uri="{FF2B5EF4-FFF2-40B4-BE49-F238E27FC236}">
                  <a16:creationId xmlns:a16="http://schemas.microsoft.com/office/drawing/2014/main" id="{8091824E-7846-0F25-C341-874910CB81EA}"/>
                </a:ext>
              </a:extLst>
            </p:cNvPr>
            <p:cNvSpPr/>
            <p:nvPr/>
          </p:nvSpPr>
          <p:spPr>
            <a:xfrm>
              <a:off x="8256389" y="6317503"/>
              <a:ext cx="430411"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02 / 15</a:t>
              </a:r>
              <a:endParaRPr lang="en-US" sz="996" dirty="0"/>
            </a:p>
          </p:txBody>
        </p:sp>
      </p:grpSp>
    </p:spTree>
    <p:extLst>
      <p:ext uri="{BB962C8B-B14F-4D97-AF65-F5344CB8AC3E}">
        <p14:creationId xmlns:p14="http://schemas.microsoft.com/office/powerpoint/2010/main" val="3063731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0A5C3-6780-5F00-3EA1-02D9DF91AF0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7D54DAD4-A272-1D49-DCE3-54BFE3DD55AE}"/>
              </a:ext>
            </a:extLst>
          </p:cNvPr>
          <p:cNvSpPr/>
          <p:nvPr/>
        </p:nvSpPr>
        <p:spPr>
          <a:xfrm>
            <a:off x="457200" y="357188"/>
            <a:ext cx="328612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BACKGROUND</a:t>
            </a:r>
            <a:endParaRPr lang="en-US" sz="936" dirty="0"/>
          </a:p>
        </p:txBody>
      </p:sp>
      <p:sp>
        <p:nvSpPr>
          <p:cNvPr id="5" name="Text 1">
            <a:extLst>
              <a:ext uri="{FF2B5EF4-FFF2-40B4-BE49-F238E27FC236}">
                <a16:creationId xmlns:a16="http://schemas.microsoft.com/office/drawing/2014/main" id="{0F2EEECC-3A00-38C8-0088-67C3F8004C8E}"/>
              </a:ext>
            </a:extLst>
          </p:cNvPr>
          <p:cNvSpPr/>
          <p:nvPr/>
        </p:nvSpPr>
        <p:spPr>
          <a:xfrm>
            <a:off x="457200" y="659011"/>
            <a:ext cx="7899568" cy="251159"/>
          </a:xfrm>
          <a:prstGeom prst="rect">
            <a:avLst/>
          </a:prstGeom>
          <a:noFill/>
          <a:ln/>
        </p:spPr>
        <p:txBody>
          <a:bodyPr wrap="square" lIns="0" tIns="0" rIns="0" bIns="0" rtlCol="0" anchor="t">
            <a:spAutoFit/>
          </a:bodyPr>
          <a:lstStyle/>
          <a:p>
            <a:pPr marL="0" indent="0" algn="l">
              <a:lnSpc>
                <a:spcPts val="2100"/>
              </a:lnSpc>
              <a:buNone/>
            </a:pPr>
            <a:r>
              <a:rPr lang="en-US" sz="1499" b="1" dirty="0">
                <a:solidFill>
                  <a:srgbClr val="1A1A2E"/>
                </a:solidFill>
                <a:latin typeface="Playfair Display" pitchFamily="34" charset="0"/>
                <a:ea typeface="Playfair Display" pitchFamily="34" charset="-122"/>
                <a:cs typeface="Playfair Display" pitchFamily="34" charset="-120"/>
              </a:rPr>
              <a:t>Virtual Machines Device Queues (</a:t>
            </a:r>
            <a:r>
              <a:rPr lang="en-US" sz="1499" b="1" dirty="0" err="1">
                <a:solidFill>
                  <a:srgbClr val="1A1A2E"/>
                </a:solidFill>
                <a:latin typeface="Playfair Display" pitchFamily="34" charset="0"/>
                <a:ea typeface="Playfair Display" pitchFamily="34" charset="-122"/>
                <a:cs typeface="Playfair Display" pitchFamily="34" charset="-120"/>
              </a:rPr>
              <a:t>VMDq</a:t>
            </a:r>
            <a:r>
              <a:rPr lang="en-US" sz="1499" b="1" dirty="0">
                <a:solidFill>
                  <a:srgbClr val="1A1A2E"/>
                </a:solidFill>
                <a:latin typeface="Playfair Display" pitchFamily="34" charset="0"/>
                <a:ea typeface="Playfair Display" pitchFamily="34" charset="-122"/>
                <a:cs typeface="Playfair Display" pitchFamily="34" charset="-120"/>
              </a:rPr>
              <a:t>)</a:t>
            </a:r>
            <a:endParaRPr lang="en-US" sz="1499" dirty="0"/>
          </a:p>
        </p:txBody>
      </p:sp>
      <p:sp>
        <p:nvSpPr>
          <p:cNvPr id="41" name="Shape 37">
            <a:extLst>
              <a:ext uri="{FF2B5EF4-FFF2-40B4-BE49-F238E27FC236}">
                <a16:creationId xmlns:a16="http://schemas.microsoft.com/office/drawing/2014/main" id="{163A2062-E389-3025-C2B3-EB6BEE42AE3C}"/>
              </a:ext>
            </a:extLst>
          </p:cNvPr>
          <p:cNvSpPr/>
          <p:nvPr/>
        </p:nvSpPr>
        <p:spPr>
          <a:xfrm>
            <a:off x="0" y="6275533"/>
            <a:ext cx="9144000" cy="257175"/>
          </a:xfrm>
          <a:prstGeom prst="rect">
            <a:avLst/>
          </a:prstGeom>
          <a:solidFill>
            <a:srgbClr val="000000">
              <a:alpha val="0"/>
            </a:srgbClr>
          </a:solidFill>
          <a:ln/>
        </p:spPr>
      </p:sp>
      <p:sp>
        <p:nvSpPr>
          <p:cNvPr id="42" name="Shape 38">
            <a:extLst>
              <a:ext uri="{FF2B5EF4-FFF2-40B4-BE49-F238E27FC236}">
                <a16:creationId xmlns:a16="http://schemas.microsoft.com/office/drawing/2014/main" id="{D666C6F3-5119-D4A0-BF93-752A5A84623A}"/>
              </a:ext>
            </a:extLst>
          </p:cNvPr>
          <p:cNvSpPr/>
          <p:nvPr/>
        </p:nvSpPr>
        <p:spPr>
          <a:xfrm>
            <a:off x="0" y="6275533"/>
            <a:ext cx="9144000" cy="7144"/>
          </a:xfrm>
          <a:prstGeom prst="rect">
            <a:avLst/>
          </a:prstGeom>
          <a:solidFill>
            <a:srgbClr val="EBEBF0"/>
          </a:solidFill>
          <a:ln/>
        </p:spPr>
      </p:sp>
      <p:sp>
        <p:nvSpPr>
          <p:cNvPr id="43" name="Text 39">
            <a:extLst>
              <a:ext uri="{FF2B5EF4-FFF2-40B4-BE49-F238E27FC236}">
                <a16:creationId xmlns:a16="http://schemas.microsoft.com/office/drawing/2014/main" id="{3CB8CB56-5FEF-8336-7458-80962051E3CB}"/>
              </a:ext>
            </a:extLst>
          </p:cNvPr>
          <p:cNvSpPr/>
          <p:nvPr/>
        </p:nvSpPr>
        <p:spPr>
          <a:xfrm>
            <a:off x="457200" y="6317503"/>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pic>
        <p:nvPicPr>
          <p:cNvPr id="3" name="Picture 2" descr="f06-04-9780128007280">
            <a:extLst>
              <a:ext uri="{FF2B5EF4-FFF2-40B4-BE49-F238E27FC236}">
                <a16:creationId xmlns:a16="http://schemas.microsoft.com/office/drawing/2014/main" id="{B733829F-8088-900F-A78A-47F4A07BC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6153"/>
            <a:ext cx="3880914" cy="3737492"/>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1">
            <a:extLst>
              <a:ext uri="{FF2B5EF4-FFF2-40B4-BE49-F238E27FC236}">
                <a16:creationId xmlns:a16="http://schemas.microsoft.com/office/drawing/2014/main" id="{18952571-80B6-C0B7-90C3-7849952A90D8}"/>
              </a:ext>
            </a:extLst>
          </p:cNvPr>
          <p:cNvSpPr txBox="1">
            <a:spLocks/>
          </p:cNvSpPr>
          <p:nvPr/>
        </p:nvSpPr>
        <p:spPr>
          <a:xfrm>
            <a:off x="4455752" y="1216153"/>
            <a:ext cx="4358640" cy="299008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Within the network interface controller (NIC), both transmit and receive queues are established for each VM hosted in the server.. </a:t>
            </a:r>
          </a:p>
          <a:p>
            <a:r>
              <a:rPr lang="en-US" sz="2000" dirty="0"/>
              <a:t>When frames are received from the physical network, MAC address and VLAN tag information in the frame headers can be used to determine the correct VM to send the traffic to. </a:t>
            </a:r>
          </a:p>
        </p:txBody>
      </p:sp>
    </p:spTree>
    <p:extLst>
      <p:ext uri="{BB962C8B-B14F-4D97-AF65-F5344CB8AC3E}">
        <p14:creationId xmlns:p14="http://schemas.microsoft.com/office/powerpoint/2010/main" val="2828621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6AFB-AA65-D56A-D0FA-D086EB38DBBC}"/>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0345208-24E0-28D5-C71E-59C1EBACB66B}"/>
              </a:ext>
            </a:extLst>
          </p:cNvPr>
          <p:cNvSpPr/>
          <p:nvPr/>
        </p:nvSpPr>
        <p:spPr>
          <a:xfrm>
            <a:off x="457200" y="357188"/>
            <a:ext cx="328612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BACKGROUND</a:t>
            </a:r>
            <a:endParaRPr lang="en-US" sz="936" dirty="0"/>
          </a:p>
        </p:txBody>
      </p:sp>
      <p:sp>
        <p:nvSpPr>
          <p:cNvPr id="5" name="Text 1">
            <a:extLst>
              <a:ext uri="{FF2B5EF4-FFF2-40B4-BE49-F238E27FC236}">
                <a16:creationId xmlns:a16="http://schemas.microsoft.com/office/drawing/2014/main" id="{C958312E-9E22-D71D-115D-CBE1F3191FA7}"/>
              </a:ext>
            </a:extLst>
          </p:cNvPr>
          <p:cNvSpPr/>
          <p:nvPr/>
        </p:nvSpPr>
        <p:spPr>
          <a:xfrm>
            <a:off x="457200" y="659011"/>
            <a:ext cx="7899568" cy="251159"/>
          </a:xfrm>
          <a:prstGeom prst="rect">
            <a:avLst/>
          </a:prstGeom>
          <a:noFill/>
          <a:ln/>
        </p:spPr>
        <p:txBody>
          <a:bodyPr wrap="square" lIns="0" tIns="0" rIns="0" bIns="0" rtlCol="0" anchor="t">
            <a:spAutoFit/>
          </a:bodyPr>
          <a:lstStyle/>
          <a:p>
            <a:pPr marL="0" indent="0" algn="l">
              <a:lnSpc>
                <a:spcPts val="2100"/>
              </a:lnSpc>
              <a:buNone/>
            </a:pPr>
            <a:r>
              <a:rPr lang="en-US" sz="1499" b="1" dirty="0">
                <a:solidFill>
                  <a:srgbClr val="1A1A2E"/>
                </a:solidFill>
                <a:latin typeface="Playfair Display" pitchFamily="34" charset="0"/>
                <a:ea typeface="Playfair Display" pitchFamily="34" charset="-122"/>
                <a:cs typeface="Playfair Display" pitchFamily="34" charset="-120"/>
              </a:rPr>
              <a:t>Virtual Machines Device Queues (</a:t>
            </a:r>
            <a:r>
              <a:rPr lang="en-US" sz="1499" b="1" dirty="0" err="1">
                <a:solidFill>
                  <a:srgbClr val="1A1A2E"/>
                </a:solidFill>
                <a:latin typeface="Playfair Display" pitchFamily="34" charset="0"/>
                <a:ea typeface="Playfair Display" pitchFamily="34" charset="-122"/>
                <a:cs typeface="Playfair Display" pitchFamily="34" charset="-120"/>
              </a:rPr>
              <a:t>VMDq</a:t>
            </a:r>
            <a:r>
              <a:rPr lang="en-US" sz="1499" b="1" dirty="0">
                <a:solidFill>
                  <a:srgbClr val="1A1A2E"/>
                </a:solidFill>
                <a:latin typeface="Playfair Display" pitchFamily="34" charset="0"/>
                <a:ea typeface="Playfair Display" pitchFamily="34" charset="-122"/>
                <a:cs typeface="Playfair Display" pitchFamily="34" charset="-120"/>
              </a:rPr>
              <a:t>)</a:t>
            </a:r>
            <a:endParaRPr lang="en-US" sz="1499" dirty="0"/>
          </a:p>
        </p:txBody>
      </p:sp>
      <p:sp>
        <p:nvSpPr>
          <p:cNvPr id="41" name="Shape 37">
            <a:extLst>
              <a:ext uri="{FF2B5EF4-FFF2-40B4-BE49-F238E27FC236}">
                <a16:creationId xmlns:a16="http://schemas.microsoft.com/office/drawing/2014/main" id="{00ED8FBB-EA10-23C2-25E2-4B5F51DF2F46}"/>
              </a:ext>
            </a:extLst>
          </p:cNvPr>
          <p:cNvSpPr/>
          <p:nvPr/>
        </p:nvSpPr>
        <p:spPr>
          <a:xfrm>
            <a:off x="0" y="6275533"/>
            <a:ext cx="9144000" cy="257175"/>
          </a:xfrm>
          <a:prstGeom prst="rect">
            <a:avLst/>
          </a:prstGeom>
          <a:solidFill>
            <a:srgbClr val="000000">
              <a:alpha val="0"/>
            </a:srgbClr>
          </a:solidFill>
          <a:ln/>
        </p:spPr>
      </p:sp>
      <p:sp>
        <p:nvSpPr>
          <p:cNvPr id="42" name="Shape 38">
            <a:extLst>
              <a:ext uri="{FF2B5EF4-FFF2-40B4-BE49-F238E27FC236}">
                <a16:creationId xmlns:a16="http://schemas.microsoft.com/office/drawing/2014/main" id="{6FD26650-7261-54AA-6E57-8D857DF516EC}"/>
              </a:ext>
            </a:extLst>
          </p:cNvPr>
          <p:cNvSpPr/>
          <p:nvPr/>
        </p:nvSpPr>
        <p:spPr>
          <a:xfrm>
            <a:off x="0" y="6275533"/>
            <a:ext cx="9144000" cy="7144"/>
          </a:xfrm>
          <a:prstGeom prst="rect">
            <a:avLst/>
          </a:prstGeom>
          <a:solidFill>
            <a:srgbClr val="EBEBF0"/>
          </a:solidFill>
          <a:ln/>
        </p:spPr>
      </p:sp>
      <p:sp>
        <p:nvSpPr>
          <p:cNvPr id="43" name="Text 39">
            <a:extLst>
              <a:ext uri="{FF2B5EF4-FFF2-40B4-BE49-F238E27FC236}">
                <a16:creationId xmlns:a16="http://schemas.microsoft.com/office/drawing/2014/main" id="{316DD7A8-E9FF-EF59-8910-9E4CA5C540EB}"/>
              </a:ext>
            </a:extLst>
          </p:cNvPr>
          <p:cNvSpPr/>
          <p:nvPr/>
        </p:nvSpPr>
        <p:spPr>
          <a:xfrm>
            <a:off x="457200" y="6317503"/>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pic>
        <p:nvPicPr>
          <p:cNvPr id="3" name="Picture 2" descr="f06-04-9780128007280">
            <a:extLst>
              <a:ext uri="{FF2B5EF4-FFF2-40B4-BE49-F238E27FC236}">
                <a16:creationId xmlns:a16="http://schemas.microsoft.com/office/drawing/2014/main" id="{7F3EF85A-BE5F-2143-49B7-757FD2F34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16153"/>
            <a:ext cx="3880914" cy="3737492"/>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0000F982-1CE3-1315-EA1A-B50CE6F419D3}"/>
              </a:ext>
            </a:extLst>
          </p:cNvPr>
          <p:cNvSpPr txBox="1">
            <a:spLocks/>
          </p:cNvSpPr>
          <p:nvPr/>
        </p:nvSpPr>
        <p:spPr>
          <a:xfrm>
            <a:off x="4572000" y="1062379"/>
            <a:ext cx="4285487" cy="38481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The vSwitch simply needs to forward the frame to the VM from the corresponding queue. When packets are transmitted from the VM, they are simply forwarded to the associated queue in the NIC. </a:t>
            </a:r>
          </a:p>
          <a:p>
            <a:r>
              <a:rPr lang="en-US" sz="2000"/>
              <a:t>The NIC can then send frames out to the physical network based on various scheduling mechanisms such as round robin, weighted round robin, or strict priority based on service level agreements.</a:t>
            </a:r>
            <a:endParaRPr lang="en-US" sz="1000" dirty="0"/>
          </a:p>
        </p:txBody>
      </p:sp>
    </p:spTree>
    <p:extLst>
      <p:ext uri="{BB962C8B-B14F-4D97-AF65-F5344CB8AC3E}">
        <p14:creationId xmlns:p14="http://schemas.microsoft.com/office/powerpoint/2010/main" val="123590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C719-8F49-B76D-B50E-8AAD00137CE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74C9751C-CB69-58F6-D24E-7C1AB8F83137}"/>
              </a:ext>
            </a:extLst>
          </p:cNvPr>
          <p:cNvSpPr/>
          <p:nvPr/>
        </p:nvSpPr>
        <p:spPr>
          <a:xfrm>
            <a:off x="457200" y="328613"/>
            <a:ext cx="3571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ARCHITECTURE</a:t>
            </a:r>
            <a:endParaRPr lang="en-US" sz="936" dirty="0"/>
          </a:p>
        </p:txBody>
      </p:sp>
      <p:sp>
        <p:nvSpPr>
          <p:cNvPr id="5" name="Shape 1">
            <a:extLst>
              <a:ext uri="{FF2B5EF4-FFF2-40B4-BE49-F238E27FC236}">
                <a16:creationId xmlns:a16="http://schemas.microsoft.com/office/drawing/2014/main" id="{708B224A-5A37-EC1D-8D53-4F902ED2328B}"/>
              </a:ext>
            </a:extLst>
          </p:cNvPr>
          <p:cNvSpPr/>
          <p:nvPr/>
        </p:nvSpPr>
        <p:spPr>
          <a:xfrm>
            <a:off x="457200" y="587573"/>
            <a:ext cx="3571875" cy="230386"/>
          </a:xfrm>
          <a:prstGeom prst="rect">
            <a:avLst/>
          </a:prstGeom>
          <a:solidFill>
            <a:srgbClr val="1A6B72"/>
          </a:solidFill>
          <a:ln/>
        </p:spPr>
      </p:sp>
      <p:sp>
        <p:nvSpPr>
          <p:cNvPr id="6" name="Text 2">
            <a:extLst>
              <a:ext uri="{FF2B5EF4-FFF2-40B4-BE49-F238E27FC236}">
                <a16:creationId xmlns:a16="http://schemas.microsoft.com/office/drawing/2014/main" id="{1F058EAD-03BB-DC08-DB0D-3E723C5FD962}"/>
              </a:ext>
            </a:extLst>
          </p:cNvPr>
          <p:cNvSpPr/>
          <p:nvPr/>
        </p:nvSpPr>
        <p:spPr>
          <a:xfrm>
            <a:off x="457200" y="587573"/>
            <a:ext cx="3571875" cy="230386"/>
          </a:xfrm>
          <a:prstGeom prst="rect">
            <a:avLst/>
          </a:prstGeom>
          <a:noFill/>
          <a:ln/>
        </p:spPr>
        <p:txBody>
          <a:bodyPr wrap="none" lIns="102108" tIns="34036" rIns="102108"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 · HYPERVISOR OFFLOAD · INTEL HARDWARE</a:t>
            </a:r>
            <a:endParaRPr lang="en-US" sz="936" dirty="0"/>
          </a:p>
        </p:txBody>
      </p:sp>
      <p:sp>
        <p:nvSpPr>
          <p:cNvPr id="7" name="Text 3">
            <a:extLst>
              <a:ext uri="{FF2B5EF4-FFF2-40B4-BE49-F238E27FC236}">
                <a16:creationId xmlns:a16="http://schemas.microsoft.com/office/drawing/2014/main" id="{4A53D046-CB42-A7F2-A1FB-240796845D6C}"/>
              </a:ext>
            </a:extLst>
          </p:cNvPr>
          <p:cNvSpPr/>
          <p:nvPr/>
        </p:nvSpPr>
        <p:spPr>
          <a:xfrm>
            <a:off x="372421" y="918438"/>
            <a:ext cx="7797403" cy="226922"/>
          </a:xfrm>
          <a:prstGeom prst="rect">
            <a:avLst/>
          </a:prstGeom>
          <a:noFill/>
          <a:ln/>
        </p:spPr>
        <p:txBody>
          <a:bodyPr wrap="square" lIns="0" tIns="0" rIns="0" bIns="0" rtlCol="0" anchor="t">
            <a:spAutoFit/>
          </a:bodyPr>
          <a:lstStyle/>
          <a:p>
            <a:pPr marL="0" indent="0" algn="l">
              <a:lnSpc>
                <a:spcPts val="1900"/>
              </a:lnSpc>
              <a:buNone/>
            </a:pPr>
            <a:r>
              <a:rPr lang="en-US" sz="1346" b="1" dirty="0">
                <a:solidFill>
                  <a:srgbClr val="1A1A2E"/>
                </a:solidFill>
                <a:latin typeface="Playfair Display" pitchFamily="34" charset="0"/>
                <a:ea typeface="Playfair Display" pitchFamily="34" charset="-122"/>
                <a:cs typeface="Playfair Display" pitchFamily="34" charset="-120"/>
              </a:rPr>
              <a:t>Intelligent Hardware Queue Offload Reduces Hypervisor CPU Without Removing the vSwitch</a:t>
            </a:r>
            <a:endParaRPr lang="en-US" sz="1346" dirty="0"/>
          </a:p>
        </p:txBody>
      </p:sp>
      <p:sp>
        <p:nvSpPr>
          <p:cNvPr id="8" name="Text 4">
            <a:extLst>
              <a:ext uri="{FF2B5EF4-FFF2-40B4-BE49-F238E27FC236}">
                <a16:creationId xmlns:a16="http://schemas.microsoft.com/office/drawing/2014/main" id="{0CD47164-09A1-1FEA-0A40-967B6D770273}"/>
              </a:ext>
            </a:extLst>
          </p:cNvPr>
          <p:cNvSpPr/>
          <p:nvPr/>
        </p:nvSpPr>
        <p:spPr>
          <a:xfrm>
            <a:off x="366173" y="1114348"/>
            <a:ext cx="8229600" cy="944041"/>
          </a:xfrm>
          <a:prstGeom prst="rect">
            <a:avLst/>
          </a:prstGeom>
          <a:noFill/>
          <a:ln/>
        </p:spPr>
        <p:txBody>
          <a:bodyPr wrap="square" lIns="0" tIns="0" rIns="0" bIns="0" rtlCol="0" anchor="t">
            <a:spAutoFit/>
          </a:bodyPr>
          <a:lstStyle/>
          <a:p>
            <a:pPr marL="0" indent="0" algn="l">
              <a:lnSpc>
                <a:spcPts val="1900"/>
              </a:lnSpc>
              <a:buNone/>
            </a:pPr>
            <a:r>
              <a:rPr lang="en-US" sz="1050" dirty="0">
                <a:solidFill>
                  <a:srgbClr val="4A4A6A"/>
                </a:solidFill>
                <a:latin typeface="Open Sans" pitchFamily="34" charset="0"/>
                <a:ea typeface="Open Sans" pitchFamily="34" charset="-122"/>
                <a:cs typeface="Open Sans" pitchFamily="34" charset="-120"/>
              </a:rPr>
              <a:t>VMDq assigns each VM a dedicated hardware RX queue on the NIC. The NIC hardware classifies every incoming frame by its destination MAC address and VLAN ID, placing it directly into the correct VM's queue. The hypervisor vSwitch then picks up pre-sorted packets and delivers them — its most expensive operation, per-packet sorting, has been eliminated in silicon. The vSwitch remains fully in the data path, preserving live migration, security groups, and traffic monitoring.</a:t>
            </a:r>
            <a:endParaRPr lang="en-US" sz="1050" dirty="0"/>
          </a:p>
        </p:txBody>
      </p:sp>
      <p:sp>
        <p:nvSpPr>
          <p:cNvPr id="18" name="Text 14">
            <a:extLst>
              <a:ext uri="{FF2B5EF4-FFF2-40B4-BE49-F238E27FC236}">
                <a16:creationId xmlns:a16="http://schemas.microsoft.com/office/drawing/2014/main" id="{E81E1491-17C1-117C-E81E-94119079311F}"/>
              </a:ext>
            </a:extLst>
          </p:cNvPr>
          <p:cNvSpPr/>
          <p:nvPr/>
        </p:nvSpPr>
        <p:spPr>
          <a:xfrm>
            <a:off x="4400550" y="328613"/>
            <a:ext cx="4286250"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ARCHITECTURE COMPARISON — NORMAL VS VMDQ VS SR-IOV</a:t>
            </a:r>
            <a:endParaRPr lang="en-US" sz="942" dirty="0"/>
          </a:p>
        </p:txBody>
      </p:sp>
      <p:sp>
        <p:nvSpPr>
          <p:cNvPr id="24" name="Shape 19">
            <a:extLst>
              <a:ext uri="{FF2B5EF4-FFF2-40B4-BE49-F238E27FC236}">
                <a16:creationId xmlns:a16="http://schemas.microsoft.com/office/drawing/2014/main" id="{B7923F9B-600A-88AE-1E23-6AE0E074529F}"/>
              </a:ext>
            </a:extLst>
          </p:cNvPr>
          <p:cNvSpPr/>
          <p:nvPr/>
        </p:nvSpPr>
        <p:spPr>
          <a:xfrm>
            <a:off x="0" y="7526778"/>
            <a:ext cx="9144000" cy="257175"/>
          </a:xfrm>
          <a:prstGeom prst="rect">
            <a:avLst/>
          </a:prstGeom>
          <a:solidFill>
            <a:srgbClr val="000000">
              <a:alpha val="0"/>
            </a:srgbClr>
          </a:solidFill>
          <a:ln/>
        </p:spPr>
      </p:sp>
      <p:sp>
        <p:nvSpPr>
          <p:cNvPr id="25" name="Shape 20">
            <a:extLst>
              <a:ext uri="{FF2B5EF4-FFF2-40B4-BE49-F238E27FC236}">
                <a16:creationId xmlns:a16="http://schemas.microsoft.com/office/drawing/2014/main" id="{F150F497-4E14-E7A3-5003-13EE9BEA43B8}"/>
              </a:ext>
            </a:extLst>
          </p:cNvPr>
          <p:cNvSpPr/>
          <p:nvPr/>
        </p:nvSpPr>
        <p:spPr>
          <a:xfrm>
            <a:off x="0" y="7526778"/>
            <a:ext cx="9144000" cy="7144"/>
          </a:xfrm>
          <a:prstGeom prst="rect">
            <a:avLst/>
          </a:prstGeom>
          <a:solidFill>
            <a:srgbClr val="EBEBF0"/>
          </a:solidFill>
          <a:ln/>
        </p:spPr>
      </p:sp>
      <p:grpSp>
        <p:nvGrpSpPr>
          <p:cNvPr id="2" name="Group 1">
            <a:extLst>
              <a:ext uri="{FF2B5EF4-FFF2-40B4-BE49-F238E27FC236}">
                <a16:creationId xmlns:a16="http://schemas.microsoft.com/office/drawing/2014/main" id="{E8771747-953B-DCA3-6CB1-2F357ADD1B32}"/>
              </a:ext>
            </a:extLst>
          </p:cNvPr>
          <p:cNvGrpSpPr/>
          <p:nvPr/>
        </p:nvGrpSpPr>
        <p:grpSpPr>
          <a:xfrm>
            <a:off x="285750" y="2133615"/>
            <a:ext cx="8229600" cy="3659669"/>
            <a:chOff x="457200" y="4068673"/>
            <a:chExt cx="3571876" cy="3659669"/>
          </a:xfrm>
        </p:grpSpPr>
        <p:sp>
          <p:nvSpPr>
            <p:cNvPr id="9" name="Text 5">
              <a:extLst>
                <a:ext uri="{FF2B5EF4-FFF2-40B4-BE49-F238E27FC236}">
                  <a16:creationId xmlns:a16="http://schemas.microsoft.com/office/drawing/2014/main" id="{96ED3A07-9D35-F6C0-6D37-829432AA3FA2}"/>
                </a:ext>
              </a:extLst>
            </p:cNvPr>
            <p:cNvSpPr/>
            <p:nvPr/>
          </p:nvSpPr>
          <p:spPr>
            <a:xfrm>
              <a:off x="457200" y="4068673"/>
              <a:ext cx="649968" cy="153888"/>
            </a:xfrm>
            <a:prstGeom prst="rect">
              <a:avLst/>
            </a:prstGeom>
            <a:noFill/>
            <a:ln/>
          </p:spPr>
          <p:txBody>
            <a:bodyPr wrap="none" lIns="0" tIns="0" rIns="0" bIns="0" rtlCol="0" anchor="t">
              <a:spAutoFit/>
            </a:bodyPr>
            <a:lstStyle/>
            <a:p>
              <a:pPr marL="0" indent="0" algn="l">
                <a:lnSpc>
                  <a:spcPts val="1200"/>
                </a:lnSpc>
                <a:buNone/>
              </a:pPr>
              <a:r>
                <a:rPr lang="en-US" sz="1050" b="1" kern="0" spc="2" dirty="0">
                  <a:latin typeface="Space Grotesk" pitchFamily="34" charset="0"/>
                  <a:ea typeface="Space Grotesk" pitchFamily="34" charset="-122"/>
                  <a:cs typeface="Space Grotesk" pitchFamily="34" charset="-120"/>
                </a:rPr>
                <a:t>ARCHITECTURE SUMMARY</a:t>
              </a:r>
              <a:endParaRPr lang="en-US" sz="1050" b="1" dirty="0"/>
            </a:p>
          </p:txBody>
        </p:sp>
        <p:sp>
          <p:nvSpPr>
            <p:cNvPr id="10" name="Text 6">
              <a:extLst>
                <a:ext uri="{FF2B5EF4-FFF2-40B4-BE49-F238E27FC236}">
                  <a16:creationId xmlns:a16="http://schemas.microsoft.com/office/drawing/2014/main" id="{360C2577-AF36-7F7E-3496-82B9A493614A}"/>
                </a:ext>
              </a:extLst>
            </p:cNvPr>
            <p:cNvSpPr/>
            <p:nvPr/>
          </p:nvSpPr>
          <p:spPr>
            <a:xfrm>
              <a:off x="614363" y="4354423"/>
              <a:ext cx="845334" cy="160365"/>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A1A2E"/>
                  </a:solidFill>
                  <a:latin typeface="Open Sans" pitchFamily="34" charset="0"/>
                  <a:ea typeface="Open Sans" pitchFamily="34" charset="-122"/>
                  <a:cs typeface="Open Sans" pitchFamily="34" charset="-120"/>
                </a:rPr>
                <a:t>Per-VM Hardware RX Queues</a:t>
              </a:r>
              <a:endParaRPr lang="en-US" sz="1050" dirty="0"/>
            </a:p>
          </p:txBody>
        </p:sp>
        <p:sp>
          <p:nvSpPr>
            <p:cNvPr id="11" name="Text 7">
              <a:extLst>
                <a:ext uri="{FF2B5EF4-FFF2-40B4-BE49-F238E27FC236}">
                  <a16:creationId xmlns:a16="http://schemas.microsoft.com/office/drawing/2014/main" id="{22A33E11-D915-463B-4790-3E1124FF851D}"/>
                </a:ext>
              </a:extLst>
            </p:cNvPr>
            <p:cNvSpPr/>
            <p:nvPr/>
          </p:nvSpPr>
          <p:spPr>
            <a:xfrm>
              <a:off x="614363" y="4552662"/>
              <a:ext cx="3414713" cy="177934"/>
            </a:xfrm>
            <a:prstGeom prst="rect">
              <a:avLst/>
            </a:prstGeom>
            <a:noFill/>
            <a:ln/>
          </p:spPr>
          <p:txBody>
            <a:bodyPr wrap="square" lIns="0" tIns="0" rIns="0" bIns="0" rtlCol="0" anchor="t">
              <a:spAutoFit/>
            </a:bodyPr>
            <a:lstStyle/>
            <a:p>
              <a:pPr marL="0" indent="0" algn="l">
                <a:lnSpc>
                  <a:spcPts val="1500"/>
                </a:lnSpc>
                <a:buNone/>
              </a:pPr>
              <a:r>
                <a:rPr lang="en-US" sz="1050" dirty="0">
                  <a:solidFill>
                    <a:srgbClr val="4A4A6A"/>
                  </a:solidFill>
                  <a:latin typeface="Open Sans" pitchFamily="34" charset="0"/>
                  <a:ea typeface="Open Sans" pitchFamily="34" charset="-122"/>
                  <a:cs typeface="Open Sans" pitchFamily="34" charset="-120"/>
                </a:rPr>
                <a:t>Each VM is assigned a dedicated hardware queue on the NIC. No shared queue contention between VMs.</a:t>
              </a:r>
              <a:endParaRPr lang="en-US" sz="1050" dirty="0"/>
            </a:p>
          </p:txBody>
        </p:sp>
        <p:sp>
          <p:nvSpPr>
            <p:cNvPr id="12" name="Text 8">
              <a:extLst>
                <a:ext uri="{FF2B5EF4-FFF2-40B4-BE49-F238E27FC236}">
                  <a16:creationId xmlns:a16="http://schemas.microsoft.com/office/drawing/2014/main" id="{BAE8767E-76A6-FE93-FA36-B195EF458CBA}"/>
                </a:ext>
              </a:extLst>
            </p:cNvPr>
            <p:cNvSpPr/>
            <p:nvPr/>
          </p:nvSpPr>
          <p:spPr>
            <a:xfrm>
              <a:off x="611580" y="4812836"/>
              <a:ext cx="848813" cy="160365"/>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A1A2E"/>
                  </a:solidFill>
                  <a:latin typeface="Open Sans" pitchFamily="34" charset="0"/>
                  <a:ea typeface="Open Sans" pitchFamily="34" charset="-122"/>
                  <a:cs typeface="Open Sans" pitchFamily="34" charset="-120"/>
                </a:rPr>
                <a:t>NIC Classifies by MAC + VLAN</a:t>
              </a:r>
              <a:endParaRPr lang="en-US" sz="1050" dirty="0"/>
            </a:p>
          </p:txBody>
        </p:sp>
        <p:sp>
          <p:nvSpPr>
            <p:cNvPr id="13" name="Text 9">
              <a:extLst>
                <a:ext uri="{FF2B5EF4-FFF2-40B4-BE49-F238E27FC236}">
                  <a16:creationId xmlns:a16="http://schemas.microsoft.com/office/drawing/2014/main" id="{D5C43397-8B79-B95E-AFD8-25497A9DBE52}"/>
                </a:ext>
              </a:extLst>
            </p:cNvPr>
            <p:cNvSpPr/>
            <p:nvPr/>
          </p:nvSpPr>
          <p:spPr>
            <a:xfrm>
              <a:off x="611580" y="4996357"/>
              <a:ext cx="3414713" cy="371961"/>
            </a:xfrm>
            <a:prstGeom prst="rect">
              <a:avLst/>
            </a:prstGeom>
            <a:noFill/>
            <a:ln/>
          </p:spPr>
          <p:txBody>
            <a:bodyPr wrap="square" lIns="0" tIns="0" rIns="0" bIns="0" rtlCol="0" anchor="t">
              <a:spAutoFit/>
            </a:bodyPr>
            <a:lstStyle/>
            <a:p>
              <a:pPr marL="0" indent="0" algn="l">
                <a:lnSpc>
                  <a:spcPts val="1500"/>
                </a:lnSpc>
                <a:buNone/>
              </a:pPr>
              <a:r>
                <a:rPr lang="en-US" sz="1050" dirty="0">
                  <a:solidFill>
                    <a:srgbClr val="4A4A6A"/>
                  </a:solidFill>
                  <a:latin typeface="Open Sans" pitchFamily="34" charset="0"/>
                  <a:ea typeface="Open Sans" pitchFamily="34" charset="-122"/>
                  <a:cs typeface="Open Sans" pitchFamily="34" charset="-120"/>
                </a:rPr>
                <a:t>The NIC hardware inspects destination MAC address and VLAN tag and routes each frame to the matching VM queue — no CPU involvement in sorting.</a:t>
              </a:r>
              <a:endParaRPr lang="en-US" sz="1050" dirty="0"/>
            </a:p>
          </p:txBody>
        </p:sp>
        <p:sp>
          <p:nvSpPr>
            <p:cNvPr id="14" name="Text 10">
              <a:extLst>
                <a:ext uri="{FF2B5EF4-FFF2-40B4-BE49-F238E27FC236}">
                  <a16:creationId xmlns:a16="http://schemas.microsoft.com/office/drawing/2014/main" id="{F15FF421-2D44-14B4-CE68-BD21452E9277}"/>
                </a:ext>
              </a:extLst>
            </p:cNvPr>
            <p:cNvSpPr/>
            <p:nvPr/>
          </p:nvSpPr>
          <p:spPr>
            <a:xfrm>
              <a:off x="614363" y="5477048"/>
              <a:ext cx="1143810" cy="160365"/>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A1A2E"/>
                  </a:solidFill>
                  <a:latin typeface="Open Sans" pitchFamily="34" charset="0"/>
                  <a:ea typeface="Open Sans" pitchFamily="34" charset="-122"/>
                  <a:cs typeface="Open Sans" pitchFamily="34" charset="-120"/>
                </a:rPr>
                <a:t>Hypervisor vSwitch Completes Delivery</a:t>
              </a:r>
              <a:endParaRPr lang="en-US" sz="1050" dirty="0"/>
            </a:p>
          </p:txBody>
        </p:sp>
        <p:sp>
          <p:nvSpPr>
            <p:cNvPr id="15" name="Text 11">
              <a:extLst>
                <a:ext uri="{FF2B5EF4-FFF2-40B4-BE49-F238E27FC236}">
                  <a16:creationId xmlns:a16="http://schemas.microsoft.com/office/drawing/2014/main" id="{6F7300B5-3EBD-BF49-0BA2-2EBF6A2BE71A}"/>
                </a:ext>
              </a:extLst>
            </p:cNvPr>
            <p:cNvSpPr/>
            <p:nvPr/>
          </p:nvSpPr>
          <p:spPr>
            <a:xfrm>
              <a:off x="611579" y="5711330"/>
              <a:ext cx="3414713" cy="370294"/>
            </a:xfrm>
            <a:prstGeom prst="rect">
              <a:avLst/>
            </a:prstGeom>
            <a:noFill/>
            <a:ln/>
          </p:spPr>
          <p:txBody>
            <a:bodyPr wrap="square" lIns="0" tIns="0" rIns="0" bIns="0" rtlCol="0" anchor="t">
              <a:spAutoFit/>
            </a:bodyPr>
            <a:lstStyle/>
            <a:p>
              <a:pPr marL="0" indent="0" algn="l">
                <a:lnSpc>
                  <a:spcPts val="1500"/>
                </a:lnSpc>
                <a:buNone/>
              </a:pPr>
              <a:r>
                <a:rPr lang="en-US" sz="1050" dirty="0">
                  <a:solidFill>
                    <a:srgbClr val="4A4A6A"/>
                  </a:solidFill>
                  <a:latin typeface="Open Sans" pitchFamily="34" charset="0"/>
                  <a:ea typeface="Open Sans" pitchFamily="34" charset="-122"/>
                  <a:cs typeface="Open Sans" pitchFamily="34" charset="-120"/>
                </a:rPr>
                <a:t>The vSwitch remains active for final delivery and all policy enforcement — ACLs, QoS, port mirroring, and security groups all function normally.</a:t>
              </a:r>
              <a:endParaRPr lang="en-US" sz="1050" dirty="0"/>
            </a:p>
          </p:txBody>
        </p:sp>
        <p:sp>
          <p:nvSpPr>
            <p:cNvPr id="16" name="Text 12">
              <a:extLst>
                <a:ext uri="{FF2B5EF4-FFF2-40B4-BE49-F238E27FC236}">
                  <a16:creationId xmlns:a16="http://schemas.microsoft.com/office/drawing/2014/main" id="{EC0974B9-11DE-27F7-2A14-5A54EC0A3122}"/>
                </a:ext>
              </a:extLst>
            </p:cNvPr>
            <p:cNvSpPr/>
            <p:nvPr/>
          </p:nvSpPr>
          <p:spPr>
            <a:xfrm>
              <a:off x="611579" y="6162055"/>
              <a:ext cx="788283" cy="160365"/>
            </a:xfrm>
            <a:prstGeom prst="rect">
              <a:avLst/>
            </a:prstGeom>
            <a:noFill/>
            <a:ln/>
          </p:spPr>
          <p:txBody>
            <a:bodyPr wrap="none" lIns="0" tIns="0" rIns="0" bIns="0" rtlCol="0" anchor="t">
              <a:spAutoFit/>
            </a:bodyPr>
            <a:lstStyle/>
            <a:p>
              <a:pPr marL="0" indent="0" algn="l">
                <a:lnSpc>
                  <a:spcPts val="1300"/>
                </a:lnSpc>
                <a:buNone/>
              </a:pPr>
              <a:r>
                <a:rPr lang="en-US" sz="1050" b="1" dirty="0">
                  <a:solidFill>
                    <a:srgbClr val="1A1A2E"/>
                  </a:solidFill>
                  <a:latin typeface="Open Sans" pitchFamily="34" charset="0"/>
                  <a:ea typeface="Open Sans" pitchFamily="34" charset="-122"/>
                  <a:cs typeface="Open Sans" pitchFamily="34" charset="-120"/>
                </a:rPr>
                <a:t>Full Live Migration Support</a:t>
              </a:r>
              <a:endParaRPr lang="en-US" sz="1050" dirty="0"/>
            </a:p>
          </p:txBody>
        </p:sp>
        <p:sp>
          <p:nvSpPr>
            <p:cNvPr id="17" name="Text 13">
              <a:extLst>
                <a:ext uri="{FF2B5EF4-FFF2-40B4-BE49-F238E27FC236}">
                  <a16:creationId xmlns:a16="http://schemas.microsoft.com/office/drawing/2014/main" id="{6A2EC259-1B08-DC47-CE5E-25CDFB908B27}"/>
                </a:ext>
              </a:extLst>
            </p:cNvPr>
            <p:cNvSpPr/>
            <p:nvPr/>
          </p:nvSpPr>
          <p:spPr>
            <a:xfrm>
              <a:off x="611579" y="6460324"/>
              <a:ext cx="3414713" cy="371961"/>
            </a:xfrm>
            <a:prstGeom prst="rect">
              <a:avLst/>
            </a:prstGeom>
            <a:noFill/>
            <a:ln/>
          </p:spPr>
          <p:txBody>
            <a:bodyPr wrap="square" lIns="0" tIns="0" rIns="0" bIns="0" rtlCol="0" anchor="t">
              <a:spAutoFit/>
            </a:bodyPr>
            <a:lstStyle/>
            <a:p>
              <a:pPr marL="0" indent="0" algn="l">
                <a:lnSpc>
                  <a:spcPts val="1500"/>
                </a:lnSpc>
                <a:buNone/>
              </a:pPr>
              <a:r>
                <a:rPr lang="en-US" sz="1050" dirty="0">
                  <a:solidFill>
                    <a:srgbClr val="4A4A6A"/>
                  </a:solidFill>
                  <a:latin typeface="Open Sans" pitchFamily="34" charset="0"/>
                  <a:ea typeface="Open Sans" pitchFamily="34" charset="-122"/>
                  <a:cs typeface="Open Sans" pitchFamily="34" charset="-120"/>
                </a:rPr>
                <a:t>Because no hardware VF is directly bound to the VM, the hypervisor can migrate VMs between hosts without network interruption.</a:t>
              </a:r>
              <a:endParaRPr lang="en-US" sz="1050" dirty="0"/>
            </a:p>
          </p:txBody>
        </p:sp>
        <p:sp>
          <p:nvSpPr>
            <p:cNvPr id="26" name="Text 21">
              <a:extLst>
                <a:ext uri="{FF2B5EF4-FFF2-40B4-BE49-F238E27FC236}">
                  <a16:creationId xmlns:a16="http://schemas.microsoft.com/office/drawing/2014/main" id="{2279978C-2CE7-B02F-E67D-414C3839DC1E}"/>
                </a:ext>
              </a:extLst>
            </p:cNvPr>
            <p:cNvSpPr/>
            <p:nvPr/>
          </p:nvSpPr>
          <p:spPr>
            <a:xfrm>
              <a:off x="457200" y="7568747"/>
              <a:ext cx="1100061" cy="159595"/>
            </a:xfrm>
            <a:prstGeom prst="rect">
              <a:avLst/>
            </a:prstGeom>
            <a:noFill/>
            <a:ln/>
          </p:spPr>
          <p:txBody>
            <a:bodyPr wrap="none" lIns="0" tIns="0" rIns="0" bIns="0" rtlCol="0" anchor="t">
              <a:spAutoFit/>
            </a:bodyPr>
            <a:lstStyle/>
            <a:p>
              <a:pPr marL="0" indent="0" algn="l">
                <a:lnSpc>
                  <a:spcPts val="1300"/>
                </a:lnSpc>
                <a:buNone/>
              </a:pPr>
              <a:r>
                <a:rPr lang="en-US" sz="1050"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1050" dirty="0"/>
            </a:p>
          </p:txBody>
        </p:sp>
      </p:grpSp>
    </p:spTree>
    <p:extLst>
      <p:ext uri="{BB962C8B-B14F-4D97-AF65-F5344CB8AC3E}">
        <p14:creationId xmlns:p14="http://schemas.microsoft.com/office/powerpoint/2010/main" val="1658144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2928C-867B-9BB7-B5B8-F4D2726E1881}"/>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96658C3-B06B-0E8D-1F6F-1D0FA4EC7135}"/>
              </a:ext>
            </a:extLst>
          </p:cNvPr>
          <p:cNvSpPr/>
          <p:nvPr/>
        </p:nvSpPr>
        <p:spPr>
          <a:xfrm>
            <a:off x="457200" y="328613"/>
            <a:ext cx="3571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ARCHITECTURE</a:t>
            </a:r>
            <a:endParaRPr lang="en-US" sz="936" dirty="0"/>
          </a:p>
        </p:txBody>
      </p:sp>
      <p:sp>
        <p:nvSpPr>
          <p:cNvPr id="5" name="Shape 1">
            <a:extLst>
              <a:ext uri="{FF2B5EF4-FFF2-40B4-BE49-F238E27FC236}">
                <a16:creationId xmlns:a16="http://schemas.microsoft.com/office/drawing/2014/main" id="{CF38910D-9FA1-AA99-162D-7F85167A8165}"/>
              </a:ext>
            </a:extLst>
          </p:cNvPr>
          <p:cNvSpPr/>
          <p:nvPr/>
        </p:nvSpPr>
        <p:spPr>
          <a:xfrm>
            <a:off x="457200" y="587573"/>
            <a:ext cx="3571875" cy="230386"/>
          </a:xfrm>
          <a:prstGeom prst="rect">
            <a:avLst/>
          </a:prstGeom>
          <a:solidFill>
            <a:srgbClr val="1A6B72"/>
          </a:solidFill>
          <a:ln/>
        </p:spPr>
      </p:sp>
      <p:sp>
        <p:nvSpPr>
          <p:cNvPr id="6" name="Text 2">
            <a:extLst>
              <a:ext uri="{FF2B5EF4-FFF2-40B4-BE49-F238E27FC236}">
                <a16:creationId xmlns:a16="http://schemas.microsoft.com/office/drawing/2014/main" id="{58183BCD-59A1-CA26-9D5A-DC8DE5C52D93}"/>
              </a:ext>
            </a:extLst>
          </p:cNvPr>
          <p:cNvSpPr/>
          <p:nvPr/>
        </p:nvSpPr>
        <p:spPr>
          <a:xfrm>
            <a:off x="457200" y="587573"/>
            <a:ext cx="3571875" cy="230386"/>
          </a:xfrm>
          <a:prstGeom prst="rect">
            <a:avLst/>
          </a:prstGeom>
          <a:noFill/>
          <a:ln/>
        </p:spPr>
        <p:txBody>
          <a:bodyPr wrap="none" lIns="102108" tIns="34036" rIns="102108"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 · HYPERVISOR OFFLOAD · INTEL HARDWARE</a:t>
            </a:r>
            <a:endParaRPr lang="en-US" sz="936" dirty="0"/>
          </a:p>
        </p:txBody>
      </p:sp>
      <p:sp>
        <p:nvSpPr>
          <p:cNvPr id="7" name="Text 3">
            <a:extLst>
              <a:ext uri="{FF2B5EF4-FFF2-40B4-BE49-F238E27FC236}">
                <a16:creationId xmlns:a16="http://schemas.microsoft.com/office/drawing/2014/main" id="{6915BCA6-0792-114D-EEEE-7C3FD9ADA52F}"/>
              </a:ext>
            </a:extLst>
          </p:cNvPr>
          <p:cNvSpPr/>
          <p:nvPr/>
        </p:nvSpPr>
        <p:spPr>
          <a:xfrm>
            <a:off x="372421" y="918438"/>
            <a:ext cx="7797403" cy="226922"/>
          </a:xfrm>
          <a:prstGeom prst="rect">
            <a:avLst/>
          </a:prstGeom>
          <a:noFill/>
          <a:ln/>
        </p:spPr>
        <p:txBody>
          <a:bodyPr wrap="square" lIns="0" tIns="0" rIns="0" bIns="0" rtlCol="0" anchor="t">
            <a:spAutoFit/>
          </a:bodyPr>
          <a:lstStyle/>
          <a:p>
            <a:pPr marL="0" indent="0" algn="l">
              <a:lnSpc>
                <a:spcPts val="1900"/>
              </a:lnSpc>
              <a:buNone/>
            </a:pPr>
            <a:r>
              <a:rPr lang="en-US" sz="1346" b="1" dirty="0">
                <a:solidFill>
                  <a:srgbClr val="1A1A2E"/>
                </a:solidFill>
                <a:latin typeface="Playfair Display" pitchFamily="34" charset="0"/>
                <a:ea typeface="Playfair Display" pitchFamily="34" charset="-122"/>
                <a:cs typeface="Playfair Display" pitchFamily="34" charset="-120"/>
              </a:rPr>
              <a:t>Intelligent Hardware Queue Offload Reduces Hypervisor CPU Without Removing the vSwitch</a:t>
            </a:r>
            <a:endParaRPr lang="en-US" sz="1346" dirty="0"/>
          </a:p>
        </p:txBody>
      </p:sp>
      <p:sp>
        <p:nvSpPr>
          <p:cNvPr id="18" name="Text 14">
            <a:extLst>
              <a:ext uri="{FF2B5EF4-FFF2-40B4-BE49-F238E27FC236}">
                <a16:creationId xmlns:a16="http://schemas.microsoft.com/office/drawing/2014/main" id="{AC77C59D-D850-FB71-6673-2C0D950A49D1}"/>
              </a:ext>
            </a:extLst>
          </p:cNvPr>
          <p:cNvSpPr/>
          <p:nvPr/>
        </p:nvSpPr>
        <p:spPr>
          <a:xfrm>
            <a:off x="4400550" y="328613"/>
            <a:ext cx="4286250"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ARCHITECTURE COMPARISON — NORMAL VS VMDQ VS SR-IOV</a:t>
            </a:r>
            <a:endParaRPr lang="en-US" sz="942" dirty="0"/>
          </a:p>
        </p:txBody>
      </p:sp>
      <p:sp>
        <p:nvSpPr>
          <p:cNvPr id="24" name="Shape 19">
            <a:extLst>
              <a:ext uri="{FF2B5EF4-FFF2-40B4-BE49-F238E27FC236}">
                <a16:creationId xmlns:a16="http://schemas.microsoft.com/office/drawing/2014/main" id="{286D371D-C887-CE4D-4755-25CAF07C8B73}"/>
              </a:ext>
            </a:extLst>
          </p:cNvPr>
          <p:cNvSpPr/>
          <p:nvPr/>
        </p:nvSpPr>
        <p:spPr>
          <a:xfrm>
            <a:off x="0" y="7526778"/>
            <a:ext cx="9144000" cy="257175"/>
          </a:xfrm>
          <a:prstGeom prst="rect">
            <a:avLst/>
          </a:prstGeom>
          <a:solidFill>
            <a:srgbClr val="000000">
              <a:alpha val="0"/>
            </a:srgbClr>
          </a:solidFill>
          <a:ln/>
        </p:spPr>
      </p:sp>
      <p:sp>
        <p:nvSpPr>
          <p:cNvPr id="25" name="Shape 20">
            <a:extLst>
              <a:ext uri="{FF2B5EF4-FFF2-40B4-BE49-F238E27FC236}">
                <a16:creationId xmlns:a16="http://schemas.microsoft.com/office/drawing/2014/main" id="{73A802DF-4005-7693-217A-DFA7997D0B1E}"/>
              </a:ext>
            </a:extLst>
          </p:cNvPr>
          <p:cNvSpPr/>
          <p:nvPr/>
        </p:nvSpPr>
        <p:spPr>
          <a:xfrm>
            <a:off x="0" y="7526778"/>
            <a:ext cx="9144000" cy="7144"/>
          </a:xfrm>
          <a:prstGeom prst="rect">
            <a:avLst/>
          </a:prstGeom>
          <a:solidFill>
            <a:srgbClr val="EBEBF0"/>
          </a:solidFill>
          <a:ln/>
        </p:spPr>
      </p:sp>
      <p:grpSp>
        <p:nvGrpSpPr>
          <p:cNvPr id="28" name="Group 27">
            <a:extLst>
              <a:ext uri="{FF2B5EF4-FFF2-40B4-BE49-F238E27FC236}">
                <a16:creationId xmlns:a16="http://schemas.microsoft.com/office/drawing/2014/main" id="{441A6E3D-09D6-FD9D-4E15-8BDF0F38EE2A}"/>
              </a:ext>
            </a:extLst>
          </p:cNvPr>
          <p:cNvGrpSpPr/>
          <p:nvPr/>
        </p:nvGrpSpPr>
        <p:grpSpPr>
          <a:xfrm>
            <a:off x="521352" y="1771902"/>
            <a:ext cx="7526579" cy="2285370"/>
            <a:chOff x="4400550" y="6195250"/>
            <a:chExt cx="4314825" cy="1546733"/>
          </a:xfrm>
        </p:grpSpPr>
        <p:sp>
          <p:nvSpPr>
            <p:cNvPr id="20" name="Shape 15">
              <a:extLst>
                <a:ext uri="{FF2B5EF4-FFF2-40B4-BE49-F238E27FC236}">
                  <a16:creationId xmlns:a16="http://schemas.microsoft.com/office/drawing/2014/main" id="{35CF1453-0B4C-0738-AC37-DA556DD90CB9}"/>
                </a:ext>
              </a:extLst>
            </p:cNvPr>
            <p:cNvSpPr/>
            <p:nvPr/>
          </p:nvSpPr>
          <p:spPr>
            <a:xfrm>
              <a:off x="4429125" y="6237219"/>
              <a:ext cx="4286250" cy="1331528"/>
            </a:xfrm>
            <a:prstGeom prst="rect">
              <a:avLst/>
            </a:prstGeom>
            <a:solidFill>
              <a:srgbClr val="F0F7F7"/>
            </a:solidFill>
            <a:ln/>
          </p:spPr>
        </p:sp>
        <p:sp>
          <p:nvSpPr>
            <p:cNvPr id="21" name="Shape 16">
              <a:extLst>
                <a:ext uri="{FF2B5EF4-FFF2-40B4-BE49-F238E27FC236}">
                  <a16:creationId xmlns:a16="http://schemas.microsoft.com/office/drawing/2014/main" id="{43EFC9D9-087E-F9E9-F382-9E0AD51886E0}"/>
                </a:ext>
              </a:extLst>
            </p:cNvPr>
            <p:cNvSpPr/>
            <p:nvPr/>
          </p:nvSpPr>
          <p:spPr>
            <a:xfrm>
              <a:off x="4400550" y="6195250"/>
              <a:ext cx="28575" cy="1331528"/>
            </a:xfrm>
            <a:prstGeom prst="rect">
              <a:avLst/>
            </a:prstGeom>
            <a:solidFill>
              <a:srgbClr val="1A6B72"/>
            </a:solidFill>
            <a:ln/>
          </p:spPr>
        </p:sp>
        <p:sp>
          <p:nvSpPr>
            <p:cNvPr id="22" name="Text 17">
              <a:extLst>
                <a:ext uri="{FF2B5EF4-FFF2-40B4-BE49-F238E27FC236}">
                  <a16:creationId xmlns:a16="http://schemas.microsoft.com/office/drawing/2014/main" id="{ABC2A538-C5E9-3240-7261-E149650B55E6}"/>
                </a:ext>
              </a:extLst>
            </p:cNvPr>
            <p:cNvSpPr/>
            <p:nvPr/>
          </p:nvSpPr>
          <p:spPr>
            <a:xfrm>
              <a:off x="4543425" y="6309550"/>
              <a:ext cx="832033" cy="114740"/>
            </a:xfrm>
            <a:prstGeom prst="rect">
              <a:avLst/>
            </a:prstGeom>
            <a:noFill/>
            <a:ln/>
          </p:spPr>
          <p:txBody>
            <a:bodyPr wrap="none" lIns="0" tIns="0" rIns="0" bIns="0" rtlCol="0" anchor="t">
              <a:spAutoFit/>
            </a:bodyPr>
            <a:lstStyle/>
            <a:p>
              <a:pPr marL="0" indent="0" algn="l">
                <a:lnSpc>
                  <a:spcPts val="1200"/>
                </a:lnSpc>
                <a:buNone/>
              </a:pPr>
              <a:r>
                <a:rPr lang="en-US" sz="1600" kern="0" spc="2" dirty="0">
                  <a:solidFill>
                    <a:srgbClr val="1A6B72"/>
                  </a:solidFill>
                  <a:latin typeface="Space Grotesk" pitchFamily="34" charset="0"/>
                  <a:ea typeface="Space Grotesk" pitchFamily="34" charset="-122"/>
                  <a:cs typeface="Space Grotesk" pitchFamily="34" charset="-120"/>
                </a:rPr>
                <a:t>BEST SUITED FOR</a:t>
              </a:r>
              <a:endParaRPr lang="en-US" sz="1600" dirty="0"/>
            </a:p>
          </p:txBody>
        </p:sp>
        <p:sp>
          <p:nvSpPr>
            <p:cNvPr id="23" name="Text 18">
              <a:extLst>
                <a:ext uri="{FF2B5EF4-FFF2-40B4-BE49-F238E27FC236}">
                  <a16:creationId xmlns:a16="http://schemas.microsoft.com/office/drawing/2014/main" id="{CE538F25-9EC8-6D15-F2D0-7FC4DA592C1F}"/>
                </a:ext>
              </a:extLst>
            </p:cNvPr>
            <p:cNvSpPr/>
            <p:nvPr/>
          </p:nvSpPr>
          <p:spPr>
            <a:xfrm>
              <a:off x="4543425" y="6516719"/>
              <a:ext cx="4000500" cy="624908"/>
            </a:xfrm>
            <a:prstGeom prst="rect">
              <a:avLst/>
            </a:prstGeom>
            <a:noFill/>
            <a:ln/>
          </p:spPr>
          <p:txBody>
            <a:bodyPr wrap="square" lIns="0" tIns="0" rIns="0" bIns="0" rtlCol="0" anchor="t">
              <a:spAutoFit/>
            </a:bodyPr>
            <a:lstStyle/>
            <a:p>
              <a:pPr marL="0" indent="0" algn="l">
                <a:lnSpc>
                  <a:spcPts val="1800"/>
                </a:lnSpc>
                <a:buNone/>
              </a:pPr>
              <a:r>
                <a:rPr lang="en-US" sz="1600" dirty="0">
                  <a:solidFill>
                    <a:srgbClr val="1A1A2E"/>
                  </a:solidFill>
                  <a:latin typeface="Open Sans" pitchFamily="34" charset="0"/>
                  <a:ea typeface="Open Sans" pitchFamily="34" charset="-122"/>
                  <a:cs typeface="Open Sans" pitchFamily="34" charset="-120"/>
                </a:rPr>
                <a:t>General-purpose enterprise virtualization (VMware vSphere, Hyper-V, KVM) where live migration is required and a moderate performance improvement over standard </a:t>
              </a:r>
              <a:r>
                <a:rPr lang="en-US" sz="1600" dirty="0" err="1">
                  <a:solidFill>
                    <a:srgbClr val="1A1A2E"/>
                  </a:solidFill>
                  <a:latin typeface="Open Sans" pitchFamily="34" charset="0"/>
                  <a:ea typeface="Open Sans" pitchFamily="34" charset="-122"/>
                  <a:cs typeface="Open Sans" pitchFamily="34" charset="-120"/>
                </a:rPr>
                <a:t>virtio</a:t>
              </a:r>
              <a:r>
                <a:rPr lang="en-US" sz="1600" dirty="0">
                  <a:solidFill>
                    <a:srgbClr val="1A1A2E"/>
                  </a:solidFill>
                  <a:latin typeface="Open Sans" pitchFamily="34" charset="0"/>
                  <a:ea typeface="Open Sans" pitchFamily="34" charset="-122"/>
                  <a:cs typeface="Open Sans" pitchFamily="34" charset="-120"/>
                </a:rPr>
                <a:t> is desired without the hardware constraints.</a:t>
              </a:r>
              <a:endParaRPr lang="en-US" sz="1600" dirty="0"/>
            </a:p>
          </p:txBody>
        </p:sp>
        <p:sp>
          <p:nvSpPr>
            <p:cNvPr id="27" name="Text 22">
              <a:extLst>
                <a:ext uri="{FF2B5EF4-FFF2-40B4-BE49-F238E27FC236}">
                  <a16:creationId xmlns:a16="http://schemas.microsoft.com/office/drawing/2014/main" id="{3726C991-2D2E-D251-8553-679E8C4A0D3C}"/>
                </a:ext>
              </a:extLst>
            </p:cNvPr>
            <p:cNvSpPr/>
            <p:nvPr/>
          </p:nvSpPr>
          <p:spPr>
            <a:xfrm>
              <a:off x="8254603" y="7568747"/>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08 / 15</a:t>
              </a:r>
              <a:endParaRPr lang="en-US" sz="996" dirty="0"/>
            </a:p>
          </p:txBody>
        </p:sp>
      </p:grpSp>
    </p:spTree>
    <p:extLst>
      <p:ext uri="{BB962C8B-B14F-4D97-AF65-F5344CB8AC3E}">
        <p14:creationId xmlns:p14="http://schemas.microsoft.com/office/powerpoint/2010/main" val="2574939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p:nvPr/>
        </p:nvSpPr>
        <p:spPr>
          <a:xfrm>
            <a:off x="457200" y="328613"/>
            <a:ext cx="3571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ARCHITECTURE</a:t>
            </a:r>
            <a:endParaRPr lang="en-US" sz="936" dirty="0"/>
          </a:p>
        </p:txBody>
      </p:sp>
      <p:sp>
        <p:nvSpPr>
          <p:cNvPr id="5" name="Shape 1"/>
          <p:cNvSpPr/>
          <p:nvPr/>
        </p:nvSpPr>
        <p:spPr>
          <a:xfrm>
            <a:off x="457200" y="587573"/>
            <a:ext cx="3571875" cy="230386"/>
          </a:xfrm>
          <a:prstGeom prst="rect">
            <a:avLst/>
          </a:prstGeom>
          <a:solidFill>
            <a:srgbClr val="1A6B72"/>
          </a:solidFill>
          <a:ln/>
        </p:spPr>
      </p:sp>
      <p:sp>
        <p:nvSpPr>
          <p:cNvPr id="6" name="Text 2"/>
          <p:cNvSpPr/>
          <p:nvPr/>
        </p:nvSpPr>
        <p:spPr>
          <a:xfrm>
            <a:off x="457200" y="587573"/>
            <a:ext cx="3571875" cy="230386"/>
          </a:xfrm>
          <a:prstGeom prst="rect">
            <a:avLst/>
          </a:prstGeom>
          <a:noFill/>
          <a:ln/>
        </p:spPr>
        <p:txBody>
          <a:bodyPr wrap="none" lIns="102108" tIns="34036" rIns="102108"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 · HYPERVISOR OFFLOAD · INTEL HARDWARE</a:t>
            </a:r>
            <a:endParaRPr lang="en-US" sz="936" dirty="0"/>
          </a:p>
        </p:txBody>
      </p:sp>
      <p:sp>
        <p:nvSpPr>
          <p:cNvPr id="7" name="Text 3"/>
          <p:cNvSpPr/>
          <p:nvPr/>
        </p:nvSpPr>
        <p:spPr>
          <a:xfrm>
            <a:off x="372421" y="918438"/>
            <a:ext cx="7797403" cy="226922"/>
          </a:xfrm>
          <a:prstGeom prst="rect">
            <a:avLst/>
          </a:prstGeom>
          <a:noFill/>
          <a:ln/>
        </p:spPr>
        <p:txBody>
          <a:bodyPr wrap="square" lIns="0" tIns="0" rIns="0" bIns="0" rtlCol="0" anchor="t">
            <a:spAutoFit/>
          </a:bodyPr>
          <a:lstStyle/>
          <a:p>
            <a:pPr marL="0" indent="0" algn="l">
              <a:lnSpc>
                <a:spcPts val="1900"/>
              </a:lnSpc>
              <a:buNone/>
            </a:pPr>
            <a:r>
              <a:rPr lang="en-US" sz="1346" b="1" dirty="0">
                <a:solidFill>
                  <a:srgbClr val="1A1A2E"/>
                </a:solidFill>
                <a:latin typeface="Playfair Display" pitchFamily="34" charset="0"/>
                <a:ea typeface="Playfair Display" pitchFamily="34" charset="-122"/>
                <a:cs typeface="Playfair Display" pitchFamily="34" charset="-120"/>
              </a:rPr>
              <a:t>Intelligent Hardware Queue Offload Reduces Hypervisor CPU Without Removing the vSwitch</a:t>
            </a:r>
            <a:endParaRPr lang="en-US" sz="1346" dirty="0"/>
          </a:p>
        </p:txBody>
      </p:sp>
      <p:sp>
        <p:nvSpPr>
          <p:cNvPr id="18" name="Text 14"/>
          <p:cNvSpPr/>
          <p:nvPr/>
        </p:nvSpPr>
        <p:spPr>
          <a:xfrm>
            <a:off x="4400550" y="328613"/>
            <a:ext cx="4286250"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ARCHITECTURE COMPARISON — NORMAL VS VMDQ VS SR-IOV</a:t>
            </a:r>
            <a:endParaRPr lang="en-US" sz="942" dirty="0"/>
          </a:p>
        </p:txBody>
      </p:sp>
      <p:sp>
        <p:nvSpPr>
          <p:cNvPr id="24" name="Shape 19"/>
          <p:cNvSpPr/>
          <p:nvPr/>
        </p:nvSpPr>
        <p:spPr>
          <a:xfrm>
            <a:off x="0" y="7526778"/>
            <a:ext cx="9144000" cy="257175"/>
          </a:xfrm>
          <a:prstGeom prst="rect">
            <a:avLst/>
          </a:prstGeom>
          <a:solidFill>
            <a:srgbClr val="000000">
              <a:alpha val="0"/>
            </a:srgbClr>
          </a:solidFill>
          <a:ln/>
        </p:spPr>
      </p:sp>
      <p:sp>
        <p:nvSpPr>
          <p:cNvPr id="25" name="Shape 20"/>
          <p:cNvSpPr/>
          <p:nvPr/>
        </p:nvSpPr>
        <p:spPr>
          <a:xfrm>
            <a:off x="0" y="7526778"/>
            <a:ext cx="9144000" cy="7144"/>
          </a:xfrm>
          <a:prstGeom prst="rect">
            <a:avLst/>
          </a:prstGeom>
          <a:solidFill>
            <a:srgbClr val="EBEBF0"/>
          </a:solidFill>
          <a:ln/>
        </p:spPr>
      </p:sp>
      <p:grpSp>
        <p:nvGrpSpPr>
          <p:cNvPr id="28" name="Group 27">
            <a:extLst>
              <a:ext uri="{FF2B5EF4-FFF2-40B4-BE49-F238E27FC236}">
                <a16:creationId xmlns:a16="http://schemas.microsoft.com/office/drawing/2014/main" id="{E0E14155-924C-AB49-A882-9A895780316D}"/>
              </a:ext>
            </a:extLst>
          </p:cNvPr>
          <p:cNvGrpSpPr/>
          <p:nvPr/>
        </p:nvGrpSpPr>
        <p:grpSpPr>
          <a:xfrm>
            <a:off x="521352" y="1771902"/>
            <a:ext cx="7526579" cy="2285370"/>
            <a:chOff x="4400550" y="6195250"/>
            <a:chExt cx="4314825" cy="1546733"/>
          </a:xfrm>
        </p:grpSpPr>
        <p:sp>
          <p:nvSpPr>
            <p:cNvPr id="20" name="Shape 15"/>
            <p:cNvSpPr/>
            <p:nvPr/>
          </p:nvSpPr>
          <p:spPr>
            <a:xfrm>
              <a:off x="4429125" y="6237219"/>
              <a:ext cx="4286250" cy="1331528"/>
            </a:xfrm>
            <a:prstGeom prst="rect">
              <a:avLst/>
            </a:prstGeom>
            <a:solidFill>
              <a:srgbClr val="F0F7F7"/>
            </a:solidFill>
            <a:ln/>
          </p:spPr>
        </p:sp>
        <p:sp>
          <p:nvSpPr>
            <p:cNvPr id="21" name="Shape 16"/>
            <p:cNvSpPr/>
            <p:nvPr/>
          </p:nvSpPr>
          <p:spPr>
            <a:xfrm>
              <a:off x="4400550" y="6195250"/>
              <a:ext cx="28575" cy="1331528"/>
            </a:xfrm>
            <a:prstGeom prst="rect">
              <a:avLst/>
            </a:prstGeom>
            <a:solidFill>
              <a:srgbClr val="1A6B72"/>
            </a:solidFill>
            <a:ln/>
          </p:spPr>
        </p:sp>
        <p:sp>
          <p:nvSpPr>
            <p:cNvPr id="22" name="Text 17"/>
            <p:cNvSpPr/>
            <p:nvPr/>
          </p:nvSpPr>
          <p:spPr>
            <a:xfrm>
              <a:off x="4543425" y="6309550"/>
              <a:ext cx="447794" cy="114740"/>
            </a:xfrm>
            <a:prstGeom prst="rect">
              <a:avLst/>
            </a:prstGeom>
            <a:noFill/>
            <a:ln/>
          </p:spPr>
          <p:txBody>
            <a:bodyPr wrap="none" lIns="0" tIns="0" rIns="0" bIns="0" rtlCol="0" anchor="t">
              <a:spAutoFit/>
            </a:bodyPr>
            <a:lstStyle/>
            <a:p>
              <a:pPr marL="0" indent="0" algn="l">
                <a:lnSpc>
                  <a:spcPts val="1200"/>
                </a:lnSpc>
                <a:buNone/>
              </a:pPr>
              <a:r>
                <a:rPr lang="en-US" sz="1600" kern="0" spc="2" dirty="0">
                  <a:solidFill>
                    <a:srgbClr val="1A6B72"/>
                  </a:solidFill>
                  <a:latin typeface="Space Grotesk" pitchFamily="34" charset="0"/>
                  <a:ea typeface="Space Grotesk" pitchFamily="34" charset="-122"/>
                </a:rPr>
                <a:t>YouTube </a:t>
              </a:r>
              <a:endParaRPr lang="en-US" sz="1600" dirty="0"/>
            </a:p>
          </p:txBody>
        </p:sp>
        <p:sp>
          <p:nvSpPr>
            <p:cNvPr id="23" name="Text 18"/>
            <p:cNvSpPr/>
            <p:nvPr/>
          </p:nvSpPr>
          <p:spPr>
            <a:xfrm>
              <a:off x="4543425" y="6516719"/>
              <a:ext cx="4000500" cy="333284"/>
            </a:xfrm>
            <a:prstGeom prst="rect">
              <a:avLst/>
            </a:prstGeom>
            <a:noFill/>
            <a:ln/>
          </p:spPr>
          <p:txBody>
            <a:bodyPr wrap="square" lIns="0" tIns="0" rIns="0" bIns="0" rtlCol="0" anchor="t">
              <a:spAutoFit/>
            </a:bodyPr>
            <a:lstStyle/>
            <a:p>
              <a:r>
                <a:rPr lang="en-US" sz="1600" dirty="0"/>
                <a:t>Intel </a:t>
              </a:r>
              <a:r>
                <a:rPr lang="en-US" sz="1600" dirty="0" err="1"/>
                <a:t>VMDq</a:t>
              </a:r>
              <a:r>
                <a:rPr lang="en-US" sz="1600" dirty="0"/>
                <a:t> Explanation</a:t>
              </a:r>
            </a:p>
            <a:p>
              <a:r>
                <a:rPr lang="en-US" sz="1600" dirty="0">
                  <a:hlinkClick r:id="rId3"/>
                </a:rPr>
                <a:t>https://www.youtube.com/watch?v=QvKXbpV6WXk</a:t>
              </a:r>
              <a:endParaRPr lang="en-US" sz="1600" dirty="0"/>
            </a:p>
          </p:txBody>
        </p:sp>
        <p:sp>
          <p:nvSpPr>
            <p:cNvPr id="27" name="Text 22"/>
            <p:cNvSpPr/>
            <p:nvPr/>
          </p:nvSpPr>
          <p:spPr>
            <a:xfrm>
              <a:off x="8254603" y="7568747"/>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08 / 15</a:t>
              </a:r>
              <a:endParaRPr lang="en-US" sz="996"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730375"/>
          </a:xfrm>
          <a:prstGeom prst="rect">
            <a:avLst/>
          </a:prstGeom>
        </p:spPr>
      </p:pic>
      <p:sp>
        <p:nvSpPr>
          <p:cNvPr id="4" name="Text 0"/>
          <p:cNvSpPr/>
          <p:nvPr/>
        </p:nvSpPr>
        <p:spPr>
          <a:xfrm>
            <a:off x="457200" y="271463"/>
            <a:ext cx="7579519"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 VIRTUAL MACHINE DEVICE QUEUES</a:t>
            </a:r>
            <a:endParaRPr lang="en-US" sz="936" dirty="0"/>
          </a:p>
        </p:txBody>
      </p:sp>
      <p:sp>
        <p:nvSpPr>
          <p:cNvPr id="5" name="Text 1"/>
          <p:cNvSpPr/>
          <p:nvPr/>
        </p:nvSpPr>
        <p:spPr>
          <a:xfrm>
            <a:off x="457200" y="516136"/>
            <a:ext cx="7579519" cy="480027"/>
          </a:xfrm>
          <a:prstGeom prst="rect">
            <a:avLst/>
          </a:prstGeom>
          <a:noFill/>
          <a:ln/>
        </p:spPr>
        <p:txBody>
          <a:bodyPr wrap="square" lIns="0" tIns="0" rIns="0" bIns="0" rtlCol="0" anchor="t">
            <a:spAutoFit/>
          </a:bodyPr>
          <a:lstStyle/>
          <a:p>
            <a:pPr marL="0" indent="0" algn="l">
              <a:lnSpc>
                <a:spcPts val="1900"/>
              </a:lnSpc>
              <a:buNone/>
            </a:pPr>
            <a:r>
              <a:rPr lang="en-US" sz="1397" b="1" dirty="0">
                <a:solidFill>
                  <a:srgbClr val="1A1A2E"/>
                </a:solidFill>
                <a:latin typeface="Playfair Display" pitchFamily="34" charset="0"/>
                <a:ea typeface="Playfair Display" pitchFamily="34" charset="-122"/>
                <a:cs typeface="Playfair Display" pitchFamily="34" charset="-120"/>
              </a:rPr>
              <a:t>VMDq Offers a Practical Performance Boost with Full Hypervisor Compatibility, but Cannot Match SR-IOV Throughput</a:t>
            </a:r>
            <a:endParaRPr lang="en-US" sz="1397" dirty="0"/>
          </a:p>
        </p:txBody>
      </p:sp>
      <p:sp>
        <p:nvSpPr>
          <p:cNvPr id="6" name="Shape 2"/>
          <p:cNvSpPr/>
          <p:nvPr/>
        </p:nvSpPr>
        <p:spPr>
          <a:xfrm>
            <a:off x="8036719" y="271463"/>
            <a:ext cx="650081" cy="250031"/>
          </a:xfrm>
          <a:prstGeom prst="rect">
            <a:avLst/>
          </a:prstGeom>
          <a:solidFill>
            <a:srgbClr val="1A6B72"/>
          </a:solidFill>
          <a:ln/>
        </p:spPr>
      </p:sp>
      <p:sp>
        <p:nvSpPr>
          <p:cNvPr id="7" name="Text 3"/>
          <p:cNvSpPr/>
          <p:nvPr/>
        </p:nvSpPr>
        <p:spPr>
          <a:xfrm>
            <a:off x="8036719" y="271463"/>
            <a:ext cx="650081" cy="250031"/>
          </a:xfrm>
          <a:prstGeom prst="rect">
            <a:avLst/>
          </a:prstGeom>
          <a:noFill/>
          <a:ln/>
        </p:spPr>
        <p:txBody>
          <a:bodyPr wrap="square" lIns="136017" tIns="51054" rIns="136017" bIns="51054" rtlCol="0" anchor="t">
            <a:spAutoFit/>
          </a:bodyPr>
          <a:lstStyle/>
          <a:p>
            <a:pPr marL="0" indent="0" algn="l">
              <a:lnSpc>
                <a:spcPts val="1200"/>
              </a:lnSpc>
              <a:buNone/>
            </a:pPr>
            <a:r>
              <a:rPr lang="en-US" sz="885" b="1" kern="0" spc="2" dirty="0">
                <a:solidFill>
                  <a:srgbClr val="FFFFFF"/>
                </a:solidFill>
                <a:latin typeface="Space Grotesk" pitchFamily="34" charset="0"/>
                <a:ea typeface="Space Grotesk" pitchFamily="34" charset="-122"/>
                <a:cs typeface="Space Grotesk" pitchFamily="34" charset="-120"/>
              </a:rPr>
              <a:t>VMDQ</a:t>
            </a:r>
            <a:endParaRPr lang="en-US" sz="885" dirty="0"/>
          </a:p>
        </p:txBody>
      </p:sp>
      <p:sp>
        <p:nvSpPr>
          <p:cNvPr id="8" name="Text 4"/>
          <p:cNvSpPr/>
          <p:nvPr/>
        </p:nvSpPr>
        <p:spPr>
          <a:xfrm>
            <a:off x="571500" y="1289056"/>
            <a:ext cx="67508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Advantages</a:t>
            </a:r>
            <a:endParaRPr lang="en-US" sz="885" dirty="0"/>
          </a:p>
        </p:txBody>
      </p:sp>
      <p:sp>
        <p:nvSpPr>
          <p:cNvPr id="9" name="Text 5"/>
          <p:cNvSpPr/>
          <p:nvPr/>
        </p:nvSpPr>
        <p:spPr>
          <a:xfrm>
            <a:off x="457200" y="160338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0" name="Text 6"/>
          <p:cNvSpPr/>
          <p:nvPr/>
        </p:nvSpPr>
        <p:spPr>
          <a:xfrm>
            <a:off x="714375" y="160338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Reduces Hypervisor CPU Load for Packet Sorting</a:t>
            </a:r>
            <a:endParaRPr lang="en-US" sz="936" dirty="0"/>
          </a:p>
        </p:txBody>
      </p:sp>
      <p:sp>
        <p:nvSpPr>
          <p:cNvPr id="11" name="Text 7"/>
          <p:cNvSpPr/>
          <p:nvPr/>
        </p:nvSpPr>
        <p:spPr>
          <a:xfrm>
            <a:off x="714375" y="1808764"/>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By offloading per-packet MAC and VLAN classification to NIC hardware, VMDq frees the hypervisor CPU from its most expensive per-packet task, allowing those cycles to serve other VM workloads instead.</a:t>
            </a:r>
            <a:endParaRPr lang="en-US" sz="969" dirty="0"/>
          </a:p>
        </p:txBody>
      </p:sp>
      <p:sp>
        <p:nvSpPr>
          <p:cNvPr id="12" name="Text 8"/>
          <p:cNvSpPr/>
          <p:nvPr/>
        </p:nvSpPr>
        <p:spPr>
          <a:xfrm>
            <a:off x="457200" y="2773840"/>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3" name="Text 9"/>
          <p:cNvSpPr/>
          <p:nvPr/>
        </p:nvSpPr>
        <p:spPr>
          <a:xfrm>
            <a:off x="714375" y="2773840"/>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Full VM Live Migration Support</a:t>
            </a:r>
            <a:endParaRPr lang="en-US" sz="936" dirty="0"/>
          </a:p>
        </p:txBody>
      </p:sp>
      <p:sp>
        <p:nvSpPr>
          <p:cNvPr id="14" name="Text 10"/>
          <p:cNvSpPr/>
          <p:nvPr/>
        </p:nvSpPr>
        <p:spPr>
          <a:xfrm>
            <a:off x="714375" y="2979223"/>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Because no hardware VF is directly bound to the VM, the hypervisor can migrate VMs between physical hosts without any network interruption — a critical operational requirement in enterprise environments.</a:t>
            </a:r>
            <a:endParaRPr lang="en-US" sz="969" dirty="0"/>
          </a:p>
        </p:txBody>
      </p:sp>
      <p:sp>
        <p:nvSpPr>
          <p:cNvPr id="15" name="Text 11"/>
          <p:cNvSpPr/>
          <p:nvPr/>
        </p:nvSpPr>
        <p:spPr>
          <a:xfrm>
            <a:off x="457200" y="3944299"/>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6" name="Text 12"/>
          <p:cNvSpPr/>
          <p:nvPr/>
        </p:nvSpPr>
        <p:spPr>
          <a:xfrm>
            <a:off x="714375" y="3944299"/>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Retains All vSwitch Features</a:t>
            </a:r>
            <a:endParaRPr lang="en-US" sz="936" dirty="0"/>
          </a:p>
        </p:txBody>
      </p:sp>
      <p:sp>
        <p:nvSpPr>
          <p:cNvPr id="17" name="Text 13"/>
          <p:cNvSpPr/>
          <p:nvPr/>
        </p:nvSpPr>
        <p:spPr>
          <a:xfrm>
            <a:off x="714375" y="4149682"/>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Security groups, ACLs, port mirroring, QoS policies, and traffic monitoring all continue to function normally because the hypervisor vSwitch remains fully in the data path for final delivery and policy enforcement.</a:t>
            </a:r>
            <a:endParaRPr lang="en-US" sz="969" dirty="0"/>
          </a:p>
        </p:txBody>
      </p:sp>
      <p:sp>
        <p:nvSpPr>
          <p:cNvPr id="18" name="Text 14"/>
          <p:cNvSpPr/>
          <p:nvPr/>
        </p:nvSpPr>
        <p:spPr>
          <a:xfrm>
            <a:off x="457200" y="5114758"/>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9" name="Text 15"/>
          <p:cNvSpPr/>
          <p:nvPr/>
        </p:nvSpPr>
        <p:spPr>
          <a:xfrm>
            <a:off x="714375" y="5114758"/>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Simpler to Deploy than SR-IOV</a:t>
            </a:r>
            <a:endParaRPr lang="en-US" sz="936" dirty="0"/>
          </a:p>
        </p:txBody>
      </p:sp>
      <p:sp>
        <p:nvSpPr>
          <p:cNvPr id="20" name="Text 16"/>
          <p:cNvSpPr/>
          <p:nvPr/>
        </p:nvSpPr>
        <p:spPr>
          <a:xfrm>
            <a:off x="714375" y="5320140"/>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requires no BIOS changes, no IOMMU configuration, and no per-VM hardware assignment. It integrates transparently with VMware vSphere (NetQueue), Microsoft Hyper-V (VMQ), and KVM with compatible Intel NICs.</a:t>
            </a:r>
            <a:endParaRPr lang="en-US" sz="969" dirty="0"/>
          </a:p>
        </p:txBody>
      </p:sp>
      <p:sp>
        <p:nvSpPr>
          <p:cNvPr id="21" name="Text 17"/>
          <p:cNvSpPr/>
          <p:nvPr/>
        </p:nvSpPr>
        <p:spPr>
          <a:xfrm>
            <a:off x="4975622" y="1289056"/>
            <a:ext cx="85546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Disadvantages</a:t>
            </a:r>
            <a:endParaRPr lang="en-US" sz="885" dirty="0"/>
          </a:p>
        </p:txBody>
      </p:sp>
      <p:sp>
        <p:nvSpPr>
          <p:cNvPr id="22" name="Text 18"/>
          <p:cNvSpPr/>
          <p:nvPr/>
        </p:nvSpPr>
        <p:spPr>
          <a:xfrm>
            <a:off x="4861322" y="160338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3" name="Text 19"/>
          <p:cNvSpPr/>
          <p:nvPr/>
        </p:nvSpPr>
        <p:spPr>
          <a:xfrm>
            <a:off x="5118497" y="160338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Lower Peak Performance than SR-IOV or DPDK</a:t>
            </a:r>
            <a:endParaRPr lang="en-US" sz="936" dirty="0"/>
          </a:p>
        </p:txBody>
      </p:sp>
      <p:sp>
        <p:nvSpPr>
          <p:cNvPr id="24" name="Text 20"/>
          <p:cNvSpPr/>
          <p:nvPr/>
        </p:nvSpPr>
        <p:spPr>
          <a:xfrm>
            <a:off x="5118497" y="1808764"/>
            <a:ext cx="3568303" cy="1090259"/>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does not eliminate the hypervisor from the data path — it only removes the sorting step. The vSwitch still processes every packet and the hypervisor still performs the memory copy from host to VM memory, capping peak throughput well below SR-IOV levels.</a:t>
            </a:r>
            <a:endParaRPr lang="en-US" sz="969" dirty="0"/>
          </a:p>
        </p:txBody>
      </p:sp>
      <p:sp>
        <p:nvSpPr>
          <p:cNvPr id="25" name="Text 21"/>
          <p:cNvSpPr/>
          <p:nvPr/>
        </p:nvSpPr>
        <p:spPr>
          <a:xfrm>
            <a:off x="4861322" y="2991892"/>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6" name="Text 22"/>
          <p:cNvSpPr/>
          <p:nvPr/>
        </p:nvSpPr>
        <p:spPr>
          <a:xfrm>
            <a:off x="5118497" y="2991892"/>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Intel-Proprietary Technology</a:t>
            </a:r>
            <a:endParaRPr lang="en-US" sz="936" dirty="0"/>
          </a:p>
        </p:txBody>
      </p:sp>
      <p:sp>
        <p:nvSpPr>
          <p:cNvPr id="27" name="Text 23"/>
          <p:cNvSpPr/>
          <p:nvPr/>
        </p:nvSpPr>
        <p:spPr>
          <a:xfrm>
            <a:off x="5118497" y="3197275"/>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is not an open standard — it is an Intel-specific feature available only on Intel-branded NIC hardware. This limits hardware vendor choice and creates a dependency on Intel's product roadmap and driver support.</a:t>
            </a:r>
            <a:endParaRPr lang="en-US" sz="969" dirty="0"/>
          </a:p>
        </p:txBody>
      </p:sp>
      <p:sp>
        <p:nvSpPr>
          <p:cNvPr id="28" name="Text 24"/>
          <p:cNvSpPr/>
          <p:nvPr/>
        </p:nvSpPr>
        <p:spPr>
          <a:xfrm>
            <a:off x="4861322" y="416235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9" name="Text 25"/>
          <p:cNvSpPr/>
          <p:nvPr/>
        </p:nvSpPr>
        <p:spPr>
          <a:xfrm>
            <a:off x="5118497" y="416235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Mutually Exclusive with SR-IOV on the Same Port</a:t>
            </a:r>
            <a:endParaRPr lang="en-US" sz="936" dirty="0"/>
          </a:p>
        </p:txBody>
      </p:sp>
      <p:sp>
        <p:nvSpPr>
          <p:cNvPr id="30" name="Text 26"/>
          <p:cNvSpPr/>
          <p:nvPr/>
        </p:nvSpPr>
        <p:spPr>
          <a:xfrm>
            <a:off x="5118497" y="4367733"/>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A NIC port can operate in either SR-IOV mode (exposing VFs) or VMDq mode (exposing hardware queues to the hypervisor), but not both simultaneously. Choosing VMDq means forgoing SR-IOV for that port's traffic.</a:t>
            </a:r>
            <a:endParaRPr lang="en-US" sz="969" dirty="0"/>
          </a:p>
        </p:txBody>
      </p:sp>
      <p:sp>
        <p:nvSpPr>
          <p:cNvPr id="31" name="Text 27"/>
          <p:cNvSpPr/>
          <p:nvPr/>
        </p:nvSpPr>
        <p:spPr>
          <a:xfrm>
            <a:off x="4861322" y="5332809"/>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32" name="Text 28"/>
          <p:cNvSpPr/>
          <p:nvPr/>
        </p:nvSpPr>
        <p:spPr>
          <a:xfrm>
            <a:off x="5118497" y="5332809"/>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Limited Number of Hardware Queues</a:t>
            </a:r>
            <a:endParaRPr lang="en-US" sz="936" dirty="0"/>
          </a:p>
        </p:txBody>
      </p:sp>
      <p:sp>
        <p:nvSpPr>
          <p:cNvPr id="33" name="Text 29"/>
          <p:cNvSpPr/>
          <p:nvPr/>
        </p:nvSpPr>
        <p:spPr>
          <a:xfrm>
            <a:off x="5118497" y="5538192"/>
            <a:ext cx="3568303" cy="1090259"/>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The number of VMDq hardware queues is finite and NIC-model dependent — typically 64 to 128 queues. In dense VM environments, queues must be shared, reducing the sorting benefit and potentially reintroducing software classification overhead.</a:t>
            </a:r>
            <a:endParaRPr lang="en-US" sz="969" dirty="0"/>
          </a:p>
        </p:txBody>
      </p:sp>
      <p:sp>
        <p:nvSpPr>
          <p:cNvPr id="34" name="Shape 30"/>
          <p:cNvSpPr/>
          <p:nvPr/>
        </p:nvSpPr>
        <p:spPr>
          <a:xfrm>
            <a:off x="0" y="6678457"/>
            <a:ext cx="9144000" cy="794742"/>
          </a:xfrm>
          <a:prstGeom prst="rect">
            <a:avLst/>
          </a:prstGeom>
          <a:solidFill>
            <a:srgbClr val="1A6B72"/>
          </a:solidFill>
          <a:ln/>
        </p:spPr>
      </p:sp>
      <p:sp>
        <p:nvSpPr>
          <p:cNvPr id="35" name="Text 31"/>
          <p:cNvSpPr/>
          <p:nvPr/>
        </p:nvSpPr>
        <p:spPr>
          <a:xfrm>
            <a:off x="457200" y="6993675"/>
            <a:ext cx="892969"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55000"/>
                  </a:srgbClr>
                </a:solidFill>
                <a:latin typeface="Space Grotesk" pitchFamily="34" charset="0"/>
                <a:ea typeface="Space Grotesk" pitchFamily="34" charset="-122"/>
                <a:cs typeface="Space Grotesk" pitchFamily="34" charset="-120"/>
              </a:rPr>
              <a:t>KEY INSIGHT</a:t>
            </a:r>
            <a:endParaRPr lang="en-US" sz="942" dirty="0"/>
          </a:p>
        </p:txBody>
      </p:sp>
      <p:sp>
        <p:nvSpPr>
          <p:cNvPr id="36" name="Text 32"/>
          <p:cNvSpPr/>
          <p:nvPr/>
        </p:nvSpPr>
        <p:spPr>
          <a:xfrm>
            <a:off x="1643063" y="6778470"/>
            <a:ext cx="7043738" cy="594717"/>
          </a:xfrm>
          <a:prstGeom prst="rect">
            <a:avLst/>
          </a:prstGeom>
          <a:noFill/>
          <a:ln/>
        </p:spPr>
        <p:txBody>
          <a:bodyPr wrap="square" lIns="0" tIns="0" rIns="0" bIns="0" rtlCol="0" anchor="t">
            <a:spAutoFit/>
          </a:bodyPr>
          <a:lstStyle/>
          <a:p>
            <a:pPr marL="0" indent="0" algn="l">
              <a:lnSpc>
                <a:spcPts val="1600"/>
              </a:lnSpc>
              <a:buNone/>
            </a:pPr>
            <a:r>
              <a:rPr lang="en-US" sz="969" dirty="0">
                <a:solidFill>
                  <a:srgbClr val="FFFFFF">
                    <a:alpha val="90000"/>
                  </a:srgbClr>
                </a:solidFill>
                <a:latin typeface="Open Sans" pitchFamily="34" charset="0"/>
                <a:ea typeface="Open Sans" pitchFamily="34" charset="-122"/>
                <a:cs typeface="Open Sans" pitchFamily="34" charset="-120"/>
              </a:rPr>
              <a:t>VMDq occupies the middle ground between standard software switching and full SR-IOV bypass. It is the right choice when live migration is non-negotiable and a moderate throughput improvement is sufficient — but for maximum performance, SR-IOV or DPDK should be preferred.</a:t>
            </a:r>
            <a:endParaRPr lang="en-US" sz="969" dirty="0"/>
          </a:p>
        </p:txBody>
      </p:sp>
      <p:sp>
        <p:nvSpPr>
          <p:cNvPr id="37" name="Shape 33"/>
          <p:cNvSpPr/>
          <p:nvPr/>
        </p:nvSpPr>
        <p:spPr>
          <a:xfrm>
            <a:off x="0" y="7473200"/>
            <a:ext cx="9144000" cy="257175"/>
          </a:xfrm>
          <a:prstGeom prst="rect">
            <a:avLst/>
          </a:prstGeom>
          <a:solidFill>
            <a:srgbClr val="000000">
              <a:alpha val="0"/>
            </a:srgbClr>
          </a:solidFill>
          <a:ln/>
        </p:spPr>
      </p:sp>
      <p:sp>
        <p:nvSpPr>
          <p:cNvPr id="38" name="Shape 34"/>
          <p:cNvSpPr/>
          <p:nvPr/>
        </p:nvSpPr>
        <p:spPr>
          <a:xfrm>
            <a:off x="0" y="7473200"/>
            <a:ext cx="9144000" cy="7144"/>
          </a:xfrm>
          <a:prstGeom prst="rect">
            <a:avLst/>
          </a:prstGeom>
          <a:solidFill>
            <a:srgbClr val="EBEBF0"/>
          </a:solidFill>
          <a:ln/>
        </p:spPr>
      </p:sp>
      <p:sp>
        <p:nvSpPr>
          <p:cNvPr id="39" name="Text 35"/>
          <p:cNvSpPr/>
          <p:nvPr/>
        </p:nvSpPr>
        <p:spPr>
          <a:xfrm>
            <a:off x="457200" y="7515169"/>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40" name="Text 36"/>
          <p:cNvSpPr/>
          <p:nvPr/>
        </p:nvSpPr>
        <p:spPr>
          <a:xfrm>
            <a:off x="8254603" y="7515169"/>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09 / 15</a:t>
            </a:r>
            <a:endParaRPr lang="en-US" sz="99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3C07E-5DD5-D0BE-D442-9F0022BC478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8908114-B2FB-F77D-2488-1EFB19B2D86A}"/>
              </a:ext>
            </a:extLst>
          </p:cNvPr>
          <p:cNvSpPr/>
          <p:nvPr/>
        </p:nvSpPr>
        <p:spPr>
          <a:xfrm>
            <a:off x="457200" y="328613"/>
            <a:ext cx="3571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ARCHITECTURE</a:t>
            </a:r>
            <a:endParaRPr lang="en-US" sz="936" dirty="0"/>
          </a:p>
        </p:txBody>
      </p:sp>
      <p:sp>
        <p:nvSpPr>
          <p:cNvPr id="5" name="Shape 1">
            <a:extLst>
              <a:ext uri="{FF2B5EF4-FFF2-40B4-BE49-F238E27FC236}">
                <a16:creationId xmlns:a16="http://schemas.microsoft.com/office/drawing/2014/main" id="{EF6D17D5-EFBF-C016-F4D4-C381EBEED8D4}"/>
              </a:ext>
            </a:extLst>
          </p:cNvPr>
          <p:cNvSpPr/>
          <p:nvPr/>
        </p:nvSpPr>
        <p:spPr>
          <a:xfrm>
            <a:off x="457200" y="587573"/>
            <a:ext cx="3571875" cy="230386"/>
          </a:xfrm>
          <a:prstGeom prst="rect">
            <a:avLst/>
          </a:prstGeom>
          <a:solidFill>
            <a:srgbClr val="1A6B72"/>
          </a:solidFill>
          <a:ln/>
        </p:spPr>
      </p:sp>
      <p:sp>
        <p:nvSpPr>
          <p:cNvPr id="6" name="Text 2">
            <a:extLst>
              <a:ext uri="{FF2B5EF4-FFF2-40B4-BE49-F238E27FC236}">
                <a16:creationId xmlns:a16="http://schemas.microsoft.com/office/drawing/2014/main" id="{2D1C3E14-B97C-BD2E-A518-050456D30BD9}"/>
              </a:ext>
            </a:extLst>
          </p:cNvPr>
          <p:cNvSpPr/>
          <p:nvPr/>
        </p:nvSpPr>
        <p:spPr>
          <a:xfrm>
            <a:off x="457200" y="587573"/>
            <a:ext cx="3571875" cy="230386"/>
          </a:xfrm>
          <a:prstGeom prst="rect">
            <a:avLst/>
          </a:prstGeom>
          <a:noFill/>
          <a:ln/>
        </p:spPr>
        <p:txBody>
          <a:bodyPr wrap="none" lIns="102108" tIns="34036" rIns="102108"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 · HYPERVISOR OFFLOAD · INTEL HARDWARE</a:t>
            </a:r>
            <a:endParaRPr lang="en-US" sz="936" dirty="0"/>
          </a:p>
        </p:txBody>
      </p:sp>
      <p:sp>
        <p:nvSpPr>
          <p:cNvPr id="7" name="Text 3">
            <a:extLst>
              <a:ext uri="{FF2B5EF4-FFF2-40B4-BE49-F238E27FC236}">
                <a16:creationId xmlns:a16="http://schemas.microsoft.com/office/drawing/2014/main" id="{04497CB8-1E8D-CFA4-4135-0245B9EA02CF}"/>
              </a:ext>
            </a:extLst>
          </p:cNvPr>
          <p:cNvSpPr/>
          <p:nvPr/>
        </p:nvSpPr>
        <p:spPr>
          <a:xfrm>
            <a:off x="372421" y="918438"/>
            <a:ext cx="7797403" cy="226922"/>
          </a:xfrm>
          <a:prstGeom prst="rect">
            <a:avLst/>
          </a:prstGeom>
          <a:noFill/>
          <a:ln/>
        </p:spPr>
        <p:txBody>
          <a:bodyPr wrap="square" lIns="0" tIns="0" rIns="0" bIns="0" rtlCol="0" anchor="t">
            <a:spAutoFit/>
          </a:bodyPr>
          <a:lstStyle/>
          <a:p>
            <a:pPr marL="0" indent="0" algn="l">
              <a:lnSpc>
                <a:spcPts val="1900"/>
              </a:lnSpc>
              <a:buNone/>
            </a:pPr>
            <a:r>
              <a:rPr lang="en-US" sz="1346" b="1" dirty="0">
                <a:solidFill>
                  <a:srgbClr val="1A1A2E"/>
                </a:solidFill>
                <a:latin typeface="Playfair Display" pitchFamily="34" charset="0"/>
                <a:ea typeface="Playfair Display" pitchFamily="34" charset="-122"/>
                <a:cs typeface="Playfair Display" pitchFamily="34" charset="-120"/>
              </a:rPr>
              <a:t>Intelligent Hardware Queue Offload Reduces Hypervisor CPU Without Removing the vSwitch</a:t>
            </a:r>
            <a:endParaRPr lang="en-US" sz="1346" dirty="0"/>
          </a:p>
        </p:txBody>
      </p:sp>
      <p:sp>
        <p:nvSpPr>
          <p:cNvPr id="18" name="Text 14">
            <a:extLst>
              <a:ext uri="{FF2B5EF4-FFF2-40B4-BE49-F238E27FC236}">
                <a16:creationId xmlns:a16="http://schemas.microsoft.com/office/drawing/2014/main" id="{01BA1ED8-CBC6-4118-4EB4-24A75E2F065E}"/>
              </a:ext>
            </a:extLst>
          </p:cNvPr>
          <p:cNvSpPr/>
          <p:nvPr/>
        </p:nvSpPr>
        <p:spPr>
          <a:xfrm>
            <a:off x="4400550" y="328613"/>
            <a:ext cx="4286250"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ARCHITECTURE COMPARISON — NORMAL VS VMDQ VS SR-IOV</a:t>
            </a:r>
            <a:endParaRPr lang="en-US" sz="942" dirty="0"/>
          </a:p>
        </p:txBody>
      </p:sp>
      <p:sp>
        <p:nvSpPr>
          <p:cNvPr id="24" name="Shape 19">
            <a:extLst>
              <a:ext uri="{FF2B5EF4-FFF2-40B4-BE49-F238E27FC236}">
                <a16:creationId xmlns:a16="http://schemas.microsoft.com/office/drawing/2014/main" id="{2D8EC609-EDED-8647-3300-5C4F079367CD}"/>
              </a:ext>
            </a:extLst>
          </p:cNvPr>
          <p:cNvSpPr/>
          <p:nvPr/>
        </p:nvSpPr>
        <p:spPr>
          <a:xfrm>
            <a:off x="0" y="7526778"/>
            <a:ext cx="9144000" cy="257175"/>
          </a:xfrm>
          <a:prstGeom prst="rect">
            <a:avLst/>
          </a:prstGeom>
          <a:solidFill>
            <a:srgbClr val="000000">
              <a:alpha val="0"/>
            </a:srgbClr>
          </a:solidFill>
          <a:ln/>
        </p:spPr>
      </p:sp>
      <p:sp>
        <p:nvSpPr>
          <p:cNvPr id="25" name="Shape 20">
            <a:extLst>
              <a:ext uri="{FF2B5EF4-FFF2-40B4-BE49-F238E27FC236}">
                <a16:creationId xmlns:a16="http://schemas.microsoft.com/office/drawing/2014/main" id="{1D004308-3FC8-3982-095D-8565AD484878}"/>
              </a:ext>
            </a:extLst>
          </p:cNvPr>
          <p:cNvSpPr/>
          <p:nvPr/>
        </p:nvSpPr>
        <p:spPr>
          <a:xfrm>
            <a:off x="0" y="7526778"/>
            <a:ext cx="9144000" cy="7144"/>
          </a:xfrm>
          <a:prstGeom prst="rect">
            <a:avLst/>
          </a:prstGeom>
          <a:solidFill>
            <a:srgbClr val="EBEBF0"/>
          </a:solidFill>
          <a:ln/>
        </p:spPr>
      </p:sp>
      <p:grpSp>
        <p:nvGrpSpPr>
          <p:cNvPr id="28" name="Group 27">
            <a:extLst>
              <a:ext uri="{FF2B5EF4-FFF2-40B4-BE49-F238E27FC236}">
                <a16:creationId xmlns:a16="http://schemas.microsoft.com/office/drawing/2014/main" id="{ECEFB2B1-1579-DA1B-CECF-43937C08DD9C}"/>
              </a:ext>
            </a:extLst>
          </p:cNvPr>
          <p:cNvGrpSpPr/>
          <p:nvPr/>
        </p:nvGrpSpPr>
        <p:grpSpPr>
          <a:xfrm>
            <a:off x="521352" y="1771902"/>
            <a:ext cx="7526579" cy="2285370"/>
            <a:chOff x="4400550" y="6195250"/>
            <a:chExt cx="4314825" cy="1546733"/>
          </a:xfrm>
        </p:grpSpPr>
        <p:sp>
          <p:nvSpPr>
            <p:cNvPr id="20" name="Shape 15">
              <a:extLst>
                <a:ext uri="{FF2B5EF4-FFF2-40B4-BE49-F238E27FC236}">
                  <a16:creationId xmlns:a16="http://schemas.microsoft.com/office/drawing/2014/main" id="{5E754986-030C-6C68-2A45-2F754F5FE631}"/>
                </a:ext>
              </a:extLst>
            </p:cNvPr>
            <p:cNvSpPr/>
            <p:nvPr/>
          </p:nvSpPr>
          <p:spPr>
            <a:xfrm>
              <a:off x="4429125" y="6237219"/>
              <a:ext cx="4286250" cy="1331528"/>
            </a:xfrm>
            <a:prstGeom prst="rect">
              <a:avLst/>
            </a:prstGeom>
            <a:solidFill>
              <a:srgbClr val="F0F7F7"/>
            </a:solidFill>
            <a:ln/>
          </p:spPr>
        </p:sp>
        <p:sp>
          <p:nvSpPr>
            <p:cNvPr id="21" name="Shape 16">
              <a:extLst>
                <a:ext uri="{FF2B5EF4-FFF2-40B4-BE49-F238E27FC236}">
                  <a16:creationId xmlns:a16="http://schemas.microsoft.com/office/drawing/2014/main" id="{45545F50-4E5E-894A-907E-B42C1B6ECA76}"/>
                </a:ext>
              </a:extLst>
            </p:cNvPr>
            <p:cNvSpPr/>
            <p:nvPr/>
          </p:nvSpPr>
          <p:spPr>
            <a:xfrm>
              <a:off x="4400550" y="6195250"/>
              <a:ext cx="28575" cy="1331528"/>
            </a:xfrm>
            <a:prstGeom prst="rect">
              <a:avLst/>
            </a:prstGeom>
            <a:solidFill>
              <a:srgbClr val="1A6B72"/>
            </a:solidFill>
            <a:ln/>
          </p:spPr>
        </p:sp>
        <p:sp>
          <p:nvSpPr>
            <p:cNvPr id="22" name="Text 17">
              <a:extLst>
                <a:ext uri="{FF2B5EF4-FFF2-40B4-BE49-F238E27FC236}">
                  <a16:creationId xmlns:a16="http://schemas.microsoft.com/office/drawing/2014/main" id="{0FA2E2B0-6026-C0F0-01BD-6B5220FA6CCB}"/>
                </a:ext>
              </a:extLst>
            </p:cNvPr>
            <p:cNvSpPr/>
            <p:nvPr/>
          </p:nvSpPr>
          <p:spPr>
            <a:xfrm>
              <a:off x="4543425" y="6309550"/>
              <a:ext cx="447794" cy="114740"/>
            </a:xfrm>
            <a:prstGeom prst="rect">
              <a:avLst/>
            </a:prstGeom>
            <a:noFill/>
            <a:ln/>
          </p:spPr>
          <p:txBody>
            <a:bodyPr wrap="none" lIns="0" tIns="0" rIns="0" bIns="0" rtlCol="0" anchor="t">
              <a:spAutoFit/>
            </a:bodyPr>
            <a:lstStyle/>
            <a:p>
              <a:pPr marL="0" indent="0" algn="l">
                <a:lnSpc>
                  <a:spcPts val="1200"/>
                </a:lnSpc>
                <a:buNone/>
              </a:pPr>
              <a:r>
                <a:rPr lang="en-US" sz="1600" kern="0" spc="2" dirty="0">
                  <a:solidFill>
                    <a:srgbClr val="1A6B72"/>
                  </a:solidFill>
                  <a:latin typeface="Space Grotesk" pitchFamily="34" charset="0"/>
                  <a:ea typeface="Space Grotesk" pitchFamily="34" charset="-122"/>
                </a:rPr>
                <a:t>YouTube </a:t>
              </a:r>
              <a:endParaRPr lang="en-US" sz="1600" dirty="0"/>
            </a:p>
          </p:txBody>
        </p:sp>
        <p:sp>
          <p:nvSpPr>
            <p:cNvPr id="23" name="Text 18">
              <a:extLst>
                <a:ext uri="{FF2B5EF4-FFF2-40B4-BE49-F238E27FC236}">
                  <a16:creationId xmlns:a16="http://schemas.microsoft.com/office/drawing/2014/main" id="{17BEBA9A-0EC6-D7D1-E468-699642D1EB50}"/>
                </a:ext>
              </a:extLst>
            </p:cNvPr>
            <p:cNvSpPr/>
            <p:nvPr/>
          </p:nvSpPr>
          <p:spPr>
            <a:xfrm>
              <a:off x="4543425" y="6516719"/>
              <a:ext cx="4000500" cy="333284"/>
            </a:xfrm>
            <a:prstGeom prst="rect">
              <a:avLst/>
            </a:prstGeom>
            <a:noFill/>
            <a:ln/>
          </p:spPr>
          <p:txBody>
            <a:bodyPr wrap="square" lIns="0" tIns="0" rIns="0" bIns="0" rtlCol="0" anchor="t">
              <a:spAutoFit/>
            </a:bodyPr>
            <a:lstStyle/>
            <a:p>
              <a:r>
                <a:rPr lang="en-US" sz="1600" dirty="0"/>
                <a:t>Intel SR-IOV Explanation</a:t>
              </a:r>
            </a:p>
            <a:p>
              <a:r>
                <a:rPr lang="en-US" sz="1600" dirty="0"/>
                <a:t>https://www.youtube.com/watch?v=hRHsk8Nycdg&amp;t=85s</a:t>
              </a:r>
            </a:p>
          </p:txBody>
        </p:sp>
        <p:sp>
          <p:nvSpPr>
            <p:cNvPr id="27" name="Text 22">
              <a:extLst>
                <a:ext uri="{FF2B5EF4-FFF2-40B4-BE49-F238E27FC236}">
                  <a16:creationId xmlns:a16="http://schemas.microsoft.com/office/drawing/2014/main" id="{B3E7A89A-9A23-7C79-72CA-E0303016E581}"/>
                </a:ext>
              </a:extLst>
            </p:cNvPr>
            <p:cNvSpPr/>
            <p:nvPr/>
          </p:nvSpPr>
          <p:spPr>
            <a:xfrm>
              <a:off x="8254603" y="7568747"/>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08 / 15</a:t>
              </a:r>
              <a:endParaRPr lang="en-US" sz="996" dirty="0"/>
            </a:p>
          </p:txBody>
        </p:sp>
      </p:grpSp>
    </p:spTree>
    <p:extLst>
      <p:ext uri="{BB962C8B-B14F-4D97-AF65-F5344CB8AC3E}">
        <p14:creationId xmlns:p14="http://schemas.microsoft.com/office/powerpoint/2010/main" val="24048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8BC3-9730-0B36-E515-90E76121DA6A}"/>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D75C6C75-7975-A03D-24E2-D19937C243D4}"/>
              </a:ext>
            </a:extLst>
          </p:cNvPr>
          <p:cNvPicPr>
            <a:picLocks noChangeAspect="1"/>
          </p:cNvPicPr>
          <p:nvPr/>
        </p:nvPicPr>
        <p:blipFill>
          <a:blip r:embed="rId3"/>
          <a:stretch>
            <a:fillRect/>
          </a:stretch>
        </p:blipFill>
        <p:spPr>
          <a:xfrm>
            <a:off x="-109001" y="-13758"/>
            <a:ext cx="9144000" cy="7730375"/>
          </a:xfrm>
          <a:prstGeom prst="rect">
            <a:avLst/>
          </a:prstGeom>
        </p:spPr>
      </p:pic>
      <p:sp>
        <p:nvSpPr>
          <p:cNvPr id="4" name="Text 0">
            <a:extLst>
              <a:ext uri="{FF2B5EF4-FFF2-40B4-BE49-F238E27FC236}">
                <a16:creationId xmlns:a16="http://schemas.microsoft.com/office/drawing/2014/main" id="{FE5E6388-0C4A-DB85-D6B3-A9EAC305E150}"/>
              </a:ext>
            </a:extLst>
          </p:cNvPr>
          <p:cNvSpPr/>
          <p:nvPr/>
        </p:nvSpPr>
        <p:spPr>
          <a:xfrm>
            <a:off x="457200" y="271463"/>
            <a:ext cx="7579519"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 VIRTUAL MACHINE DEVICE QUEUES</a:t>
            </a:r>
            <a:endParaRPr lang="en-US" sz="936" dirty="0"/>
          </a:p>
        </p:txBody>
      </p:sp>
      <p:sp>
        <p:nvSpPr>
          <p:cNvPr id="5" name="Text 1">
            <a:extLst>
              <a:ext uri="{FF2B5EF4-FFF2-40B4-BE49-F238E27FC236}">
                <a16:creationId xmlns:a16="http://schemas.microsoft.com/office/drawing/2014/main" id="{D9AD60D6-B93F-374C-8091-1C33951D46D5}"/>
              </a:ext>
            </a:extLst>
          </p:cNvPr>
          <p:cNvSpPr/>
          <p:nvPr/>
        </p:nvSpPr>
        <p:spPr>
          <a:xfrm>
            <a:off x="457200" y="516136"/>
            <a:ext cx="7579519" cy="480027"/>
          </a:xfrm>
          <a:prstGeom prst="rect">
            <a:avLst/>
          </a:prstGeom>
          <a:noFill/>
          <a:ln/>
        </p:spPr>
        <p:txBody>
          <a:bodyPr wrap="square" lIns="0" tIns="0" rIns="0" bIns="0" rtlCol="0" anchor="t">
            <a:spAutoFit/>
          </a:bodyPr>
          <a:lstStyle/>
          <a:p>
            <a:pPr marL="0" indent="0" algn="l">
              <a:lnSpc>
                <a:spcPts val="1900"/>
              </a:lnSpc>
              <a:buNone/>
            </a:pPr>
            <a:r>
              <a:rPr lang="en-US" sz="1397" b="1" dirty="0">
                <a:solidFill>
                  <a:srgbClr val="1A1A2E"/>
                </a:solidFill>
                <a:latin typeface="Playfair Display" pitchFamily="34" charset="0"/>
                <a:ea typeface="Playfair Display" pitchFamily="34" charset="-122"/>
                <a:cs typeface="Playfair Display" pitchFamily="34" charset="-120"/>
              </a:rPr>
              <a:t>VMDq Offers a Practical Performance Boost with Full Hypervisor Compatibility, but Cannot Match SR-IOV Throughput</a:t>
            </a:r>
            <a:endParaRPr lang="en-US" sz="1397" dirty="0"/>
          </a:p>
        </p:txBody>
      </p:sp>
      <p:sp>
        <p:nvSpPr>
          <p:cNvPr id="6" name="Shape 2">
            <a:extLst>
              <a:ext uri="{FF2B5EF4-FFF2-40B4-BE49-F238E27FC236}">
                <a16:creationId xmlns:a16="http://schemas.microsoft.com/office/drawing/2014/main" id="{0AC1B286-CC35-A6E5-9CE3-D1A259890E0F}"/>
              </a:ext>
            </a:extLst>
          </p:cNvPr>
          <p:cNvSpPr/>
          <p:nvPr/>
        </p:nvSpPr>
        <p:spPr>
          <a:xfrm>
            <a:off x="8036719" y="271463"/>
            <a:ext cx="650081" cy="250031"/>
          </a:xfrm>
          <a:prstGeom prst="rect">
            <a:avLst/>
          </a:prstGeom>
          <a:solidFill>
            <a:srgbClr val="1A6B72"/>
          </a:solidFill>
          <a:ln/>
        </p:spPr>
      </p:sp>
      <p:sp>
        <p:nvSpPr>
          <p:cNvPr id="7" name="Text 3">
            <a:extLst>
              <a:ext uri="{FF2B5EF4-FFF2-40B4-BE49-F238E27FC236}">
                <a16:creationId xmlns:a16="http://schemas.microsoft.com/office/drawing/2014/main" id="{DF2502BF-0738-1136-3077-CF1120EE361A}"/>
              </a:ext>
            </a:extLst>
          </p:cNvPr>
          <p:cNvSpPr/>
          <p:nvPr/>
        </p:nvSpPr>
        <p:spPr>
          <a:xfrm>
            <a:off x="8036719" y="271463"/>
            <a:ext cx="650081" cy="250031"/>
          </a:xfrm>
          <a:prstGeom prst="rect">
            <a:avLst/>
          </a:prstGeom>
          <a:noFill/>
          <a:ln/>
        </p:spPr>
        <p:txBody>
          <a:bodyPr wrap="square" lIns="136017" tIns="51054" rIns="136017" bIns="51054" rtlCol="0" anchor="t">
            <a:spAutoFit/>
          </a:bodyPr>
          <a:lstStyle/>
          <a:p>
            <a:pPr marL="0" indent="0" algn="l">
              <a:lnSpc>
                <a:spcPts val="1200"/>
              </a:lnSpc>
              <a:buNone/>
            </a:pPr>
            <a:r>
              <a:rPr lang="en-US" sz="885" b="1" kern="0" spc="2" dirty="0">
                <a:solidFill>
                  <a:srgbClr val="FFFFFF"/>
                </a:solidFill>
                <a:latin typeface="Space Grotesk" pitchFamily="34" charset="0"/>
                <a:ea typeface="Space Grotesk" pitchFamily="34" charset="-122"/>
                <a:cs typeface="Space Grotesk" pitchFamily="34" charset="-120"/>
              </a:rPr>
              <a:t>VMDQ</a:t>
            </a:r>
            <a:endParaRPr lang="en-US" sz="885" dirty="0"/>
          </a:p>
        </p:txBody>
      </p:sp>
      <p:sp>
        <p:nvSpPr>
          <p:cNvPr id="8" name="Text 4">
            <a:extLst>
              <a:ext uri="{FF2B5EF4-FFF2-40B4-BE49-F238E27FC236}">
                <a16:creationId xmlns:a16="http://schemas.microsoft.com/office/drawing/2014/main" id="{2494AD15-5EF2-C8D9-1586-4B10529B4C24}"/>
              </a:ext>
            </a:extLst>
          </p:cNvPr>
          <p:cNvSpPr/>
          <p:nvPr/>
        </p:nvSpPr>
        <p:spPr>
          <a:xfrm>
            <a:off x="571500" y="1289056"/>
            <a:ext cx="67508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Advantages</a:t>
            </a:r>
            <a:endParaRPr lang="en-US" sz="885" dirty="0"/>
          </a:p>
        </p:txBody>
      </p:sp>
      <p:sp>
        <p:nvSpPr>
          <p:cNvPr id="9" name="Text 5">
            <a:extLst>
              <a:ext uri="{FF2B5EF4-FFF2-40B4-BE49-F238E27FC236}">
                <a16:creationId xmlns:a16="http://schemas.microsoft.com/office/drawing/2014/main" id="{1D380859-C6F8-DB67-6B42-6758FDC204FA}"/>
              </a:ext>
            </a:extLst>
          </p:cNvPr>
          <p:cNvSpPr/>
          <p:nvPr/>
        </p:nvSpPr>
        <p:spPr>
          <a:xfrm>
            <a:off x="457200" y="160338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0" name="Text 6">
            <a:extLst>
              <a:ext uri="{FF2B5EF4-FFF2-40B4-BE49-F238E27FC236}">
                <a16:creationId xmlns:a16="http://schemas.microsoft.com/office/drawing/2014/main" id="{FD4C8C3E-BC48-F40C-79FD-52FE8BEEB7D6}"/>
              </a:ext>
            </a:extLst>
          </p:cNvPr>
          <p:cNvSpPr/>
          <p:nvPr/>
        </p:nvSpPr>
        <p:spPr>
          <a:xfrm>
            <a:off x="714375" y="160338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Reduces Hypervisor CPU Load for Packet Sorting</a:t>
            </a:r>
            <a:endParaRPr lang="en-US" sz="936" dirty="0"/>
          </a:p>
        </p:txBody>
      </p:sp>
      <p:sp>
        <p:nvSpPr>
          <p:cNvPr id="11" name="Text 7">
            <a:extLst>
              <a:ext uri="{FF2B5EF4-FFF2-40B4-BE49-F238E27FC236}">
                <a16:creationId xmlns:a16="http://schemas.microsoft.com/office/drawing/2014/main" id="{AB815A2D-6A41-0117-2C91-04FE9BAB89AC}"/>
              </a:ext>
            </a:extLst>
          </p:cNvPr>
          <p:cNvSpPr/>
          <p:nvPr/>
        </p:nvSpPr>
        <p:spPr>
          <a:xfrm>
            <a:off x="714375" y="1808764"/>
            <a:ext cx="4009016"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By offloading per-packet MAC and VLAN classification to NIC hardware, VMDq frees the hypervisor CPU from its most expensive per-packet task, allowing those cycles to serve other VM workloads instead.</a:t>
            </a:r>
            <a:endParaRPr lang="en-US" sz="969" dirty="0"/>
          </a:p>
        </p:txBody>
      </p:sp>
      <p:sp>
        <p:nvSpPr>
          <p:cNvPr id="12" name="Text 8">
            <a:extLst>
              <a:ext uri="{FF2B5EF4-FFF2-40B4-BE49-F238E27FC236}">
                <a16:creationId xmlns:a16="http://schemas.microsoft.com/office/drawing/2014/main" id="{62A24258-A4E8-22D4-53EA-84218A905F28}"/>
              </a:ext>
            </a:extLst>
          </p:cNvPr>
          <p:cNvSpPr/>
          <p:nvPr/>
        </p:nvSpPr>
        <p:spPr>
          <a:xfrm>
            <a:off x="457200" y="2773840"/>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3" name="Text 9">
            <a:extLst>
              <a:ext uri="{FF2B5EF4-FFF2-40B4-BE49-F238E27FC236}">
                <a16:creationId xmlns:a16="http://schemas.microsoft.com/office/drawing/2014/main" id="{09F6B7EC-0D24-8ADB-2DF0-2E17039F78AD}"/>
              </a:ext>
            </a:extLst>
          </p:cNvPr>
          <p:cNvSpPr/>
          <p:nvPr/>
        </p:nvSpPr>
        <p:spPr>
          <a:xfrm>
            <a:off x="714375" y="2773840"/>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Full VM Live Migration Support</a:t>
            </a:r>
            <a:endParaRPr lang="en-US" sz="936" dirty="0"/>
          </a:p>
        </p:txBody>
      </p:sp>
      <p:sp>
        <p:nvSpPr>
          <p:cNvPr id="14" name="Text 10">
            <a:extLst>
              <a:ext uri="{FF2B5EF4-FFF2-40B4-BE49-F238E27FC236}">
                <a16:creationId xmlns:a16="http://schemas.microsoft.com/office/drawing/2014/main" id="{91E2E698-51E8-D399-65E9-F7FFEA51FD24}"/>
              </a:ext>
            </a:extLst>
          </p:cNvPr>
          <p:cNvSpPr/>
          <p:nvPr/>
        </p:nvSpPr>
        <p:spPr>
          <a:xfrm>
            <a:off x="714375" y="2979223"/>
            <a:ext cx="405592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Because no hardware VF is directly bound to the VM, the hypervisor can migrate VMs between physical hosts without any network interruption — a critical operational requirement in enterprise environments.</a:t>
            </a:r>
            <a:endParaRPr lang="en-US" sz="969" dirty="0"/>
          </a:p>
        </p:txBody>
      </p:sp>
      <p:sp>
        <p:nvSpPr>
          <p:cNvPr id="15" name="Text 11">
            <a:extLst>
              <a:ext uri="{FF2B5EF4-FFF2-40B4-BE49-F238E27FC236}">
                <a16:creationId xmlns:a16="http://schemas.microsoft.com/office/drawing/2014/main" id="{4298CD86-094E-AFCC-1EFB-0FD83E690A7B}"/>
              </a:ext>
            </a:extLst>
          </p:cNvPr>
          <p:cNvSpPr/>
          <p:nvPr/>
        </p:nvSpPr>
        <p:spPr>
          <a:xfrm>
            <a:off x="457200" y="3944299"/>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6" name="Text 12">
            <a:extLst>
              <a:ext uri="{FF2B5EF4-FFF2-40B4-BE49-F238E27FC236}">
                <a16:creationId xmlns:a16="http://schemas.microsoft.com/office/drawing/2014/main" id="{8F08AB9B-5DCD-65D3-B342-EF6F9FB99F1D}"/>
              </a:ext>
            </a:extLst>
          </p:cNvPr>
          <p:cNvSpPr/>
          <p:nvPr/>
        </p:nvSpPr>
        <p:spPr>
          <a:xfrm>
            <a:off x="714375" y="3944299"/>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Retains All vSwitch Features</a:t>
            </a:r>
            <a:endParaRPr lang="en-US" sz="936" dirty="0"/>
          </a:p>
        </p:txBody>
      </p:sp>
      <p:sp>
        <p:nvSpPr>
          <p:cNvPr id="17" name="Text 13">
            <a:extLst>
              <a:ext uri="{FF2B5EF4-FFF2-40B4-BE49-F238E27FC236}">
                <a16:creationId xmlns:a16="http://schemas.microsoft.com/office/drawing/2014/main" id="{DAD05D02-3273-2793-AE60-AD30816B8B09}"/>
              </a:ext>
            </a:extLst>
          </p:cNvPr>
          <p:cNvSpPr/>
          <p:nvPr/>
        </p:nvSpPr>
        <p:spPr>
          <a:xfrm>
            <a:off x="714375" y="4149682"/>
            <a:ext cx="3857625"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Security groups, ACLs, port mirroring, QoS policies, and traffic monitoring all continue to function normally because the hypervisor vSwitch remains fully in the data path for final delivery and policy enforcement.</a:t>
            </a:r>
            <a:endParaRPr lang="en-US" sz="969" dirty="0"/>
          </a:p>
        </p:txBody>
      </p:sp>
      <p:sp>
        <p:nvSpPr>
          <p:cNvPr id="18" name="Text 14">
            <a:extLst>
              <a:ext uri="{FF2B5EF4-FFF2-40B4-BE49-F238E27FC236}">
                <a16:creationId xmlns:a16="http://schemas.microsoft.com/office/drawing/2014/main" id="{F4125F00-8823-03B7-E6EE-E592E8DFF8C6}"/>
              </a:ext>
            </a:extLst>
          </p:cNvPr>
          <p:cNvSpPr/>
          <p:nvPr/>
        </p:nvSpPr>
        <p:spPr>
          <a:xfrm>
            <a:off x="457200" y="5114758"/>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6B72"/>
                </a:solidFill>
                <a:latin typeface="Space Grotesk" pitchFamily="34" charset="0"/>
                <a:ea typeface="Space Grotesk" pitchFamily="34" charset="-122"/>
                <a:cs typeface="Space Grotesk" pitchFamily="34" charset="-120"/>
              </a:rPr>
              <a:t>+</a:t>
            </a:r>
            <a:endParaRPr lang="en-US" sz="885" dirty="0"/>
          </a:p>
        </p:txBody>
      </p:sp>
      <p:sp>
        <p:nvSpPr>
          <p:cNvPr id="19" name="Text 15">
            <a:extLst>
              <a:ext uri="{FF2B5EF4-FFF2-40B4-BE49-F238E27FC236}">
                <a16:creationId xmlns:a16="http://schemas.microsoft.com/office/drawing/2014/main" id="{7D9DFEA2-2ED3-5B6B-7DDB-6D6E54BEB618}"/>
              </a:ext>
            </a:extLst>
          </p:cNvPr>
          <p:cNvSpPr/>
          <p:nvPr/>
        </p:nvSpPr>
        <p:spPr>
          <a:xfrm>
            <a:off x="714375" y="5114758"/>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Simpler to Deploy than SR-IOV</a:t>
            </a:r>
            <a:endParaRPr lang="en-US" sz="936" dirty="0"/>
          </a:p>
        </p:txBody>
      </p:sp>
      <p:sp>
        <p:nvSpPr>
          <p:cNvPr id="20" name="Text 16">
            <a:extLst>
              <a:ext uri="{FF2B5EF4-FFF2-40B4-BE49-F238E27FC236}">
                <a16:creationId xmlns:a16="http://schemas.microsoft.com/office/drawing/2014/main" id="{EC05C58E-746A-EEB2-E311-47A5586A6729}"/>
              </a:ext>
            </a:extLst>
          </p:cNvPr>
          <p:cNvSpPr/>
          <p:nvPr/>
        </p:nvSpPr>
        <p:spPr>
          <a:xfrm>
            <a:off x="714375" y="5320140"/>
            <a:ext cx="3942404"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requires no BIOS changes, no IOMMU configuration, and no per-VM hardware assignment. It integrates transparently with VMware vSphere (NetQueue), Microsoft Hyper-V (VMQ), and KVM with compatible Intel NICs.</a:t>
            </a:r>
            <a:endParaRPr lang="en-US" sz="969" dirty="0"/>
          </a:p>
        </p:txBody>
      </p:sp>
      <p:sp>
        <p:nvSpPr>
          <p:cNvPr id="21" name="Text 17">
            <a:extLst>
              <a:ext uri="{FF2B5EF4-FFF2-40B4-BE49-F238E27FC236}">
                <a16:creationId xmlns:a16="http://schemas.microsoft.com/office/drawing/2014/main" id="{BD8B3B34-E8F2-B741-5857-C613DF1FDC74}"/>
              </a:ext>
            </a:extLst>
          </p:cNvPr>
          <p:cNvSpPr/>
          <p:nvPr/>
        </p:nvSpPr>
        <p:spPr>
          <a:xfrm>
            <a:off x="4975622" y="1289056"/>
            <a:ext cx="85546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Disadvantages</a:t>
            </a:r>
            <a:endParaRPr lang="en-US" sz="885" dirty="0"/>
          </a:p>
        </p:txBody>
      </p:sp>
      <p:sp>
        <p:nvSpPr>
          <p:cNvPr id="22" name="Text 18">
            <a:extLst>
              <a:ext uri="{FF2B5EF4-FFF2-40B4-BE49-F238E27FC236}">
                <a16:creationId xmlns:a16="http://schemas.microsoft.com/office/drawing/2014/main" id="{4F679A33-34CF-9D4C-A1A1-FB67944D6B79}"/>
              </a:ext>
            </a:extLst>
          </p:cNvPr>
          <p:cNvSpPr/>
          <p:nvPr/>
        </p:nvSpPr>
        <p:spPr>
          <a:xfrm>
            <a:off x="4861322" y="160338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3" name="Text 19">
            <a:extLst>
              <a:ext uri="{FF2B5EF4-FFF2-40B4-BE49-F238E27FC236}">
                <a16:creationId xmlns:a16="http://schemas.microsoft.com/office/drawing/2014/main" id="{E314E525-79E9-63A1-20BD-A47274AA3523}"/>
              </a:ext>
            </a:extLst>
          </p:cNvPr>
          <p:cNvSpPr/>
          <p:nvPr/>
        </p:nvSpPr>
        <p:spPr>
          <a:xfrm>
            <a:off x="5118497" y="160338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Lower Peak Performance than SR-IOV or DPDK</a:t>
            </a:r>
            <a:endParaRPr lang="en-US" sz="936" dirty="0"/>
          </a:p>
        </p:txBody>
      </p:sp>
      <p:sp>
        <p:nvSpPr>
          <p:cNvPr id="24" name="Text 20">
            <a:extLst>
              <a:ext uri="{FF2B5EF4-FFF2-40B4-BE49-F238E27FC236}">
                <a16:creationId xmlns:a16="http://schemas.microsoft.com/office/drawing/2014/main" id="{B6B7125F-69BF-7B8B-3A1C-45846DC35A1E}"/>
              </a:ext>
            </a:extLst>
          </p:cNvPr>
          <p:cNvSpPr/>
          <p:nvPr/>
        </p:nvSpPr>
        <p:spPr>
          <a:xfrm>
            <a:off x="5118497" y="1808764"/>
            <a:ext cx="3568303" cy="1090259"/>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does not eliminate the hypervisor from the data path — it only removes the sorting step. The vSwitch still processes every packet and the hypervisor still performs the memory copy from host to VM memory, capping peak throughput well below SR-IOV levels.</a:t>
            </a:r>
            <a:endParaRPr lang="en-US" sz="969" dirty="0"/>
          </a:p>
        </p:txBody>
      </p:sp>
      <p:sp>
        <p:nvSpPr>
          <p:cNvPr id="25" name="Text 21">
            <a:extLst>
              <a:ext uri="{FF2B5EF4-FFF2-40B4-BE49-F238E27FC236}">
                <a16:creationId xmlns:a16="http://schemas.microsoft.com/office/drawing/2014/main" id="{26B47EC8-E114-F0B3-B76D-91E4437D4B26}"/>
              </a:ext>
            </a:extLst>
          </p:cNvPr>
          <p:cNvSpPr/>
          <p:nvPr/>
        </p:nvSpPr>
        <p:spPr>
          <a:xfrm>
            <a:off x="4861322" y="2991892"/>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6" name="Text 22">
            <a:extLst>
              <a:ext uri="{FF2B5EF4-FFF2-40B4-BE49-F238E27FC236}">
                <a16:creationId xmlns:a16="http://schemas.microsoft.com/office/drawing/2014/main" id="{CC9A88FF-7457-6DC6-68E8-7A6A4CDFDB86}"/>
              </a:ext>
            </a:extLst>
          </p:cNvPr>
          <p:cNvSpPr/>
          <p:nvPr/>
        </p:nvSpPr>
        <p:spPr>
          <a:xfrm>
            <a:off x="5118497" y="2991892"/>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Intel-Proprietary Technology</a:t>
            </a:r>
            <a:endParaRPr lang="en-US" sz="936" dirty="0"/>
          </a:p>
        </p:txBody>
      </p:sp>
      <p:sp>
        <p:nvSpPr>
          <p:cNvPr id="27" name="Text 23">
            <a:extLst>
              <a:ext uri="{FF2B5EF4-FFF2-40B4-BE49-F238E27FC236}">
                <a16:creationId xmlns:a16="http://schemas.microsoft.com/office/drawing/2014/main" id="{80EF5DB5-FFAC-6BAB-9D66-5D3C71999EEF}"/>
              </a:ext>
            </a:extLst>
          </p:cNvPr>
          <p:cNvSpPr/>
          <p:nvPr/>
        </p:nvSpPr>
        <p:spPr>
          <a:xfrm>
            <a:off x="5118497" y="3197275"/>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VMDq is not an open standard — it is an Intel-specific feature available only on Intel-branded NIC hardware. This limits hardware vendor choice and creates a dependency on Intel's product roadmap and driver support.</a:t>
            </a:r>
            <a:endParaRPr lang="en-US" sz="969" dirty="0"/>
          </a:p>
        </p:txBody>
      </p:sp>
      <p:sp>
        <p:nvSpPr>
          <p:cNvPr id="28" name="Text 24">
            <a:extLst>
              <a:ext uri="{FF2B5EF4-FFF2-40B4-BE49-F238E27FC236}">
                <a16:creationId xmlns:a16="http://schemas.microsoft.com/office/drawing/2014/main" id="{1674CF1D-2802-1BCF-9574-E8202406DBFA}"/>
              </a:ext>
            </a:extLst>
          </p:cNvPr>
          <p:cNvSpPr/>
          <p:nvPr/>
        </p:nvSpPr>
        <p:spPr>
          <a:xfrm>
            <a:off x="4861322" y="4162351"/>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29" name="Text 25">
            <a:extLst>
              <a:ext uri="{FF2B5EF4-FFF2-40B4-BE49-F238E27FC236}">
                <a16:creationId xmlns:a16="http://schemas.microsoft.com/office/drawing/2014/main" id="{D0C4ABD2-2640-A88A-C7ED-B60CE66D5E95}"/>
              </a:ext>
            </a:extLst>
          </p:cNvPr>
          <p:cNvSpPr/>
          <p:nvPr/>
        </p:nvSpPr>
        <p:spPr>
          <a:xfrm>
            <a:off x="5118497" y="416235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Mutually Exclusive with SR-IOV on the Same Port</a:t>
            </a:r>
            <a:endParaRPr lang="en-US" sz="936" dirty="0"/>
          </a:p>
        </p:txBody>
      </p:sp>
      <p:sp>
        <p:nvSpPr>
          <p:cNvPr id="30" name="Text 26">
            <a:extLst>
              <a:ext uri="{FF2B5EF4-FFF2-40B4-BE49-F238E27FC236}">
                <a16:creationId xmlns:a16="http://schemas.microsoft.com/office/drawing/2014/main" id="{06654F8A-3821-B2B7-8152-AA464F8072A3}"/>
              </a:ext>
            </a:extLst>
          </p:cNvPr>
          <p:cNvSpPr/>
          <p:nvPr/>
        </p:nvSpPr>
        <p:spPr>
          <a:xfrm>
            <a:off x="5118497" y="4367733"/>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A NIC port can operate in either SR-IOV mode (exposing VFs) or VMDq mode (exposing hardware queues to the hypervisor), but not both simultaneously. Choosing VMDq means forgoing SR-IOV for that port's traffic.</a:t>
            </a:r>
            <a:endParaRPr lang="en-US" sz="969" dirty="0"/>
          </a:p>
        </p:txBody>
      </p:sp>
      <p:sp>
        <p:nvSpPr>
          <p:cNvPr id="31" name="Text 27">
            <a:extLst>
              <a:ext uri="{FF2B5EF4-FFF2-40B4-BE49-F238E27FC236}">
                <a16:creationId xmlns:a16="http://schemas.microsoft.com/office/drawing/2014/main" id="{88B45CD9-250C-B115-F64A-EF6DFB8D7CA8}"/>
              </a:ext>
            </a:extLst>
          </p:cNvPr>
          <p:cNvSpPr/>
          <p:nvPr/>
        </p:nvSpPr>
        <p:spPr>
          <a:xfrm>
            <a:off x="4861322" y="5332809"/>
            <a:ext cx="157163" cy="1542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E63946"/>
                </a:solidFill>
                <a:latin typeface="Space Grotesk" pitchFamily="34" charset="0"/>
                <a:ea typeface="Space Grotesk" pitchFamily="34" charset="-122"/>
                <a:cs typeface="Space Grotesk" pitchFamily="34" charset="-120"/>
              </a:rPr>
              <a:t>−</a:t>
            </a:r>
            <a:endParaRPr lang="en-US" sz="885" dirty="0"/>
          </a:p>
        </p:txBody>
      </p:sp>
      <p:sp>
        <p:nvSpPr>
          <p:cNvPr id="32" name="Text 28">
            <a:extLst>
              <a:ext uri="{FF2B5EF4-FFF2-40B4-BE49-F238E27FC236}">
                <a16:creationId xmlns:a16="http://schemas.microsoft.com/office/drawing/2014/main" id="{E67FF412-6C3A-6455-89B2-32D9695DAB1D}"/>
              </a:ext>
            </a:extLst>
          </p:cNvPr>
          <p:cNvSpPr/>
          <p:nvPr/>
        </p:nvSpPr>
        <p:spPr>
          <a:xfrm>
            <a:off x="5118497" y="5332809"/>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Limited Number of Hardware Queues</a:t>
            </a:r>
            <a:endParaRPr lang="en-US" sz="936" dirty="0"/>
          </a:p>
        </p:txBody>
      </p:sp>
      <p:sp>
        <p:nvSpPr>
          <p:cNvPr id="33" name="Text 29">
            <a:extLst>
              <a:ext uri="{FF2B5EF4-FFF2-40B4-BE49-F238E27FC236}">
                <a16:creationId xmlns:a16="http://schemas.microsoft.com/office/drawing/2014/main" id="{BEE210AB-604A-6D1B-4548-5E69D6033B0D}"/>
              </a:ext>
            </a:extLst>
          </p:cNvPr>
          <p:cNvSpPr/>
          <p:nvPr/>
        </p:nvSpPr>
        <p:spPr>
          <a:xfrm>
            <a:off x="5118497" y="5538192"/>
            <a:ext cx="3568303" cy="1090259"/>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The number of VMDq hardware queues is finite and NIC-model dependent — typically 64 to 128 queues. In dense VM environments, queues must be shared, reducing the sorting benefit and potentially reintroducing software classification overhead.</a:t>
            </a:r>
            <a:endParaRPr lang="en-US" sz="969" dirty="0"/>
          </a:p>
        </p:txBody>
      </p:sp>
      <p:sp>
        <p:nvSpPr>
          <p:cNvPr id="34" name="Shape 30">
            <a:extLst>
              <a:ext uri="{FF2B5EF4-FFF2-40B4-BE49-F238E27FC236}">
                <a16:creationId xmlns:a16="http://schemas.microsoft.com/office/drawing/2014/main" id="{A5039DDA-D6C5-55CF-F174-EB60F66A14E6}"/>
              </a:ext>
            </a:extLst>
          </p:cNvPr>
          <p:cNvSpPr/>
          <p:nvPr/>
        </p:nvSpPr>
        <p:spPr>
          <a:xfrm>
            <a:off x="0" y="6678457"/>
            <a:ext cx="9144000" cy="794742"/>
          </a:xfrm>
          <a:prstGeom prst="rect">
            <a:avLst/>
          </a:prstGeom>
          <a:solidFill>
            <a:srgbClr val="1A6B72"/>
          </a:solidFill>
          <a:ln/>
        </p:spPr>
      </p:sp>
      <p:sp>
        <p:nvSpPr>
          <p:cNvPr id="35" name="Text 31">
            <a:extLst>
              <a:ext uri="{FF2B5EF4-FFF2-40B4-BE49-F238E27FC236}">
                <a16:creationId xmlns:a16="http://schemas.microsoft.com/office/drawing/2014/main" id="{366B0A50-FEB9-C003-4D86-4F47F0574B30}"/>
              </a:ext>
            </a:extLst>
          </p:cNvPr>
          <p:cNvSpPr/>
          <p:nvPr/>
        </p:nvSpPr>
        <p:spPr>
          <a:xfrm>
            <a:off x="457200" y="6993675"/>
            <a:ext cx="892969"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55000"/>
                  </a:srgbClr>
                </a:solidFill>
                <a:latin typeface="Space Grotesk" pitchFamily="34" charset="0"/>
                <a:ea typeface="Space Grotesk" pitchFamily="34" charset="-122"/>
                <a:cs typeface="Space Grotesk" pitchFamily="34" charset="-120"/>
              </a:rPr>
              <a:t>KEY INSIGHT</a:t>
            </a:r>
            <a:endParaRPr lang="en-US" sz="942" dirty="0"/>
          </a:p>
        </p:txBody>
      </p:sp>
      <p:sp>
        <p:nvSpPr>
          <p:cNvPr id="36" name="Text 32">
            <a:extLst>
              <a:ext uri="{FF2B5EF4-FFF2-40B4-BE49-F238E27FC236}">
                <a16:creationId xmlns:a16="http://schemas.microsoft.com/office/drawing/2014/main" id="{11BF1D30-CA03-E505-B925-91CF6AC90317}"/>
              </a:ext>
            </a:extLst>
          </p:cNvPr>
          <p:cNvSpPr/>
          <p:nvPr/>
        </p:nvSpPr>
        <p:spPr>
          <a:xfrm>
            <a:off x="1643063" y="6778470"/>
            <a:ext cx="7043738" cy="594717"/>
          </a:xfrm>
          <a:prstGeom prst="rect">
            <a:avLst/>
          </a:prstGeom>
          <a:noFill/>
          <a:ln/>
        </p:spPr>
        <p:txBody>
          <a:bodyPr wrap="square" lIns="0" tIns="0" rIns="0" bIns="0" rtlCol="0" anchor="t">
            <a:spAutoFit/>
          </a:bodyPr>
          <a:lstStyle/>
          <a:p>
            <a:pPr marL="0" indent="0" algn="l">
              <a:lnSpc>
                <a:spcPts val="1600"/>
              </a:lnSpc>
              <a:buNone/>
            </a:pPr>
            <a:r>
              <a:rPr lang="en-US" sz="969" dirty="0">
                <a:solidFill>
                  <a:srgbClr val="FFFFFF">
                    <a:alpha val="90000"/>
                  </a:srgbClr>
                </a:solidFill>
                <a:latin typeface="Open Sans" pitchFamily="34" charset="0"/>
                <a:ea typeface="Open Sans" pitchFamily="34" charset="-122"/>
                <a:cs typeface="Open Sans" pitchFamily="34" charset="-120"/>
              </a:rPr>
              <a:t>VMDq occupies the middle ground between standard software switching and full SR-IOV bypass. It is the right choice when live migration is non-negotiable and a moderate throughput improvement is sufficient — but for maximum performance, SR-IOV or DPDK should be preferred.</a:t>
            </a:r>
            <a:endParaRPr lang="en-US" sz="969" dirty="0"/>
          </a:p>
        </p:txBody>
      </p:sp>
      <p:sp>
        <p:nvSpPr>
          <p:cNvPr id="37" name="Shape 33">
            <a:extLst>
              <a:ext uri="{FF2B5EF4-FFF2-40B4-BE49-F238E27FC236}">
                <a16:creationId xmlns:a16="http://schemas.microsoft.com/office/drawing/2014/main" id="{3DB9CC70-8EE0-8F0A-498B-2D817CC76F20}"/>
              </a:ext>
            </a:extLst>
          </p:cNvPr>
          <p:cNvSpPr/>
          <p:nvPr/>
        </p:nvSpPr>
        <p:spPr>
          <a:xfrm>
            <a:off x="0" y="7473200"/>
            <a:ext cx="9144000" cy="257175"/>
          </a:xfrm>
          <a:prstGeom prst="rect">
            <a:avLst/>
          </a:prstGeom>
          <a:solidFill>
            <a:srgbClr val="000000">
              <a:alpha val="0"/>
            </a:srgbClr>
          </a:solidFill>
          <a:ln/>
        </p:spPr>
      </p:sp>
      <p:sp>
        <p:nvSpPr>
          <p:cNvPr id="38" name="Shape 34">
            <a:extLst>
              <a:ext uri="{FF2B5EF4-FFF2-40B4-BE49-F238E27FC236}">
                <a16:creationId xmlns:a16="http://schemas.microsoft.com/office/drawing/2014/main" id="{7AAC315A-27A7-EB54-EC81-3E326683FECF}"/>
              </a:ext>
            </a:extLst>
          </p:cNvPr>
          <p:cNvSpPr/>
          <p:nvPr/>
        </p:nvSpPr>
        <p:spPr>
          <a:xfrm>
            <a:off x="0" y="7473200"/>
            <a:ext cx="9144000" cy="7144"/>
          </a:xfrm>
          <a:prstGeom prst="rect">
            <a:avLst/>
          </a:prstGeom>
          <a:solidFill>
            <a:srgbClr val="EBEBF0"/>
          </a:solidFill>
          <a:ln/>
        </p:spPr>
      </p:sp>
      <p:sp>
        <p:nvSpPr>
          <p:cNvPr id="39" name="Text 35">
            <a:extLst>
              <a:ext uri="{FF2B5EF4-FFF2-40B4-BE49-F238E27FC236}">
                <a16:creationId xmlns:a16="http://schemas.microsoft.com/office/drawing/2014/main" id="{30672070-D9E1-6B18-B6C2-D88B1F0B7D8F}"/>
              </a:ext>
            </a:extLst>
          </p:cNvPr>
          <p:cNvSpPr/>
          <p:nvPr/>
        </p:nvSpPr>
        <p:spPr>
          <a:xfrm>
            <a:off x="457200" y="7515169"/>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40" name="Text 36">
            <a:extLst>
              <a:ext uri="{FF2B5EF4-FFF2-40B4-BE49-F238E27FC236}">
                <a16:creationId xmlns:a16="http://schemas.microsoft.com/office/drawing/2014/main" id="{FBC19AD1-344B-A941-D101-69B506336D49}"/>
              </a:ext>
            </a:extLst>
          </p:cNvPr>
          <p:cNvSpPr/>
          <p:nvPr/>
        </p:nvSpPr>
        <p:spPr>
          <a:xfrm>
            <a:off x="8254603" y="7515169"/>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09 / 15</a:t>
            </a:r>
            <a:endParaRPr lang="en-US" sz="996" dirty="0"/>
          </a:p>
        </p:txBody>
      </p:sp>
    </p:spTree>
    <p:extLst>
      <p:ext uri="{BB962C8B-B14F-4D97-AF65-F5344CB8AC3E}">
        <p14:creationId xmlns:p14="http://schemas.microsoft.com/office/powerpoint/2010/main" val="625726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283416"/>
          </a:xfrm>
          <a:prstGeom prst="rect">
            <a:avLst/>
          </a:prstGeom>
        </p:spPr>
      </p:pic>
      <p:sp>
        <p:nvSpPr>
          <p:cNvPr id="4" name="Text 0"/>
          <p:cNvSpPr/>
          <p:nvPr/>
        </p:nvSpPr>
        <p:spPr>
          <a:xfrm>
            <a:off x="457200" y="328613"/>
            <a:ext cx="314325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SR-IOV ARCHITECTURE</a:t>
            </a:r>
            <a:endParaRPr lang="en-US" sz="936" dirty="0"/>
          </a:p>
        </p:txBody>
      </p:sp>
      <p:sp>
        <p:nvSpPr>
          <p:cNvPr id="5" name="Text 1"/>
          <p:cNvSpPr/>
          <p:nvPr/>
        </p:nvSpPr>
        <p:spPr>
          <a:xfrm>
            <a:off x="457200" y="587573"/>
            <a:ext cx="3143250" cy="500063"/>
          </a:xfrm>
          <a:prstGeom prst="rect">
            <a:avLst/>
          </a:prstGeom>
          <a:noFill/>
          <a:ln/>
        </p:spPr>
        <p:txBody>
          <a:bodyPr wrap="square" lIns="0" tIns="0" rIns="0" bIns="0" rtlCol="0" anchor="t">
            <a:spAutoFit/>
          </a:bodyPr>
          <a:lstStyle/>
          <a:p>
            <a:pPr marL="0" indent="0" algn="l">
              <a:lnSpc>
                <a:spcPts val="2000"/>
              </a:lnSpc>
              <a:buNone/>
            </a:pPr>
            <a:r>
              <a:rPr lang="en-US" sz="1397" b="1" dirty="0">
                <a:solidFill>
                  <a:srgbClr val="1A1A2E"/>
                </a:solidFill>
                <a:latin typeface="Playfair Display" pitchFamily="34" charset="0"/>
                <a:ea typeface="Playfair Display" pitchFamily="34" charset="-122"/>
                <a:cs typeface="Playfair Display" pitchFamily="34" charset="-120"/>
              </a:rPr>
              <a:t>Hardware Bypass via PCIe Virtualization: SR-IOV</a:t>
            </a:r>
            <a:endParaRPr lang="en-US" sz="1397" dirty="0"/>
          </a:p>
        </p:txBody>
      </p:sp>
      <p:sp>
        <p:nvSpPr>
          <p:cNvPr id="6" name="Text 2"/>
          <p:cNvSpPr/>
          <p:nvPr/>
        </p:nvSpPr>
        <p:spPr>
          <a:xfrm>
            <a:off x="457200" y="1373386"/>
            <a:ext cx="3143250" cy="3259475"/>
          </a:xfrm>
          <a:prstGeom prst="rect">
            <a:avLst/>
          </a:prstGeom>
          <a:noFill/>
          <a:ln/>
        </p:spPr>
        <p:txBody>
          <a:bodyPr wrap="square" lIns="0" tIns="0" rIns="0" bIns="0" rtlCol="0" anchor="t">
            <a:spAutoFit/>
          </a:bodyPr>
          <a:lstStyle/>
          <a:p>
            <a:pPr marL="0" indent="0" algn="l">
              <a:lnSpc>
                <a:spcPts val="2000"/>
              </a:lnSpc>
              <a:buNone/>
            </a:pPr>
            <a:r>
              <a:rPr lang="en-US" sz="1023" dirty="0">
                <a:solidFill>
                  <a:srgbClr val="4A4A6A"/>
                </a:solidFill>
                <a:latin typeface="Open Sans" pitchFamily="34" charset="0"/>
                <a:ea typeface="Open Sans" pitchFamily="34" charset="-122"/>
                <a:cs typeface="Open Sans" pitchFamily="34" charset="-120"/>
              </a:rPr>
              <a:t>SR-IOV is a PCI-SIG standard that allows a single physical NIC to present itself as multiple independent PCIe devices. The NIC exposes one Physical Function (PF) controlled by the hypervisor, and up to 256 Virtual Functions (VFs) — lightweight hardware endpoints passed directly into VMs. Each VF has its own dedicated TX/RX descriptor rings, interrupt vectors, and DMA channels. When a VM is assigned a VF, it communicates directly with the NIC hardware using Intel VT-d or AMD-Vi IOMMU for DMA address translation, completely bypassing the hypervisor's virtual switch and VMM data path.</a:t>
            </a:r>
            <a:endParaRPr lang="en-US" sz="1023" dirty="0"/>
          </a:p>
        </p:txBody>
      </p:sp>
      <p:sp>
        <p:nvSpPr>
          <p:cNvPr id="7" name="Shape 3"/>
          <p:cNvSpPr/>
          <p:nvPr/>
        </p:nvSpPr>
        <p:spPr>
          <a:xfrm>
            <a:off x="457200" y="5309955"/>
            <a:ext cx="3143250" cy="1716286"/>
          </a:xfrm>
          <a:prstGeom prst="rect">
            <a:avLst/>
          </a:prstGeom>
          <a:solidFill>
            <a:srgbClr val="1A1A2E"/>
          </a:solidFill>
          <a:ln/>
        </p:spPr>
      </p:sp>
      <p:sp>
        <p:nvSpPr>
          <p:cNvPr id="8" name="Text 4"/>
          <p:cNvSpPr/>
          <p:nvPr/>
        </p:nvSpPr>
        <p:spPr>
          <a:xfrm>
            <a:off x="600075" y="5438542"/>
            <a:ext cx="2857500"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45000"/>
                  </a:srgbClr>
                </a:solidFill>
                <a:latin typeface="Space Grotesk" pitchFamily="34" charset="0"/>
                <a:ea typeface="Space Grotesk" pitchFamily="34" charset="-122"/>
                <a:cs typeface="Space Grotesk" pitchFamily="34" charset="-120"/>
              </a:rPr>
              <a:t>SR-IOV PACKET PATH (RX)</a:t>
            </a:r>
            <a:endParaRPr lang="en-US" sz="942" dirty="0"/>
          </a:p>
        </p:txBody>
      </p:sp>
      <p:sp>
        <p:nvSpPr>
          <p:cNvPr id="9" name="Shape 5"/>
          <p:cNvSpPr/>
          <p:nvPr/>
        </p:nvSpPr>
        <p:spPr>
          <a:xfrm>
            <a:off x="600075" y="5688574"/>
            <a:ext cx="1614488" cy="244673"/>
          </a:xfrm>
          <a:prstGeom prst="rect">
            <a:avLst/>
          </a:prstGeom>
          <a:solidFill>
            <a:srgbClr val="E63946"/>
          </a:solidFill>
          <a:ln/>
        </p:spPr>
      </p:sp>
      <p:sp>
        <p:nvSpPr>
          <p:cNvPr id="10" name="Text 6"/>
          <p:cNvSpPr/>
          <p:nvPr/>
        </p:nvSpPr>
        <p:spPr>
          <a:xfrm>
            <a:off x="600075" y="5688574"/>
            <a:ext cx="1614488" cy="244673"/>
          </a:xfrm>
          <a:prstGeom prst="rect">
            <a:avLst/>
          </a:prstGeom>
          <a:noFill/>
          <a:ln/>
        </p:spPr>
        <p:txBody>
          <a:bodyPr wrap="square" lIns="85090" tIns="42545" rIns="85090" bIns="42545"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Physical NIC + eSwitch</a:t>
            </a:r>
            <a:endParaRPr lang="en-US" sz="936" dirty="0"/>
          </a:p>
        </p:txBody>
      </p:sp>
      <p:sp>
        <p:nvSpPr>
          <p:cNvPr id="11" name="Text 7"/>
          <p:cNvSpPr/>
          <p:nvPr/>
        </p:nvSpPr>
        <p:spPr>
          <a:xfrm>
            <a:off x="2257425" y="5723399"/>
            <a:ext cx="12858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35000"/>
                  </a:srgbClr>
                </a:solidFill>
                <a:latin typeface="Open Sans" pitchFamily="34" charset="0"/>
                <a:ea typeface="Open Sans" pitchFamily="34" charset="-122"/>
                <a:cs typeface="Open Sans" pitchFamily="34" charset="-120"/>
              </a:rPr>
              <a:t>→</a:t>
            </a:r>
            <a:endParaRPr lang="en-US" sz="942" dirty="0"/>
          </a:p>
        </p:txBody>
      </p:sp>
      <p:sp>
        <p:nvSpPr>
          <p:cNvPr id="12" name="Shape 8"/>
          <p:cNvSpPr/>
          <p:nvPr/>
        </p:nvSpPr>
        <p:spPr>
          <a:xfrm>
            <a:off x="2428875" y="5688574"/>
            <a:ext cx="951905" cy="244673"/>
          </a:xfrm>
          <a:prstGeom prst="rect">
            <a:avLst/>
          </a:prstGeom>
          <a:solidFill>
            <a:srgbClr val="E63946"/>
          </a:solidFill>
          <a:ln/>
        </p:spPr>
      </p:sp>
      <p:sp>
        <p:nvSpPr>
          <p:cNvPr id="13" name="Text 9"/>
          <p:cNvSpPr/>
          <p:nvPr/>
        </p:nvSpPr>
        <p:spPr>
          <a:xfrm>
            <a:off x="2428875" y="5688574"/>
            <a:ext cx="951905" cy="244673"/>
          </a:xfrm>
          <a:prstGeom prst="rect">
            <a:avLst/>
          </a:prstGeom>
          <a:noFill/>
          <a:ln/>
        </p:spPr>
        <p:txBody>
          <a:bodyPr wrap="square" lIns="85090" tIns="42545" rIns="85090" bIns="42545"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VF DMA Ring</a:t>
            </a:r>
            <a:endParaRPr lang="en-US" sz="936" dirty="0"/>
          </a:p>
        </p:txBody>
      </p:sp>
      <p:sp>
        <p:nvSpPr>
          <p:cNvPr id="14" name="Text 10"/>
          <p:cNvSpPr/>
          <p:nvPr/>
        </p:nvSpPr>
        <p:spPr>
          <a:xfrm>
            <a:off x="614363" y="5996648"/>
            <a:ext cx="12858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35000"/>
                  </a:srgbClr>
                </a:solidFill>
                <a:latin typeface="Open Sans" pitchFamily="34" charset="0"/>
                <a:ea typeface="Open Sans" pitchFamily="34" charset="-122"/>
                <a:cs typeface="Open Sans" pitchFamily="34" charset="-120"/>
              </a:rPr>
              <a:t>→</a:t>
            </a:r>
            <a:endParaRPr lang="en-US" sz="942" dirty="0"/>
          </a:p>
        </p:txBody>
      </p:sp>
      <p:sp>
        <p:nvSpPr>
          <p:cNvPr id="15" name="Shape 11"/>
          <p:cNvSpPr/>
          <p:nvPr/>
        </p:nvSpPr>
        <p:spPr>
          <a:xfrm>
            <a:off x="785813" y="5961822"/>
            <a:ext cx="1403747" cy="244673"/>
          </a:xfrm>
          <a:prstGeom prst="rect">
            <a:avLst/>
          </a:prstGeom>
          <a:solidFill>
            <a:srgbClr val="FFFFFF">
              <a:alpha val="12000"/>
            </a:srgbClr>
          </a:solidFill>
          <a:ln/>
        </p:spPr>
      </p:sp>
      <p:sp>
        <p:nvSpPr>
          <p:cNvPr id="16" name="Text 12"/>
          <p:cNvSpPr/>
          <p:nvPr/>
        </p:nvSpPr>
        <p:spPr>
          <a:xfrm>
            <a:off x="785813" y="5961822"/>
            <a:ext cx="1403747" cy="244673"/>
          </a:xfrm>
          <a:prstGeom prst="rect">
            <a:avLst/>
          </a:prstGeom>
          <a:noFill/>
          <a:ln/>
        </p:spPr>
        <p:txBody>
          <a:bodyPr wrap="square" lIns="85090" tIns="42545" rIns="85090" bIns="42545" rtlCol="0" anchor="t">
            <a:spAutoFit/>
          </a:bodyPr>
          <a:lstStyle/>
          <a:p>
            <a:pPr marL="0" indent="0" algn="l">
              <a:lnSpc>
                <a:spcPts val="1300"/>
              </a:lnSpc>
              <a:buNone/>
            </a:pPr>
            <a:r>
              <a:rPr lang="en-US" sz="936" b="1" strike="sngStrike" dirty="0">
                <a:solidFill>
                  <a:srgbClr val="FFFFFF">
                    <a:alpha val="45000"/>
                  </a:srgbClr>
                </a:solidFill>
                <a:latin typeface="Space Grotesk" pitchFamily="34" charset="0"/>
                <a:ea typeface="Space Grotesk" pitchFamily="34" charset="-122"/>
                <a:cs typeface="Space Grotesk" pitchFamily="34" charset="-120"/>
              </a:rPr>
              <a:t>Hypervisor vSwitch</a:t>
            </a:r>
            <a:endParaRPr lang="en-US" sz="936" dirty="0"/>
          </a:p>
        </p:txBody>
      </p:sp>
      <p:sp>
        <p:nvSpPr>
          <p:cNvPr id="17" name="Text 13"/>
          <p:cNvSpPr/>
          <p:nvPr/>
        </p:nvSpPr>
        <p:spPr>
          <a:xfrm>
            <a:off x="2232422" y="5996648"/>
            <a:ext cx="12858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35000"/>
                  </a:srgbClr>
                </a:solidFill>
                <a:latin typeface="Open Sans" pitchFamily="34" charset="0"/>
                <a:ea typeface="Open Sans" pitchFamily="34" charset="-122"/>
                <a:cs typeface="Open Sans" pitchFamily="34" charset="-120"/>
              </a:rPr>
              <a:t>→</a:t>
            </a:r>
            <a:endParaRPr lang="en-US" sz="942" dirty="0"/>
          </a:p>
        </p:txBody>
      </p:sp>
      <p:sp>
        <p:nvSpPr>
          <p:cNvPr id="18" name="Shape 14"/>
          <p:cNvSpPr/>
          <p:nvPr/>
        </p:nvSpPr>
        <p:spPr>
          <a:xfrm>
            <a:off x="2403872" y="5961822"/>
            <a:ext cx="1014413" cy="244673"/>
          </a:xfrm>
          <a:prstGeom prst="rect">
            <a:avLst/>
          </a:prstGeom>
          <a:solidFill>
            <a:srgbClr val="E63946"/>
          </a:solidFill>
          <a:ln/>
        </p:spPr>
      </p:sp>
      <p:sp>
        <p:nvSpPr>
          <p:cNvPr id="19" name="Text 15"/>
          <p:cNvSpPr/>
          <p:nvPr/>
        </p:nvSpPr>
        <p:spPr>
          <a:xfrm>
            <a:off x="2403872" y="5961822"/>
            <a:ext cx="1014413" cy="244673"/>
          </a:xfrm>
          <a:prstGeom prst="rect">
            <a:avLst/>
          </a:prstGeom>
          <a:noFill/>
          <a:ln/>
        </p:spPr>
        <p:txBody>
          <a:bodyPr wrap="square" lIns="85090" tIns="42545" rIns="85090" bIns="42545"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IOMMU / VT-d</a:t>
            </a:r>
            <a:endParaRPr lang="en-US" sz="936" dirty="0"/>
          </a:p>
        </p:txBody>
      </p:sp>
      <p:sp>
        <p:nvSpPr>
          <p:cNvPr id="20" name="Text 16"/>
          <p:cNvSpPr/>
          <p:nvPr/>
        </p:nvSpPr>
        <p:spPr>
          <a:xfrm>
            <a:off x="614363" y="6269896"/>
            <a:ext cx="12858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35000"/>
                  </a:srgbClr>
                </a:solidFill>
                <a:latin typeface="Open Sans" pitchFamily="34" charset="0"/>
                <a:ea typeface="Open Sans" pitchFamily="34" charset="-122"/>
                <a:cs typeface="Open Sans" pitchFamily="34" charset="-120"/>
              </a:rPr>
              <a:t>→</a:t>
            </a:r>
            <a:endParaRPr lang="en-US" sz="942" dirty="0"/>
          </a:p>
        </p:txBody>
      </p:sp>
      <p:sp>
        <p:nvSpPr>
          <p:cNvPr id="21" name="Shape 17"/>
          <p:cNvSpPr/>
          <p:nvPr/>
        </p:nvSpPr>
        <p:spPr>
          <a:xfrm>
            <a:off x="785813" y="6235071"/>
            <a:ext cx="1328738" cy="244673"/>
          </a:xfrm>
          <a:prstGeom prst="rect">
            <a:avLst/>
          </a:prstGeom>
          <a:solidFill>
            <a:srgbClr val="003087"/>
          </a:solidFill>
          <a:ln/>
        </p:spPr>
      </p:sp>
      <p:sp>
        <p:nvSpPr>
          <p:cNvPr id="22" name="Text 18"/>
          <p:cNvSpPr/>
          <p:nvPr/>
        </p:nvSpPr>
        <p:spPr>
          <a:xfrm>
            <a:off x="785813" y="6235071"/>
            <a:ext cx="1328738" cy="244673"/>
          </a:xfrm>
          <a:prstGeom prst="rect">
            <a:avLst/>
          </a:prstGeom>
          <a:noFill/>
          <a:ln/>
        </p:spPr>
        <p:txBody>
          <a:bodyPr wrap="square" lIns="85090" tIns="42545" rIns="85090" bIns="42545"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VM Guest Memory</a:t>
            </a:r>
            <a:endParaRPr lang="en-US" sz="936" dirty="0"/>
          </a:p>
        </p:txBody>
      </p:sp>
      <p:sp>
        <p:nvSpPr>
          <p:cNvPr id="23" name="Text 19"/>
          <p:cNvSpPr/>
          <p:nvPr/>
        </p:nvSpPr>
        <p:spPr>
          <a:xfrm>
            <a:off x="600075" y="6551182"/>
            <a:ext cx="2857500" cy="346472"/>
          </a:xfrm>
          <a:prstGeom prst="rect">
            <a:avLst/>
          </a:prstGeom>
          <a:noFill/>
          <a:ln/>
        </p:spPr>
        <p:txBody>
          <a:bodyPr wrap="square" lIns="0" tIns="0" rIns="0" bIns="0" rtlCol="0" anchor="t">
            <a:spAutoFit/>
          </a:bodyPr>
          <a:lstStyle/>
          <a:p>
            <a:pPr marL="0" indent="0" algn="l">
              <a:lnSpc>
                <a:spcPts val="1300"/>
              </a:lnSpc>
              <a:buNone/>
            </a:pPr>
            <a:r>
              <a:rPr lang="en-US" sz="996" dirty="0">
                <a:solidFill>
                  <a:srgbClr val="E63946"/>
                </a:solidFill>
                <a:latin typeface="Space Grotesk" pitchFamily="34" charset="0"/>
                <a:ea typeface="Space Grotesk" pitchFamily="34" charset="-122"/>
                <a:cs typeface="Space Grotesk" pitchFamily="34" charset="-120"/>
              </a:rPr>
              <a:t>⊘ Hypervisor vSwitch and VMM are completely bypassed</a:t>
            </a:r>
            <a:endParaRPr lang="en-US" sz="996" dirty="0"/>
          </a:p>
        </p:txBody>
      </p:sp>
      <p:sp>
        <p:nvSpPr>
          <p:cNvPr id="24" name="Text 20"/>
          <p:cNvSpPr/>
          <p:nvPr/>
        </p:nvSpPr>
        <p:spPr>
          <a:xfrm>
            <a:off x="3971925" y="328613"/>
            <a:ext cx="4714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ARCHITECTURE COMPONENTS</a:t>
            </a:r>
            <a:endParaRPr lang="en-US" sz="936" dirty="0"/>
          </a:p>
        </p:txBody>
      </p:sp>
      <p:sp>
        <p:nvSpPr>
          <p:cNvPr id="25" name="Shape 21"/>
          <p:cNvSpPr/>
          <p:nvPr/>
        </p:nvSpPr>
        <p:spPr>
          <a:xfrm>
            <a:off x="3971925" y="716161"/>
            <a:ext cx="571500" cy="230386"/>
          </a:xfrm>
          <a:prstGeom prst="rect">
            <a:avLst/>
          </a:prstGeom>
          <a:solidFill>
            <a:srgbClr val="003087"/>
          </a:solidFill>
          <a:ln/>
        </p:spPr>
      </p:sp>
      <p:sp>
        <p:nvSpPr>
          <p:cNvPr id="26" name="Text 22"/>
          <p:cNvSpPr/>
          <p:nvPr/>
        </p:nvSpPr>
        <p:spPr>
          <a:xfrm>
            <a:off x="3971925" y="716161"/>
            <a:ext cx="571500" cy="230386"/>
          </a:xfrm>
          <a:prstGeom prst="rect">
            <a:avLst/>
          </a:prstGeom>
          <a:noFill/>
          <a:ln/>
        </p:spPr>
        <p:txBody>
          <a:bodyPr wrap="none" lIns="85090" tIns="34036" rIns="85090" bIns="34036" rtlCol="0" anchor="t">
            <a:spAutoFit/>
          </a:bodyPr>
          <a:lstStyle/>
          <a:p>
            <a:pPr marL="0" indent="0" algn="ctr">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PF</a:t>
            </a:r>
            <a:endParaRPr lang="en-US" sz="936" dirty="0"/>
          </a:p>
        </p:txBody>
      </p:sp>
      <p:sp>
        <p:nvSpPr>
          <p:cNvPr id="27" name="Text 23"/>
          <p:cNvSpPr/>
          <p:nvPr/>
        </p:nvSpPr>
        <p:spPr>
          <a:xfrm>
            <a:off x="4672013" y="701873"/>
            <a:ext cx="40147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Physical Function — Hypervisor Control Plane</a:t>
            </a:r>
            <a:endParaRPr lang="en-US" sz="987" dirty="0"/>
          </a:p>
        </p:txBody>
      </p:sp>
      <p:sp>
        <p:nvSpPr>
          <p:cNvPr id="28" name="Text 24"/>
          <p:cNvSpPr/>
          <p:nvPr/>
        </p:nvSpPr>
        <p:spPr>
          <a:xfrm>
            <a:off x="4672013" y="925116"/>
            <a:ext cx="4014788" cy="111969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The PF is the full-featured PCIe function owned by the hypervisor's host driver. It configures the NIC eSwitch forwarding rules, creates and destroys VFs, assigns MAC addresses and VLAN IDs to each VF, and manages SR-IOV global state. The PF is never in the data path for VM traffic.</a:t>
            </a:r>
            <a:endParaRPr lang="en-US" sz="996" dirty="0"/>
          </a:p>
        </p:txBody>
      </p:sp>
      <p:sp>
        <p:nvSpPr>
          <p:cNvPr id="29" name="Shape 25"/>
          <p:cNvSpPr/>
          <p:nvPr/>
        </p:nvSpPr>
        <p:spPr>
          <a:xfrm>
            <a:off x="3971925" y="2266271"/>
            <a:ext cx="571500" cy="230386"/>
          </a:xfrm>
          <a:prstGeom prst="rect">
            <a:avLst/>
          </a:prstGeom>
          <a:solidFill>
            <a:srgbClr val="E63946"/>
          </a:solidFill>
          <a:ln/>
        </p:spPr>
      </p:sp>
      <p:sp>
        <p:nvSpPr>
          <p:cNvPr id="30" name="Text 26"/>
          <p:cNvSpPr/>
          <p:nvPr/>
        </p:nvSpPr>
        <p:spPr>
          <a:xfrm>
            <a:off x="3971925" y="2266271"/>
            <a:ext cx="571500" cy="230386"/>
          </a:xfrm>
          <a:prstGeom prst="rect">
            <a:avLst/>
          </a:prstGeom>
          <a:noFill/>
          <a:ln/>
        </p:spPr>
        <p:txBody>
          <a:bodyPr wrap="none" lIns="85090" tIns="34036" rIns="85090" bIns="34036" rtlCol="0" anchor="t">
            <a:spAutoFit/>
          </a:bodyPr>
          <a:lstStyle/>
          <a:p>
            <a:pPr marL="0" indent="0" algn="ctr">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VF</a:t>
            </a:r>
            <a:endParaRPr lang="en-US" sz="936" dirty="0"/>
          </a:p>
        </p:txBody>
      </p:sp>
      <p:sp>
        <p:nvSpPr>
          <p:cNvPr id="31" name="Text 27"/>
          <p:cNvSpPr/>
          <p:nvPr/>
        </p:nvSpPr>
        <p:spPr>
          <a:xfrm>
            <a:off x="4672013" y="2251983"/>
            <a:ext cx="40147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Virtual Function — VM Data Plane</a:t>
            </a:r>
            <a:endParaRPr lang="en-US" sz="987" dirty="0"/>
          </a:p>
        </p:txBody>
      </p:sp>
      <p:sp>
        <p:nvSpPr>
          <p:cNvPr id="32" name="Text 28"/>
          <p:cNvSpPr/>
          <p:nvPr/>
        </p:nvSpPr>
        <p:spPr>
          <a:xfrm>
            <a:off x="4672013" y="2475226"/>
            <a:ext cx="4014788" cy="111969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Each VF is a lightweight PCIe endpoint assigned directly to a VM via PCIe passthrough. It has its own TX/RX descriptor rings, MSI-X interrupt vectors, and a dedicated DMA channel. The VM's guest driver communicates with the VF as if it were a physical NIC, with no hypervisor involvement in the data path.</a:t>
            </a:r>
            <a:endParaRPr lang="en-US" sz="996" dirty="0"/>
          </a:p>
        </p:txBody>
      </p:sp>
      <p:sp>
        <p:nvSpPr>
          <p:cNvPr id="33" name="Shape 29"/>
          <p:cNvSpPr/>
          <p:nvPr/>
        </p:nvSpPr>
        <p:spPr>
          <a:xfrm>
            <a:off x="3971925" y="3816381"/>
            <a:ext cx="757238" cy="230386"/>
          </a:xfrm>
          <a:prstGeom prst="rect">
            <a:avLst/>
          </a:prstGeom>
          <a:solidFill>
            <a:srgbClr val="1A6B72"/>
          </a:solidFill>
          <a:ln/>
        </p:spPr>
      </p:sp>
      <p:sp>
        <p:nvSpPr>
          <p:cNvPr id="34" name="Text 30"/>
          <p:cNvSpPr/>
          <p:nvPr/>
        </p:nvSpPr>
        <p:spPr>
          <a:xfrm>
            <a:off x="3971925" y="3816381"/>
            <a:ext cx="757238" cy="230386"/>
          </a:xfrm>
          <a:prstGeom prst="rect">
            <a:avLst/>
          </a:prstGeom>
          <a:noFill/>
          <a:ln/>
        </p:spPr>
        <p:txBody>
          <a:bodyPr wrap="none" lIns="85090" tIns="34036" rIns="85090" bIns="34036" rtlCol="0" anchor="t">
            <a:spAutoFit/>
          </a:bodyPr>
          <a:lstStyle/>
          <a:p>
            <a:pPr marL="0" indent="0" algn="ctr">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ESWITCH</a:t>
            </a:r>
            <a:endParaRPr lang="en-US" sz="936" dirty="0"/>
          </a:p>
        </p:txBody>
      </p:sp>
      <p:sp>
        <p:nvSpPr>
          <p:cNvPr id="35" name="Text 31"/>
          <p:cNvSpPr/>
          <p:nvPr/>
        </p:nvSpPr>
        <p:spPr>
          <a:xfrm>
            <a:off x="4857750" y="3802094"/>
            <a:ext cx="38290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NIC Embedded Switch — Hardware L2 Forwarding</a:t>
            </a:r>
            <a:endParaRPr lang="en-US" sz="987" dirty="0"/>
          </a:p>
        </p:txBody>
      </p:sp>
      <p:sp>
        <p:nvSpPr>
          <p:cNvPr id="36" name="Text 32"/>
          <p:cNvSpPr/>
          <p:nvPr/>
        </p:nvSpPr>
        <p:spPr>
          <a:xfrm>
            <a:off x="4857750" y="4025336"/>
            <a:ext cx="3829050" cy="111969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The eSwitch is a hardware Layer 2 switch implemented in NIC silicon. It maintains a forwarding table of MAC address and VLAN ID entries, each mapped to a specific VF's VPort. Inbound frames are classified and forwarded to the correct VF entirely in hardware — no CPU involvement, no software lookup.</a:t>
            </a:r>
            <a:endParaRPr lang="en-US" sz="996" dirty="0"/>
          </a:p>
        </p:txBody>
      </p:sp>
      <p:sp>
        <p:nvSpPr>
          <p:cNvPr id="37" name="Shape 33"/>
          <p:cNvSpPr/>
          <p:nvPr/>
        </p:nvSpPr>
        <p:spPr>
          <a:xfrm>
            <a:off x="3971925" y="5366491"/>
            <a:ext cx="630436" cy="230386"/>
          </a:xfrm>
          <a:prstGeom prst="rect">
            <a:avLst/>
          </a:prstGeom>
          <a:solidFill>
            <a:srgbClr val="1A1A2E"/>
          </a:solidFill>
          <a:ln/>
        </p:spPr>
      </p:sp>
      <p:sp>
        <p:nvSpPr>
          <p:cNvPr id="38" name="Text 34"/>
          <p:cNvSpPr/>
          <p:nvPr/>
        </p:nvSpPr>
        <p:spPr>
          <a:xfrm>
            <a:off x="3971925" y="5366491"/>
            <a:ext cx="630436" cy="230386"/>
          </a:xfrm>
          <a:prstGeom prst="rect">
            <a:avLst/>
          </a:prstGeom>
          <a:noFill/>
          <a:ln/>
        </p:spPr>
        <p:txBody>
          <a:bodyPr wrap="none" lIns="85090" tIns="34036" rIns="85090" bIns="34036" rtlCol="0" anchor="t">
            <a:spAutoFit/>
          </a:bodyPr>
          <a:lstStyle/>
          <a:p>
            <a:pPr marL="0" indent="0" algn="ctr">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IOMMU</a:t>
            </a:r>
            <a:endParaRPr lang="en-US" sz="936" dirty="0"/>
          </a:p>
        </p:txBody>
      </p:sp>
      <p:sp>
        <p:nvSpPr>
          <p:cNvPr id="39" name="Text 35"/>
          <p:cNvSpPr/>
          <p:nvPr/>
        </p:nvSpPr>
        <p:spPr>
          <a:xfrm>
            <a:off x="4730948" y="5352204"/>
            <a:ext cx="3955852"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IOMMU / VT-d — Safe DMA Address Translation</a:t>
            </a:r>
            <a:endParaRPr lang="en-US" sz="987" dirty="0"/>
          </a:p>
        </p:txBody>
      </p:sp>
      <p:sp>
        <p:nvSpPr>
          <p:cNvPr id="40" name="Text 36"/>
          <p:cNvSpPr/>
          <p:nvPr/>
        </p:nvSpPr>
        <p:spPr>
          <a:xfrm>
            <a:off x="4730948" y="5575446"/>
            <a:ext cx="3955852" cy="1343639"/>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The IOMMU (Intel VT-d or AMD-Vi) translates the VM's physical I/O addresses to actual host physical memory addresses, allowing the VF to DMA packet data directly into VM guest memory without CPU involvement. This provides memory isolation between VMs, preventing one VM from accessing another's memory via DMA.</a:t>
            </a:r>
            <a:endParaRPr lang="en-US" sz="996" dirty="0"/>
          </a:p>
        </p:txBody>
      </p:sp>
      <p:sp>
        <p:nvSpPr>
          <p:cNvPr id="41" name="Shape 37"/>
          <p:cNvSpPr/>
          <p:nvPr/>
        </p:nvSpPr>
        <p:spPr>
          <a:xfrm>
            <a:off x="0" y="7026241"/>
            <a:ext cx="9144000" cy="257175"/>
          </a:xfrm>
          <a:prstGeom prst="rect">
            <a:avLst/>
          </a:prstGeom>
          <a:solidFill>
            <a:srgbClr val="000000">
              <a:alpha val="0"/>
            </a:srgbClr>
          </a:solidFill>
          <a:ln/>
        </p:spPr>
      </p:sp>
      <p:sp>
        <p:nvSpPr>
          <p:cNvPr id="42" name="Shape 38"/>
          <p:cNvSpPr/>
          <p:nvPr/>
        </p:nvSpPr>
        <p:spPr>
          <a:xfrm>
            <a:off x="0" y="7026241"/>
            <a:ext cx="9144000" cy="7144"/>
          </a:xfrm>
          <a:prstGeom prst="rect">
            <a:avLst/>
          </a:prstGeom>
          <a:solidFill>
            <a:srgbClr val="EBEBF0"/>
          </a:solidFill>
          <a:ln/>
        </p:spPr>
      </p:sp>
      <p:sp>
        <p:nvSpPr>
          <p:cNvPr id="43" name="Text 39"/>
          <p:cNvSpPr/>
          <p:nvPr/>
        </p:nvSpPr>
        <p:spPr>
          <a:xfrm>
            <a:off x="457200" y="7068210"/>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44" name="Text 40"/>
          <p:cNvSpPr/>
          <p:nvPr/>
        </p:nvSpPr>
        <p:spPr>
          <a:xfrm>
            <a:off x="8254603" y="7068210"/>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06 / 15</a:t>
            </a:r>
            <a:endParaRPr lang="en-US" sz="99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548265"/>
          </a:xfrm>
          <a:prstGeom prst="rect">
            <a:avLst/>
          </a:prstGeom>
        </p:spPr>
      </p:pic>
      <p:sp>
        <p:nvSpPr>
          <p:cNvPr id="4" name="Text 0"/>
          <p:cNvSpPr/>
          <p:nvPr/>
        </p:nvSpPr>
        <p:spPr>
          <a:xfrm>
            <a:off x="457200" y="271463"/>
            <a:ext cx="82296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SR-IOV — SINGLE ROOT I/O VIRTUALIZATION</a:t>
            </a:r>
            <a:endParaRPr lang="en-US" sz="936" dirty="0"/>
          </a:p>
        </p:txBody>
      </p:sp>
      <p:sp>
        <p:nvSpPr>
          <p:cNvPr id="5" name="Text 1"/>
          <p:cNvSpPr/>
          <p:nvPr/>
        </p:nvSpPr>
        <p:spPr>
          <a:xfrm>
            <a:off x="457200" y="516136"/>
            <a:ext cx="8229600" cy="500063"/>
          </a:xfrm>
          <a:prstGeom prst="rect">
            <a:avLst/>
          </a:prstGeom>
          <a:noFill/>
          <a:ln/>
        </p:spPr>
        <p:txBody>
          <a:bodyPr wrap="square" lIns="0" tIns="0" rIns="0" bIns="0" rtlCol="0" anchor="t">
            <a:spAutoFit/>
          </a:bodyPr>
          <a:lstStyle/>
          <a:p>
            <a:pPr marL="0" indent="0" algn="l">
              <a:lnSpc>
                <a:spcPts val="2000"/>
              </a:lnSpc>
              <a:buNone/>
            </a:pPr>
            <a:r>
              <a:rPr lang="en-US" sz="1397" b="1" dirty="0">
                <a:solidFill>
                  <a:srgbClr val="1A1A2E"/>
                </a:solidFill>
                <a:latin typeface="Playfair Display" pitchFamily="34" charset="0"/>
                <a:ea typeface="Playfair Display" pitchFamily="34" charset="-122"/>
                <a:cs typeface="Playfair Display" pitchFamily="34" charset="-120"/>
              </a:rPr>
              <a:t>SR-IOV Achieves the Highest Possible Performance but Sacrifices VM Mobility and Traffic Visibility</a:t>
            </a:r>
            <a:endParaRPr lang="en-US" sz="1397" dirty="0"/>
          </a:p>
        </p:txBody>
      </p:sp>
      <p:sp>
        <p:nvSpPr>
          <p:cNvPr id="6" name="Text 2"/>
          <p:cNvSpPr/>
          <p:nvPr/>
        </p:nvSpPr>
        <p:spPr>
          <a:xfrm>
            <a:off x="571500" y="1244798"/>
            <a:ext cx="67508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Advantages</a:t>
            </a:r>
            <a:endParaRPr lang="en-US" sz="885" dirty="0"/>
          </a:p>
        </p:txBody>
      </p:sp>
      <p:sp>
        <p:nvSpPr>
          <p:cNvPr id="7" name="Text 3"/>
          <p:cNvSpPr/>
          <p:nvPr/>
        </p:nvSpPr>
        <p:spPr>
          <a:xfrm>
            <a:off x="457200" y="1580555"/>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3087"/>
                </a:solidFill>
                <a:latin typeface="Space Grotesk" pitchFamily="34" charset="0"/>
                <a:ea typeface="Space Grotesk" pitchFamily="34" charset="-122"/>
                <a:cs typeface="Space Grotesk" pitchFamily="34" charset="-120"/>
              </a:rPr>
              <a:t>+</a:t>
            </a:r>
            <a:endParaRPr lang="en-US" sz="936" dirty="0"/>
          </a:p>
        </p:txBody>
      </p:sp>
      <p:sp>
        <p:nvSpPr>
          <p:cNvPr id="8" name="Text 4"/>
          <p:cNvSpPr/>
          <p:nvPr/>
        </p:nvSpPr>
        <p:spPr>
          <a:xfrm>
            <a:off x="714375" y="157341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Near Bare-Metal Network Performance</a:t>
            </a:r>
            <a:endParaRPr lang="en-US" sz="936" dirty="0"/>
          </a:p>
        </p:txBody>
      </p:sp>
      <p:sp>
        <p:nvSpPr>
          <p:cNvPr id="9" name="Text 5"/>
          <p:cNvSpPr/>
          <p:nvPr/>
        </p:nvSpPr>
        <p:spPr>
          <a:xfrm>
            <a:off x="714375" y="1778794"/>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SR-IOV delivers throughput within 1–3% of native NIC performance. The host CPU is almost entirely removed from the data path — no interrupts, no memory copies, no vSwitch processing per packet.</a:t>
            </a:r>
            <a:endParaRPr lang="en-US" sz="969" dirty="0"/>
          </a:p>
        </p:txBody>
      </p:sp>
      <p:sp>
        <p:nvSpPr>
          <p:cNvPr id="10" name="Text 6"/>
          <p:cNvSpPr/>
          <p:nvPr/>
        </p:nvSpPr>
        <p:spPr>
          <a:xfrm>
            <a:off x="457200" y="2779588"/>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3087"/>
                </a:solidFill>
                <a:latin typeface="Space Grotesk" pitchFamily="34" charset="0"/>
                <a:ea typeface="Space Grotesk" pitchFamily="34" charset="-122"/>
                <a:cs typeface="Space Grotesk" pitchFamily="34" charset="-120"/>
              </a:rPr>
              <a:t>+</a:t>
            </a:r>
            <a:endParaRPr lang="en-US" sz="936" dirty="0"/>
          </a:p>
        </p:txBody>
      </p:sp>
      <p:sp>
        <p:nvSpPr>
          <p:cNvPr id="11" name="Text 7"/>
          <p:cNvSpPr/>
          <p:nvPr/>
        </p:nvSpPr>
        <p:spPr>
          <a:xfrm>
            <a:off x="714375" y="2772445"/>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Very Low Host CPU Overhead</a:t>
            </a:r>
            <a:endParaRPr lang="en-US" sz="936" dirty="0"/>
          </a:p>
        </p:txBody>
      </p:sp>
      <p:sp>
        <p:nvSpPr>
          <p:cNvPr id="12" name="Text 8"/>
          <p:cNvSpPr/>
          <p:nvPr/>
        </p:nvSpPr>
        <p:spPr>
          <a:xfrm>
            <a:off x="714375" y="2977828"/>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Because the NIC's eSwitch handles all frame forwarding in hardware and IOMMU DMA delivers packets directly to VM memory, the host CPU is not involved in the data path at all — freeing cores for other workloads.</a:t>
            </a:r>
            <a:endParaRPr lang="en-US" sz="969" dirty="0"/>
          </a:p>
        </p:txBody>
      </p:sp>
      <p:sp>
        <p:nvSpPr>
          <p:cNvPr id="13" name="Text 9"/>
          <p:cNvSpPr/>
          <p:nvPr/>
        </p:nvSpPr>
        <p:spPr>
          <a:xfrm>
            <a:off x="457200" y="3978622"/>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3087"/>
                </a:solidFill>
                <a:latin typeface="Space Grotesk" pitchFamily="34" charset="0"/>
                <a:ea typeface="Space Grotesk" pitchFamily="34" charset="-122"/>
                <a:cs typeface="Space Grotesk" pitchFamily="34" charset="-120"/>
              </a:rPr>
              <a:t>+</a:t>
            </a:r>
            <a:endParaRPr lang="en-US" sz="936" dirty="0"/>
          </a:p>
        </p:txBody>
      </p:sp>
      <p:sp>
        <p:nvSpPr>
          <p:cNvPr id="14" name="Text 10"/>
          <p:cNvSpPr/>
          <p:nvPr/>
        </p:nvSpPr>
        <p:spPr>
          <a:xfrm>
            <a:off x="714375" y="3971479"/>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Open PCI-SIG Standard</a:t>
            </a:r>
            <a:endParaRPr lang="en-US" sz="936" dirty="0"/>
          </a:p>
        </p:txBody>
      </p:sp>
      <p:sp>
        <p:nvSpPr>
          <p:cNvPr id="15" name="Text 11"/>
          <p:cNvSpPr/>
          <p:nvPr/>
        </p:nvSpPr>
        <p:spPr>
          <a:xfrm>
            <a:off x="714375" y="4176861"/>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SR-IOV is a ratified PCI-SIG standard supported by all major NIC vendors — Intel, Mellanox/NVIDIA, Broadcom, and Chelsio — ensuring broad hardware compatibility and long-term vendor support.</a:t>
            </a:r>
            <a:endParaRPr lang="en-US" sz="969" dirty="0"/>
          </a:p>
        </p:txBody>
      </p:sp>
      <p:sp>
        <p:nvSpPr>
          <p:cNvPr id="16" name="Text 12"/>
          <p:cNvSpPr/>
          <p:nvPr/>
        </p:nvSpPr>
        <p:spPr>
          <a:xfrm>
            <a:off x="457200" y="5177656"/>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003087"/>
                </a:solidFill>
                <a:latin typeface="Space Grotesk" pitchFamily="34" charset="0"/>
                <a:ea typeface="Space Grotesk" pitchFamily="34" charset="-122"/>
                <a:cs typeface="Space Grotesk" pitchFamily="34" charset="-120"/>
              </a:rPr>
              <a:t>+</a:t>
            </a:r>
            <a:endParaRPr lang="en-US" sz="936" dirty="0"/>
          </a:p>
        </p:txBody>
      </p:sp>
      <p:sp>
        <p:nvSpPr>
          <p:cNvPr id="17" name="Text 13"/>
          <p:cNvSpPr/>
          <p:nvPr/>
        </p:nvSpPr>
        <p:spPr>
          <a:xfrm>
            <a:off x="714375" y="5170512"/>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Ideal for Latency-Sensitive Workloads</a:t>
            </a:r>
            <a:endParaRPr lang="en-US" sz="936" dirty="0"/>
          </a:p>
        </p:txBody>
      </p:sp>
      <p:sp>
        <p:nvSpPr>
          <p:cNvPr id="18" name="Text 14"/>
          <p:cNvSpPr/>
          <p:nvPr/>
        </p:nvSpPr>
        <p:spPr>
          <a:xfrm>
            <a:off x="714375" y="5375895"/>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Single-digit microsecond latency makes SR-IOV the preferred choice for telecom NFV (vRouter, vFirewall, 5G UPF), high-frequency trading, and HPC interconnect applications.</a:t>
            </a:r>
            <a:endParaRPr lang="en-US" sz="969" dirty="0"/>
          </a:p>
        </p:txBody>
      </p:sp>
      <p:sp>
        <p:nvSpPr>
          <p:cNvPr id="19" name="Text 15"/>
          <p:cNvSpPr/>
          <p:nvPr/>
        </p:nvSpPr>
        <p:spPr>
          <a:xfrm>
            <a:off x="4975622" y="1244798"/>
            <a:ext cx="855464" cy="171450"/>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Playfair Display" pitchFamily="34" charset="0"/>
                <a:ea typeface="Playfair Display" pitchFamily="34" charset="-122"/>
                <a:cs typeface="Playfair Display" pitchFamily="34" charset="-120"/>
              </a:rPr>
              <a:t>Disadvantages</a:t>
            </a:r>
            <a:endParaRPr lang="en-US" sz="885" dirty="0"/>
          </a:p>
        </p:txBody>
      </p:sp>
      <p:sp>
        <p:nvSpPr>
          <p:cNvPr id="20" name="Text 16"/>
          <p:cNvSpPr/>
          <p:nvPr/>
        </p:nvSpPr>
        <p:spPr>
          <a:xfrm>
            <a:off x="4861322" y="1580555"/>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E63946"/>
                </a:solidFill>
                <a:latin typeface="Space Grotesk" pitchFamily="34" charset="0"/>
                <a:ea typeface="Space Grotesk" pitchFamily="34" charset="-122"/>
                <a:cs typeface="Space Grotesk" pitchFamily="34" charset="-120"/>
              </a:rPr>
              <a:t>−</a:t>
            </a:r>
            <a:endParaRPr lang="en-US" sz="936" dirty="0"/>
          </a:p>
        </p:txBody>
      </p:sp>
      <p:sp>
        <p:nvSpPr>
          <p:cNvPr id="21" name="Text 17"/>
          <p:cNvSpPr/>
          <p:nvPr/>
        </p:nvSpPr>
        <p:spPr>
          <a:xfrm>
            <a:off x="5118497" y="1573411"/>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Strict Hardware Requirements</a:t>
            </a:r>
            <a:endParaRPr lang="en-US" sz="936" dirty="0"/>
          </a:p>
        </p:txBody>
      </p:sp>
      <p:sp>
        <p:nvSpPr>
          <p:cNvPr id="22" name="Text 18"/>
          <p:cNvSpPr/>
          <p:nvPr/>
        </p:nvSpPr>
        <p:spPr>
          <a:xfrm>
            <a:off x="5118497" y="1778794"/>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Requires a NIC, motherboard, and BIOS that all explicitly support SR-IOV, plus IOMMU (Intel VT-d or AMD-Vi) enabled in the BIOS. Not all commodity server hardware meets these requirements.</a:t>
            </a:r>
            <a:endParaRPr lang="en-US" sz="969" dirty="0"/>
          </a:p>
        </p:txBody>
      </p:sp>
      <p:sp>
        <p:nvSpPr>
          <p:cNvPr id="23" name="Text 19"/>
          <p:cNvSpPr/>
          <p:nvPr/>
        </p:nvSpPr>
        <p:spPr>
          <a:xfrm>
            <a:off x="4861322" y="2779588"/>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E63946"/>
                </a:solidFill>
                <a:latin typeface="Space Grotesk" pitchFamily="34" charset="0"/>
                <a:ea typeface="Space Grotesk" pitchFamily="34" charset="-122"/>
                <a:cs typeface="Space Grotesk" pitchFamily="34" charset="-120"/>
              </a:rPr>
              <a:t>−</a:t>
            </a:r>
            <a:endParaRPr lang="en-US" sz="936" dirty="0"/>
          </a:p>
        </p:txBody>
      </p:sp>
      <p:sp>
        <p:nvSpPr>
          <p:cNvPr id="24" name="Text 20"/>
          <p:cNvSpPr/>
          <p:nvPr/>
        </p:nvSpPr>
        <p:spPr>
          <a:xfrm>
            <a:off x="5118497" y="2772445"/>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VM Live Migration is Difficult or Restricted</a:t>
            </a:r>
            <a:endParaRPr lang="en-US" sz="936" dirty="0"/>
          </a:p>
        </p:txBody>
      </p:sp>
      <p:sp>
        <p:nvSpPr>
          <p:cNvPr id="25" name="Text 21"/>
          <p:cNvSpPr/>
          <p:nvPr/>
        </p:nvSpPr>
        <p:spPr>
          <a:xfrm>
            <a:off x="5118497" y="2977828"/>
            <a:ext cx="3568303" cy="1090259"/>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A VM holding a VF has a direct hardware reference to a specific physical NIC. Moving the VM to another host requires detaching and reattaching the VF, causing a brief network interruption — incompatible with seamless live migration.</a:t>
            </a:r>
            <a:endParaRPr lang="en-US" sz="969" dirty="0"/>
          </a:p>
        </p:txBody>
      </p:sp>
      <p:sp>
        <p:nvSpPr>
          <p:cNvPr id="26" name="Text 22"/>
          <p:cNvSpPr/>
          <p:nvPr/>
        </p:nvSpPr>
        <p:spPr>
          <a:xfrm>
            <a:off x="4861322" y="4196674"/>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E63946"/>
                </a:solidFill>
                <a:latin typeface="Space Grotesk" pitchFamily="34" charset="0"/>
                <a:ea typeface="Space Grotesk" pitchFamily="34" charset="-122"/>
                <a:cs typeface="Space Grotesk" pitchFamily="34" charset="-120"/>
              </a:rPr>
              <a:t>−</a:t>
            </a:r>
            <a:endParaRPr lang="en-US" sz="936" dirty="0"/>
          </a:p>
        </p:txBody>
      </p:sp>
      <p:sp>
        <p:nvSpPr>
          <p:cNvPr id="27" name="Text 23"/>
          <p:cNvSpPr/>
          <p:nvPr/>
        </p:nvSpPr>
        <p:spPr>
          <a:xfrm>
            <a:off x="5118497" y="4189530"/>
            <a:ext cx="3568303"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No vSwitch Features on SR-IOV Paths</a:t>
            </a:r>
            <a:endParaRPr lang="en-US" sz="936" dirty="0"/>
          </a:p>
        </p:txBody>
      </p:sp>
      <p:sp>
        <p:nvSpPr>
          <p:cNvPr id="28" name="Text 24"/>
          <p:cNvSpPr/>
          <p:nvPr/>
        </p:nvSpPr>
        <p:spPr>
          <a:xfrm>
            <a:off x="5118497" y="4394913"/>
            <a:ext cx="3568303" cy="654155"/>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Security groups, ACLs, port mirroring, QoS policies, and traffic monitoring are all unavailable for SR-IOV traffic paths, as there is no software switch in the path to enforce them.</a:t>
            </a:r>
            <a:endParaRPr lang="en-US" sz="969" dirty="0"/>
          </a:p>
        </p:txBody>
      </p:sp>
      <p:sp>
        <p:nvSpPr>
          <p:cNvPr id="29" name="Text 25"/>
          <p:cNvSpPr/>
          <p:nvPr/>
        </p:nvSpPr>
        <p:spPr>
          <a:xfrm>
            <a:off x="4861322" y="5177656"/>
            <a:ext cx="157163"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E63946"/>
                </a:solidFill>
                <a:latin typeface="Space Grotesk" pitchFamily="34" charset="0"/>
                <a:ea typeface="Space Grotesk" pitchFamily="34" charset="-122"/>
                <a:cs typeface="Space Grotesk" pitchFamily="34" charset="-120"/>
              </a:rPr>
              <a:t>−</a:t>
            </a:r>
            <a:endParaRPr lang="en-US" sz="936" dirty="0"/>
          </a:p>
        </p:txBody>
      </p:sp>
      <p:sp>
        <p:nvSpPr>
          <p:cNvPr id="30" name="Text 26"/>
          <p:cNvSpPr/>
          <p:nvPr/>
        </p:nvSpPr>
        <p:spPr>
          <a:xfrm>
            <a:off x="5118497" y="5170512"/>
            <a:ext cx="3568303"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VM-to-VM Traffic on Same Host Requires External Switch</a:t>
            </a:r>
            <a:endParaRPr lang="en-US" sz="936" dirty="0"/>
          </a:p>
        </p:txBody>
      </p:sp>
      <p:sp>
        <p:nvSpPr>
          <p:cNvPr id="31" name="Text 27"/>
          <p:cNvSpPr/>
          <p:nvPr/>
        </p:nvSpPr>
        <p:spPr>
          <a:xfrm>
            <a:off x="5118497" y="5559847"/>
            <a:ext cx="3568303" cy="872207"/>
          </a:xfrm>
          <a:prstGeom prst="rect">
            <a:avLst/>
          </a:prstGeom>
          <a:noFill/>
          <a:ln/>
        </p:spPr>
        <p:txBody>
          <a:bodyPr wrap="square" lIns="0" tIns="0" rIns="0" bIns="0" rtlCol="0" anchor="t">
            <a:spAutoFit/>
          </a:bodyPr>
          <a:lstStyle/>
          <a:p>
            <a:pPr marL="0" indent="0" algn="l">
              <a:lnSpc>
                <a:spcPts val="1700"/>
              </a:lnSpc>
              <a:buNone/>
            </a:pPr>
            <a:r>
              <a:rPr lang="en-US" sz="969" dirty="0">
                <a:solidFill>
                  <a:srgbClr val="4A4A6A"/>
                </a:solidFill>
                <a:latin typeface="Open Sans" pitchFamily="34" charset="0"/>
                <a:ea typeface="Open Sans" pitchFamily="34" charset="-122"/>
                <a:cs typeface="Open Sans" pitchFamily="34" charset="-120"/>
              </a:rPr>
              <a:t>Without switchdev or hairpin mode, East-West traffic between two SR-IOV VMs on the same host must leave the server, traverse the physical switch, and return — adding latency and consuming uplink bandwidth.</a:t>
            </a:r>
            <a:endParaRPr lang="en-US" sz="969" dirty="0"/>
          </a:p>
        </p:txBody>
      </p:sp>
      <p:sp>
        <p:nvSpPr>
          <p:cNvPr id="32" name="Shape 28"/>
          <p:cNvSpPr/>
          <p:nvPr/>
        </p:nvSpPr>
        <p:spPr>
          <a:xfrm>
            <a:off x="0" y="6496348"/>
            <a:ext cx="9144000" cy="794742"/>
          </a:xfrm>
          <a:prstGeom prst="rect">
            <a:avLst/>
          </a:prstGeom>
          <a:solidFill>
            <a:srgbClr val="1A1A2E"/>
          </a:solidFill>
          <a:ln/>
        </p:spPr>
      </p:sp>
      <p:sp>
        <p:nvSpPr>
          <p:cNvPr id="33" name="Text 29"/>
          <p:cNvSpPr/>
          <p:nvPr/>
        </p:nvSpPr>
        <p:spPr>
          <a:xfrm>
            <a:off x="457200" y="6811566"/>
            <a:ext cx="892969"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45000"/>
                  </a:srgbClr>
                </a:solidFill>
                <a:latin typeface="Space Grotesk" pitchFamily="34" charset="0"/>
                <a:ea typeface="Space Grotesk" pitchFamily="34" charset="-122"/>
                <a:cs typeface="Space Grotesk" pitchFamily="34" charset="-120"/>
              </a:rPr>
              <a:t>KEY INSIGHT</a:t>
            </a:r>
            <a:endParaRPr lang="en-US" sz="942" dirty="0"/>
          </a:p>
        </p:txBody>
      </p:sp>
      <p:sp>
        <p:nvSpPr>
          <p:cNvPr id="34" name="Text 30"/>
          <p:cNvSpPr/>
          <p:nvPr/>
        </p:nvSpPr>
        <p:spPr>
          <a:xfrm>
            <a:off x="1643063" y="6596360"/>
            <a:ext cx="7043738" cy="594717"/>
          </a:xfrm>
          <a:prstGeom prst="rect">
            <a:avLst/>
          </a:prstGeom>
          <a:noFill/>
          <a:ln/>
        </p:spPr>
        <p:txBody>
          <a:bodyPr wrap="square" lIns="0" tIns="0" rIns="0" bIns="0" rtlCol="0" anchor="t">
            <a:spAutoFit/>
          </a:bodyPr>
          <a:lstStyle/>
          <a:p>
            <a:pPr marL="0" indent="0" algn="l">
              <a:lnSpc>
                <a:spcPts val="1600"/>
              </a:lnSpc>
              <a:buNone/>
            </a:pPr>
            <a:r>
              <a:rPr lang="en-US" sz="969" dirty="0">
                <a:solidFill>
                  <a:srgbClr val="FFFFFF">
                    <a:alpha val="82000"/>
                  </a:srgbClr>
                </a:solidFill>
                <a:latin typeface="Open Sans" pitchFamily="34" charset="0"/>
                <a:ea typeface="Open Sans" pitchFamily="34" charset="-122"/>
                <a:cs typeface="Open Sans" pitchFamily="34" charset="-120"/>
              </a:rPr>
              <a:t>SR-IOV is the right choice when North-South throughput and latency are the primary concern and VM live migration is not a hard operational requirement. Combining SR-IOV with DPDK inside the VM eliminates both the hypervisor and guest kernel overhead simultaneously.</a:t>
            </a:r>
            <a:endParaRPr lang="en-US" sz="969" dirty="0"/>
          </a:p>
        </p:txBody>
      </p:sp>
      <p:sp>
        <p:nvSpPr>
          <p:cNvPr id="35" name="Shape 31"/>
          <p:cNvSpPr/>
          <p:nvPr/>
        </p:nvSpPr>
        <p:spPr>
          <a:xfrm>
            <a:off x="0" y="7291090"/>
            <a:ext cx="9144000" cy="257175"/>
          </a:xfrm>
          <a:prstGeom prst="rect">
            <a:avLst/>
          </a:prstGeom>
          <a:solidFill>
            <a:srgbClr val="000000">
              <a:alpha val="0"/>
            </a:srgbClr>
          </a:solidFill>
          <a:ln/>
        </p:spPr>
      </p:sp>
      <p:sp>
        <p:nvSpPr>
          <p:cNvPr id="36" name="Shape 32"/>
          <p:cNvSpPr/>
          <p:nvPr/>
        </p:nvSpPr>
        <p:spPr>
          <a:xfrm>
            <a:off x="0" y="7291090"/>
            <a:ext cx="9144000" cy="7144"/>
          </a:xfrm>
          <a:prstGeom prst="rect">
            <a:avLst/>
          </a:prstGeom>
          <a:solidFill>
            <a:srgbClr val="EBEBF0"/>
          </a:solidFill>
          <a:ln/>
        </p:spPr>
      </p:sp>
      <p:sp>
        <p:nvSpPr>
          <p:cNvPr id="37" name="Text 33"/>
          <p:cNvSpPr/>
          <p:nvPr/>
        </p:nvSpPr>
        <p:spPr>
          <a:xfrm>
            <a:off x="457200" y="7333059"/>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38" name="Text 34"/>
          <p:cNvSpPr/>
          <p:nvPr/>
        </p:nvSpPr>
        <p:spPr>
          <a:xfrm>
            <a:off x="8263533" y="7333059"/>
            <a:ext cx="42326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07 / 15</a:t>
            </a:r>
            <a:endParaRPr lang="en-US" sz="996"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5613-5587-E695-23BA-F4993DF9E50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C912CE-FAD7-5805-E9A7-502ADF537858}"/>
              </a:ext>
            </a:extLst>
          </p:cNvPr>
          <p:cNvSpPr>
            <a:spLocks noGrp="1"/>
          </p:cNvSpPr>
          <p:nvPr>
            <p:ph type="sldNum" sz="quarter" idx="10"/>
          </p:nvPr>
        </p:nvSpPr>
        <p:spPr/>
        <p:txBody>
          <a:bodyPr/>
          <a:lstStyle/>
          <a:p>
            <a:fld id="{1C0FA7A3-0FBF-4EC3-BE45-825983E95E58}" type="slidenum">
              <a:rPr lang="en-US" smtClean="0"/>
              <a:pPr/>
              <a:t>14</a:t>
            </a:fld>
            <a:endParaRPr lang="en-US" dirty="0"/>
          </a:p>
        </p:txBody>
      </p:sp>
      <p:sp>
        <p:nvSpPr>
          <p:cNvPr id="8" name="TextBox 7">
            <a:extLst>
              <a:ext uri="{FF2B5EF4-FFF2-40B4-BE49-F238E27FC236}">
                <a16:creationId xmlns:a16="http://schemas.microsoft.com/office/drawing/2014/main" id="{4F4B684A-EE88-4644-280C-90FE3789F7F7}"/>
              </a:ext>
            </a:extLst>
          </p:cNvPr>
          <p:cNvSpPr txBox="1"/>
          <p:nvPr/>
        </p:nvSpPr>
        <p:spPr>
          <a:xfrm>
            <a:off x="499589" y="526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
        <p:nvSpPr>
          <p:cNvPr id="5" name="Content Placeholder 4">
            <a:extLst>
              <a:ext uri="{FF2B5EF4-FFF2-40B4-BE49-F238E27FC236}">
                <a16:creationId xmlns:a16="http://schemas.microsoft.com/office/drawing/2014/main" id="{FFDBFF1B-8215-A744-D277-AB635435499D}"/>
              </a:ext>
            </a:extLst>
          </p:cNvPr>
          <p:cNvSpPr>
            <a:spLocks noGrp="1"/>
          </p:cNvSpPr>
          <p:nvPr>
            <p:ph idx="1"/>
          </p:nvPr>
        </p:nvSpPr>
        <p:spPr/>
        <p:txBody>
          <a:bodyPr/>
          <a:lstStyle/>
          <a:p>
            <a:endParaRPr lang="en-US"/>
          </a:p>
        </p:txBody>
      </p:sp>
      <p:pic>
        <p:nvPicPr>
          <p:cNvPr id="6" name="Image 0" descr="preencoded.png">
            <a:extLst>
              <a:ext uri="{FF2B5EF4-FFF2-40B4-BE49-F238E27FC236}">
                <a16:creationId xmlns:a16="http://schemas.microsoft.com/office/drawing/2014/main" id="{C5561356-14B5-B06A-3454-D85FCD8DF30E}"/>
              </a:ext>
            </a:extLst>
          </p:cNvPr>
          <p:cNvPicPr>
            <a:picLocks noChangeAspect="1"/>
          </p:cNvPicPr>
          <p:nvPr/>
        </p:nvPicPr>
        <p:blipFill>
          <a:blip r:embed="rId2"/>
          <a:stretch>
            <a:fillRect/>
          </a:stretch>
        </p:blipFill>
        <p:spPr>
          <a:xfrm>
            <a:off x="139279" y="-72668"/>
            <a:ext cx="9144000" cy="7283416"/>
          </a:xfrm>
          <a:prstGeom prst="rect">
            <a:avLst/>
          </a:prstGeom>
        </p:spPr>
      </p:pic>
      <p:sp>
        <p:nvSpPr>
          <p:cNvPr id="9" name="TextBox 8">
            <a:extLst>
              <a:ext uri="{FF2B5EF4-FFF2-40B4-BE49-F238E27FC236}">
                <a16:creationId xmlns:a16="http://schemas.microsoft.com/office/drawing/2014/main" id="{297427F0-E156-0762-ACAC-6A629A21286D}"/>
              </a:ext>
            </a:extLst>
          </p:cNvPr>
          <p:cNvSpPr txBox="1"/>
          <p:nvPr/>
        </p:nvSpPr>
        <p:spPr>
          <a:xfrm>
            <a:off x="965873" y="952694"/>
            <a:ext cx="7121925" cy="280076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The </a:t>
            </a:r>
            <a:r>
              <a:rPr lang="en-US" sz="1600" b="1" dirty="0">
                <a:latin typeface="Open Sans" panose="020B0606030504020204" pitchFamily="34" charset="0"/>
                <a:ea typeface="Open Sans" panose="020B0606030504020204" pitchFamily="34" charset="0"/>
                <a:cs typeface="Open Sans" panose="020B0606030504020204" pitchFamily="34" charset="0"/>
              </a:rPr>
              <a:t>Data Plane Development Kit</a:t>
            </a: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b="1" dirty="0">
                <a:latin typeface="Open Sans" panose="020B0606030504020204" pitchFamily="34" charset="0"/>
                <a:ea typeface="Open Sans" panose="020B0606030504020204" pitchFamily="34" charset="0"/>
                <a:cs typeface="Open Sans" panose="020B0606030504020204" pitchFamily="34" charset="0"/>
              </a:rPr>
              <a:t>DPDK</a:t>
            </a:r>
            <a:r>
              <a:rPr lang="en-US" sz="1600" dirty="0">
                <a:latin typeface="Open Sans" panose="020B0606030504020204" pitchFamily="34" charset="0"/>
                <a:ea typeface="Open Sans" panose="020B0606030504020204" pitchFamily="34" charset="0"/>
                <a:cs typeface="Open Sans" panose="020B0606030504020204" pitchFamily="34" charset="0"/>
              </a:rPr>
              <a:t>) is an open-source software project managed by the Linux Foundation</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 It provides a set of data plane libraries and network interface controller polling-mode drivers for offloading packet processing from the operating system kernel to processes running in user space. </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This offloading achieves higher computing efficiency and higher packet throughput than is possible using the interrupt-driven processing provided in the kernel.</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DPDK provides a programming framework for x86, ARM, and PowerPC processors and enables faster development of high-speed data packet networking applications.</a:t>
            </a:r>
          </a:p>
        </p:txBody>
      </p:sp>
      <p:sp>
        <p:nvSpPr>
          <p:cNvPr id="10" name="TextBox 9">
            <a:extLst>
              <a:ext uri="{FF2B5EF4-FFF2-40B4-BE49-F238E27FC236}">
                <a16:creationId xmlns:a16="http://schemas.microsoft.com/office/drawing/2014/main" id="{46229828-631B-7AD7-2E7C-508126D788F7}"/>
              </a:ext>
            </a:extLst>
          </p:cNvPr>
          <p:cNvSpPr txBox="1"/>
          <p:nvPr/>
        </p:nvSpPr>
        <p:spPr>
          <a:xfrm>
            <a:off x="651989" y="2050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Tree>
    <p:extLst>
      <p:ext uri="{BB962C8B-B14F-4D97-AF65-F5344CB8AC3E}">
        <p14:creationId xmlns:p14="http://schemas.microsoft.com/office/powerpoint/2010/main" val="84540152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FB44C-41D1-8FB2-2EE9-EEF91F46AC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E55934-72A0-F895-A7BC-7494443E51BF}"/>
              </a:ext>
            </a:extLst>
          </p:cNvPr>
          <p:cNvSpPr>
            <a:spLocks noGrp="1"/>
          </p:cNvSpPr>
          <p:nvPr>
            <p:ph type="sldNum" sz="quarter" idx="10"/>
          </p:nvPr>
        </p:nvSpPr>
        <p:spPr/>
        <p:txBody>
          <a:bodyPr/>
          <a:lstStyle/>
          <a:p>
            <a:fld id="{1C0FA7A3-0FBF-4EC3-BE45-825983E95E58}" type="slidenum">
              <a:rPr lang="en-US" smtClean="0"/>
              <a:pPr/>
              <a:t>15</a:t>
            </a:fld>
            <a:endParaRPr lang="en-US" dirty="0"/>
          </a:p>
        </p:txBody>
      </p:sp>
      <p:sp>
        <p:nvSpPr>
          <p:cNvPr id="8" name="TextBox 7">
            <a:extLst>
              <a:ext uri="{FF2B5EF4-FFF2-40B4-BE49-F238E27FC236}">
                <a16:creationId xmlns:a16="http://schemas.microsoft.com/office/drawing/2014/main" id="{31E5EEEB-59B3-84F9-F35E-47BBE60E0AB9}"/>
              </a:ext>
            </a:extLst>
          </p:cNvPr>
          <p:cNvSpPr txBox="1"/>
          <p:nvPr/>
        </p:nvSpPr>
        <p:spPr>
          <a:xfrm>
            <a:off x="499589" y="526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
        <p:nvSpPr>
          <p:cNvPr id="5" name="Content Placeholder 4">
            <a:extLst>
              <a:ext uri="{FF2B5EF4-FFF2-40B4-BE49-F238E27FC236}">
                <a16:creationId xmlns:a16="http://schemas.microsoft.com/office/drawing/2014/main" id="{60F7BFFB-CA20-FCAD-9E15-539FEE8556E9}"/>
              </a:ext>
            </a:extLst>
          </p:cNvPr>
          <p:cNvSpPr>
            <a:spLocks noGrp="1"/>
          </p:cNvSpPr>
          <p:nvPr>
            <p:ph idx="1"/>
          </p:nvPr>
        </p:nvSpPr>
        <p:spPr/>
        <p:txBody>
          <a:bodyPr/>
          <a:lstStyle/>
          <a:p>
            <a:endParaRPr lang="en-US"/>
          </a:p>
        </p:txBody>
      </p:sp>
      <p:pic>
        <p:nvPicPr>
          <p:cNvPr id="6" name="Image 0" descr="preencoded.png">
            <a:extLst>
              <a:ext uri="{FF2B5EF4-FFF2-40B4-BE49-F238E27FC236}">
                <a16:creationId xmlns:a16="http://schemas.microsoft.com/office/drawing/2014/main" id="{C5A35FCD-1B70-9341-C286-E5FB4A4449A7}"/>
              </a:ext>
            </a:extLst>
          </p:cNvPr>
          <p:cNvPicPr>
            <a:picLocks noChangeAspect="1"/>
          </p:cNvPicPr>
          <p:nvPr/>
        </p:nvPicPr>
        <p:blipFill>
          <a:blip r:embed="rId2"/>
          <a:stretch>
            <a:fillRect/>
          </a:stretch>
        </p:blipFill>
        <p:spPr>
          <a:xfrm>
            <a:off x="139279" y="-72668"/>
            <a:ext cx="9144000" cy="7283416"/>
          </a:xfrm>
          <a:prstGeom prst="rect">
            <a:avLst/>
          </a:prstGeom>
        </p:spPr>
      </p:pic>
      <p:sp>
        <p:nvSpPr>
          <p:cNvPr id="9" name="TextBox 8">
            <a:extLst>
              <a:ext uri="{FF2B5EF4-FFF2-40B4-BE49-F238E27FC236}">
                <a16:creationId xmlns:a16="http://schemas.microsoft.com/office/drawing/2014/main" id="{C79E05D4-F66E-73AF-78F1-B7B5A6436CC3}"/>
              </a:ext>
            </a:extLst>
          </p:cNvPr>
          <p:cNvSpPr txBox="1"/>
          <p:nvPr/>
        </p:nvSpPr>
        <p:spPr>
          <a:xfrm>
            <a:off x="965873" y="952694"/>
            <a:ext cx="7121925" cy="255454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In order to understand DPDK , we should know how Linux handles the networking part.</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By default Linux uses kernel to process packets, this puts pressure on kernel to process packets faster as the NICs (Network Interface Card) speeds are increasing at fast.</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There have been many techniques to bypass kernel to achieve packet efficiency. </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This involves processing packets in the </a:t>
            </a:r>
            <a:r>
              <a:rPr lang="en-US" sz="1600" dirty="0" err="1">
                <a:latin typeface="Open Sans" panose="020B0606030504020204" pitchFamily="34" charset="0"/>
                <a:ea typeface="Open Sans" panose="020B0606030504020204" pitchFamily="34" charset="0"/>
                <a:cs typeface="Open Sans" panose="020B0606030504020204" pitchFamily="34" charset="0"/>
              </a:rPr>
              <a:t>userspace</a:t>
            </a:r>
            <a:r>
              <a:rPr lang="en-US" sz="1600" dirty="0">
                <a:latin typeface="Open Sans" panose="020B0606030504020204" pitchFamily="34" charset="0"/>
                <a:ea typeface="Open Sans" panose="020B0606030504020204" pitchFamily="34" charset="0"/>
                <a:cs typeface="Open Sans" panose="020B0606030504020204" pitchFamily="34" charset="0"/>
              </a:rPr>
              <a:t> instead of kernel space. </a:t>
            </a:r>
          </a:p>
          <a:p>
            <a:pPr marL="285750" indent="-285750">
              <a:buFont typeface="Arial" panose="020B0604020202020204" pitchFamily="34" charset="0"/>
              <a:buChar char="•"/>
            </a:pPr>
            <a:r>
              <a:rPr lang="en-US" sz="1600" dirty="0">
                <a:latin typeface="Open Sans" panose="020B0606030504020204" pitchFamily="34" charset="0"/>
                <a:ea typeface="Open Sans" panose="020B0606030504020204" pitchFamily="34" charset="0"/>
                <a:cs typeface="Open Sans" panose="020B0606030504020204" pitchFamily="34" charset="0"/>
              </a:rPr>
              <a:t>DPDK is one such technology.</a:t>
            </a:r>
          </a:p>
        </p:txBody>
      </p:sp>
      <p:sp>
        <p:nvSpPr>
          <p:cNvPr id="10" name="TextBox 9">
            <a:extLst>
              <a:ext uri="{FF2B5EF4-FFF2-40B4-BE49-F238E27FC236}">
                <a16:creationId xmlns:a16="http://schemas.microsoft.com/office/drawing/2014/main" id="{5695854C-692D-3668-56AA-97102BF8D4FE}"/>
              </a:ext>
            </a:extLst>
          </p:cNvPr>
          <p:cNvSpPr txBox="1"/>
          <p:nvPr/>
        </p:nvSpPr>
        <p:spPr>
          <a:xfrm>
            <a:off x="651989" y="2050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Tree>
    <p:extLst>
      <p:ext uri="{BB962C8B-B14F-4D97-AF65-F5344CB8AC3E}">
        <p14:creationId xmlns:p14="http://schemas.microsoft.com/office/powerpoint/2010/main" val="73044720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55043-468E-69C6-3D08-E082A707A5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D4DCFB-5FAD-18C3-5BBC-14850CC4F0A4}"/>
              </a:ext>
            </a:extLst>
          </p:cNvPr>
          <p:cNvSpPr>
            <a:spLocks noGrp="1"/>
          </p:cNvSpPr>
          <p:nvPr>
            <p:ph type="sldNum" sz="quarter" idx="10"/>
          </p:nvPr>
        </p:nvSpPr>
        <p:spPr/>
        <p:txBody>
          <a:bodyPr/>
          <a:lstStyle/>
          <a:p>
            <a:fld id="{1C0FA7A3-0FBF-4EC3-BE45-825983E95E58}" type="slidenum">
              <a:rPr lang="en-US" smtClean="0"/>
              <a:pPr/>
              <a:t>16</a:t>
            </a:fld>
            <a:endParaRPr lang="en-US" dirty="0"/>
          </a:p>
        </p:txBody>
      </p:sp>
      <p:sp>
        <p:nvSpPr>
          <p:cNvPr id="8" name="TextBox 7">
            <a:extLst>
              <a:ext uri="{FF2B5EF4-FFF2-40B4-BE49-F238E27FC236}">
                <a16:creationId xmlns:a16="http://schemas.microsoft.com/office/drawing/2014/main" id="{48AE70DD-03AB-5386-9723-E97498E4C31E}"/>
              </a:ext>
            </a:extLst>
          </p:cNvPr>
          <p:cNvSpPr txBox="1"/>
          <p:nvPr/>
        </p:nvSpPr>
        <p:spPr>
          <a:xfrm>
            <a:off x="499589" y="526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
        <p:nvSpPr>
          <p:cNvPr id="5" name="Content Placeholder 4">
            <a:extLst>
              <a:ext uri="{FF2B5EF4-FFF2-40B4-BE49-F238E27FC236}">
                <a16:creationId xmlns:a16="http://schemas.microsoft.com/office/drawing/2014/main" id="{C88C0A90-E4F6-8C47-5B22-755198EC67F6}"/>
              </a:ext>
            </a:extLst>
          </p:cNvPr>
          <p:cNvSpPr>
            <a:spLocks noGrp="1"/>
          </p:cNvSpPr>
          <p:nvPr>
            <p:ph idx="1"/>
          </p:nvPr>
        </p:nvSpPr>
        <p:spPr/>
        <p:txBody>
          <a:bodyPr/>
          <a:lstStyle/>
          <a:p>
            <a:endParaRPr lang="en-US"/>
          </a:p>
        </p:txBody>
      </p:sp>
      <p:pic>
        <p:nvPicPr>
          <p:cNvPr id="6" name="Image 0" descr="preencoded.png">
            <a:extLst>
              <a:ext uri="{FF2B5EF4-FFF2-40B4-BE49-F238E27FC236}">
                <a16:creationId xmlns:a16="http://schemas.microsoft.com/office/drawing/2014/main" id="{D39FA354-AFCF-0A4E-0BC0-143C39B9F7EE}"/>
              </a:ext>
            </a:extLst>
          </p:cNvPr>
          <p:cNvPicPr>
            <a:picLocks noChangeAspect="1"/>
          </p:cNvPicPr>
          <p:nvPr/>
        </p:nvPicPr>
        <p:blipFill>
          <a:blip r:embed="rId2"/>
          <a:stretch>
            <a:fillRect/>
          </a:stretch>
        </p:blipFill>
        <p:spPr>
          <a:xfrm>
            <a:off x="139279" y="-72668"/>
            <a:ext cx="9144000" cy="7283416"/>
          </a:xfrm>
          <a:prstGeom prst="rect">
            <a:avLst/>
          </a:prstGeom>
        </p:spPr>
      </p:pic>
      <p:sp>
        <p:nvSpPr>
          <p:cNvPr id="9" name="TextBox 8">
            <a:extLst>
              <a:ext uri="{FF2B5EF4-FFF2-40B4-BE49-F238E27FC236}">
                <a16:creationId xmlns:a16="http://schemas.microsoft.com/office/drawing/2014/main" id="{6A5BE50A-D779-4EFC-69F3-73038908AE01}"/>
              </a:ext>
            </a:extLst>
          </p:cNvPr>
          <p:cNvSpPr txBox="1"/>
          <p:nvPr/>
        </p:nvSpPr>
        <p:spPr>
          <a:xfrm>
            <a:off x="965873" y="1007194"/>
            <a:ext cx="7121925" cy="2062103"/>
          </a:xfrm>
          <a:prstGeom prst="rect">
            <a:avLst/>
          </a:prstGeom>
          <a:noFill/>
        </p:spPr>
        <p:txBody>
          <a:bodyPr wrap="square">
            <a:spAutoFit/>
          </a:bodyPr>
          <a:lstStyle/>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User space versus kernel space in Linux?</a:t>
            </a:r>
          </a:p>
          <a:p>
            <a:pPr>
              <a:buFont typeface="Arial" panose="020B0604020202020204" pitchFamily="34" charset="0"/>
              <a:buChar char="•"/>
            </a:pPr>
            <a:r>
              <a:rPr lang="en-US" sz="1600" b="1" dirty="0">
                <a:latin typeface="Open Sans" panose="020B0606030504020204" pitchFamily="34" charset="0"/>
                <a:ea typeface="Open Sans" panose="020B0606030504020204" pitchFamily="34" charset="0"/>
                <a:cs typeface="Open Sans" panose="020B0606030504020204" pitchFamily="34" charset="0"/>
              </a:rPr>
              <a:t>Kernel space</a:t>
            </a:r>
            <a:r>
              <a:rPr lang="en-US" sz="1600" dirty="0">
                <a:latin typeface="Open Sans" panose="020B0606030504020204" pitchFamily="34" charset="0"/>
                <a:ea typeface="Open Sans" panose="020B0606030504020204" pitchFamily="34" charset="0"/>
                <a:cs typeface="Open Sans" panose="020B0606030504020204" pitchFamily="34" charset="0"/>
              </a:rPr>
              <a:t> is where the kernel (i.e., the core of the operating system) runs and provides its </a:t>
            </a:r>
            <a:r>
              <a:rPr lang="en-US" sz="1600" i="1" dirty="0">
                <a:latin typeface="Open Sans" panose="020B0606030504020204" pitchFamily="34" charset="0"/>
                <a:ea typeface="Open Sans" panose="020B0606030504020204" pitchFamily="34" charset="0"/>
                <a:cs typeface="Open Sans" panose="020B0606030504020204" pitchFamily="34" charset="0"/>
              </a:rPr>
              <a:t>services.</a:t>
            </a:r>
            <a:r>
              <a:rPr lang="en-US" sz="1600" dirty="0">
                <a:latin typeface="Open Sans" panose="020B0606030504020204" pitchFamily="34" charset="0"/>
                <a:ea typeface="Open Sans" panose="020B0606030504020204" pitchFamily="34" charset="0"/>
                <a:cs typeface="Open Sans" panose="020B0606030504020204" pitchFamily="34" charset="0"/>
              </a:rPr>
              <a:t>  It sets things up so separate user processes see and manipulate only their own memory space.</a:t>
            </a:r>
          </a:p>
          <a:p>
            <a:pPr>
              <a:buFont typeface="Arial" panose="020B0604020202020204" pitchFamily="34" charset="0"/>
              <a:buChar char="•"/>
            </a:pPr>
            <a:r>
              <a:rPr lang="en-US" sz="1600" b="1" i="1" dirty="0">
                <a:latin typeface="Open Sans" panose="020B0606030504020204" pitchFamily="34" charset="0"/>
                <a:ea typeface="Open Sans" panose="020B0606030504020204" pitchFamily="34" charset="0"/>
                <a:cs typeface="Open Sans" panose="020B0606030504020204" pitchFamily="34" charset="0"/>
              </a:rPr>
              <a:t>User space</a:t>
            </a:r>
            <a:r>
              <a:rPr lang="en-US" sz="1600" dirty="0">
                <a:latin typeface="Open Sans" panose="020B0606030504020204" pitchFamily="34" charset="0"/>
                <a:ea typeface="Open Sans" panose="020B0606030504020204" pitchFamily="34" charset="0"/>
                <a:cs typeface="Open Sans" panose="020B0606030504020204" pitchFamily="34" charset="0"/>
              </a:rPr>
              <a:t> is that portion of system memory in which </a:t>
            </a:r>
            <a:r>
              <a:rPr lang="en-US" sz="1600" i="1" dirty="0">
                <a:latin typeface="Open Sans" panose="020B0606030504020204" pitchFamily="34" charset="0"/>
                <a:ea typeface="Open Sans" panose="020B0606030504020204" pitchFamily="34" charset="0"/>
                <a:cs typeface="Open Sans" panose="020B0606030504020204" pitchFamily="34" charset="0"/>
              </a:rPr>
              <a:t>user processes</a:t>
            </a:r>
            <a:r>
              <a:rPr lang="en-US" sz="1600" dirty="0">
                <a:latin typeface="Open Sans" panose="020B0606030504020204" pitchFamily="34" charset="0"/>
                <a:ea typeface="Open Sans" panose="020B0606030504020204" pitchFamily="34" charset="0"/>
                <a:cs typeface="Open Sans" panose="020B0606030504020204" pitchFamily="34" charset="0"/>
              </a:rPr>
              <a:t> run . Kernel space can be accessed by user processes only through the use of </a:t>
            </a:r>
            <a:r>
              <a:rPr lang="en-US" sz="1600" i="1" dirty="0">
                <a:latin typeface="Open Sans" panose="020B0606030504020204" pitchFamily="34" charset="0"/>
                <a:ea typeface="Open Sans" panose="020B0606030504020204" pitchFamily="34" charset="0"/>
                <a:cs typeface="Open Sans" panose="020B0606030504020204" pitchFamily="34" charset="0"/>
              </a:rPr>
              <a:t>system calls</a:t>
            </a:r>
            <a:r>
              <a:rPr lang="en-US" sz="1600" dirty="0">
                <a:latin typeface="Open Sans" panose="020B0606030504020204" pitchFamily="34" charset="0"/>
                <a:ea typeface="Open Sans" panose="020B0606030504020204" pitchFamily="34" charset="0"/>
                <a:cs typeface="Open Sans" panose="020B0606030504020204" pitchFamily="34" charset="0"/>
              </a:rPr>
              <a:t>.</a:t>
            </a:r>
          </a:p>
          <a:p>
            <a:pPr marL="285750" indent="-285750">
              <a:buFont typeface="Arial" panose="020B0604020202020204" pitchFamily="34" charset="0"/>
              <a:buChar char="•"/>
            </a:pP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F58428A1-BB9E-C616-8DA0-B5C35BB4AEDC}"/>
              </a:ext>
            </a:extLst>
          </p:cNvPr>
          <p:cNvSpPr txBox="1"/>
          <p:nvPr/>
        </p:nvSpPr>
        <p:spPr>
          <a:xfrm>
            <a:off x="651989" y="2050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Tree>
    <p:extLst>
      <p:ext uri="{BB962C8B-B14F-4D97-AF65-F5344CB8AC3E}">
        <p14:creationId xmlns:p14="http://schemas.microsoft.com/office/powerpoint/2010/main" val="253845036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314450" y="22861"/>
            <a:ext cx="6686550" cy="422672"/>
          </a:xfrm>
        </p:spPr>
        <p:txBody>
          <a:bodyPr/>
          <a:lstStyle/>
          <a:p>
            <a:r>
              <a:rPr lang="en-US" dirty="0">
                <a:effectLst/>
              </a:rPr>
              <a:t>Data Plane Development Kit (DPDK)</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17</a:t>
            </a:fld>
            <a:endParaRPr lang="en-US" dirty="0"/>
          </a:p>
        </p:txBody>
      </p:sp>
      <p:pic>
        <p:nvPicPr>
          <p:cNvPr id="1034" name="Picture 10" descr="Intel® DPDK Performance on the SAU5081I Server – Accton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306" y="718589"/>
            <a:ext cx="6243794"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7649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533C8-9261-9291-D303-BB462172C3A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72ED00-7BC1-0944-B182-AF959CF4DFEC}"/>
              </a:ext>
            </a:extLst>
          </p:cNvPr>
          <p:cNvSpPr>
            <a:spLocks noGrp="1"/>
          </p:cNvSpPr>
          <p:nvPr>
            <p:ph type="sldNum" sz="quarter" idx="10"/>
          </p:nvPr>
        </p:nvSpPr>
        <p:spPr/>
        <p:txBody>
          <a:bodyPr/>
          <a:lstStyle/>
          <a:p>
            <a:fld id="{1C0FA7A3-0FBF-4EC3-BE45-825983E95E58}" type="slidenum">
              <a:rPr lang="en-US" smtClean="0"/>
              <a:pPr/>
              <a:t>18</a:t>
            </a:fld>
            <a:endParaRPr lang="en-US" dirty="0"/>
          </a:p>
        </p:txBody>
      </p:sp>
      <p:sp>
        <p:nvSpPr>
          <p:cNvPr id="8" name="TextBox 7">
            <a:extLst>
              <a:ext uri="{FF2B5EF4-FFF2-40B4-BE49-F238E27FC236}">
                <a16:creationId xmlns:a16="http://schemas.microsoft.com/office/drawing/2014/main" id="{998F1B01-DD24-DACB-11CC-5826E942A904}"/>
              </a:ext>
            </a:extLst>
          </p:cNvPr>
          <p:cNvSpPr txBox="1"/>
          <p:nvPr/>
        </p:nvSpPr>
        <p:spPr>
          <a:xfrm>
            <a:off x="499589" y="526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
        <p:nvSpPr>
          <p:cNvPr id="5" name="Content Placeholder 4">
            <a:extLst>
              <a:ext uri="{FF2B5EF4-FFF2-40B4-BE49-F238E27FC236}">
                <a16:creationId xmlns:a16="http://schemas.microsoft.com/office/drawing/2014/main" id="{BCBE7D1C-F0DA-72B7-EB46-5F9E80AFACD7}"/>
              </a:ext>
            </a:extLst>
          </p:cNvPr>
          <p:cNvSpPr>
            <a:spLocks noGrp="1"/>
          </p:cNvSpPr>
          <p:nvPr>
            <p:ph idx="1"/>
          </p:nvPr>
        </p:nvSpPr>
        <p:spPr/>
        <p:txBody>
          <a:bodyPr/>
          <a:lstStyle/>
          <a:p>
            <a:endParaRPr lang="en-US"/>
          </a:p>
        </p:txBody>
      </p:sp>
      <p:pic>
        <p:nvPicPr>
          <p:cNvPr id="6" name="Image 0" descr="preencoded.png">
            <a:extLst>
              <a:ext uri="{FF2B5EF4-FFF2-40B4-BE49-F238E27FC236}">
                <a16:creationId xmlns:a16="http://schemas.microsoft.com/office/drawing/2014/main" id="{940F0E5E-C7EF-B3EE-B0D9-7CC3EAB5228C}"/>
              </a:ext>
            </a:extLst>
          </p:cNvPr>
          <p:cNvPicPr>
            <a:picLocks noChangeAspect="1"/>
          </p:cNvPicPr>
          <p:nvPr/>
        </p:nvPicPr>
        <p:blipFill>
          <a:blip r:embed="rId2"/>
          <a:stretch>
            <a:fillRect/>
          </a:stretch>
        </p:blipFill>
        <p:spPr>
          <a:xfrm>
            <a:off x="139279" y="-72668"/>
            <a:ext cx="9144000" cy="7283416"/>
          </a:xfrm>
          <a:prstGeom prst="rect">
            <a:avLst/>
          </a:prstGeom>
        </p:spPr>
      </p:pic>
      <p:sp>
        <p:nvSpPr>
          <p:cNvPr id="9" name="TextBox 8">
            <a:extLst>
              <a:ext uri="{FF2B5EF4-FFF2-40B4-BE49-F238E27FC236}">
                <a16:creationId xmlns:a16="http://schemas.microsoft.com/office/drawing/2014/main" id="{0A9F84EF-FBC3-3638-1C45-FA91C147A1E3}"/>
              </a:ext>
            </a:extLst>
          </p:cNvPr>
          <p:cNvSpPr txBox="1"/>
          <p:nvPr/>
        </p:nvSpPr>
        <p:spPr>
          <a:xfrm>
            <a:off x="965873" y="1007194"/>
            <a:ext cx="7121925" cy="2031325"/>
          </a:xfrm>
          <a:prstGeom prst="rect">
            <a:avLst/>
          </a:prstGeom>
          <a:noFill/>
        </p:spPr>
        <p:txBody>
          <a:bodyPr wrap="square">
            <a:spAutoFit/>
          </a:bodyPr>
          <a:lstStyle/>
          <a:p>
            <a:pPr marL="285750" indent="-285750">
              <a:buFont typeface="Arial" panose="020B0604020202020204" pitchFamily="34" charset="0"/>
              <a:buChar char="•"/>
            </a:pPr>
            <a:r>
              <a:rPr lang="en-US" dirty="0"/>
              <a:t>Without DPDK, packet processing is through the kernel network stack which is interrupt-driven. </a:t>
            </a:r>
          </a:p>
          <a:p>
            <a:pPr marL="285750" indent="-285750">
              <a:buFont typeface="Arial" panose="020B0604020202020204" pitchFamily="34" charset="0"/>
              <a:buChar char="•"/>
            </a:pPr>
            <a:r>
              <a:rPr lang="en-US" dirty="0"/>
              <a:t>Each time NIC receives incoming packets, there is a kernel interrupt to process the packets and a context switch from kernel space to user space.</a:t>
            </a:r>
          </a:p>
          <a:p>
            <a:pPr marL="285750" indent="-285750">
              <a:buFont typeface="Arial" panose="020B0604020202020204" pitchFamily="34" charset="0"/>
              <a:buChar char="•"/>
            </a:pPr>
            <a:r>
              <a:rPr lang="en-US" dirty="0"/>
              <a:t> This creates delay.</a:t>
            </a:r>
          </a:p>
          <a:p>
            <a:pPr marL="285750" indent="-285750">
              <a:buFont typeface="Arial" panose="020B0604020202020204" pitchFamily="34" charset="0"/>
              <a:buChar char="•"/>
            </a:pP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C382E895-6F83-8CE8-3DCC-388ECA698DDA}"/>
              </a:ext>
            </a:extLst>
          </p:cNvPr>
          <p:cNvSpPr txBox="1"/>
          <p:nvPr/>
        </p:nvSpPr>
        <p:spPr>
          <a:xfrm>
            <a:off x="651989" y="2050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Tree>
    <p:extLst>
      <p:ext uri="{BB962C8B-B14F-4D97-AF65-F5344CB8AC3E}">
        <p14:creationId xmlns:p14="http://schemas.microsoft.com/office/powerpoint/2010/main" val="329926467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915D9-F898-6289-6C53-306E3D540E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968D73-3AC9-0545-C2ED-478A85080C8E}"/>
              </a:ext>
            </a:extLst>
          </p:cNvPr>
          <p:cNvSpPr>
            <a:spLocks noGrp="1"/>
          </p:cNvSpPr>
          <p:nvPr>
            <p:ph type="sldNum" sz="quarter" idx="10"/>
          </p:nvPr>
        </p:nvSpPr>
        <p:spPr/>
        <p:txBody>
          <a:bodyPr/>
          <a:lstStyle/>
          <a:p>
            <a:fld id="{1C0FA7A3-0FBF-4EC3-BE45-825983E95E58}" type="slidenum">
              <a:rPr lang="en-US" smtClean="0"/>
              <a:pPr/>
              <a:t>19</a:t>
            </a:fld>
            <a:endParaRPr lang="en-US" dirty="0"/>
          </a:p>
        </p:txBody>
      </p:sp>
      <p:sp>
        <p:nvSpPr>
          <p:cNvPr id="8" name="TextBox 7">
            <a:extLst>
              <a:ext uri="{FF2B5EF4-FFF2-40B4-BE49-F238E27FC236}">
                <a16:creationId xmlns:a16="http://schemas.microsoft.com/office/drawing/2014/main" id="{4EDA40AA-7F5B-191B-EB2E-3421A3A05C47}"/>
              </a:ext>
            </a:extLst>
          </p:cNvPr>
          <p:cNvSpPr txBox="1"/>
          <p:nvPr/>
        </p:nvSpPr>
        <p:spPr>
          <a:xfrm>
            <a:off x="499589" y="526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
        <p:nvSpPr>
          <p:cNvPr id="5" name="Content Placeholder 4">
            <a:extLst>
              <a:ext uri="{FF2B5EF4-FFF2-40B4-BE49-F238E27FC236}">
                <a16:creationId xmlns:a16="http://schemas.microsoft.com/office/drawing/2014/main" id="{514EEF60-41C9-FAF4-307C-C0FDD4D6C867}"/>
              </a:ext>
            </a:extLst>
          </p:cNvPr>
          <p:cNvSpPr>
            <a:spLocks noGrp="1"/>
          </p:cNvSpPr>
          <p:nvPr>
            <p:ph idx="1"/>
          </p:nvPr>
        </p:nvSpPr>
        <p:spPr/>
        <p:txBody>
          <a:bodyPr/>
          <a:lstStyle/>
          <a:p>
            <a:endParaRPr lang="en-US"/>
          </a:p>
        </p:txBody>
      </p:sp>
      <p:pic>
        <p:nvPicPr>
          <p:cNvPr id="6" name="Image 0" descr="preencoded.png">
            <a:extLst>
              <a:ext uri="{FF2B5EF4-FFF2-40B4-BE49-F238E27FC236}">
                <a16:creationId xmlns:a16="http://schemas.microsoft.com/office/drawing/2014/main" id="{35DC5CD0-8620-88A6-A724-F7DDD038015D}"/>
              </a:ext>
            </a:extLst>
          </p:cNvPr>
          <p:cNvPicPr>
            <a:picLocks noChangeAspect="1"/>
          </p:cNvPicPr>
          <p:nvPr/>
        </p:nvPicPr>
        <p:blipFill>
          <a:blip r:embed="rId2"/>
          <a:stretch>
            <a:fillRect/>
          </a:stretch>
        </p:blipFill>
        <p:spPr>
          <a:xfrm>
            <a:off x="139279" y="-72668"/>
            <a:ext cx="9144000" cy="7283416"/>
          </a:xfrm>
          <a:prstGeom prst="rect">
            <a:avLst/>
          </a:prstGeom>
        </p:spPr>
      </p:pic>
      <p:sp>
        <p:nvSpPr>
          <p:cNvPr id="9" name="TextBox 8">
            <a:extLst>
              <a:ext uri="{FF2B5EF4-FFF2-40B4-BE49-F238E27FC236}">
                <a16:creationId xmlns:a16="http://schemas.microsoft.com/office/drawing/2014/main" id="{82865B4C-28D5-AEBB-CF32-5D8D38A36489}"/>
              </a:ext>
            </a:extLst>
          </p:cNvPr>
          <p:cNvSpPr txBox="1"/>
          <p:nvPr/>
        </p:nvSpPr>
        <p:spPr>
          <a:xfrm>
            <a:off x="965873" y="1007194"/>
            <a:ext cx="7121925" cy="2585323"/>
          </a:xfrm>
          <a:prstGeom prst="rect">
            <a:avLst/>
          </a:prstGeom>
          <a:noFill/>
        </p:spPr>
        <p:txBody>
          <a:bodyPr wrap="square">
            <a:spAutoFit/>
          </a:bodyPr>
          <a:lstStyle/>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With the DPDK, there is no need for interrupts, as the processing happens in user space using Poll mode drivers. </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These poll mode drivers can poll data directly from NIC, thus provide fast switching by completely bypassing kernel space. This improves the throughput rate of data.</a:t>
            </a:r>
          </a:p>
          <a:p>
            <a:pPr marL="285750" indent="-285750">
              <a:buFont typeface="Arial" panose="020B0604020202020204" pitchFamily="34" charset="0"/>
              <a:buChar char="•"/>
            </a:pPr>
            <a:r>
              <a:rPr lang="en-US" dirty="0">
                <a:latin typeface="Open Sans" panose="020B0606030504020204" pitchFamily="34" charset="0"/>
                <a:ea typeface="Open Sans" panose="020B0606030504020204" pitchFamily="34" charset="0"/>
                <a:cs typeface="Open Sans" panose="020B0606030504020204" pitchFamily="34" charset="0"/>
              </a:rPr>
              <a:t>Now after we know the basics of how Linux networking stack works and what is the role of DPDK, we turn our attention on how OVS (Open </a:t>
            </a:r>
            <a:r>
              <a:rPr lang="en-US" dirty="0" err="1">
                <a:latin typeface="Open Sans" panose="020B0606030504020204" pitchFamily="34" charset="0"/>
                <a:ea typeface="Open Sans" panose="020B0606030504020204" pitchFamily="34" charset="0"/>
                <a:cs typeface="Open Sans" panose="020B0606030504020204" pitchFamily="34" charset="0"/>
              </a:rPr>
              <a:t>vSwitch</a:t>
            </a:r>
            <a:r>
              <a:rPr lang="en-US" dirty="0">
                <a:latin typeface="Open Sans" panose="020B0606030504020204" pitchFamily="34" charset="0"/>
                <a:ea typeface="Open Sans" panose="020B0606030504020204" pitchFamily="34" charset="0"/>
                <a:cs typeface="Open Sans" panose="020B0606030504020204" pitchFamily="34" charset="0"/>
              </a:rPr>
              <a:t> ) works with and without DPDK.</a:t>
            </a:r>
          </a:p>
          <a:p>
            <a:pPr marL="285750" indent="-285750">
              <a:buFont typeface="Arial" panose="020B0604020202020204" pitchFamily="34" charset="0"/>
              <a:buChar char="•"/>
            </a:pPr>
            <a:endParaRPr 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Box 9">
            <a:extLst>
              <a:ext uri="{FF2B5EF4-FFF2-40B4-BE49-F238E27FC236}">
                <a16:creationId xmlns:a16="http://schemas.microsoft.com/office/drawing/2014/main" id="{D0A1786D-77C3-616B-4113-F8768967C64B}"/>
              </a:ext>
            </a:extLst>
          </p:cNvPr>
          <p:cNvSpPr txBox="1"/>
          <p:nvPr/>
        </p:nvSpPr>
        <p:spPr>
          <a:xfrm>
            <a:off x="651989" y="205026"/>
            <a:ext cx="4572000"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a:t>
            </a:r>
            <a:endParaRPr lang="en-US" sz="1800" dirty="0"/>
          </a:p>
        </p:txBody>
      </p:sp>
    </p:spTree>
    <p:extLst>
      <p:ext uri="{BB962C8B-B14F-4D97-AF65-F5344CB8AC3E}">
        <p14:creationId xmlns:p14="http://schemas.microsoft.com/office/powerpoint/2010/main" val="155235317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E477-59B6-C15F-9A0D-3CBA8E210FD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DBE83C-7A16-4777-CA88-02DE724E718B}"/>
              </a:ext>
            </a:extLst>
          </p:cNvPr>
          <p:cNvSpPr>
            <a:spLocks noGrp="1"/>
          </p:cNvSpPr>
          <p:nvPr>
            <p:ph type="sldNum" sz="quarter" idx="10"/>
          </p:nvPr>
        </p:nvSpPr>
        <p:spPr/>
        <p:txBody>
          <a:bodyPr/>
          <a:lstStyle/>
          <a:p>
            <a:fld id="{1C0FA7A3-0FBF-4EC3-BE45-825983E95E58}" type="slidenum">
              <a:rPr lang="en-US" smtClean="0"/>
              <a:pPr/>
              <a:t>20</a:t>
            </a:fld>
            <a:endParaRPr lang="en-US" dirty="0"/>
          </a:p>
        </p:txBody>
      </p:sp>
      <p:sp>
        <p:nvSpPr>
          <p:cNvPr id="8" name="TextBox 7">
            <a:extLst>
              <a:ext uri="{FF2B5EF4-FFF2-40B4-BE49-F238E27FC236}">
                <a16:creationId xmlns:a16="http://schemas.microsoft.com/office/drawing/2014/main" id="{38AF4109-0818-2826-E415-2E88428EB587}"/>
              </a:ext>
            </a:extLst>
          </p:cNvPr>
          <p:cNvSpPr txBox="1"/>
          <p:nvPr/>
        </p:nvSpPr>
        <p:spPr>
          <a:xfrm>
            <a:off x="381000" y="103359"/>
            <a:ext cx="5822488" cy="348813"/>
          </a:xfrm>
          <a:prstGeom prst="rect">
            <a:avLst/>
          </a:prstGeom>
          <a:noFill/>
        </p:spPr>
        <p:txBody>
          <a:bodyPr wrap="square">
            <a:spAutoFit/>
          </a:bodyPr>
          <a:lstStyle/>
          <a:p>
            <a:pPr marL="0" indent="0" algn="l">
              <a:lnSpc>
                <a:spcPts val="2000"/>
              </a:lnSpc>
              <a:buNone/>
            </a:pPr>
            <a:r>
              <a:rPr lang="en-US" b="1" dirty="0">
                <a:solidFill>
                  <a:srgbClr val="1A1A2E"/>
                </a:solidFill>
                <a:latin typeface="Playfair Display" pitchFamily="34" charset="0"/>
              </a:rPr>
              <a:t>Data Plane Development Kit (DPDK) with OVS</a:t>
            </a:r>
            <a:endParaRPr lang="en-US" sz="1800" dirty="0"/>
          </a:p>
        </p:txBody>
      </p:sp>
      <p:sp>
        <p:nvSpPr>
          <p:cNvPr id="5" name="Content Placeholder 4">
            <a:extLst>
              <a:ext uri="{FF2B5EF4-FFF2-40B4-BE49-F238E27FC236}">
                <a16:creationId xmlns:a16="http://schemas.microsoft.com/office/drawing/2014/main" id="{41EFC399-F9D0-F900-B00B-B6DEA13C816D}"/>
              </a:ext>
            </a:extLst>
          </p:cNvPr>
          <p:cNvSpPr>
            <a:spLocks noGrp="1"/>
          </p:cNvSpPr>
          <p:nvPr>
            <p:ph idx="1"/>
          </p:nvPr>
        </p:nvSpPr>
        <p:spPr/>
        <p:txBody>
          <a:bodyPr/>
          <a:lstStyle/>
          <a:p>
            <a:endParaRPr lang="en-US" dirty="0"/>
          </a:p>
        </p:txBody>
      </p:sp>
      <p:pic>
        <p:nvPicPr>
          <p:cNvPr id="6" name="Image 0" descr="preencoded.png">
            <a:extLst>
              <a:ext uri="{FF2B5EF4-FFF2-40B4-BE49-F238E27FC236}">
                <a16:creationId xmlns:a16="http://schemas.microsoft.com/office/drawing/2014/main" id="{AB8E38A9-883E-2E55-A9CE-F7AD363BFDFF}"/>
              </a:ext>
            </a:extLst>
          </p:cNvPr>
          <p:cNvPicPr>
            <a:picLocks noChangeAspect="1"/>
          </p:cNvPicPr>
          <p:nvPr/>
        </p:nvPicPr>
        <p:blipFill>
          <a:blip r:embed="rId2"/>
          <a:stretch>
            <a:fillRect/>
          </a:stretch>
        </p:blipFill>
        <p:spPr>
          <a:xfrm>
            <a:off x="139279" y="549098"/>
            <a:ext cx="9144000" cy="7283416"/>
          </a:xfrm>
          <a:prstGeom prst="rect">
            <a:avLst/>
          </a:prstGeom>
        </p:spPr>
      </p:pic>
      <p:sp>
        <p:nvSpPr>
          <p:cNvPr id="2" name="Content Placeholder 1">
            <a:extLst>
              <a:ext uri="{FF2B5EF4-FFF2-40B4-BE49-F238E27FC236}">
                <a16:creationId xmlns:a16="http://schemas.microsoft.com/office/drawing/2014/main" id="{EBFFDDB4-9ECC-5674-1D2C-64D9F292D9BA}"/>
              </a:ext>
            </a:extLst>
          </p:cNvPr>
          <p:cNvSpPr txBox="1">
            <a:spLocks/>
          </p:cNvSpPr>
          <p:nvPr/>
        </p:nvSpPr>
        <p:spPr>
          <a:xfrm>
            <a:off x="963601" y="1615556"/>
            <a:ext cx="7799399" cy="4724400"/>
          </a:xfrm>
        </p:spPr>
        <p:txBody>
          <a:bodyPr/>
          <a:lstStyle>
            <a:lvl1pPr marL="342900" indent="-342900" algn="l" defTabSz="914400" rtl="0" eaLnBrk="1" latinLnBrk="0" hangingPunct="1">
              <a:spcBef>
                <a:spcPct val="20000"/>
              </a:spcBef>
              <a:buClr>
                <a:schemeClr val="tx2"/>
              </a:buClr>
              <a:buFont typeface="Arial" pitchFamily="34" charset="0"/>
              <a:buChar char="•"/>
              <a:defRPr sz="2400" kern="1200">
                <a:solidFill>
                  <a:schemeClr val="tx1"/>
                </a:solidFill>
                <a:latin typeface="Calibri" pitchFamily="34" charset="0"/>
                <a:ea typeface="+mn-ea"/>
                <a:cs typeface="+mn-cs"/>
              </a:defRPr>
            </a:lvl1pPr>
            <a:lvl2pPr marL="742950" indent="-285750" algn="l" defTabSz="914400" rtl="0" eaLnBrk="1" latinLnBrk="0" hangingPunct="1">
              <a:spcBef>
                <a:spcPct val="20000"/>
              </a:spcBef>
              <a:buClr>
                <a:srgbClr val="C00000"/>
              </a:buClr>
              <a:buFont typeface="Wingdings" pitchFamily="2" charset="2"/>
              <a:buChar char="§"/>
              <a:defRPr sz="2100" kern="1200">
                <a:solidFill>
                  <a:schemeClr val="tx1"/>
                </a:solidFill>
                <a:latin typeface="Calibri" pitchFamily="34" charset="0"/>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Calibri" pitchFamily="34" charset="0"/>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Calibri" pitchFamily="34" charset="0"/>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Calibri"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b="1" dirty="0">
                <a:latin typeface="Open Sans" panose="020B0606030504020204" pitchFamily="34" charset="0"/>
                <a:ea typeface="Open Sans" panose="020B0606030504020204" pitchFamily="34" charset="0"/>
                <a:cs typeface="Open Sans" panose="020B0606030504020204" pitchFamily="34" charset="0"/>
              </a:rPr>
              <a:t>What is OVS (Open </a:t>
            </a:r>
            <a:r>
              <a:rPr lang="en-US" sz="1400" b="1" dirty="0" err="1">
                <a:latin typeface="Open Sans" panose="020B0606030504020204" pitchFamily="34" charset="0"/>
                <a:ea typeface="Open Sans" panose="020B0606030504020204" pitchFamily="34" charset="0"/>
                <a:cs typeface="Open Sans" panose="020B0606030504020204" pitchFamily="34" charset="0"/>
              </a:rPr>
              <a:t>vSwitch</a:t>
            </a:r>
            <a:r>
              <a:rPr lang="en-US" sz="1400" b="1" dirty="0">
                <a:latin typeface="Open Sans" panose="020B0606030504020204" pitchFamily="34" charset="0"/>
                <a:ea typeface="Open Sans" panose="020B0606030504020204" pitchFamily="34" charset="0"/>
                <a:cs typeface="Open Sans" panose="020B0606030504020204" pitchFamily="34" charset="0"/>
              </a:rPr>
              <a:t>)?</a:t>
            </a:r>
            <a:br>
              <a:rPr lang="en-US" sz="1400" b="1" dirty="0">
                <a:latin typeface="Open Sans" panose="020B0606030504020204" pitchFamily="34" charset="0"/>
                <a:ea typeface="Open Sans" panose="020B0606030504020204" pitchFamily="34" charset="0"/>
                <a:cs typeface="Open Sans" panose="020B0606030504020204" pitchFamily="34" charset="0"/>
              </a:rPr>
            </a:br>
            <a:r>
              <a:rPr lang="en-US" sz="1400" dirty="0">
                <a:latin typeface="Open Sans" panose="020B0606030504020204" pitchFamily="34" charset="0"/>
                <a:ea typeface="Open Sans" panose="020B0606030504020204" pitchFamily="34" charset="0"/>
                <a:cs typeface="Open Sans" panose="020B0606030504020204" pitchFamily="34" charset="0"/>
              </a:rPr>
              <a:t>Open </a:t>
            </a:r>
            <a:r>
              <a:rPr lang="en-US" sz="1400" dirty="0" err="1">
                <a:latin typeface="Open Sans" panose="020B0606030504020204" pitchFamily="34" charset="0"/>
                <a:ea typeface="Open Sans" panose="020B0606030504020204" pitchFamily="34" charset="0"/>
                <a:cs typeface="Open Sans" panose="020B0606030504020204" pitchFamily="34" charset="0"/>
              </a:rPr>
              <a:t>vSwitch</a:t>
            </a:r>
            <a:r>
              <a:rPr lang="en-US" sz="1400" dirty="0">
                <a:latin typeface="Open Sans" panose="020B0606030504020204" pitchFamily="34" charset="0"/>
                <a:ea typeface="Open Sans" panose="020B0606030504020204" pitchFamily="34" charset="0"/>
                <a:cs typeface="Open Sans" panose="020B0606030504020204" pitchFamily="34" charset="0"/>
              </a:rPr>
              <a:t> is a production quality, multilayer virtual switch licensed under the open source Apache 2.0. </a:t>
            </a:r>
          </a:p>
          <a:p>
            <a:r>
              <a:rPr lang="en-US" sz="1400" dirty="0">
                <a:latin typeface="Open Sans" panose="020B0606030504020204" pitchFamily="34" charset="0"/>
                <a:ea typeface="Open Sans" panose="020B0606030504020204" pitchFamily="34" charset="0"/>
                <a:cs typeface="Open Sans" panose="020B0606030504020204" pitchFamily="34" charset="0"/>
              </a:rPr>
              <a:t>This runs as software in hypervisor and enables virtual networking of Virtual Machines.</a:t>
            </a:r>
          </a:p>
          <a:p>
            <a:r>
              <a:rPr lang="en-US" sz="1400" dirty="0">
                <a:latin typeface="Open Sans" panose="020B0606030504020204" pitchFamily="34" charset="0"/>
                <a:ea typeface="Open Sans" panose="020B0606030504020204" pitchFamily="34" charset="0"/>
                <a:cs typeface="Open Sans" panose="020B0606030504020204" pitchFamily="34" charset="0"/>
              </a:rPr>
              <a:t>Main components include:</a:t>
            </a:r>
          </a:p>
          <a:p>
            <a:pPr lvl="1"/>
            <a:r>
              <a:rPr lang="en-US" sz="1400" b="1" dirty="0">
                <a:latin typeface="Open Sans" panose="020B0606030504020204" pitchFamily="34" charset="0"/>
                <a:ea typeface="Open Sans" panose="020B0606030504020204" pitchFamily="34" charset="0"/>
                <a:cs typeface="Open Sans" panose="020B0606030504020204" pitchFamily="34" charset="0"/>
              </a:rPr>
              <a:t>Forwarding path</a:t>
            </a:r>
            <a:r>
              <a:rPr lang="en-US" sz="1400" dirty="0">
                <a:latin typeface="Open Sans" panose="020B0606030504020204" pitchFamily="34" charset="0"/>
                <a:ea typeface="Open Sans" panose="020B0606030504020204" pitchFamily="34" charset="0"/>
                <a:cs typeface="Open Sans" panose="020B0606030504020204" pitchFamily="34" charset="0"/>
              </a:rPr>
              <a:t>: Datapath/Forwarding path is the main packet forwarding module of OVS, implemented in kernel space for high performance/</a:t>
            </a:r>
          </a:p>
          <a:p>
            <a:pPr lvl="1"/>
            <a:r>
              <a:rPr lang="en-US" sz="1400" b="1" dirty="0" err="1">
                <a:latin typeface="Open Sans" panose="020B0606030504020204" pitchFamily="34" charset="0"/>
                <a:ea typeface="Open Sans" panose="020B0606030504020204" pitchFamily="34" charset="0"/>
                <a:cs typeface="Open Sans" panose="020B0606030504020204" pitchFamily="34" charset="0"/>
              </a:rPr>
              <a:t>Vswitchid</a:t>
            </a:r>
            <a:r>
              <a:rPr lang="en-US" sz="1400" dirty="0">
                <a:latin typeface="Open Sans" panose="020B0606030504020204" pitchFamily="34" charset="0"/>
                <a:ea typeface="Open Sans" panose="020B0606030504020204" pitchFamily="34" charset="0"/>
                <a:cs typeface="Open Sans" panose="020B0606030504020204" pitchFamily="34" charset="0"/>
              </a:rPr>
              <a:t> is the main Open </a:t>
            </a:r>
            <a:r>
              <a:rPr lang="en-US" sz="1400" dirty="0" err="1">
                <a:latin typeface="Open Sans" panose="020B0606030504020204" pitchFamily="34" charset="0"/>
                <a:ea typeface="Open Sans" panose="020B0606030504020204" pitchFamily="34" charset="0"/>
                <a:cs typeface="Open Sans" panose="020B0606030504020204" pitchFamily="34" charset="0"/>
              </a:rPr>
              <a:t>vSwitch</a:t>
            </a:r>
            <a:r>
              <a:rPr lang="en-US" sz="1400" dirty="0">
                <a:latin typeface="Open Sans" panose="020B0606030504020204" pitchFamily="34" charset="0"/>
                <a:ea typeface="Open Sans" panose="020B0606030504020204" pitchFamily="34" charset="0"/>
                <a:cs typeface="Open Sans" panose="020B0606030504020204" pitchFamily="34" charset="0"/>
              </a:rPr>
              <a:t> </a:t>
            </a:r>
            <a:r>
              <a:rPr lang="en-US" sz="1400" dirty="0" err="1">
                <a:latin typeface="Open Sans" panose="020B0606030504020204" pitchFamily="34" charset="0"/>
                <a:ea typeface="Open Sans" panose="020B0606030504020204" pitchFamily="34" charset="0"/>
                <a:cs typeface="Open Sans" panose="020B0606030504020204" pitchFamily="34" charset="0"/>
              </a:rPr>
              <a:t>userspace</a:t>
            </a:r>
            <a:r>
              <a:rPr lang="en-US" sz="1400" dirty="0">
                <a:latin typeface="Open Sans" panose="020B0606030504020204" pitchFamily="34" charset="0"/>
                <a:ea typeface="Open Sans" panose="020B0606030504020204" pitchFamily="34" charset="0"/>
                <a:cs typeface="Open Sans" panose="020B0606030504020204" pitchFamily="34" charset="0"/>
              </a:rPr>
              <a:t> program.</a:t>
            </a:r>
          </a:p>
        </p:txBody>
      </p:sp>
    </p:spTree>
    <p:extLst>
      <p:ext uri="{BB962C8B-B14F-4D97-AF65-F5344CB8AC3E}">
        <p14:creationId xmlns:p14="http://schemas.microsoft.com/office/powerpoint/2010/main" val="402138452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213402"/>
          </a:xfrm>
          <a:prstGeom prst="rect">
            <a:avLst/>
          </a:prstGeom>
        </p:spPr>
      </p:pic>
      <p:sp>
        <p:nvSpPr>
          <p:cNvPr id="4" name="Text 0"/>
          <p:cNvSpPr/>
          <p:nvPr/>
        </p:nvSpPr>
        <p:spPr>
          <a:xfrm>
            <a:off x="457200" y="271463"/>
            <a:ext cx="82296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DPDK — ARCHITECTURE</a:t>
            </a:r>
            <a:endParaRPr lang="en-US" sz="936" dirty="0"/>
          </a:p>
        </p:txBody>
      </p:sp>
      <p:sp>
        <p:nvSpPr>
          <p:cNvPr id="5" name="Text 1"/>
          <p:cNvSpPr/>
          <p:nvPr/>
        </p:nvSpPr>
        <p:spPr>
          <a:xfrm>
            <a:off x="457200" y="501848"/>
            <a:ext cx="8229600" cy="500063"/>
          </a:xfrm>
          <a:prstGeom prst="rect">
            <a:avLst/>
          </a:prstGeom>
          <a:noFill/>
          <a:ln/>
        </p:spPr>
        <p:txBody>
          <a:bodyPr wrap="square" lIns="0" tIns="0" rIns="0" bIns="0" rtlCol="0" anchor="t">
            <a:spAutoFit/>
          </a:bodyPr>
          <a:lstStyle/>
          <a:p>
            <a:pPr marL="0" indent="0" algn="l">
              <a:lnSpc>
                <a:spcPts val="2000"/>
              </a:lnSpc>
              <a:buNone/>
            </a:pPr>
            <a:r>
              <a:rPr lang="en-US" sz="1397" b="1" dirty="0">
                <a:solidFill>
                  <a:srgbClr val="1A1A2E"/>
                </a:solidFill>
                <a:latin typeface="Playfair Display" pitchFamily="34" charset="0"/>
                <a:ea typeface="Playfair Display" pitchFamily="34" charset="-122"/>
                <a:cs typeface="Playfair Display" pitchFamily="34" charset="-120"/>
              </a:rPr>
              <a:t>DPDK Delivers Near-Line-Rate Performance by Eliminating the OS Kernel from the Packet Path</a:t>
            </a:r>
            <a:endParaRPr lang="en-US" sz="1397" dirty="0"/>
          </a:p>
        </p:txBody>
      </p:sp>
      <p:sp>
        <p:nvSpPr>
          <p:cNvPr id="6" name="Text 2"/>
          <p:cNvSpPr/>
          <p:nvPr/>
        </p:nvSpPr>
        <p:spPr>
          <a:xfrm>
            <a:off x="457200" y="1173361"/>
            <a:ext cx="2000250"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DPDK PACKET PATH (RX)</a:t>
            </a:r>
            <a:endParaRPr lang="en-US" sz="942" dirty="0"/>
          </a:p>
        </p:txBody>
      </p:sp>
      <p:sp>
        <p:nvSpPr>
          <p:cNvPr id="7" name="Shape 3"/>
          <p:cNvSpPr/>
          <p:nvPr/>
        </p:nvSpPr>
        <p:spPr>
          <a:xfrm>
            <a:off x="457200" y="1437680"/>
            <a:ext cx="2000250" cy="496491"/>
          </a:xfrm>
          <a:prstGeom prst="rect">
            <a:avLst/>
          </a:prstGeom>
          <a:solidFill>
            <a:srgbClr val="003087"/>
          </a:solidFill>
          <a:ln/>
        </p:spPr>
      </p:sp>
      <p:sp>
        <p:nvSpPr>
          <p:cNvPr id="8" name="Text 4"/>
          <p:cNvSpPr/>
          <p:nvPr/>
        </p:nvSpPr>
        <p:spPr>
          <a:xfrm>
            <a:off x="557213" y="1509117"/>
            <a:ext cx="1800225" cy="164306"/>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Space Grotesk" pitchFamily="34" charset="0"/>
                <a:ea typeface="Space Grotesk" pitchFamily="34" charset="-122"/>
                <a:cs typeface="Space Grotesk" pitchFamily="34" charset="-120"/>
              </a:rPr>
              <a:t>DPDK Application</a:t>
            </a:r>
            <a:endParaRPr lang="en-US" sz="885" dirty="0"/>
          </a:p>
        </p:txBody>
      </p:sp>
      <p:sp>
        <p:nvSpPr>
          <p:cNvPr id="9" name="Text 5"/>
          <p:cNvSpPr/>
          <p:nvPr/>
        </p:nvSpPr>
        <p:spPr>
          <a:xfrm>
            <a:off x="557213" y="1687711"/>
            <a:ext cx="18002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65000"/>
                  </a:srgbClr>
                </a:solidFill>
                <a:latin typeface="Open Sans" pitchFamily="34" charset="0"/>
                <a:ea typeface="Open Sans" pitchFamily="34" charset="-122"/>
                <a:cs typeface="Open Sans" pitchFamily="34" charset="-120"/>
              </a:rPr>
              <a:t>User Space · VM / Container</a:t>
            </a:r>
            <a:endParaRPr lang="en-US" sz="942" dirty="0"/>
          </a:p>
        </p:txBody>
      </p:sp>
      <p:sp>
        <p:nvSpPr>
          <p:cNvPr id="10" name="Shape 6"/>
          <p:cNvSpPr/>
          <p:nvPr/>
        </p:nvSpPr>
        <p:spPr>
          <a:xfrm>
            <a:off x="457200" y="2034183"/>
            <a:ext cx="2000250" cy="671513"/>
          </a:xfrm>
          <a:prstGeom prst="rect">
            <a:avLst/>
          </a:prstGeom>
          <a:solidFill>
            <a:srgbClr val="003087"/>
          </a:solidFill>
          <a:ln/>
        </p:spPr>
      </p:sp>
      <p:sp>
        <p:nvSpPr>
          <p:cNvPr id="11" name="Text 7"/>
          <p:cNvSpPr/>
          <p:nvPr/>
        </p:nvSpPr>
        <p:spPr>
          <a:xfrm>
            <a:off x="557213" y="2105620"/>
            <a:ext cx="1800225" cy="164306"/>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Space Grotesk" pitchFamily="34" charset="0"/>
                <a:ea typeface="Space Grotesk" pitchFamily="34" charset="-122"/>
                <a:cs typeface="Space Grotesk" pitchFamily="34" charset="-120"/>
              </a:rPr>
              <a:t>Poll Mode Driver (PMD)</a:t>
            </a:r>
            <a:endParaRPr lang="en-US" sz="885" dirty="0"/>
          </a:p>
        </p:txBody>
      </p:sp>
      <p:sp>
        <p:nvSpPr>
          <p:cNvPr id="12" name="Text 8"/>
          <p:cNvSpPr/>
          <p:nvPr/>
        </p:nvSpPr>
        <p:spPr>
          <a:xfrm>
            <a:off x="557213" y="2284214"/>
            <a:ext cx="18002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5000"/>
                  </a:srgbClr>
                </a:solidFill>
                <a:latin typeface="Open Sans" pitchFamily="34" charset="0"/>
                <a:ea typeface="Open Sans" pitchFamily="34" charset="-122"/>
                <a:cs typeface="Open Sans" pitchFamily="34" charset="-120"/>
              </a:rPr>
              <a:t>User Space · Spins on RX/TX rings</a:t>
            </a:r>
            <a:endParaRPr lang="en-US" sz="942" dirty="0"/>
          </a:p>
        </p:txBody>
      </p:sp>
      <p:sp>
        <p:nvSpPr>
          <p:cNvPr id="13" name="Shape 9"/>
          <p:cNvSpPr/>
          <p:nvPr/>
        </p:nvSpPr>
        <p:spPr>
          <a:xfrm>
            <a:off x="457200" y="2805708"/>
            <a:ext cx="2000250" cy="810816"/>
          </a:xfrm>
          <a:prstGeom prst="rect">
            <a:avLst/>
          </a:prstGeom>
          <a:solidFill>
            <a:srgbClr val="F0F0F5"/>
          </a:solidFill>
          <a:ln/>
        </p:spPr>
      </p:sp>
      <p:sp>
        <p:nvSpPr>
          <p:cNvPr id="14" name="Text 10"/>
          <p:cNvSpPr/>
          <p:nvPr/>
        </p:nvSpPr>
        <p:spPr>
          <a:xfrm>
            <a:off x="557213" y="2877145"/>
            <a:ext cx="1800225" cy="164306"/>
          </a:xfrm>
          <a:prstGeom prst="rect">
            <a:avLst/>
          </a:prstGeom>
          <a:noFill/>
          <a:ln/>
        </p:spPr>
        <p:txBody>
          <a:bodyPr wrap="none" lIns="0" tIns="0" rIns="0" bIns="0" rtlCol="0" anchor="t">
            <a:spAutoFit/>
          </a:bodyPr>
          <a:lstStyle/>
          <a:p>
            <a:pPr marL="0" indent="0" algn="l">
              <a:lnSpc>
                <a:spcPts val="1200"/>
              </a:lnSpc>
              <a:buNone/>
            </a:pPr>
            <a:r>
              <a:rPr lang="en-US" sz="885" b="1" strike="sngStrike" dirty="0">
                <a:solidFill>
                  <a:srgbClr val="9090A8"/>
                </a:solidFill>
                <a:latin typeface="Space Grotesk" pitchFamily="34" charset="0"/>
                <a:ea typeface="Space Grotesk" pitchFamily="34" charset="-122"/>
                <a:cs typeface="Space Grotesk" pitchFamily="34" charset="-120"/>
              </a:rPr>
              <a:t>Kernel vSwitch / OVS</a:t>
            </a:r>
            <a:endParaRPr lang="en-US" sz="885" dirty="0"/>
          </a:p>
        </p:txBody>
      </p:sp>
      <p:sp>
        <p:nvSpPr>
          <p:cNvPr id="15" name="Text 11"/>
          <p:cNvSpPr/>
          <p:nvPr/>
        </p:nvSpPr>
        <p:spPr>
          <a:xfrm>
            <a:off x="557213" y="3055739"/>
            <a:ext cx="18002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Bypassed — no kernel context switch</a:t>
            </a:r>
            <a:endParaRPr lang="en-US" sz="942" dirty="0"/>
          </a:p>
        </p:txBody>
      </p:sp>
      <p:sp>
        <p:nvSpPr>
          <p:cNvPr id="16" name="Shape 12"/>
          <p:cNvSpPr/>
          <p:nvPr/>
        </p:nvSpPr>
        <p:spPr>
          <a:xfrm>
            <a:off x="557213" y="3434358"/>
            <a:ext cx="457200" cy="110728"/>
          </a:xfrm>
          <a:prstGeom prst="rect">
            <a:avLst/>
          </a:prstGeom>
          <a:solidFill>
            <a:srgbClr val="E63946"/>
          </a:solidFill>
          <a:ln/>
        </p:spPr>
      </p:sp>
      <p:sp>
        <p:nvSpPr>
          <p:cNvPr id="17" name="Text 13"/>
          <p:cNvSpPr/>
          <p:nvPr/>
        </p:nvSpPr>
        <p:spPr>
          <a:xfrm>
            <a:off x="557213" y="3434358"/>
            <a:ext cx="457200"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BYPASSED</a:t>
            </a:r>
            <a:endParaRPr lang="en-US" sz="435" dirty="0"/>
          </a:p>
        </p:txBody>
      </p:sp>
      <p:sp>
        <p:nvSpPr>
          <p:cNvPr id="18" name="Shape 14"/>
          <p:cNvSpPr/>
          <p:nvPr/>
        </p:nvSpPr>
        <p:spPr>
          <a:xfrm>
            <a:off x="457200" y="3716536"/>
            <a:ext cx="2000250" cy="635794"/>
          </a:xfrm>
          <a:prstGeom prst="rect">
            <a:avLst/>
          </a:prstGeom>
          <a:solidFill>
            <a:srgbClr val="F0F0F5"/>
          </a:solidFill>
          <a:ln/>
        </p:spPr>
      </p:sp>
      <p:sp>
        <p:nvSpPr>
          <p:cNvPr id="19" name="Text 15"/>
          <p:cNvSpPr/>
          <p:nvPr/>
        </p:nvSpPr>
        <p:spPr>
          <a:xfrm>
            <a:off x="557213" y="3787973"/>
            <a:ext cx="1800225" cy="164306"/>
          </a:xfrm>
          <a:prstGeom prst="rect">
            <a:avLst/>
          </a:prstGeom>
          <a:noFill/>
          <a:ln/>
        </p:spPr>
        <p:txBody>
          <a:bodyPr wrap="none" lIns="0" tIns="0" rIns="0" bIns="0" rtlCol="0" anchor="t">
            <a:spAutoFit/>
          </a:bodyPr>
          <a:lstStyle/>
          <a:p>
            <a:pPr marL="0" indent="0" algn="l">
              <a:lnSpc>
                <a:spcPts val="1200"/>
              </a:lnSpc>
              <a:buNone/>
            </a:pPr>
            <a:r>
              <a:rPr lang="en-US" sz="885" b="1" strike="sngStrike" dirty="0">
                <a:solidFill>
                  <a:srgbClr val="9090A8"/>
                </a:solidFill>
                <a:latin typeface="Space Grotesk" pitchFamily="34" charset="0"/>
                <a:ea typeface="Space Grotesk" pitchFamily="34" charset="-122"/>
                <a:cs typeface="Space Grotesk" pitchFamily="34" charset="-120"/>
              </a:rPr>
              <a:t>Kernel TCP/IP Stack</a:t>
            </a:r>
            <a:endParaRPr lang="en-US" sz="885" dirty="0"/>
          </a:p>
        </p:txBody>
      </p:sp>
      <p:sp>
        <p:nvSpPr>
          <p:cNvPr id="20" name="Text 16"/>
          <p:cNvSpPr/>
          <p:nvPr/>
        </p:nvSpPr>
        <p:spPr>
          <a:xfrm>
            <a:off x="557213" y="3966567"/>
            <a:ext cx="18002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Bypassed — no socket buffer</a:t>
            </a:r>
            <a:endParaRPr lang="en-US" sz="942" dirty="0"/>
          </a:p>
        </p:txBody>
      </p:sp>
      <p:sp>
        <p:nvSpPr>
          <p:cNvPr id="21" name="Shape 17"/>
          <p:cNvSpPr/>
          <p:nvPr/>
        </p:nvSpPr>
        <p:spPr>
          <a:xfrm>
            <a:off x="557213" y="4170164"/>
            <a:ext cx="457200" cy="110728"/>
          </a:xfrm>
          <a:prstGeom prst="rect">
            <a:avLst/>
          </a:prstGeom>
          <a:solidFill>
            <a:srgbClr val="E63946"/>
          </a:solidFill>
          <a:ln/>
        </p:spPr>
      </p:sp>
      <p:sp>
        <p:nvSpPr>
          <p:cNvPr id="22" name="Text 18"/>
          <p:cNvSpPr/>
          <p:nvPr/>
        </p:nvSpPr>
        <p:spPr>
          <a:xfrm>
            <a:off x="557213" y="4170164"/>
            <a:ext cx="457200"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BYPASSED</a:t>
            </a:r>
            <a:endParaRPr lang="en-US" sz="435" dirty="0"/>
          </a:p>
        </p:txBody>
      </p:sp>
      <p:sp>
        <p:nvSpPr>
          <p:cNvPr id="23" name="Shape 19"/>
          <p:cNvSpPr/>
          <p:nvPr/>
        </p:nvSpPr>
        <p:spPr>
          <a:xfrm>
            <a:off x="457200" y="4452342"/>
            <a:ext cx="2000250" cy="635794"/>
          </a:xfrm>
          <a:prstGeom prst="rect">
            <a:avLst/>
          </a:prstGeom>
          <a:solidFill>
            <a:srgbClr val="F0F0F5"/>
          </a:solidFill>
          <a:ln/>
        </p:spPr>
      </p:sp>
      <p:sp>
        <p:nvSpPr>
          <p:cNvPr id="24" name="Text 20"/>
          <p:cNvSpPr/>
          <p:nvPr/>
        </p:nvSpPr>
        <p:spPr>
          <a:xfrm>
            <a:off x="557213" y="4523780"/>
            <a:ext cx="1800225" cy="164306"/>
          </a:xfrm>
          <a:prstGeom prst="rect">
            <a:avLst/>
          </a:prstGeom>
          <a:noFill/>
          <a:ln/>
        </p:spPr>
        <p:txBody>
          <a:bodyPr wrap="none" lIns="0" tIns="0" rIns="0" bIns="0" rtlCol="0" anchor="t">
            <a:spAutoFit/>
          </a:bodyPr>
          <a:lstStyle/>
          <a:p>
            <a:pPr marL="0" indent="0" algn="l">
              <a:lnSpc>
                <a:spcPts val="1200"/>
              </a:lnSpc>
              <a:buNone/>
            </a:pPr>
            <a:r>
              <a:rPr lang="en-US" sz="885" b="1" strike="sngStrike" dirty="0">
                <a:solidFill>
                  <a:srgbClr val="9090A8"/>
                </a:solidFill>
                <a:latin typeface="Space Grotesk" pitchFamily="34" charset="0"/>
                <a:ea typeface="Space Grotesk" pitchFamily="34" charset="-122"/>
                <a:cs typeface="Space Grotesk" pitchFamily="34" charset="-120"/>
              </a:rPr>
              <a:t>Kernel NIC Driver</a:t>
            </a:r>
            <a:endParaRPr lang="en-US" sz="885" dirty="0"/>
          </a:p>
        </p:txBody>
      </p:sp>
      <p:sp>
        <p:nvSpPr>
          <p:cNvPr id="25" name="Text 21"/>
          <p:cNvSpPr/>
          <p:nvPr/>
        </p:nvSpPr>
        <p:spPr>
          <a:xfrm>
            <a:off x="557213" y="4702373"/>
            <a:ext cx="18002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Bypassed — no IRQ handler</a:t>
            </a:r>
            <a:endParaRPr lang="en-US" sz="942" dirty="0"/>
          </a:p>
        </p:txBody>
      </p:sp>
      <p:sp>
        <p:nvSpPr>
          <p:cNvPr id="26" name="Shape 22"/>
          <p:cNvSpPr/>
          <p:nvPr/>
        </p:nvSpPr>
        <p:spPr>
          <a:xfrm>
            <a:off x="557213" y="4905970"/>
            <a:ext cx="457200" cy="110728"/>
          </a:xfrm>
          <a:prstGeom prst="rect">
            <a:avLst/>
          </a:prstGeom>
          <a:solidFill>
            <a:srgbClr val="E63946"/>
          </a:solidFill>
          <a:ln/>
        </p:spPr>
      </p:sp>
      <p:sp>
        <p:nvSpPr>
          <p:cNvPr id="27" name="Text 23"/>
          <p:cNvSpPr/>
          <p:nvPr/>
        </p:nvSpPr>
        <p:spPr>
          <a:xfrm>
            <a:off x="557213" y="4905970"/>
            <a:ext cx="457200"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BYPASSED</a:t>
            </a:r>
            <a:endParaRPr lang="en-US" sz="435" dirty="0"/>
          </a:p>
        </p:txBody>
      </p:sp>
      <p:sp>
        <p:nvSpPr>
          <p:cNvPr id="28" name="Shape 24"/>
          <p:cNvSpPr/>
          <p:nvPr/>
        </p:nvSpPr>
        <p:spPr>
          <a:xfrm>
            <a:off x="457200" y="5188148"/>
            <a:ext cx="2000250" cy="496491"/>
          </a:xfrm>
          <a:prstGeom prst="rect">
            <a:avLst/>
          </a:prstGeom>
          <a:solidFill>
            <a:srgbClr val="003087"/>
          </a:solidFill>
          <a:ln/>
        </p:spPr>
      </p:sp>
      <p:sp>
        <p:nvSpPr>
          <p:cNvPr id="29" name="Text 25"/>
          <p:cNvSpPr/>
          <p:nvPr/>
        </p:nvSpPr>
        <p:spPr>
          <a:xfrm>
            <a:off x="557213" y="5259586"/>
            <a:ext cx="1800225" cy="164306"/>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Space Grotesk" pitchFamily="34" charset="0"/>
                <a:ea typeface="Space Grotesk" pitchFamily="34" charset="-122"/>
                <a:cs typeface="Space Grotesk" pitchFamily="34" charset="-120"/>
              </a:rPr>
              <a:t>DMA Engine</a:t>
            </a:r>
            <a:endParaRPr lang="en-US" sz="885" dirty="0"/>
          </a:p>
        </p:txBody>
      </p:sp>
      <p:sp>
        <p:nvSpPr>
          <p:cNvPr id="30" name="Text 26"/>
          <p:cNvSpPr/>
          <p:nvPr/>
        </p:nvSpPr>
        <p:spPr>
          <a:xfrm>
            <a:off x="557213" y="5438180"/>
            <a:ext cx="18002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65000"/>
                  </a:srgbClr>
                </a:solidFill>
                <a:latin typeface="Open Sans" pitchFamily="34" charset="0"/>
                <a:ea typeface="Open Sans" pitchFamily="34" charset="-122"/>
                <a:cs typeface="Open Sans" pitchFamily="34" charset="-120"/>
              </a:rPr>
              <a:t>Hugepages · No CPU copy</a:t>
            </a:r>
            <a:endParaRPr lang="en-US" sz="942" dirty="0"/>
          </a:p>
        </p:txBody>
      </p:sp>
      <p:sp>
        <p:nvSpPr>
          <p:cNvPr id="31" name="Shape 27"/>
          <p:cNvSpPr/>
          <p:nvPr/>
        </p:nvSpPr>
        <p:spPr>
          <a:xfrm>
            <a:off x="457200" y="5784652"/>
            <a:ext cx="2000250" cy="671513"/>
          </a:xfrm>
          <a:prstGeom prst="rect">
            <a:avLst/>
          </a:prstGeom>
          <a:solidFill>
            <a:srgbClr val="003087"/>
          </a:solidFill>
          <a:ln/>
        </p:spPr>
      </p:sp>
      <p:sp>
        <p:nvSpPr>
          <p:cNvPr id="32" name="Text 28"/>
          <p:cNvSpPr/>
          <p:nvPr/>
        </p:nvSpPr>
        <p:spPr>
          <a:xfrm>
            <a:off x="557213" y="5856089"/>
            <a:ext cx="1800225" cy="164306"/>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Space Grotesk" pitchFamily="34" charset="0"/>
                <a:ea typeface="Space Grotesk" pitchFamily="34" charset="-122"/>
                <a:cs typeface="Space Grotesk" pitchFamily="34" charset="-120"/>
              </a:rPr>
              <a:t>Physical NIC</a:t>
            </a:r>
            <a:endParaRPr lang="en-US" sz="885" dirty="0"/>
          </a:p>
        </p:txBody>
      </p:sp>
      <p:sp>
        <p:nvSpPr>
          <p:cNvPr id="33" name="Text 29"/>
          <p:cNvSpPr/>
          <p:nvPr/>
        </p:nvSpPr>
        <p:spPr>
          <a:xfrm>
            <a:off x="557213" y="6034683"/>
            <a:ext cx="18002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5000"/>
                  </a:srgbClr>
                </a:solidFill>
                <a:latin typeface="Open Sans" pitchFamily="34" charset="0"/>
                <a:ea typeface="Open Sans" pitchFamily="34" charset="-122"/>
                <a:cs typeface="Open Sans" pitchFamily="34" charset="-120"/>
              </a:rPr>
              <a:t>rte_flow · RSS · MAC/VLAN steering</a:t>
            </a:r>
            <a:endParaRPr lang="en-US" sz="942" dirty="0"/>
          </a:p>
        </p:txBody>
      </p:sp>
      <p:sp>
        <p:nvSpPr>
          <p:cNvPr id="34" name="Text 30"/>
          <p:cNvSpPr/>
          <p:nvPr/>
        </p:nvSpPr>
        <p:spPr>
          <a:xfrm>
            <a:off x="2957513" y="1251942"/>
            <a:ext cx="57292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Poll Mode Driver (PMD)</a:t>
            </a:r>
            <a:endParaRPr lang="en-US" sz="987" dirty="0"/>
          </a:p>
        </p:txBody>
      </p:sp>
      <p:sp>
        <p:nvSpPr>
          <p:cNvPr id="35" name="Text 31"/>
          <p:cNvSpPr/>
          <p:nvPr/>
        </p:nvSpPr>
        <p:spPr>
          <a:xfrm>
            <a:off x="2957513" y="1482328"/>
            <a:ext cx="5729288" cy="933822"/>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Instead of waiting for hardware interrupts, a dedicated CPU core runs in a tight polling loop, continuously checking the NIC's RX descriptor ring for new packets. This eliminates interrupt latency, IRQ handler overhead, and all kernel context switching — at the cost of that core being fully occupied even when the NIC is idle.</a:t>
            </a:r>
            <a:endParaRPr lang="en-US" sz="996" dirty="0"/>
          </a:p>
        </p:txBody>
      </p:sp>
      <p:sp>
        <p:nvSpPr>
          <p:cNvPr id="36" name="Text 32"/>
          <p:cNvSpPr/>
          <p:nvPr/>
        </p:nvSpPr>
        <p:spPr>
          <a:xfrm>
            <a:off x="2957513" y="2566169"/>
            <a:ext cx="57292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Hugepages and Zero-Copy Memory</a:t>
            </a:r>
            <a:endParaRPr lang="en-US" sz="987" dirty="0"/>
          </a:p>
        </p:txBody>
      </p:sp>
      <p:sp>
        <p:nvSpPr>
          <p:cNvPr id="37" name="Text 33"/>
          <p:cNvSpPr/>
          <p:nvPr/>
        </p:nvSpPr>
        <p:spPr>
          <a:xfrm>
            <a:off x="2957513" y="2796555"/>
            <a:ext cx="5729288" cy="933822"/>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DPDK allocates large memory pages (2 MB or 1 GB hugepages) for its packet buffer pools (mempools). This dramatically reduces TLB miss rates and allows the NIC to DMA packet data directly into user-space memory without any kernel involvement or additional memory copies — achieving true zero-copy packet handling.</a:t>
            </a:r>
            <a:endParaRPr lang="en-US" sz="996" dirty="0"/>
          </a:p>
        </p:txBody>
      </p:sp>
      <p:sp>
        <p:nvSpPr>
          <p:cNvPr id="38" name="Text 34"/>
          <p:cNvSpPr/>
          <p:nvPr/>
        </p:nvSpPr>
        <p:spPr>
          <a:xfrm>
            <a:off x="2957513" y="3880396"/>
            <a:ext cx="57292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rte_flow and Receive-Side Scaling (RSS)</a:t>
            </a:r>
            <a:endParaRPr lang="en-US" sz="987" dirty="0"/>
          </a:p>
        </p:txBody>
      </p:sp>
      <p:sp>
        <p:nvSpPr>
          <p:cNvPr id="39" name="Text 35"/>
          <p:cNvSpPr/>
          <p:nvPr/>
        </p:nvSpPr>
        <p:spPr>
          <a:xfrm>
            <a:off x="2957513" y="4110782"/>
            <a:ext cx="5729288" cy="933822"/>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The rte_flow API programs the NIC hardware to steer specific traffic flows directly to designated CPU core queues based on L2–L4 header fields. RSS distributes packets across multiple cores by hashing the 5-tuple (src/dst IP, src/dst port, protocol), enabling linear throughput scaling across many CPU cores without software load balancing.</a:t>
            </a:r>
            <a:endParaRPr lang="en-US" sz="996" dirty="0"/>
          </a:p>
        </p:txBody>
      </p:sp>
      <p:sp>
        <p:nvSpPr>
          <p:cNvPr id="40" name="Text 36"/>
          <p:cNvSpPr/>
          <p:nvPr/>
        </p:nvSpPr>
        <p:spPr>
          <a:xfrm>
            <a:off x="2957513" y="5194622"/>
            <a:ext cx="572928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Best Use Cases</a:t>
            </a:r>
            <a:endParaRPr lang="en-US" sz="987" dirty="0"/>
          </a:p>
        </p:txBody>
      </p:sp>
      <p:sp>
        <p:nvSpPr>
          <p:cNvPr id="41" name="Text 37"/>
          <p:cNvSpPr/>
          <p:nvPr/>
        </p:nvSpPr>
        <p:spPr>
          <a:xfrm>
            <a:off x="2957513" y="5425008"/>
            <a:ext cx="5729288" cy="933822"/>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DPDK excels for East-West traffic (VM-to-VM on the same host), NFV service chaining (vRouter → vFirewall → vLB pipelines), and high-performance virtual switching via OVS-DPDK or VPP. It is the preferred data-plane framework for 5G UPF, virtual DPI, and any application requiring programmable packet processing at line rate.</a:t>
            </a:r>
            <a:endParaRPr lang="en-US" sz="996" dirty="0"/>
          </a:p>
        </p:txBody>
      </p:sp>
      <p:sp>
        <p:nvSpPr>
          <p:cNvPr id="42" name="Shape 38"/>
          <p:cNvSpPr/>
          <p:nvPr/>
        </p:nvSpPr>
        <p:spPr>
          <a:xfrm>
            <a:off x="0" y="6456164"/>
            <a:ext cx="9144000" cy="514350"/>
          </a:xfrm>
          <a:prstGeom prst="rect">
            <a:avLst/>
          </a:prstGeom>
          <a:solidFill>
            <a:srgbClr val="003087"/>
          </a:solidFill>
          <a:ln/>
        </p:spPr>
      </p:sp>
      <p:sp>
        <p:nvSpPr>
          <p:cNvPr id="43" name="Text 39"/>
          <p:cNvSpPr/>
          <p:nvPr/>
        </p:nvSpPr>
        <p:spPr>
          <a:xfrm>
            <a:off x="457200" y="6631186"/>
            <a:ext cx="766167"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50000"/>
                  </a:srgbClr>
                </a:solidFill>
                <a:latin typeface="Space Grotesk" pitchFamily="34" charset="0"/>
                <a:ea typeface="Space Grotesk" pitchFamily="34" charset="-122"/>
                <a:cs typeface="Space Grotesk" pitchFamily="34" charset="-120"/>
              </a:rPr>
              <a:t>KEY FACTS</a:t>
            </a:r>
            <a:endParaRPr lang="en-US" sz="942" dirty="0"/>
          </a:p>
        </p:txBody>
      </p:sp>
      <p:sp>
        <p:nvSpPr>
          <p:cNvPr id="44" name="Text 40"/>
          <p:cNvSpPr/>
          <p:nvPr/>
        </p:nvSpPr>
        <p:spPr>
          <a:xfrm>
            <a:off x="1451967" y="6549033"/>
            <a:ext cx="1779157" cy="328613"/>
          </a:xfrm>
          <a:prstGeom prst="rect">
            <a:avLst/>
          </a:prstGeom>
          <a:noFill/>
          <a:ln/>
        </p:spPr>
        <p:txBody>
          <a:bodyPr wrap="square" lIns="0" tIns="0" rIns="153035" bIns="0" rtlCol="0" anchor="t">
            <a:spAutoFit/>
          </a:bodyPr>
          <a:lstStyle/>
          <a:p>
            <a:pPr marL="0" indent="0" algn="l">
              <a:lnSpc>
                <a:spcPts val="1200"/>
              </a:lnSpc>
              <a:buNone/>
            </a:pPr>
            <a:r>
              <a:rPr lang="en-US" sz="942" dirty="0">
                <a:solidFill>
                  <a:srgbClr val="FFFFFF"/>
                </a:solidFill>
                <a:latin typeface="Space Grotesk" pitchFamily="34" charset="0"/>
                <a:ea typeface="Space Grotesk" pitchFamily="34" charset="-122"/>
                <a:cs typeface="Space Grotesk" pitchFamily="34" charset="-120"/>
              </a:rPr>
              <a:t>Open Source — Linux Foundation</a:t>
            </a:r>
            <a:endParaRPr lang="en-US" sz="942" dirty="0"/>
          </a:p>
        </p:txBody>
      </p:sp>
      <p:sp>
        <p:nvSpPr>
          <p:cNvPr id="45" name="Text 41"/>
          <p:cNvSpPr/>
          <p:nvPr/>
        </p:nvSpPr>
        <p:spPr>
          <a:xfrm>
            <a:off x="3231124" y="6549033"/>
            <a:ext cx="1453362" cy="328613"/>
          </a:xfrm>
          <a:prstGeom prst="rect">
            <a:avLst/>
          </a:prstGeom>
          <a:noFill/>
          <a:ln/>
        </p:spPr>
        <p:txBody>
          <a:bodyPr wrap="square" lIns="153035" tIns="0" rIns="153035" bIns="0" rtlCol="0" anchor="t">
            <a:spAutoFit/>
          </a:bodyPr>
          <a:lstStyle/>
          <a:p>
            <a:pPr marL="0" indent="0" algn="l">
              <a:lnSpc>
                <a:spcPts val="1200"/>
              </a:lnSpc>
              <a:buNone/>
            </a:pPr>
            <a:r>
              <a:rPr lang="en-US" sz="942" dirty="0">
                <a:solidFill>
                  <a:srgbClr val="FFFFFF"/>
                </a:solidFill>
                <a:latin typeface="Space Grotesk" pitchFamily="34" charset="0"/>
                <a:ea typeface="Space Grotesk" pitchFamily="34" charset="-122"/>
                <a:cs typeface="Space Grotesk" pitchFamily="34" charset="-120"/>
              </a:rPr>
              <a:t>Works on Standard NICs</a:t>
            </a:r>
            <a:endParaRPr lang="en-US" sz="942" dirty="0"/>
          </a:p>
        </p:txBody>
      </p:sp>
      <p:sp>
        <p:nvSpPr>
          <p:cNvPr id="46" name="Text 42"/>
          <p:cNvSpPr/>
          <p:nvPr/>
        </p:nvSpPr>
        <p:spPr>
          <a:xfrm>
            <a:off x="4684486" y="6549033"/>
            <a:ext cx="1761046" cy="328613"/>
          </a:xfrm>
          <a:prstGeom prst="rect">
            <a:avLst/>
          </a:prstGeom>
          <a:noFill/>
          <a:ln/>
        </p:spPr>
        <p:txBody>
          <a:bodyPr wrap="square" lIns="153035" tIns="0" rIns="153035" bIns="0" rtlCol="0" anchor="t">
            <a:spAutoFit/>
          </a:bodyPr>
          <a:lstStyle/>
          <a:p>
            <a:pPr marL="0" indent="0" algn="l">
              <a:lnSpc>
                <a:spcPts val="1200"/>
              </a:lnSpc>
              <a:buNone/>
            </a:pPr>
            <a:r>
              <a:rPr lang="en-US" sz="942" dirty="0">
                <a:solidFill>
                  <a:srgbClr val="FFFFFF"/>
                </a:solidFill>
                <a:latin typeface="Space Grotesk" pitchFamily="34" charset="0"/>
                <a:ea typeface="Space Grotesk" pitchFamily="34" charset="-122"/>
                <a:cs typeface="Space Grotesk" pitchFamily="34" charset="-120"/>
              </a:rPr>
              <a:t>No Special Hardware Required</a:t>
            </a:r>
            <a:endParaRPr lang="en-US" sz="942" dirty="0"/>
          </a:p>
        </p:txBody>
      </p:sp>
      <p:sp>
        <p:nvSpPr>
          <p:cNvPr id="47" name="Text 43"/>
          <p:cNvSpPr/>
          <p:nvPr/>
        </p:nvSpPr>
        <p:spPr>
          <a:xfrm>
            <a:off x="6445532" y="6549033"/>
            <a:ext cx="2241268" cy="328613"/>
          </a:xfrm>
          <a:prstGeom prst="rect">
            <a:avLst/>
          </a:prstGeom>
          <a:noFill/>
          <a:ln/>
        </p:spPr>
        <p:txBody>
          <a:bodyPr wrap="square" lIns="153035" tIns="0" rIns="153035" bIns="0" rtlCol="0" anchor="t">
            <a:spAutoFit/>
          </a:bodyPr>
          <a:lstStyle/>
          <a:p>
            <a:pPr marL="0" indent="0" algn="l">
              <a:lnSpc>
                <a:spcPts val="1200"/>
              </a:lnSpc>
              <a:buNone/>
            </a:pPr>
            <a:r>
              <a:rPr lang="en-US" sz="942" dirty="0">
                <a:solidFill>
                  <a:srgbClr val="FFFFFF"/>
                </a:solidFill>
                <a:latin typeface="Space Grotesk" pitchFamily="34" charset="0"/>
                <a:ea typeface="Space Grotesk" pitchFamily="34" charset="-122"/>
                <a:cs typeface="Space Grotesk" pitchFamily="34" charset="-120"/>
              </a:rPr>
              <a:t>Typical Throughput: 10–100 Gbps / core</a:t>
            </a:r>
            <a:endParaRPr lang="en-US" sz="942" dirty="0"/>
          </a:p>
        </p:txBody>
      </p:sp>
      <p:sp>
        <p:nvSpPr>
          <p:cNvPr id="48" name="Shape 44"/>
          <p:cNvSpPr/>
          <p:nvPr/>
        </p:nvSpPr>
        <p:spPr>
          <a:xfrm>
            <a:off x="0" y="6970514"/>
            <a:ext cx="9144000" cy="242888"/>
          </a:xfrm>
          <a:prstGeom prst="rect">
            <a:avLst/>
          </a:prstGeom>
          <a:solidFill>
            <a:srgbClr val="000000">
              <a:alpha val="0"/>
            </a:srgbClr>
          </a:solidFill>
          <a:ln/>
        </p:spPr>
      </p:sp>
      <p:sp>
        <p:nvSpPr>
          <p:cNvPr id="49" name="Shape 45"/>
          <p:cNvSpPr/>
          <p:nvPr/>
        </p:nvSpPr>
        <p:spPr>
          <a:xfrm>
            <a:off x="0" y="6970514"/>
            <a:ext cx="9144000" cy="7144"/>
          </a:xfrm>
          <a:prstGeom prst="rect">
            <a:avLst/>
          </a:prstGeom>
          <a:solidFill>
            <a:srgbClr val="EBEBF0"/>
          </a:solidFill>
          <a:ln/>
        </p:spPr>
      </p:sp>
      <p:sp>
        <p:nvSpPr>
          <p:cNvPr id="50" name="Text 46"/>
          <p:cNvSpPr/>
          <p:nvPr/>
        </p:nvSpPr>
        <p:spPr>
          <a:xfrm>
            <a:off x="457200" y="7005340"/>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51" name="Text 47"/>
          <p:cNvSpPr/>
          <p:nvPr/>
        </p:nvSpPr>
        <p:spPr>
          <a:xfrm>
            <a:off x="8252817" y="7005340"/>
            <a:ext cx="433983"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04 / 15</a:t>
            </a:r>
            <a:endParaRPr lang="en-US" sz="996"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6773838"/>
          </a:xfrm>
          <a:prstGeom prst="rect">
            <a:avLst/>
          </a:prstGeom>
        </p:spPr>
      </p:pic>
      <p:sp>
        <p:nvSpPr>
          <p:cNvPr id="4" name="Text 0"/>
          <p:cNvSpPr/>
          <p:nvPr/>
        </p:nvSpPr>
        <p:spPr>
          <a:xfrm>
            <a:off x="342900" y="271463"/>
            <a:ext cx="7843838"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DPDK — EVALUATION</a:t>
            </a:r>
            <a:endParaRPr lang="en-US" sz="936" dirty="0"/>
          </a:p>
        </p:txBody>
      </p:sp>
      <p:sp>
        <p:nvSpPr>
          <p:cNvPr id="5" name="Text 1"/>
          <p:cNvSpPr/>
          <p:nvPr/>
        </p:nvSpPr>
        <p:spPr>
          <a:xfrm>
            <a:off x="342900" y="501848"/>
            <a:ext cx="7843838" cy="480027"/>
          </a:xfrm>
          <a:prstGeom prst="rect">
            <a:avLst/>
          </a:prstGeom>
          <a:noFill/>
          <a:ln/>
        </p:spPr>
        <p:txBody>
          <a:bodyPr wrap="square" lIns="0" tIns="0" rIns="0" bIns="0" rtlCol="0" anchor="t">
            <a:spAutoFit/>
          </a:bodyPr>
          <a:lstStyle/>
          <a:p>
            <a:pPr marL="0" indent="0" algn="l">
              <a:lnSpc>
                <a:spcPts val="1900"/>
              </a:lnSpc>
              <a:buNone/>
            </a:pPr>
            <a:r>
              <a:rPr lang="en-US" sz="1397" b="1" dirty="0">
                <a:solidFill>
                  <a:srgbClr val="1A1A2E"/>
                </a:solidFill>
                <a:latin typeface="Playfair Display" pitchFamily="34" charset="0"/>
                <a:ea typeface="Playfair Display" pitchFamily="34" charset="-122"/>
                <a:cs typeface="Playfair Display" pitchFamily="34" charset="-120"/>
              </a:rPr>
              <a:t>DPDK Offers Unmatched Flexibility but Demands Dedicated CPU Resources and Engineering Effort</a:t>
            </a:r>
            <a:endParaRPr lang="en-US" sz="1397" dirty="0"/>
          </a:p>
        </p:txBody>
      </p:sp>
      <p:sp>
        <p:nvSpPr>
          <p:cNvPr id="6" name="Shape 2"/>
          <p:cNvSpPr/>
          <p:nvPr/>
        </p:nvSpPr>
        <p:spPr>
          <a:xfrm>
            <a:off x="8186738" y="271463"/>
            <a:ext cx="614363" cy="250031"/>
          </a:xfrm>
          <a:prstGeom prst="rect">
            <a:avLst/>
          </a:prstGeom>
          <a:solidFill>
            <a:srgbClr val="003087"/>
          </a:solidFill>
          <a:ln/>
        </p:spPr>
      </p:sp>
      <p:sp>
        <p:nvSpPr>
          <p:cNvPr id="7" name="Text 3"/>
          <p:cNvSpPr/>
          <p:nvPr/>
        </p:nvSpPr>
        <p:spPr>
          <a:xfrm>
            <a:off x="8186738" y="271463"/>
            <a:ext cx="614363" cy="250031"/>
          </a:xfrm>
          <a:prstGeom prst="rect">
            <a:avLst/>
          </a:prstGeom>
          <a:noFill/>
          <a:ln/>
        </p:spPr>
        <p:txBody>
          <a:bodyPr wrap="square" lIns="136017" tIns="51054" rIns="136017" bIns="51054" rtlCol="0" anchor="t">
            <a:spAutoFit/>
          </a:bodyPr>
          <a:lstStyle/>
          <a:p>
            <a:pPr marL="0" indent="0" algn="l">
              <a:lnSpc>
                <a:spcPts val="1200"/>
              </a:lnSpc>
              <a:buNone/>
            </a:pPr>
            <a:r>
              <a:rPr lang="en-US" sz="885" b="1" kern="0" spc="2" dirty="0">
                <a:solidFill>
                  <a:srgbClr val="FFFFFF"/>
                </a:solidFill>
                <a:latin typeface="Space Grotesk" pitchFamily="34" charset="0"/>
                <a:ea typeface="Space Grotesk" pitchFamily="34" charset="-122"/>
                <a:cs typeface="Space Grotesk" pitchFamily="34" charset="-120"/>
              </a:rPr>
              <a:t>DPDK</a:t>
            </a:r>
            <a:endParaRPr lang="en-US" sz="885" dirty="0"/>
          </a:p>
        </p:txBody>
      </p:sp>
      <p:sp>
        <p:nvSpPr>
          <p:cNvPr id="8" name="Text 4"/>
          <p:cNvSpPr/>
          <p:nvPr/>
        </p:nvSpPr>
        <p:spPr>
          <a:xfrm>
            <a:off x="457200" y="1279234"/>
            <a:ext cx="750094"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03087"/>
                </a:solidFill>
                <a:latin typeface="Playfair Display" pitchFamily="34" charset="0"/>
                <a:ea typeface="Playfair Display" pitchFamily="34" charset="-122"/>
                <a:cs typeface="Playfair Display" pitchFamily="34" charset="-120"/>
              </a:rPr>
              <a:t>Advantages</a:t>
            </a:r>
            <a:endParaRPr lang="en-US" sz="987" dirty="0"/>
          </a:p>
        </p:txBody>
      </p:sp>
      <p:sp>
        <p:nvSpPr>
          <p:cNvPr id="9" name="Text 5"/>
          <p:cNvSpPr/>
          <p:nvPr/>
        </p:nvSpPr>
        <p:spPr>
          <a:xfrm>
            <a:off x="342900" y="1681962"/>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Extremely High Throughput and Low Latency</a:t>
            </a:r>
            <a:endParaRPr lang="en-US" sz="987" dirty="0"/>
          </a:p>
        </p:txBody>
      </p:sp>
      <p:sp>
        <p:nvSpPr>
          <p:cNvPr id="10" name="Text 6"/>
          <p:cNvSpPr/>
          <p:nvPr/>
        </p:nvSpPr>
        <p:spPr>
          <a:xfrm>
            <a:off x="342900" y="1905205"/>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Commonly achieves 10–100 Gbps on a single core with sub-microsecond latency, by eliminating all kernel overhead from the packet path.</a:t>
            </a:r>
            <a:endParaRPr lang="en-US" sz="996" dirty="0"/>
          </a:p>
        </p:txBody>
      </p:sp>
      <p:sp>
        <p:nvSpPr>
          <p:cNvPr id="11" name="Text 7"/>
          <p:cNvSpPr/>
          <p:nvPr/>
        </p:nvSpPr>
        <p:spPr>
          <a:xfrm>
            <a:off x="342900" y="2678125"/>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No Special Hardware Required</a:t>
            </a:r>
            <a:endParaRPr lang="en-US" sz="987" dirty="0"/>
          </a:p>
        </p:txBody>
      </p:sp>
      <p:sp>
        <p:nvSpPr>
          <p:cNvPr id="12" name="Text 8"/>
          <p:cNvSpPr/>
          <p:nvPr/>
        </p:nvSpPr>
        <p:spPr>
          <a:xfrm>
            <a:off x="342900" y="2901367"/>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Works on standard commodity NICs from Intel, Mellanox, Broadcom, and others. No BIOS changes, IOMMU configuration, or SR-IOV capable hardware needed.</a:t>
            </a:r>
            <a:endParaRPr lang="en-US" sz="996" dirty="0"/>
          </a:p>
        </p:txBody>
      </p:sp>
      <p:sp>
        <p:nvSpPr>
          <p:cNvPr id="13" name="Text 9"/>
          <p:cNvSpPr/>
          <p:nvPr/>
        </p:nvSpPr>
        <p:spPr>
          <a:xfrm>
            <a:off x="342900" y="3674287"/>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Highly Flexible and Programmable</a:t>
            </a:r>
            <a:endParaRPr lang="en-US" sz="987" dirty="0"/>
          </a:p>
        </p:txBody>
      </p:sp>
      <p:sp>
        <p:nvSpPr>
          <p:cNvPr id="14" name="Text 10"/>
          <p:cNvSpPr/>
          <p:nvPr/>
        </p:nvSpPr>
        <p:spPr>
          <a:xfrm>
            <a:off x="342900" y="3897530"/>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Developers can implement custom packet processing pipelines, load balancers, firewalls, and virtual switches entirely in user space using the full DPDK API.</a:t>
            </a:r>
            <a:endParaRPr lang="en-US" sz="996" dirty="0"/>
          </a:p>
        </p:txBody>
      </p:sp>
      <p:sp>
        <p:nvSpPr>
          <p:cNvPr id="15" name="Text 11"/>
          <p:cNvSpPr/>
          <p:nvPr/>
        </p:nvSpPr>
        <p:spPr>
          <a:xfrm>
            <a:off x="342900" y="4670450"/>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Foundation for OVS-DPDK and VPP</a:t>
            </a:r>
            <a:endParaRPr lang="en-US" sz="987" dirty="0"/>
          </a:p>
        </p:txBody>
      </p:sp>
      <p:sp>
        <p:nvSpPr>
          <p:cNvPr id="16" name="Text 12"/>
          <p:cNvSpPr/>
          <p:nvPr/>
        </p:nvSpPr>
        <p:spPr>
          <a:xfrm>
            <a:off x="342900" y="4893692"/>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Integrates naturally with Open vSwitch (OVS-DPDK) for high-performance East-West VM-to-VM switching and is the basis of the Vector Packet Processing (VPP) framework.</a:t>
            </a:r>
            <a:endParaRPr lang="en-US" sz="996" dirty="0"/>
          </a:p>
        </p:txBody>
      </p:sp>
      <p:sp>
        <p:nvSpPr>
          <p:cNvPr id="17" name="Text 13"/>
          <p:cNvSpPr/>
          <p:nvPr/>
        </p:nvSpPr>
        <p:spPr>
          <a:xfrm>
            <a:off x="4918472" y="1279234"/>
            <a:ext cx="950119" cy="19109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E63946"/>
                </a:solidFill>
                <a:latin typeface="Playfair Display" pitchFamily="34" charset="0"/>
                <a:ea typeface="Playfair Display" pitchFamily="34" charset="-122"/>
                <a:cs typeface="Playfair Display" pitchFamily="34" charset="-120"/>
              </a:rPr>
              <a:t>Disadvantages</a:t>
            </a:r>
            <a:endParaRPr lang="en-US" sz="987" dirty="0"/>
          </a:p>
        </p:txBody>
      </p:sp>
      <p:sp>
        <p:nvSpPr>
          <p:cNvPr id="18" name="Text 14"/>
          <p:cNvSpPr/>
          <p:nvPr/>
        </p:nvSpPr>
        <p:spPr>
          <a:xfrm>
            <a:off x="4804172" y="1681962"/>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Dedicated CPU Cores Consumed by Busy-Polling</a:t>
            </a:r>
            <a:endParaRPr lang="en-US" sz="987" dirty="0"/>
          </a:p>
        </p:txBody>
      </p:sp>
      <p:sp>
        <p:nvSpPr>
          <p:cNvPr id="19" name="Text 15"/>
          <p:cNvSpPr/>
          <p:nvPr/>
        </p:nvSpPr>
        <p:spPr>
          <a:xfrm>
            <a:off x="4804172" y="1905205"/>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The polling model permanently occupies dedicated CPU cores even when no traffic is present — those cores cannot be shared with or reclaimed by other workloads.</a:t>
            </a:r>
            <a:endParaRPr lang="en-US" sz="996" dirty="0"/>
          </a:p>
        </p:txBody>
      </p:sp>
      <p:sp>
        <p:nvSpPr>
          <p:cNvPr id="20" name="Text 16"/>
          <p:cNvSpPr/>
          <p:nvPr/>
        </p:nvSpPr>
        <p:spPr>
          <a:xfrm>
            <a:off x="4804172" y="2678125"/>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Standard Linux Tools Do Not Work</a:t>
            </a:r>
            <a:endParaRPr lang="en-US" sz="987" dirty="0"/>
          </a:p>
        </p:txBody>
      </p:sp>
      <p:sp>
        <p:nvSpPr>
          <p:cNvPr id="21" name="Text 17"/>
          <p:cNvSpPr/>
          <p:nvPr/>
        </p:nvSpPr>
        <p:spPr>
          <a:xfrm>
            <a:off x="4804172" y="2901367"/>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tcpdump, iptables, netstat, and other standard Linux network utilities cannot observe or interact with DPDK-managed interfaces, complicating troubleshooting and monitoring.</a:t>
            </a:r>
            <a:endParaRPr lang="en-US" sz="996" dirty="0"/>
          </a:p>
        </p:txBody>
      </p:sp>
      <p:sp>
        <p:nvSpPr>
          <p:cNvPr id="22" name="Text 18"/>
          <p:cNvSpPr/>
          <p:nvPr/>
        </p:nvSpPr>
        <p:spPr>
          <a:xfrm>
            <a:off x="4804172" y="3674287"/>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High Development Complexity</a:t>
            </a:r>
            <a:endParaRPr lang="en-US" sz="987" dirty="0"/>
          </a:p>
        </p:txBody>
      </p:sp>
      <p:sp>
        <p:nvSpPr>
          <p:cNvPr id="23" name="Text 19"/>
          <p:cNvSpPr/>
          <p:nvPr/>
        </p:nvSpPr>
        <p:spPr>
          <a:xfrm>
            <a:off x="4804172" y="3897530"/>
            <a:ext cx="3996928" cy="868635"/>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Requires expertise in lock-free data structures, NUMA-aware memory allocation, hugepage management, and NIC-specific PMD behaviour — significantly steeper than standard socket programming.</a:t>
            </a:r>
            <a:endParaRPr lang="en-US" sz="996" dirty="0"/>
          </a:p>
        </p:txBody>
      </p:sp>
      <p:sp>
        <p:nvSpPr>
          <p:cNvPr id="24" name="Text 20"/>
          <p:cNvSpPr/>
          <p:nvPr/>
        </p:nvSpPr>
        <p:spPr>
          <a:xfrm>
            <a:off x="4804172" y="4887609"/>
            <a:ext cx="399692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Live Migration Requires Additional Configuration</a:t>
            </a:r>
            <a:endParaRPr lang="en-US" sz="987" dirty="0"/>
          </a:p>
        </p:txBody>
      </p:sp>
      <p:sp>
        <p:nvSpPr>
          <p:cNvPr id="25" name="Text 21"/>
          <p:cNvSpPr/>
          <p:nvPr/>
        </p:nvSpPr>
        <p:spPr>
          <a:xfrm>
            <a:off x="4804172" y="5110851"/>
            <a:ext cx="3996928" cy="651477"/>
          </a:xfrm>
          <a:prstGeom prst="rect">
            <a:avLst/>
          </a:prstGeom>
          <a:noFill/>
          <a:ln/>
        </p:spPr>
        <p:txBody>
          <a:bodyPr wrap="square" lIns="0" tIns="0" rIns="0" bIns="0" rtlCol="0" anchor="t">
            <a:spAutoFit/>
          </a:bodyPr>
          <a:lstStyle/>
          <a:p>
            <a:pPr marL="0" indent="0" algn="l">
              <a:lnSpc>
                <a:spcPts val="1700"/>
              </a:lnSpc>
              <a:buNone/>
            </a:pPr>
            <a:r>
              <a:rPr lang="en-US" sz="996" dirty="0">
                <a:solidFill>
                  <a:srgbClr val="4A4A6A"/>
                </a:solidFill>
                <a:latin typeface="Open Sans" pitchFamily="34" charset="0"/>
                <a:ea typeface="Open Sans" pitchFamily="34" charset="-122"/>
                <a:cs typeface="Open Sans" pitchFamily="34" charset="-120"/>
              </a:rPr>
              <a:t>VM live migration is only possible when combined with OVS-DPDK, which adds considerable configuration and operational complexity compared to standard virtio networking.</a:t>
            </a:r>
            <a:endParaRPr lang="en-US" sz="996" dirty="0"/>
          </a:p>
        </p:txBody>
      </p:sp>
      <p:sp>
        <p:nvSpPr>
          <p:cNvPr id="26" name="Shape 22"/>
          <p:cNvSpPr/>
          <p:nvPr/>
        </p:nvSpPr>
        <p:spPr>
          <a:xfrm>
            <a:off x="0" y="5940921"/>
            <a:ext cx="9144000" cy="575742"/>
          </a:xfrm>
          <a:prstGeom prst="rect">
            <a:avLst/>
          </a:prstGeom>
          <a:solidFill>
            <a:srgbClr val="F7F8FC"/>
          </a:solidFill>
          <a:ln/>
        </p:spPr>
      </p:sp>
      <p:sp>
        <p:nvSpPr>
          <p:cNvPr id="27" name="Text 23"/>
          <p:cNvSpPr/>
          <p:nvPr/>
        </p:nvSpPr>
        <p:spPr>
          <a:xfrm>
            <a:off x="342900" y="5998071"/>
            <a:ext cx="8458200" cy="461442"/>
          </a:xfrm>
          <a:prstGeom prst="rect">
            <a:avLst/>
          </a:prstGeom>
          <a:noFill/>
          <a:ln/>
        </p:spPr>
        <p:txBody>
          <a:bodyPr wrap="square" lIns="0" tIns="0" rIns="0" bIns="0" rtlCol="0" anchor="t">
            <a:spAutoFit/>
          </a:bodyPr>
          <a:lstStyle/>
          <a:p>
            <a:pPr marL="0" indent="0" algn="l">
              <a:lnSpc>
                <a:spcPts val="1800"/>
              </a:lnSpc>
              <a:buNone/>
            </a:pPr>
            <a:r>
              <a:rPr lang="en-US" sz="936" b="1" dirty="0">
                <a:solidFill>
                  <a:srgbClr val="1A1A2E"/>
                </a:solidFill>
                <a:latin typeface="Open Sans" pitchFamily="34" charset="0"/>
                <a:ea typeface="Open Sans" pitchFamily="34" charset="-122"/>
                <a:cs typeface="Open Sans" pitchFamily="34" charset="-120"/>
              </a:rPr>
              <a:t>Combined Usage:</a:t>
            </a:r>
            <a:r>
              <a:rPr lang="en-US" sz="996" dirty="0">
                <a:solidFill>
                  <a:srgbClr val="4A4A6A"/>
                </a:solidFill>
                <a:latin typeface="Open Sans" pitchFamily="34" charset="0"/>
                <a:ea typeface="Open Sans" pitchFamily="34" charset="-122"/>
                <a:cs typeface="Open Sans" pitchFamily="34" charset="-120"/>
              </a:rPr>
              <a:t> SR-IOV + DPDK is the premier NFV combination — SR-IOV bypasses the hypervisor vSwitch, then DPDK bypasses the guest kernel, creating a two-level bypass that delivers near bare-metal performance inside a VM.</a:t>
            </a:r>
            <a:endParaRPr lang="en-US" sz="936" dirty="0"/>
          </a:p>
        </p:txBody>
      </p:sp>
      <p:sp>
        <p:nvSpPr>
          <p:cNvPr id="28" name="Shape 24"/>
          <p:cNvSpPr/>
          <p:nvPr/>
        </p:nvSpPr>
        <p:spPr>
          <a:xfrm>
            <a:off x="0" y="6516663"/>
            <a:ext cx="9144000" cy="257175"/>
          </a:xfrm>
          <a:prstGeom prst="rect">
            <a:avLst/>
          </a:prstGeom>
          <a:solidFill>
            <a:srgbClr val="000000">
              <a:alpha val="0"/>
            </a:srgbClr>
          </a:solidFill>
          <a:ln/>
        </p:spPr>
      </p:sp>
      <p:sp>
        <p:nvSpPr>
          <p:cNvPr id="29" name="Shape 25"/>
          <p:cNvSpPr/>
          <p:nvPr/>
        </p:nvSpPr>
        <p:spPr>
          <a:xfrm>
            <a:off x="0" y="6516663"/>
            <a:ext cx="9144000" cy="7144"/>
          </a:xfrm>
          <a:prstGeom prst="rect">
            <a:avLst/>
          </a:prstGeom>
          <a:solidFill>
            <a:srgbClr val="EBEBF0"/>
          </a:solidFill>
          <a:ln/>
        </p:spPr>
      </p:sp>
      <p:sp>
        <p:nvSpPr>
          <p:cNvPr id="30" name="Text 26"/>
          <p:cNvSpPr/>
          <p:nvPr/>
        </p:nvSpPr>
        <p:spPr>
          <a:xfrm>
            <a:off x="342900" y="6558632"/>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31" name="Text 27"/>
          <p:cNvSpPr/>
          <p:nvPr/>
        </p:nvSpPr>
        <p:spPr>
          <a:xfrm>
            <a:off x="8370689" y="6558632"/>
            <a:ext cx="430411"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05 / 15</a:t>
            </a:r>
            <a:endParaRPr lang="en-US" sz="996"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3DDB9-D0E7-48A9-85E8-79B4E01D50D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B97D32FE-9C20-A34D-335B-0D288BA21B33}"/>
              </a:ext>
            </a:extLst>
          </p:cNvPr>
          <p:cNvSpPr/>
          <p:nvPr/>
        </p:nvSpPr>
        <p:spPr>
          <a:xfrm>
            <a:off x="457200" y="328613"/>
            <a:ext cx="35718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VMDQ ARCHITECTURE</a:t>
            </a:r>
            <a:endParaRPr lang="en-US" sz="936" dirty="0"/>
          </a:p>
        </p:txBody>
      </p:sp>
      <p:sp>
        <p:nvSpPr>
          <p:cNvPr id="5" name="Shape 1">
            <a:extLst>
              <a:ext uri="{FF2B5EF4-FFF2-40B4-BE49-F238E27FC236}">
                <a16:creationId xmlns:a16="http://schemas.microsoft.com/office/drawing/2014/main" id="{38CA9205-344C-DD9B-9F6C-A95F4731CFF1}"/>
              </a:ext>
            </a:extLst>
          </p:cNvPr>
          <p:cNvSpPr/>
          <p:nvPr/>
        </p:nvSpPr>
        <p:spPr>
          <a:xfrm>
            <a:off x="457200" y="587573"/>
            <a:ext cx="3571875" cy="230386"/>
          </a:xfrm>
          <a:prstGeom prst="rect">
            <a:avLst/>
          </a:prstGeom>
          <a:solidFill>
            <a:srgbClr val="1A6B72"/>
          </a:solidFill>
          <a:ln/>
        </p:spPr>
      </p:sp>
      <p:sp>
        <p:nvSpPr>
          <p:cNvPr id="6" name="Text 2">
            <a:extLst>
              <a:ext uri="{FF2B5EF4-FFF2-40B4-BE49-F238E27FC236}">
                <a16:creationId xmlns:a16="http://schemas.microsoft.com/office/drawing/2014/main" id="{D4EB68BD-7E9F-D283-8E84-E7DB1373B2C9}"/>
              </a:ext>
            </a:extLst>
          </p:cNvPr>
          <p:cNvSpPr/>
          <p:nvPr/>
        </p:nvSpPr>
        <p:spPr>
          <a:xfrm>
            <a:off x="457200" y="587573"/>
            <a:ext cx="3571875" cy="230386"/>
          </a:xfrm>
          <a:prstGeom prst="rect">
            <a:avLst/>
          </a:prstGeom>
          <a:noFill/>
          <a:ln/>
        </p:spPr>
        <p:txBody>
          <a:bodyPr wrap="none" lIns="102108" tIns="34036" rIns="102108"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 · HYPERVISOR OFFLOAD · INTEL HARDWARE</a:t>
            </a:r>
            <a:endParaRPr lang="en-US" sz="936" dirty="0"/>
          </a:p>
        </p:txBody>
      </p:sp>
      <p:sp>
        <p:nvSpPr>
          <p:cNvPr id="7" name="Text 3">
            <a:extLst>
              <a:ext uri="{FF2B5EF4-FFF2-40B4-BE49-F238E27FC236}">
                <a16:creationId xmlns:a16="http://schemas.microsoft.com/office/drawing/2014/main" id="{F2F4D8E5-CE9E-B4AC-BA1B-B3D48F5B127E}"/>
              </a:ext>
            </a:extLst>
          </p:cNvPr>
          <p:cNvSpPr/>
          <p:nvPr/>
        </p:nvSpPr>
        <p:spPr>
          <a:xfrm>
            <a:off x="372421" y="918438"/>
            <a:ext cx="7797403" cy="226922"/>
          </a:xfrm>
          <a:prstGeom prst="rect">
            <a:avLst/>
          </a:prstGeom>
          <a:noFill/>
          <a:ln/>
        </p:spPr>
        <p:txBody>
          <a:bodyPr wrap="square" lIns="0" tIns="0" rIns="0" bIns="0" rtlCol="0" anchor="t">
            <a:spAutoFit/>
          </a:bodyPr>
          <a:lstStyle/>
          <a:p>
            <a:pPr marL="0" indent="0" algn="l">
              <a:lnSpc>
                <a:spcPts val="1900"/>
              </a:lnSpc>
              <a:buNone/>
            </a:pPr>
            <a:r>
              <a:rPr lang="en-US" sz="1346" b="1" dirty="0">
                <a:solidFill>
                  <a:srgbClr val="1A1A2E"/>
                </a:solidFill>
                <a:latin typeface="Playfair Display" pitchFamily="34" charset="0"/>
                <a:ea typeface="Playfair Display" pitchFamily="34" charset="-122"/>
                <a:cs typeface="Playfair Display" pitchFamily="34" charset="-120"/>
              </a:rPr>
              <a:t>Intelligent Hardware Queue Offload Reduces Hypervisor CPU Without Removing the vSwitch</a:t>
            </a:r>
            <a:endParaRPr lang="en-US" sz="1346" dirty="0"/>
          </a:p>
        </p:txBody>
      </p:sp>
      <p:sp>
        <p:nvSpPr>
          <p:cNvPr id="18" name="Text 14">
            <a:extLst>
              <a:ext uri="{FF2B5EF4-FFF2-40B4-BE49-F238E27FC236}">
                <a16:creationId xmlns:a16="http://schemas.microsoft.com/office/drawing/2014/main" id="{D94A72F5-91E6-4713-1896-083FD0CDAB8E}"/>
              </a:ext>
            </a:extLst>
          </p:cNvPr>
          <p:cNvSpPr/>
          <p:nvPr/>
        </p:nvSpPr>
        <p:spPr>
          <a:xfrm>
            <a:off x="4400550" y="328613"/>
            <a:ext cx="4286250"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ARCHITECTURE COMPARISON — NORMAL VS VMDQ VS SR-IOV</a:t>
            </a:r>
            <a:endParaRPr lang="en-US" sz="942" dirty="0"/>
          </a:p>
        </p:txBody>
      </p:sp>
      <p:sp>
        <p:nvSpPr>
          <p:cNvPr id="24" name="Shape 19">
            <a:extLst>
              <a:ext uri="{FF2B5EF4-FFF2-40B4-BE49-F238E27FC236}">
                <a16:creationId xmlns:a16="http://schemas.microsoft.com/office/drawing/2014/main" id="{BF4CBC79-1AE9-8919-EC78-0A9EF8CF7353}"/>
              </a:ext>
            </a:extLst>
          </p:cNvPr>
          <p:cNvSpPr/>
          <p:nvPr/>
        </p:nvSpPr>
        <p:spPr>
          <a:xfrm>
            <a:off x="0" y="7526778"/>
            <a:ext cx="9144000" cy="257175"/>
          </a:xfrm>
          <a:prstGeom prst="rect">
            <a:avLst/>
          </a:prstGeom>
          <a:solidFill>
            <a:srgbClr val="000000">
              <a:alpha val="0"/>
            </a:srgbClr>
          </a:solidFill>
          <a:ln/>
        </p:spPr>
      </p:sp>
      <p:sp>
        <p:nvSpPr>
          <p:cNvPr id="25" name="Shape 20">
            <a:extLst>
              <a:ext uri="{FF2B5EF4-FFF2-40B4-BE49-F238E27FC236}">
                <a16:creationId xmlns:a16="http://schemas.microsoft.com/office/drawing/2014/main" id="{D6F20614-376B-7D77-A44D-A9AAC75B2968}"/>
              </a:ext>
            </a:extLst>
          </p:cNvPr>
          <p:cNvSpPr/>
          <p:nvPr/>
        </p:nvSpPr>
        <p:spPr>
          <a:xfrm>
            <a:off x="0" y="7526778"/>
            <a:ext cx="9144000" cy="7144"/>
          </a:xfrm>
          <a:prstGeom prst="rect">
            <a:avLst/>
          </a:prstGeom>
          <a:solidFill>
            <a:srgbClr val="EBEBF0"/>
          </a:solidFill>
          <a:ln/>
        </p:spPr>
      </p:sp>
      <p:grpSp>
        <p:nvGrpSpPr>
          <p:cNvPr id="28" name="Group 27">
            <a:extLst>
              <a:ext uri="{FF2B5EF4-FFF2-40B4-BE49-F238E27FC236}">
                <a16:creationId xmlns:a16="http://schemas.microsoft.com/office/drawing/2014/main" id="{6A69F608-EEA5-81F8-74FF-D01FB3D7BF5D}"/>
              </a:ext>
            </a:extLst>
          </p:cNvPr>
          <p:cNvGrpSpPr/>
          <p:nvPr/>
        </p:nvGrpSpPr>
        <p:grpSpPr>
          <a:xfrm>
            <a:off x="521352" y="1771902"/>
            <a:ext cx="7526579" cy="2285370"/>
            <a:chOff x="4400550" y="6195250"/>
            <a:chExt cx="4314825" cy="1546733"/>
          </a:xfrm>
        </p:grpSpPr>
        <p:sp>
          <p:nvSpPr>
            <p:cNvPr id="20" name="Shape 15">
              <a:extLst>
                <a:ext uri="{FF2B5EF4-FFF2-40B4-BE49-F238E27FC236}">
                  <a16:creationId xmlns:a16="http://schemas.microsoft.com/office/drawing/2014/main" id="{12293ADF-F0C7-BFBE-0A7C-4B0E19331D5A}"/>
                </a:ext>
              </a:extLst>
            </p:cNvPr>
            <p:cNvSpPr/>
            <p:nvPr/>
          </p:nvSpPr>
          <p:spPr>
            <a:xfrm>
              <a:off x="4429125" y="6237219"/>
              <a:ext cx="4286250" cy="1331528"/>
            </a:xfrm>
            <a:prstGeom prst="rect">
              <a:avLst/>
            </a:prstGeom>
            <a:solidFill>
              <a:srgbClr val="F0F7F7"/>
            </a:solidFill>
            <a:ln/>
          </p:spPr>
        </p:sp>
        <p:sp>
          <p:nvSpPr>
            <p:cNvPr id="21" name="Shape 16">
              <a:extLst>
                <a:ext uri="{FF2B5EF4-FFF2-40B4-BE49-F238E27FC236}">
                  <a16:creationId xmlns:a16="http://schemas.microsoft.com/office/drawing/2014/main" id="{8217B0D3-92D7-7F55-5AD0-55B0E3BD3134}"/>
                </a:ext>
              </a:extLst>
            </p:cNvPr>
            <p:cNvSpPr/>
            <p:nvPr/>
          </p:nvSpPr>
          <p:spPr>
            <a:xfrm>
              <a:off x="4400550" y="6195250"/>
              <a:ext cx="28575" cy="1331528"/>
            </a:xfrm>
            <a:prstGeom prst="rect">
              <a:avLst/>
            </a:prstGeom>
            <a:solidFill>
              <a:srgbClr val="1A6B72"/>
            </a:solidFill>
            <a:ln/>
          </p:spPr>
        </p:sp>
        <p:sp>
          <p:nvSpPr>
            <p:cNvPr id="22" name="Text 17">
              <a:extLst>
                <a:ext uri="{FF2B5EF4-FFF2-40B4-BE49-F238E27FC236}">
                  <a16:creationId xmlns:a16="http://schemas.microsoft.com/office/drawing/2014/main" id="{E8E468F4-0494-9943-2476-4CCE7B850147}"/>
                </a:ext>
              </a:extLst>
            </p:cNvPr>
            <p:cNvSpPr/>
            <p:nvPr/>
          </p:nvSpPr>
          <p:spPr>
            <a:xfrm>
              <a:off x="4543425" y="6309550"/>
              <a:ext cx="447794" cy="114740"/>
            </a:xfrm>
            <a:prstGeom prst="rect">
              <a:avLst/>
            </a:prstGeom>
            <a:noFill/>
            <a:ln/>
          </p:spPr>
          <p:txBody>
            <a:bodyPr wrap="none" lIns="0" tIns="0" rIns="0" bIns="0" rtlCol="0" anchor="t">
              <a:spAutoFit/>
            </a:bodyPr>
            <a:lstStyle/>
            <a:p>
              <a:pPr marL="0" indent="0" algn="l">
                <a:lnSpc>
                  <a:spcPts val="1200"/>
                </a:lnSpc>
                <a:buNone/>
              </a:pPr>
              <a:r>
                <a:rPr lang="en-US" sz="1600" kern="0" spc="2" dirty="0">
                  <a:solidFill>
                    <a:srgbClr val="1A6B72"/>
                  </a:solidFill>
                  <a:latin typeface="Space Grotesk" pitchFamily="34" charset="0"/>
                  <a:ea typeface="Space Grotesk" pitchFamily="34" charset="-122"/>
                </a:rPr>
                <a:t>YouTube </a:t>
              </a:r>
              <a:endParaRPr lang="en-US" sz="1600" dirty="0"/>
            </a:p>
          </p:txBody>
        </p:sp>
        <p:sp>
          <p:nvSpPr>
            <p:cNvPr id="23" name="Text 18">
              <a:extLst>
                <a:ext uri="{FF2B5EF4-FFF2-40B4-BE49-F238E27FC236}">
                  <a16:creationId xmlns:a16="http://schemas.microsoft.com/office/drawing/2014/main" id="{79D45B04-1CFC-421D-1AB7-D17CCB9AE940}"/>
                </a:ext>
              </a:extLst>
            </p:cNvPr>
            <p:cNvSpPr/>
            <p:nvPr/>
          </p:nvSpPr>
          <p:spPr>
            <a:xfrm>
              <a:off x="4543425" y="6516719"/>
              <a:ext cx="4000500" cy="499926"/>
            </a:xfrm>
            <a:prstGeom prst="rect">
              <a:avLst/>
            </a:prstGeom>
            <a:noFill/>
            <a:ln/>
          </p:spPr>
          <p:txBody>
            <a:bodyPr wrap="square" lIns="0" tIns="0" rIns="0" bIns="0" rtlCol="0" anchor="t">
              <a:spAutoFit/>
            </a:bodyPr>
            <a:lstStyle/>
            <a:p>
              <a:r>
                <a:rPr lang="en-US" sz="1600" dirty="0"/>
                <a:t>Intel DPDK Explanation</a:t>
              </a:r>
            </a:p>
            <a:p>
              <a:r>
                <a:rPr lang="en-US" sz="1600" dirty="0">
                  <a:hlinkClick r:id="rId3"/>
                </a:rPr>
                <a:t>https://www.youtube.com/watch?v=1DWxo2gF-RQ&amp;t</a:t>
              </a:r>
              <a:r>
                <a:rPr lang="en-US" sz="1600">
                  <a:hlinkClick r:id="rId3"/>
                </a:rPr>
                <a:t>=320s</a:t>
              </a:r>
              <a:endParaRPr lang="en-US" sz="1600"/>
            </a:p>
            <a:p>
              <a:endParaRPr lang="en-US" sz="1600" dirty="0"/>
            </a:p>
          </p:txBody>
        </p:sp>
        <p:sp>
          <p:nvSpPr>
            <p:cNvPr id="27" name="Text 22">
              <a:extLst>
                <a:ext uri="{FF2B5EF4-FFF2-40B4-BE49-F238E27FC236}">
                  <a16:creationId xmlns:a16="http://schemas.microsoft.com/office/drawing/2014/main" id="{F94645A7-AA33-65F0-FC3C-6E0745F1D55C}"/>
                </a:ext>
              </a:extLst>
            </p:cNvPr>
            <p:cNvSpPr/>
            <p:nvPr/>
          </p:nvSpPr>
          <p:spPr>
            <a:xfrm>
              <a:off x="8254603" y="7568747"/>
              <a:ext cx="43219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08 / 15</a:t>
              </a:r>
              <a:endParaRPr lang="en-US" sz="996" dirty="0"/>
            </a:p>
          </p:txBody>
        </p:sp>
      </p:grpSp>
    </p:spTree>
    <p:extLst>
      <p:ext uri="{BB962C8B-B14F-4D97-AF65-F5344CB8AC3E}">
        <p14:creationId xmlns:p14="http://schemas.microsoft.com/office/powerpoint/2010/main" val="1944026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6128947"/>
          </a:xfrm>
          <a:prstGeom prst="rect">
            <a:avLst/>
          </a:prstGeom>
        </p:spPr>
      </p:pic>
      <p:sp>
        <p:nvSpPr>
          <p:cNvPr id="4" name="Text 0"/>
          <p:cNvSpPr/>
          <p:nvPr/>
        </p:nvSpPr>
        <p:spPr>
          <a:xfrm>
            <a:off x="457200" y="271463"/>
            <a:ext cx="82296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ADDRESSING AND FORWARDING — CROSS-TECHNOLOGY ANALYSIS</a:t>
            </a:r>
            <a:endParaRPr lang="en-US" sz="936" dirty="0"/>
          </a:p>
        </p:txBody>
      </p:sp>
      <p:sp>
        <p:nvSpPr>
          <p:cNvPr id="5" name="Text 1"/>
          <p:cNvSpPr/>
          <p:nvPr/>
        </p:nvSpPr>
        <p:spPr>
          <a:xfrm>
            <a:off x="457200" y="487561"/>
            <a:ext cx="8229600" cy="232172"/>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1A1A2E"/>
                </a:solidFill>
                <a:latin typeface="Playfair Display" pitchFamily="34" charset="0"/>
                <a:ea typeface="Playfair Display" pitchFamily="34" charset="-122"/>
                <a:cs typeface="Playfair Display" pitchFamily="34" charset="-120"/>
              </a:rPr>
              <a:t>Switching Is Never Eliminated — It Moves Into Silicon, User Space, or the NIC Queue</a:t>
            </a:r>
            <a:endParaRPr lang="en-US" sz="1295" dirty="0"/>
          </a:p>
        </p:txBody>
      </p:sp>
      <p:sp>
        <p:nvSpPr>
          <p:cNvPr id="6" name="Text 2"/>
          <p:cNvSpPr/>
          <p:nvPr/>
        </p:nvSpPr>
        <p:spPr>
          <a:xfrm>
            <a:off x="457200" y="862608"/>
            <a:ext cx="8229600" cy="41790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All three technologies bypass the </a:t>
            </a:r>
            <a:r>
              <a:rPr lang="en-US" sz="961" b="1" dirty="0">
                <a:solidFill>
                  <a:srgbClr val="1A1A2E"/>
                </a:solidFill>
                <a:latin typeface="Open Sans" pitchFamily="34" charset="0"/>
                <a:ea typeface="Open Sans" pitchFamily="34" charset="-122"/>
                <a:cs typeface="Open Sans" pitchFamily="34" charset="-120"/>
              </a:rPr>
              <a:t>software virtual switch</a:t>
            </a:r>
            <a:r>
              <a:rPr lang="en-US" sz="1023" dirty="0">
                <a:solidFill>
                  <a:srgbClr val="4A4A6A"/>
                </a:solidFill>
                <a:latin typeface="Open Sans" pitchFamily="34" charset="0"/>
                <a:ea typeface="Open Sans" pitchFamily="34" charset="-122"/>
                <a:cs typeface="Open Sans" pitchFamily="34" charset="-120"/>
              </a:rPr>
              <a:t>, but switching still occurs using </a:t>
            </a:r>
            <a:r>
              <a:rPr lang="en-US" sz="961" b="1" dirty="0">
                <a:solidFill>
                  <a:srgbClr val="1A1A2E"/>
                </a:solidFill>
                <a:latin typeface="Open Sans" pitchFamily="34" charset="0"/>
                <a:ea typeface="Open Sans" pitchFamily="34" charset="-122"/>
                <a:cs typeface="Open Sans" pitchFamily="34" charset="-120"/>
              </a:rPr>
              <a:t>MAC address and VLAN tag addressing</a:t>
            </a:r>
            <a:r>
              <a:rPr lang="en-US" sz="1023" dirty="0">
                <a:solidFill>
                  <a:srgbClr val="4A4A6A"/>
                </a:solidFill>
                <a:latin typeface="Open Sans" pitchFamily="34" charset="0"/>
                <a:ea typeface="Open Sans" pitchFamily="34" charset="-122"/>
                <a:cs typeface="Open Sans" pitchFamily="34" charset="-120"/>
              </a:rPr>
              <a:t>. The function is relocated to hardware, user space, or pre-sorted NIC queues rather than in the kernel.</a:t>
            </a:r>
            <a:endParaRPr lang="en-US" sz="1023" dirty="0"/>
          </a:p>
        </p:txBody>
      </p:sp>
      <p:sp>
        <p:nvSpPr>
          <p:cNvPr id="7" name="Text 3"/>
          <p:cNvSpPr/>
          <p:nvPr/>
        </p:nvSpPr>
        <p:spPr>
          <a:xfrm>
            <a:off x="571500" y="1401961"/>
            <a:ext cx="1693069" cy="171450"/>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SR-IOV</a:t>
            </a:r>
            <a:endParaRPr lang="en-US" sz="987" dirty="0"/>
          </a:p>
        </p:txBody>
      </p:sp>
      <p:sp>
        <p:nvSpPr>
          <p:cNvPr id="8" name="Text 4"/>
          <p:cNvSpPr/>
          <p:nvPr/>
        </p:nvSpPr>
        <p:spPr>
          <a:xfrm>
            <a:off x="571500" y="1594842"/>
            <a:ext cx="1693069"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E63946"/>
                </a:solidFill>
                <a:latin typeface="Space Grotesk" pitchFamily="34" charset="0"/>
                <a:ea typeface="Space Grotesk" pitchFamily="34" charset="-122"/>
                <a:cs typeface="Space Grotesk" pitchFamily="34" charset="-120"/>
              </a:rPr>
              <a:t>NIC HARDWARE ESWITCH</a:t>
            </a:r>
            <a:endParaRPr lang="en-US" sz="885" dirty="0"/>
          </a:p>
        </p:txBody>
      </p:sp>
      <p:sp>
        <p:nvSpPr>
          <p:cNvPr id="9" name="Text 5"/>
          <p:cNvSpPr/>
          <p:nvPr/>
        </p:nvSpPr>
        <p:spPr>
          <a:xfrm>
            <a:off x="457200" y="1866305"/>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WHERE SWITCHING HAPPENS</a:t>
            </a:r>
            <a:endParaRPr lang="en-US" sz="885" dirty="0"/>
          </a:p>
        </p:txBody>
      </p:sp>
      <p:sp>
        <p:nvSpPr>
          <p:cNvPr id="10" name="Text 6"/>
          <p:cNvSpPr/>
          <p:nvPr/>
        </p:nvSpPr>
        <p:spPr>
          <a:xfrm>
            <a:off x="457200" y="2052042"/>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Inside the NIC Silicon</a:t>
            </a:r>
            <a:endParaRPr lang="en-US" sz="936" dirty="0"/>
          </a:p>
        </p:txBody>
      </p:sp>
      <p:sp>
        <p:nvSpPr>
          <p:cNvPr id="11" name="Text 7"/>
          <p:cNvSpPr/>
          <p:nvPr/>
        </p:nvSpPr>
        <p:spPr>
          <a:xfrm>
            <a:off x="457200" y="2250281"/>
            <a:ext cx="2433647"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NIC contains a hardware eSwitch that maps MAC+VLAN to VF ports in silicon.</a:t>
            </a:r>
            <a:endParaRPr lang="en-US" sz="942" dirty="0"/>
          </a:p>
        </p:txBody>
      </p:sp>
      <p:sp>
        <p:nvSpPr>
          <p:cNvPr id="12" name="Text 8"/>
          <p:cNvSpPr/>
          <p:nvPr/>
        </p:nvSpPr>
        <p:spPr>
          <a:xfrm>
            <a:off x="457200" y="2728913"/>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ADDRESSING MECHANISM</a:t>
            </a:r>
            <a:endParaRPr lang="en-US" sz="885" dirty="0"/>
          </a:p>
        </p:txBody>
      </p:sp>
      <p:sp>
        <p:nvSpPr>
          <p:cNvPr id="13" name="Text 9"/>
          <p:cNvSpPr/>
          <p:nvPr/>
        </p:nvSpPr>
        <p:spPr>
          <a:xfrm>
            <a:off x="457200" y="2914650"/>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MAC Address + VLAN ID per VF</a:t>
            </a:r>
            <a:endParaRPr lang="en-US" sz="936" dirty="0"/>
          </a:p>
        </p:txBody>
      </p:sp>
      <p:sp>
        <p:nvSpPr>
          <p:cNvPr id="14" name="Text 10"/>
          <p:cNvSpPr/>
          <p:nvPr/>
        </p:nvSpPr>
        <p:spPr>
          <a:xfrm>
            <a:off x="457200" y="3112889"/>
            <a:ext cx="2433647" cy="771525"/>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PF assigns each VF a MAC and optional VLAN; the eSwitch classifies frames and delivers them to the correct VF without CPU involvement.</a:t>
            </a:r>
            <a:endParaRPr lang="en-US" sz="942" dirty="0"/>
          </a:p>
        </p:txBody>
      </p:sp>
      <p:sp>
        <p:nvSpPr>
          <p:cNvPr id="15" name="Text 11"/>
          <p:cNvSpPr/>
          <p:nvPr/>
        </p:nvSpPr>
        <p:spPr>
          <a:xfrm>
            <a:off x="457200" y="3977283"/>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VM-TO-VM ON SAME HOST</a:t>
            </a:r>
            <a:endParaRPr lang="en-US" sz="885" dirty="0"/>
          </a:p>
        </p:txBody>
      </p:sp>
      <p:sp>
        <p:nvSpPr>
          <p:cNvPr id="16" name="Text 12"/>
          <p:cNvSpPr/>
          <p:nvPr/>
        </p:nvSpPr>
        <p:spPr>
          <a:xfrm>
            <a:off x="457200" y="4163020"/>
            <a:ext cx="2433647"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Requires External Switch or switchdev</a:t>
            </a:r>
            <a:endParaRPr lang="en-US" sz="936" dirty="0"/>
          </a:p>
        </p:txBody>
      </p:sp>
      <p:sp>
        <p:nvSpPr>
          <p:cNvPr id="17" name="Text 13"/>
          <p:cNvSpPr/>
          <p:nvPr/>
        </p:nvSpPr>
        <p:spPr>
          <a:xfrm>
            <a:off x="457200" y="4545211"/>
            <a:ext cx="2433647"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East–West traffic leaves the server unless the eSwitch is programmed for local forwarding (switchdev/hairpin).</a:t>
            </a:r>
            <a:endParaRPr lang="en-US" sz="942" dirty="0"/>
          </a:p>
        </p:txBody>
      </p:sp>
      <p:sp>
        <p:nvSpPr>
          <p:cNvPr id="18" name="Text 14"/>
          <p:cNvSpPr/>
          <p:nvPr/>
        </p:nvSpPr>
        <p:spPr>
          <a:xfrm>
            <a:off x="3469491" y="1401961"/>
            <a:ext cx="1753791" cy="171450"/>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DPDK</a:t>
            </a:r>
            <a:endParaRPr lang="en-US" sz="987" dirty="0"/>
          </a:p>
        </p:txBody>
      </p:sp>
      <p:sp>
        <p:nvSpPr>
          <p:cNvPr id="19" name="Text 15"/>
          <p:cNvSpPr/>
          <p:nvPr/>
        </p:nvSpPr>
        <p:spPr>
          <a:xfrm>
            <a:off x="3469491" y="1594842"/>
            <a:ext cx="1753791"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003087"/>
                </a:solidFill>
                <a:latin typeface="Space Grotesk" pitchFamily="34" charset="0"/>
                <a:ea typeface="Space Grotesk" pitchFamily="34" charset="-122"/>
                <a:cs typeface="Space Grotesk" pitchFamily="34" charset="-120"/>
              </a:rPr>
              <a:t>USER-SPACE FLOW TABLE</a:t>
            </a:r>
            <a:endParaRPr lang="en-US" sz="885" dirty="0"/>
          </a:p>
        </p:txBody>
      </p:sp>
      <p:sp>
        <p:nvSpPr>
          <p:cNvPr id="20" name="Text 16"/>
          <p:cNvSpPr/>
          <p:nvPr/>
        </p:nvSpPr>
        <p:spPr>
          <a:xfrm>
            <a:off x="3355191" y="1866305"/>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WHERE SWITCHING HAPPENS</a:t>
            </a:r>
            <a:endParaRPr lang="en-US" sz="885" dirty="0"/>
          </a:p>
        </p:txBody>
      </p:sp>
      <p:sp>
        <p:nvSpPr>
          <p:cNvPr id="21" name="Text 17"/>
          <p:cNvSpPr/>
          <p:nvPr/>
        </p:nvSpPr>
        <p:spPr>
          <a:xfrm>
            <a:off x="3355191" y="2052042"/>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User Space (OVS-DPDK or rte_flow)</a:t>
            </a:r>
            <a:endParaRPr lang="en-US" sz="936" dirty="0"/>
          </a:p>
        </p:txBody>
      </p:sp>
      <p:sp>
        <p:nvSpPr>
          <p:cNvPr id="22" name="Text 18"/>
          <p:cNvSpPr/>
          <p:nvPr/>
        </p:nvSpPr>
        <p:spPr>
          <a:xfrm>
            <a:off x="3355191" y="2250281"/>
            <a:ext cx="2433647"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DPDK runs switching in user space or offloads rules to NIC hardware (rte_flow).</a:t>
            </a:r>
            <a:endParaRPr lang="en-US" sz="942" dirty="0"/>
          </a:p>
        </p:txBody>
      </p:sp>
      <p:sp>
        <p:nvSpPr>
          <p:cNvPr id="23" name="Text 19"/>
          <p:cNvSpPr/>
          <p:nvPr/>
        </p:nvSpPr>
        <p:spPr>
          <a:xfrm>
            <a:off x="3355191" y="2728913"/>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ADDRESSING MECHANISM</a:t>
            </a:r>
            <a:endParaRPr lang="en-US" sz="885" dirty="0"/>
          </a:p>
        </p:txBody>
      </p:sp>
      <p:sp>
        <p:nvSpPr>
          <p:cNvPr id="24" name="Text 20"/>
          <p:cNvSpPr/>
          <p:nvPr/>
        </p:nvSpPr>
        <p:spPr>
          <a:xfrm>
            <a:off x="3355191" y="2914650"/>
            <a:ext cx="2433647"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L2–L4 Header Matching + RSS Hashing</a:t>
            </a:r>
            <a:endParaRPr lang="en-US" sz="936" dirty="0"/>
          </a:p>
        </p:txBody>
      </p:sp>
      <p:sp>
        <p:nvSpPr>
          <p:cNvPr id="25" name="Text 21"/>
          <p:cNvSpPr/>
          <p:nvPr/>
        </p:nvSpPr>
        <p:spPr>
          <a:xfrm>
            <a:off x="3355191" y="3296841"/>
            <a:ext cx="2433647"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Packets are classified by headers; RSS hashes flows across CPU cores for parallel processing.</a:t>
            </a:r>
            <a:endParaRPr lang="en-US" sz="942" dirty="0"/>
          </a:p>
        </p:txBody>
      </p:sp>
      <p:sp>
        <p:nvSpPr>
          <p:cNvPr id="26" name="Text 22"/>
          <p:cNvSpPr/>
          <p:nvPr/>
        </p:nvSpPr>
        <p:spPr>
          <a:xfrm>
            <a:off x="3355191" y="3968353"/>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VM-TO-VM ON SAME HOST</a:t>
            </a:r>
            <a:endParaRPr lang="en-US" sz="885" dirty="0"/>
          </a:p>
        </p:txBody>
      </p:sp>
      <p:sp>
        <p:nvSpPr>
          <p:cNvPr id="27" name="Text 23"/>
          <p:cNvSpPr/>
          <p:nvPr/>
        </p:nvSpPr>
        <p:spPr>
          <a:xfrm>
            <a:off x="3355191" y="4154091"/>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Handled Entirely in User Space</a:t>
            </a:r>
            <a:endParaRPr lang="en-US" sz="936" dirty="0"/>
          </a:p>
        </p:txBody>
      </p:sp>
      <p:sp>
        <p:nvSpPr>
          <p:cNvPr id="28" name="Text 24"/>
          <p:cNvSpPr/>
          <p:nvPr/>
        </p:nvSpPr>
        <p:spPr>
          <a:xfrm>
            <a:off x="3355191" y="4352330"/>
            <a:ext cx="2433647"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OVS-DPDK forwards intra-host VM traffic in user space with no kernel crossing.</a:t>
            </a:r>
            <a:endParaRPr lang="en-US" sz="942" dirty="0"/>
          </a:p>
        </p:txBody>
      </p:sp>
      <p:sp>
        <p:nvSpPr>
          <p:cNvPr id="29" name="Text 25"/>
          <p:cNvSpPr/>
          <p:nvPr/>
        </p:nvSpPr>
        <p:spPr>
          <a:xfrm>
            <a:off x="6367481" y="1401961"/>
            <a:ext cx="2319347" cy="171450"/>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VMDq</a:t>
            </a:r>
            <a:endParaRPr lang="en-US" sz="987" dirty="0"/>
          </a:p>
        </p:txBody>
      </p:sp>
      <p:sp>
        <p:nvSpPr>
          <p:cNvPr id="30" name="Text 26"/>
          <p:cNvSpPr/>
          <p:nvPr/>
        </p:nvSpPr>
        <p:spPr>
          <a:xfrm>
            <a:off x="6367481" y="1594842"/>
            <a:ext cx="2319347" cy="328613"/>
          </a:xfrm>
          <a:prstGeom prst="rect">
            <a:avLst/>
          </a:prstGeom>
          <a:noFill/>
          <a:ln/>
        </p:spPr>
        <p:txBody>
          <a:bodyPr wrap="square" lIns="0" tIns="0" rIns="0" bIns="0" rtlCol="0" anchor="t">
            <a:spAutoFit/>
          </a:bodyPr>
          <a:lstStyle/>
          <a:p>
            <a:pPr marL="0" indent="0" algn="l">
              <a:lnSpc>
                <a:spcPts val="1200"/>
              </a:lnSpc>
              <a:buNone/>
            </a:pPr>
            <a:r>
              <a:rPr lang="en-US" sz="885" b="1" kern="0" spc="1" dirty="0">
                <a:solidFill>
                  <a:srgbClr val="1A6B72"/>
                </a:solidFill>
                <a:latin typeface="Space Grotesk" pitchFamily="34" charset="0"/>
                <a:ea typeface="Space Grotesk" pitchFamily="34" charset="-122"/>
                <a:cs typeface="Space Grotesk" pitchFamily="34" charset="-120"/>
              </a:rPr>
              <a:t>NIC PRE-SORT + VSWITCH DELIVERY</a:t>
            </a:r>
            <a:endParaRPr lang="en-US" sz="885" dirty="0"/>
          </a:p>
        </p:txBody>
      </p:sp>
      <p:sp>
        <p:nvSpPr>
          <p:cNvPr id="31" name="Text 27"/>
          <p:cNvSpPr/>
          <p:nvPr/>
        </p:nvSpPr>
        <p:spPr>
          <a:xfrm>
            <a:off x="6253181" y="2030611"/>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WHERE SWITCHING HAPPENS</a:t>
            </a:r>
            <a:endParaRPr lang="en-US" sz="885" dirty="0"/>
          </a:p>
        </p:txBody>
      </p:sp>
      <p:sp>
        <p:nvSpPr>
          <p:cNvPr id="32" name="Text 28"/>
          <p:cNvSpPr/>
          <p:nvPr/>
        </p:nvSpPr>
        <p:spPr>
          <a:xfrm>
            <a:off x="6253181" y="2216348"/>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vSwitch Still Makes Final Decision</a:t>
            </a:r>
            <a:endParaRPr lang="en-US" sz="936" dirty="0"/>
          </a:p>
        </p:txBody>
      </p:sp>
      <p:sp>
        <p:nvSpPr>
          <p:cNvPr id="33" name="Text 29"/>
          <p:cNvSpPr/>
          <p:nvPr/>
        </p:nvSpPr>
        <p:spPr>
          <a:xfrm>
            <a:off x="6253181" y="2414588"/>
            <a:ext cx="2433647"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VMDq pre-sorts packets but the hypervisor vSwitch performs the final forwarding decision.</a:t>
            </a:r>
            <a:endParaRPr lang="en-US" sz="942" dirty="0"/>
          </a:p>
        </p:txBody>
      </p:sp>
      <p:sp>
        <p:nvSpPr>
          <p:cNvPr id="34" name="Text 30"/>
          <p:cNvSpPr/>
          <p:nvPr/>
        </p:nvSpPr>
        <p:spPr>
          <a:xfrm>
            <a:off x="6253181" y="3086100"/>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ADDRESSING MECHANISM</a:t>
            </a:r>
            <a:endParaRPr lang="en-US" sz="885" dirty="0"/>
          </a:p>
        </p:txBody>
      </p:sp>
      <p:sp>
        <p:nvSpPr>
          <p:cNvPr id="35" name="Text 31"/>
          <p:cNvSpPr/>
          <p:nvPr/>
        </p:nvSpPr>
        <p:spPr>
          <a:xfrm>
            <a:off x="6253181" y="3271838"/>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MAC + VLAN for Queue Assignment</a:t>
            </a:r>
            <a:endParaRPr lang="en-US" sz="936" dirty="0"/>
          </a:p>
        </p:txBody>
      </p:sp>
      <p:sp>
        <p:nvSpPr>
          <p:cNvPr id="36" name="Text 32"/>
          <p:cNvSpPr/>
          <p:nvPr/>
        </p:nvSpPr>
        <p:spPr>
          <a:xfrm>
            <a:off x="6253181" y="3470077"/>
            <a:ext cx="2433647"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NIC assigns packets to per-VM queues by MAC and VLAN; the vSwitch reads the right queue.</a:t>
            </a:r>
            <a:endParaRPr lang="en-US" sz="942" dirty="0"/>
          </a:p>
        </p:txBody>
      </p:sp>
      <p:sp>
        <p:nvSpPr>
          <p:cNvPr id="37" name="Text 33"/>
          <p:cNvSpPr/>
          <p:nvPr/>
        </p:nvSpPr>
        <p:spPr>
          <a:xfrm>
            <a:off x="6253181" y="4141589"/>
            <a:ext cx="2433647" cy="164306"/>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9090A8"/>
                </a:solidFill>
                <a:latin typeface="Space Grotesk" pitchFamily="34" charset="0"/>
                <a:ea typeface="Space Grotesk" pitchFamily="34" charset="-122"/>
                <a:cs typeface="Space Grotesk" pitchFamily="34" charset="-120"/>
              </a:rPr>
              <a:t>VM-TO-VM ON SAME HOST</a:t>
            </a:r>
            <a:endParaRPr lang="en-US" sz="885" dirty="0"/>
          </a:p>
        </p:txBody>
      </p:sp>
      <p:sp>
        <p:nvSpPr>
          <p:cNvPr id="38" name="Text 34"/>
          <p:cNvSpPr/>
          <p:nvPr/>
        </p:nvSpPr>
        <p:spPr>
          <a:xfrm>
            <a:off x="6253181" y="4327327"/>
            <a:ext cx="2433647"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Handled by the Hypervisor vSwitch</a:t>
            </a:r>
            <a:endParaRPr lang="en-US" sz="936" dirty="0"/>
          </a:p>
        </p:txBody>
      </p:sp>
      <p:sp>
        <p:nvSpPr>
          <p:cNvPr id="39" name="Text 35"/>
          <p:cNvSpPr/>
          <p:nvPr/>
        </p:nvSpPr>
        <p:spPr>
          <a:xfrm>
            <a:off x="6253181" y="4525566"/>
            <a:ext cx="2433647"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Intra-host forwarding is still done by the vSwitch; VMDq mainly improves ingress classification.</a:t>
            </a:r>
            <a:endParaRPr lang="en-US" sz="942" dirty="0"/>
          </a:p>
        </p:txBody>
      </p:sp>
      <p:sp>
        <p:nvSpPr>
          <p:cNvPr id="40" name="Shape 36"/>
          <p:cNvSpPr/>
          <p:nvPr/>
        </p:nvSpPr>
        <p:spPr>
          <a:xfrm>
            <a:off x="0" y="5173861"/>
            <a:ext cx="9144000" cy="697911"/>
          </a:xfrm>
          <a:prstGeom prst="rect">
            <a:avLst/>
          </a:prstGeom>
          <a:solidFill>
            <a:srgbClr val="1A1A2E"/>
          </a:solidFill>
          <a:ln/>
        </p:spPr>
      </p:sp>
      <p:sp>
        <p:nvSpPr>
          <p:cNvPr id="41" name="Text 37"/>
          <p:cNvSpPr/>
          <p:nvPr/>
        </p:nvSpPr>
        <p:spPr>
          <a:xfrm>
            <a:off x="457200" y="5440663"/>
            <a:ext cx="1255514"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45000"/>
                  </a:srgbClr>
                </a:solidFill>
                <a:latin typeface="Space Grotesk" pitchFamily="34" charset="0"/>
                <a:ea typeface="Space Grotesk" pitchFamily="34" charset="-122"/>
                <a:cs typeface="Space Grotesk" pitchFamily="34" charset="-120"/>
              </a:rPr>
              <a:t>COMMON THREAD</a:t>
            </a:r>
            <a:endParaRPr lang="en-US" sz="942" dirty="0"/>
          </a:p>
        </p:txBody>
      </p:sp>
      <p:sp>
        <p:nvSpPr>
          <p:cNvPr id="42" name="Text 38"/>
          <p:cNvSpPr/>
          <p:nvPr/>
        </p:nvSpPr>
        <p:spPr>
          <a:xfrm>
            <a:off x="2005608" y="5245298"/>
            <a:ext cx="6681192" cy="555036"/>
          </a:xfrm>
          <a:prstGeom prst="rect">
            <a:avLst/>
          </a:prstGeom>
          <a:noFill/>
          <a:ln/>
        </p:spPr>
        <p:txBody>
          <a:bodyPr wrap="square" lIns="0" tIns="0" rIns="0" bIns="0" rtlCol="0" anchor="t">
            <a:spAutoFit/>
          </a:bodyPr>
          <a:lstStyle/>
          <a:p>
            <a:pPr marL="0" indent="0" algn="l">
              <a:lnSpc>
                <a:spcPts val="1500"/>
              </a:lnSpc>
              <a:buNone/>
            </a:pPr>
            <a:r>
              <a:rPr lang="en-US" sz="911" b="1" dirty="0">
                <a:solidFill>
                  <a:srgbClr val="FFFFFF"/>
                </a:solidFill>
                <a:latin typeface="Open Sans" pitchFamily="34" charset="0"/>
                <a:ea typeface="Open Sans" pitchFamily="34" charset="-122"/>
                <a:cs typeface="Open Sans" pitchFamily="34" charset="-120"/>
              </a:rPr>
              <a:t>MAC addresses and VLAN tags are the universal addressing mechanism.</a:t>
            </a:r>
            <a:r>
              <a:rPr lang="en-US" sz="969" dirty="0">
                <a:solidFill>
                  <a:srgbClr val="FFFFFF">
                    <a:alpha val="85000"/>
                  </a:srgbClr>
                </a:solidFill>
                <a:latin typeface="Open Sans" pitchFamily="34" charset="0"/>
                <a:ea typeface="Open Sans" pitchFamily="34" charset="-122"/>
                <a:cs typeface="Open Sans" pitchFamily="34" charset="-120"/>
              </a:rPr>
              <a:t> The difference is where the lookup table lives — NIC eSwitch (SR-IOV), user-space flow table (DPDK), or NIC pre-sort queues with vSwitch delivery (VMDq).</a:t>
            </a:r>
            <a:endParaRPr lang="en-US" sz="911" dirty="0"/>
          </a:p>
        </p:txBody>
      </p:sp>
      <p:sp>
        <p:nvSpPr>
          <p:cNvPr id="43" name="Shape 39"/>
          <p:cNvSpPr/>
          <p:nvPr/>
        </p:nvSpPr>
        <p:spPr>
          <a:xfrm>
            <a:off x="0" y="5871772"/>
            <a:ext cx="9144000" cy="257175"/>
          </a:xfrm>
          <a:prstGeom prst="rect">
            <a:avLst/>
          </a:prstGeom>
          <a:solidFill>
            <a:srgbClr val="000000">
              <a:alpha val="0"/>
            </a:srgbClr>
          </a:solidFill>
          <a:ln/>
        </p:spPr>
      </p:sp>
      <p:sp>
        <p:nvSpPr>
          <p:cNvPr id="44" name="Shape 40"/>
          <p:cNvSpPr/>
          <p:nvPr/>
        </p:nvSpPr>
        <p:spPr>
          <a:xfrm>
            <a:off x="0" y="5871772"/>
            <a:ext cx="9144000" cy="7144"/>
          </a:xfrm>
          <a:prstGeom prst="rect">
            <a:avLst/>
          </a:prstGeom>
          <a:solidFill>
            <a:srgbClr val="EBEBF0"/>
          </a:solidFill>
          <a:ln/>
        </p:spPr>
      </p:sp>
      <p:sp>
        <p:nvSpPr>
          <p:cNvPr id="45" name="Text 41"/>
          <p:cNvSpPr/>
          <p:nvPr/>
        </p:nvSpPr>
        <p:spPr>
          <a:xfrm>
            <a:off x="457200" y="5913741"/>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46" name="Text 42"/>
          <p:cNvSpPr/>
          <p:nvPr/>
        </p:nvSpPr>
        <p:spPr>
          <a:xfrm>
            <a:off x="8281392" y="5913741"/>
            <a:ext cx="405408"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10 / 15</a:t>
            </a:r>
            <a:endParaRPr lang="en-US" sz="996"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0"/>
          <p:cNvSpPr/>
          <p:nvPr/>
        </p:nvSpPr>
        <p:spPr>
          <a:xfrm>
            <a:off x="457200" y="300038"/>
            <a:ext cx="82296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OVERVIEW</a:t>
            </a:r>
            <a:endParaRPr lang="en-US" sz="936" dirty="0"/>
          </a:p>
        </p:txBody>
      </p:sp>
      <p:sp>
        <p:nvSpPr>
          <p:cNvPr id="5" name="Text 1"/>
          <p:cNvSpPr/>
          <p:nvPr/>
        </p:nvSpPr>
        <p:spPr>
          <a:xfrm>
            <a:off x="457200" y="544711"/>
            <a:ext cx="8229600" cy="250031"/>
          </a:xfrm>
          <a:prstGeom prst="rect">
            <a:avLst/>
          </a:prstGeom>
          <a:noFill/>
          <a:ln/>
        </p:spPr>
        <p:txBody>
          <a:bodyPr wrap="none" lIns="0" tIns="0" rIns="0" bIns="0" rtlCol="0" anchor="t">
            <a:spAutoFit/>
          </a:bodyPr>
          <a:lstStyle/>
          <a:p>
            <a:pPr marL="0" indent="0" algn="l">
              <a:lnSpc>
                <a:spcPts val="2000"/>
              </a:lnSpc>
              <a:buNone/>
            </a:pPr>
            <a:r>
              <a:rPr lang="en-US" sz="1397" b="1" dirty="0">
                <a:solidFill>
                  <a:srgbClr val="1A1A2E"/>
                </a:solidFill>
                <a:latin typeface="Playfair Display" pitchFamily="34" charset="0"/>
                <a:ea typeface="Playfair Display" pitchFamily="34" charset="-122"/>
                <a:cs typeface="Playfair Display" pitchFamily="34" charset="-120"/>
              </a:rPr>
              <a:t>Three Solutions, Each Targeting a Different Layer of Overhead</a:t>
            </a:r>
            <a:endParaRPr lang="en-US" sz="1397" dirty="0"/>
          </a:p>
        </p:txBody>
      </p:sp>
      <p:grpSp>
        <p:nvGrpSpPr>
          <p:cNvPr id="37" name="Group 36">
            <a:extLst>
              <a:ext uri="{FF2B5EF4-FFF2-40B4-BE49-F238E27FC236}">
                <a16:creationId xmlns:a16="http://schemas.microsoft.com/office/drawing/2014/main" id="{894E3A81-7305-EEA9-1739-67BEE81340A5}"/>
              </a:ext>
            </a:extLst>
          </p:cNvPr>
          <p:cNvGrpSpPr/>
          <p:nvPr/>
        </p:nvGrpSpPr>
        <p:grpSpPr>
          <a:xfrm>
            <a:off x="457200" y="1294805"/>
            <a:ext cx="2395528" cy="4246960"/>
            <a:chOff x="457200" y="1294805"/>
            <a:chExt cx="2395528" cy="4246960"/>
          </a:xfrm>
        </p:grpSpPr>
        <p:sp>
          <p:nvSpPr>
            <p:cNvPr id="6" name="Text 2"/>
            <p:cNvSpPr/>
            <p:nvPr/>
          </p:nvSpPr>
          <p:spPr>
            <a:xfrm>
              <a:off x="457200" y="1294805"/>
              <a:ext cx="2395528"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2E"/>
                  </a:solidFill>
                  <a:latin typeface="Playfair Display" pitchFamily="34" charset="0"/>
                  <a:ea typeface="Playfair Display" pitchFamily="34" charset="-122"/>
                  <a:cs typeface="Playfair Display" pitchFamily="34" charset="-120"/>
                </a:rPr>
                <a:t>DPDK</a:t>
              </a:r>
              <a:endParaRPr lang="en-US" sz="1090" dirty="0"/>
            </a:p>
          </p:txBody>
        </p:sp>
        <p:sp>
          <p:nvSpPr>
            <p:cNvPr id="7" name="Text 3"/>
            <p:cNvSpPr/>
            <p:nvPr/>
          </p:nvSpPr>
          <p:spPr>
            <a:xfrm>
              <a:off x="457200" y="1532334"/>
              <a:ext cx="239552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Data Plane Development Kit</a:t>
              </a:r>
              <a:endParaRPr lang="en-US" sz="996" dirty="0"/>
            </a:p>
          </p:txBody>
        </p:sp>
        <p:sp>
          <p:nvSpPr>
            <p:cNvPr id="8" name="Shape 4"/>
            <p:cNvSpPr/>
            <p:nvPr/>
          </p:nvSpPr>
          <p:spPr>
            <a:xfrm>
              <a:off x="457200" y="1805583"/>
              <a:ext cx="2395528" cy="230386"/>
            </a:xfrm>
            <a:prstGeom prst="rect">
              <a:avLst/>
            </a:prstGeom>
            <a:solidFill>
              <a:srgbClr val="003087"/>
            </a:solidFill>
            <a:ln/>
          </p:spPr>
        </p:sp>
        <p:sp>
          <p:nvSpPr>
            <p:cNvPr id="9" name="Text 5"/>
            <p:cNvSpPr/>
            <p:nvPr/>
          </p:nvSpPr>
          <p:spPr>
            <a:xfrm>
              <a:off x="457200" y="1805583"/>
              <a:ext cx="2395528" cy="230386"/>
            </a:xfrm>
            <a:prstGeom prst="rect">
              <a:avLst/>
            </a:prstGeom>
            <a:noFill/>
            <a:ln/>
          </p:spPr>
          <p:txBody>
            <a:bodyPr wrap="none" lIns="85090" tIns="34036" rIns="85090"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KERNEL BYPASS · SOFTWARE</a:t>
              </a:r>
              <a:endParaRPr lang="en-US" sz="936" dirty="0"/>
            </a:p>
          </p:txBody>
        </p:sp>
        <p:sp>
          <p:nvSpPr>
            <p:cNvPr id="10" name="Text 6"/>
            <p:cNvSpPr/>
            <p:nvPr/>
          </p:nvSpPr>
          <p:spPr>
            <a:xfrm>
              <a:off x="457200" y="2150269"/>
              <a:ext cx="2395528" cy="2612827"/>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DPDK is an open-source framework of libraries and Poll Mode Drivers (PMDs) that moves all packet processing out of the OS kernel into user space. Dedicated CPU cores run in a continuous polling loop, eliminating hardware interrupts and context switching entirely. Packets are handled directly in user-space memory using hugepages, with no kernel system calls in the data path.</a:t>
              </a:r>
              <a:endParaRPr lang="en-US" sz="996" dirty="0"/>
            </a:p>
          </p:txBody>
        </p:sp>
        <p:sp>
          <p:nvSpPr>
            <p:cNvPr id="11" name="Text 7"/>
            <p:cNvSpPr/>
            <p:nvPr/>
          </p:nvSpPr>
          <p:spPr>
            <a:xfrm>
              <a:off x="457200" y="5157788"/>
              <a:ext cx="2395528"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LAYER BYPASSED</a:t>
              </a:r>
              <a:endParaRPr lang="en-US" sz="942" dirty="0"/>
            </a:p>
          </p:txBody>
        </p:sp>
        <p:sp>
          <p:nvSpPr>
            <p:cNvPr id="12" name="Text 8"/>
            <p:cNvSpPr/>
            <p:nvPr/>
          </p:nvSpPr>
          <p:spPr>
            <a:xfrm>
              <a:off x="457200" y="5357813"/>
              <a:ext cx="239552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OS Kernel + Interrupt Model</a:t>
              </a:r>
              <a:endParaRPr lang="en-US" sz="936" dirty="0"/>
            </a:p>
          </p:txBody>
        </p:sp>
      </p:grpSp>
      <p:grpSp>
        <p:nvGrpSpPr>
          <p:cNvPr id="2" name="Group 1">
            <a:extLst>
              <a:ext uri="{FF2B5EF4-FFF2-40B4-BE49-F238E27FC236}">
                <a16:creationId xmlns:a16="http://schemas.microsoft.com/office/drawing/2014/main" id="{DA3D0745-83B3-DEE8-CA71-4DCC8D11E6B4}"/>
              </a:ext>
            </a:extLst>
          </p:cNvPr>
          <p:cNvGrpSpPr/>
          <p:nvPr/>
        </p:nvGrpSpPr>
        <p:grpSpPr>
          <a:xfrm>
            <a:off x="3374222" y="1294805"/>
            <a:ext cx="2395528" cy="4246960"/>
            <a:chOff x="3374222" y="1294805"/>
            <a:chExt cx="2395528" cy="4246960"/>
          </a:xfrm>
        </p:grpSpPr>
        <p:sp>
          <p:nvSpPr>
            <p:cNvPr id="13" name="Text 9"/>
            <p:cNvSpPr/>
            <p:nvPr/>
          </p:nvSpPr>
          <p:spPr>
            <a:xfrm>
              <a:off x="3374222" y="1294805"/>
              <a:ext cx="2395528"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2E"/>
                  </a:solidFill>
                  <a:latin typeface="Playfair Display" pitchFamily="34" charset="0"/>
                  <a:ea typeface="Playfair Display" pitchFamily="34" charset="-122"/>
                  <a:cs typeface="Playfair Display" pitchFamily="34" charset="-120"/>
                </a:rPr>
                <a:t>SR-IOV</a:t>
              </a:r>
              <a:endParaRPr lang="en-US" sz="1090" dirty="0"/>
            </a:p>
          </p:txBody>
        </p:sp>
        <p:sp>
          <p:nvSpPr>
            <p:cNvPr id="14" name="Text 10"/>
            <p:cNvSpPr/>
            <p:nvPr/>
          </p:nvSpPr>
          <p:spPr>
            <a:xfrm>
              <a:off x="3374222" y="1532334"/>
              <a:ext cx="239552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Single Root I/O Virtualization</a:t>
              </a:r>
              <a:endParaRPr lang="en-US" sz="996" dirty="0"/>
            </a:p>
          </p:txBody>
        </p:sp>
        <p:sp>
          <p:nvSpPr>
            <p:cNvPr id="15" name="Shape 11"/>
            <p:cNvSpPr/>
            <p:nvPr/>
          </p:nvSpPr>
          <p:spPr>
            <a:xfrm>
              <a:off x="3374222" y="1805583"/>
              <a:ext cx="2395528" cy="403622"/>
            </a:xfrm>
            <a:prstGeom prst="rect">
              <a:avLst/>
            </a:prstGeom>
            <a:solidFill>
              <a:srgbClr val="E63946"/>
            </a:solidFill>
            <a:ln/>
          </p:spPr>
        </p:sp>
        <p:sp>
          <p:nvSpPr>
            <p:cNvPr id="16" name="Text 12"/>
            <p:cNvSpPr/>
            <p:nvPr/>
          </p:nvSpPr>
          <p:spPr>
            <a:xfrm>
              <a:off x="3374222" y="1805583"/>
              <a:ext cx="2395528" cy="403622"/>
            </a:xfrm>
            <a:prstGeom prst="rect">
              <a:avLst/>
            </a:prstGeom>
            <a:noFill/>
            <a:ln/>
          </p:spPr>
          <p:txBody>
            <a:bodyPr wrap="square" lIns="85090" tIns="34036" rIns="85090"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HARDWARE BYPASS · PCIE STANDARD</a:t>
              </a:r>
              <a:endParaRPr lang="en-US" sz="936" dirty="0"/>
            </a:p>
          </p:txBody>
        </p:sp>
        <p:sp>
          <p:nvSpPr>
            <p:cNvPr id="17" name="Text 13"/>
            <p:cNvSpPr/>
            <p:nvPr/>
          </p:nvSpPr>
          <p:spPr>
            <a:xfrm>
              <a:off x="3374222" y="2323505"/>
              <a:ext cx="2395528" cy="2612827"/>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SR-IOV is a PCI-SIG hardware standard that partitions a single physical NIC into a Physical Function (PF) and multiple Virtual Functions (VFs). Each VF is a lightweight hardware endpoint assigned directly to a VM. Traffic flows via IOMMU-protected DMA directly between the NIC and VM guest memory, completely bypassing the hypervisor's virtual switch and VMM data path.</a:t>
              </a:r>
              <a:endParaRPr lang="en-US" sz="996" dirty="0"/>
            </a:p>
          </p:txBody>
        </p:sp>
        <p:sp>
          <p:nvSpPr>
            <p:cNvPr id="18" name="Text 14"/>
            <p:cNvSpPr/>
            <p:nvPr/>
          </p:nvSpPr>
          <p:spPr>
            <a:xfrm>
              <a:off x="3374222" y="5157788"/>
              <a:ext cx="2395528"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LAYER BYPASSED</a:t>
              </a:r>
              <a:endParaRPr lang="en-US" sz="942" dirty="0"/>
            </a:p>
          </p:txBody>
        </p:sp>
        <p:sp>
          <p:nvSpPr>
            <p:cNvPr id="19" name="Text 15"/>
            <p:cNvSpPr/>
            <p:nvPr/>
          </p:nvSpPr>
          <p:spPr>
            <a:xfrm>
              <a:off x="3374222" y="5357813"/>
              <a:ext cx="239552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Hypervisor vSwitch + VMM</a:t>
              </a:r>
              <a:endParaRPr lang="en-US" sz="936" dirty="0"/>
            </a:p>
          </p:txBody>
        </p:sp>
      </p:grpSp>
      <p:grpSp>
        <p:nvGrpSpPr>
          <p:cNvPr id="36" name="Group 35">
            <a:extLst>
              <a:ext uri="{FF2B5EF4-FFF2-40B4-BE49-F238E27FC236}">
                <a16:creationId xmlns:a16="http://schemas.microsoft.com/office/drawing/2014/main" id="{B21AE251-AE2B-3459-2A44-FD74BDCFA1F9}"/>
              </a:ext>
            </a:extLst>
          </p:cNvPr>
          <p:cNvGrpSpPr/>
          <p:nvPr/>
        </p:nvGrpSpPr>
        <p:grpSpPr>
          <a:xfrm>
            <a:off x="6291244" y="1294805"/>
            <a:ext cx="2395528" cy="4246960"/>
            <a:chOff x="6291244" y="1294805"/>
            <a:chExt cx="2395528" cy="4246960"/>
          </a:xfrm>
        </p:grpSpPr>
        <p:sp>
          <p:nvSpPr>
            <p:cNvPr id="20" name="Text 16"/>
            <p:cNvSpPr/>
            <p:nvPr/>
          </p:nvSpPr>
          <p:spPr>
            <a:xfrm>
              <a:off x="6291244" y="1294805"/>
              <a:ext cx="2395528" cy="208955"/>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2E"/>
                  </a:solidFill>
                  <a:latin typeface="Playfair Display" pitchFamily="34" charset="0"/>
                  <a:ea typeface="Playfair Display" pitchFamily="34" charset="-122"/>
                  <a:cs typeface="Playfair Display" pitchFamily="34" charset="-120"/>
                </a:rPr>
                <a:t>VMDq</a:t>
              </a:r>
              <a:endParaRPr lang="en-US" sz="1090" dirty="0"/>
            </a:p>
          </p:txBody>
        </p:sp>
        <p:sp>
          <p:nvSpPr>
            <p:cNvPr id="21" name="Text 17"/>
            <p:cNvSpPr/>
            <p:nvPr/>
          </p:nvSpPr>
          <p:spPr>
            <a:xfrm>
              <a:off x="6291244" y="1532334"/>
              <a:ext cx="239552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Virtual Machine Device Queues</a:t>
              </a:r>
              <a:endParaRPr lang="en-US" sz="996" dirty="0"/>
            </a:p>
          </p:txBody>
        </p:sp>
        <p:sp>
          <p:nvSpPr>
            <p:cNvPr id="22" name="Shape 18"/>
            <p:cNvSpPr/>
            <p:nvPr/>
          </p:nvSpPr>
          <p:spPr>
            <a:xfrm>
              <a:off x="6291244" y="1805583"/>
              <a:ext cx="2395528" cy="403622"/>
            </a:xfrm>
            <a:prstGeom prst="rect">
              <a:avLst/>
            </a:prstGeom>
            <a:solidFill>
              <a:srgbClr val="1A6B72"/>
            </a:solidFill>
            <a:ln/>
          </p:spPr>
        </p:sp>
        <p:sp>
          <p:nvSpPr>
            <p:cNvPr id="23" name="Text 19"/>
            <p:cNvSpPr/>
            <p:nvPr/>
          </p:nvSpPr>
          <p:spPr>
            <a:xfrm>
              <a:off x="6291244" y="1805583"/>
              <a:ext cx="2395528" cy="403622"/>
            </a:xfrm>
            <a:prstGeom prst="rect">
              <a:avLst/>
            </a:prstGeom>
            <a:noFill/>
            <a:ln/>
          </p:spPr>
          <p:txBody>
            <a:bodyPr wrap="square" lIns="85090" tIns="34036" rIns="85090" bIns="34036"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HYPERVISOR OFFLOAD · INTEL HW</a:t>
              </a:r>
              <a:endParaRPr lang="en-US" sz="936" dirty="0"/>
            </a:p>
          </p:txBody>
        </p:sp>
        <p:sp>
          <p:nvSpPr>
            <p:cNvPr id="24" name="Text 20"/>
            <p:cNvSpPr/>
            <p:nvPr/>
          </p:nvSpPr>
          <p:spPr>
            <a:xfrm>
              <a:off x="6291244" y="2323505"/>
              <a:ext cx="2395528" cy="2612827"/>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VMDq is an Intel hardware-assist technology that offloads the most CPU-intensive task of the software vSwitch — per-packet sorting — into dedicated NIC hardware queues. Each VM is assigned its own hardware RX queue, and the NIC automatically classifies incoming frames by MAC address and VLAN ID. The hypervisor vSwitch remains in the path but is relieved of its sorting burden.</a:t>
              </a:r>
              <a:endParaRPr lang="en-US" sz="996" dirty="0"/>
            </a:p>
          </p:txBody>
        </p:sp>
        <p:sp>
          <p:nvSpPr>
            <p:cNvPr id="25" name="Text 21"/>
            <p:cNvSpPr/>
            <p:nvPr/>
          </p:nvSpPr>
          <p:spPr>
            <a:xfrm>
              <a:off x="6291244" y="5157788"/>
              <a:ext cx="2395528"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LAYER OFFLOADED</a:t>
              </a:r>
              <a:endParaRPr lang="en-US" sz="942" dirty="0"/>
            </a:p>
          </p:txBody>
        </p:sp>
        <p:sp>
          <p:nvSpPr>
            <p:cNvPr id="26" name="Text 22"/>
            <p:cNvSpPr/>
            <p:nvPr/>
          </p:nvSpPr>
          <p:spPr>
            <a:xfrm>
              <a:off x="6291244" y="5357813"/>
              <a:ext cx="2395528" cy="183952"/>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Hypervisor CPU Sorting Cost</a:t>
              </a:r>
              <a:endParaRPr lang="en-US" sz="936" dirty="0"/>
            </a:p>
          </p:txBody>
        </p:sp>
      </p:grpSp>
      <p:sp>
        <p:nvSpPr>
          <p:cNvPr id="27" name="Shape 23"/>
          <p:cNvSpPr/>
          <p:nvPr/>
        </p:nvSpPr>
        <p:spPr>
          <a:xfrm>
            <a:off x="0" y="5541764"/>
            <a:ext cx="9144000" cy="642938"/>
          </a:xfrm>
          <a:prstGeom prst="rect">
            <a:avLst/>
          </a:prstGeom>
          <a:solidFill>
            <a:srgbClr val="1A1A2E"/>
          </a:solidFill>
          <a:ln/>
        </p:spPr>
      </p:sp>
      <p:sp>
        <p:nvSpPr>
          <p:cNvPr id="28" name="Text 24"/>
          <p:cNvSpPr/>
          <p:nvPr/>
        </p:nvSpPr>
        <p:spPr>
          <a:xfrm>
            <a:off x="457200" y="5689997"/>
            <a:ext cx="932762" cy="346472"/>
          </a:xfrm>
          <a:prstGeom prst="rect">
            <a:avLst/>
          </a:prstGeom>
          <a:noFill/>
          <a:ln/>
        </p:spPr>
        <p:txBody>
          <a:bodyPr wrap="square" lIns="0" tIns="0" rIns="0" bIns="0" rtlCol="0" anchor="t">
            <a:spAutoFit/>
          </a:bodyPr>
          <a:lstStyle/>
          <a:p>
            <a:pPr marL="0" indent="0" algn="l">
              <a:lnSpc>
                <a:spcPts val="1300"/>
              </a:lnSpc>
              <a:buNone/>
            </a:pPr>
            <a:r>
              <a:rPr lang="en-US" sz="996" kern="0" spc="2" dirty="0">
                <a:solidFill>
                  <a:srgbClr val="FFFFFF">
                    <a:alpha val="50000"/>
                  </a:srgbClr>
                </a:solidFill>
                <a:latin typeface="Space Grotesk" pitchFamily="34" charset="0"/>
                <a:ea typeface="Space Grotesk" pitchFamily="34" charset="-122"/>
                <a:cs typeface="Space Grotesk" pitchFamily="34" charset="-120"/>
              </a:rPr>
              <a:t>BYPASS POINTS</a:t>
            </a:r>
            <a:endParaRPr lang="en-US" sz="996" dirty="0"/>
          </a:p>
        </p:txBody>
      </p:sp>
      <p:sp>
        <p:nvSpPr>
          <p:cNvPr id="29" name="Text 25"/>
          <p:cNvSpPr/>
          <p:nvPr/>
        </p:nvSpPr>
        <p:spPr>
          <a:xfrm>
            <a:off x="1389962" y="5656064"/>
            <a:ext cx="2516916" cy="414338"/>
          </a:xfrm>
          <a:prstGeom prst="rect">
            <a:avLst/>
          </a:prstGeom>
          <a:noFill/>
          <a:ln/>
        </p:spPr>
        <p:txBody>
          <a:bodyPr wrap="square" lIns="136017" tIns="51054" rIns="136017" bIns="51054" rtlCol="0" anchor="t">
            <a:spAutoFit/>
          </a:bodyPr>
          <a:lstStyle/>
          <a:p>
            <a:pPr marL="0" indent="0" algn="l">
              <a:lnSpc>
                <a:spcPts val="1200"/>
              </a:lnSpc>
              <a:buNone/>
            </a:pPr>
            <a:r>
              <a:rPr lang="en-US" sz="942" dirty="0">
                <a:solidFill>
                  <a:srgbClr val="FFFFFF">
                    <a:alpha val="50000"/>
                  </a:srgbClr>
                </a:solidFill>
                <a:latin typeface="Space Grotesk" pitchFamily="34" charset="0"/>
                <a:ea typeface="Space Grotesk" pitchFamily="34" charset="-122"/>
                <a:cs typeface="Space Grotesk" pitchFamily="34" charset="-120"/>
              </a:rPr>
              <a:t>DPDK Removes kernel stack &amp; interrupt model</a:t>
            </a:r>
            <a:endParaRPr lang="en-US" sz="942" dirty="0"/>
          </a:p>
        </p:txBody>
      </p:sp>
      <p:sp>
        <p:nvSpPr>
          <p:cNvPr id="30" name="Text 26"/>
          <p:cNvSpPr/>
          <p:nvPr/>
        </p:nvSpPr>
        <p:spPr>
          <a:xfrm>
            <a:off x="3906878" y="5656064"/>
            <a:ext cx="2407918" cy="414338"/>
          </a:xfrm>
          <a:prstGeom prst="rect">
            <a:avLst/>
          </a:prstGeom>
          <a:noFill/>
          <a:ln/>
        </p:spPr>
        <p:txBody>
          <a:bodyPr wrap="square" lIns="136017" tIns="51054" rIns="136017" bIns="51054" rtlCol="0" anchor="t">
            <a:spAutoFit/>
          </a:bodyPr>
          <a:lstStyle/>
          <a:p>
            <a:pPr marL="0" indent="0" algn="l">
              <a:lnSpc>
                <a:spcPts val="1200"/>
              </a:lnSpc>
              <a:buNone/>
            </a:pPr>
            <a:r>
              <a:rPr lang="en-US" sz="942" dirty="0">
                <a:solidFill>
                  <a:srgbClr val="FFFFFF">
                    <a:alpha val="50000"/>
                  </a:srgbClr>
                </a:solidFill>
                <a:latin typeface="Space Grotesk" pitchFamily="34" charset="0"/>
                <a:ea typeface="Space Grotesk" pitchFamily="34" charset="-122"/>
                <a:cs typeface="Space Grotesk" pitchFamily="34" charset="-120"/>
              </a:rPr>
              <a:t>SR-IOV Removes hypervisor vSwitch &amp; VMM</a:t>
            </a:r>
            <a:endParaRPr lang="en-US" sz="942" dirty="0"/>
          </a:p>
        </p:txBody>
      </p:sp>
      <p:sp>
        <p:nvSpPr>
          <p:cNvPr id="31" name="Text 27"/>
          <p:cNvSpPr/>
          <p:nvPr/>
        </p:nvSpPr>
        <p:spPr>
          <a:xfrm>
            <a:off x="6314796" y="5656064"/>
            <a:ext cx="2371976" cy="414338"/>
          </a:xfrm>
          <a:prstGeom prst="rect">
            <a:avLst/>
          </a:prstGeom>
          <a:noFill/>
          <a:ln/>
        </p:spPr>
        <p:txBody>
          <a:bodyPr wrap="square" lIns="136017" tIns="51054" rIns="136017" bIns="51054" rtlCol="0" anchor="t">
            <a:spAutoFit/>
          </a:bodyPr>
          <a:lstStyle/>
          <a:p>
            <a:pPr marL="0" indent="0" algn="l">
              <a:lnSpc>
                <a:spcPts val="1200"/>
              </a:lnSpc>
              <a:buNone/>
            </a:pPr>
            <a:r>
              <a:rPr lang="en-US" sz="942" dirty="0">
                <a:solidFill>
                  <a:srgbClr val="FFFFFF">
                    <a:alpha val="50000"/>
                  </a:srgbClr>
                </a:solidFill>
                <a:latin typeface="Space Grotesk" pitchFamily="34" charset="0"/>
                <a:ea typeface="Space Grotesk" pitchFamily="34" charset="-122"/>
                <a:cs typeface="Space Grotesk" pitchFamily="34" charset="-120"/>
              </a:rPr>
              <a:t>VMDq Removes CPU sorting overhead only</a:t>
            </a:r>
            <a:endParaRPr lang="en-US" sz="942" dirty="0"/>
          </a:p>
        </p:txBody>
      </p:sp>
      <p:sp>
        <p:nvSpPr>
          <p:cNvPr id="32" name="Shape 28"/>
          <p:cNvSpPr/>
          <p:nvPr/>
        </p:nvSpPr>
        <p:spPr>
          <a:xfrm>
            <a:off x="0" y="6184702"/>
            <a:ext cx="9144000" cy="257175"/>
          </a:xfrm>
          <a:prstGeom prst="rect">
            <a:avLst/>
          </a:prstGeom>
          <a:solidFill>
            <a:srgbClr val="000000">
              <a:alpha val="0"/>
            </a:srgbClr>
          </a:solidFill>
          <a:ln/>
        </p:spPr>
      </p:sp>
      <p:sp>
        <p:nvSpPr>
          <p:cNvPr id="33" name="Shape 29"/>
          <p:cNvSpPr/>
          <p:nvPr/>
        </p:nvSpPr>
        <p:spPr>
          <a:xfrm>
            <a:off x="0" y="6184702"/>
            <a:ext cx="9144000" cy="7144"/>
          </a:xfrm>
          <a:prstGeom prst="rect">
            <a:avLst/>
          </a:prstGeom>
          <a:solidFill>
            <a:srgbClr val="EBEBF0"/>
          </a:solidFill>
          <a:ln/>
        </p:spPr>
      </p:sp>
      <p:sp>
        <p:nvSpPr>
          <p:cNvPr id="34" name="Text 30"/>
          <p:cNvSpPr/>
          <p:nvPr/>
        </p:nvSpPr>
        <p:spPr>
          <a:xfrm>
            <a:off x="457200" y="6226671"/>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35" name="Text 31"/>
          <p:cNvSpPr/>
          <p:nvPr/>
        </p:nvSpPr>
        <p:spPr>
          <a:xfrm>
            <a:off x="8256389" y="6226671"/>
            <a:ext cx="430411"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03 / 15</a:t>
            </a:r>
            <a:endParaRPr lang="en-US" sz="996"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8343174"/>
          </a:xfrm>
          <a:prstGeom prst="rect">
            <a:avLst/>
          </a:prstGeom>
        </p:spPr>
      </p:pic>
      <p:sp>
        <p:nvSpPr>
          <p:cNvPr id="4" name="Text 0"/>
          <p:cNvSpPr/>
          <p:nvPr/>
        </p:nvSpPr>
        <p:spPr>
          <a:xfrm>
            <a:off x="400050" y="242888"/>
            <a:ext cx="5770364"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COMPARISON</a:t>
            </a:r>
            <a:endParaRPr lang="en-US" sz="936" dirty="0"/>
          </a:p>
        </p:txBody>
      </p:sp>
      <p:sp>
        <p:nvSpPr>
          <p:cNvPr id="5" name="Text 1"/>
          <p:cNvSpPr/>
          <p:nvPr/>
        </p:nvSpPr>
        <p:spPr>
          <a:xfrm>
            <a:off x="400050" y="473273"/>
            <a:ext cx="5770364" cy="445759"/>
          </a:xfrm>
          <a:prstGeom prst="rect">
            <a:avLst/>
          </a:prstGeom>
          <a:noFill/>
          <a:ln/>
        </p:spPr>
        <p:txBody>
          <a:bodyPr wrap="square" lIns="0" tIns="0" rIns="0" bIns="0" rtlCol="0" anchor="t">
            <a:spAutoFit/>
          </a:bodyPr>
          <a:lstStyle/>
          <a:p>
            <a:pPr marL="0" indent="0" algn="l">
              <a:lnSpc>
                <a:spcPts val="1800"/>
              </a:lnSpc>
              <a:buNone/>
            </a:pPr>
            <a:r>
              <a:rPr lang="en-US" sz="1295" b="1" dirty="0">
                <a:solidFill>
                  <a:srgbClr val="1A1A2E"/>
                </a:solidFill>
                <a:latin typeface="Playfair Display" pitchFamily="34" charset="0"/>
                <a:ea typeface="Playfair Display" pitchFamily="34" charset="-122"/>
                <a:cs typeface="Playfair Display" pitchFamily="34" charset="-120"/>
              </a:rPr>
              <a:t>Side-by-Side: Standard Virtualization vs DPDK vs SR-IOV vs VMDq</a:t>
            </a:r>
            <a:endParaRPr lang="en-US" sz="1295" dirty="0"/>
          </a:p>
        </p:txBody>
      </p:sp>
      <p:sp>
        <p:nvSpPr>
          <p:cNvPr id="6" name="Text 2"/>
          <p:cNvSpPr/>
          <p:nvPr/>
        </p:nvSpPr>
        <p:spPr>
          <a:xfrm>
            <a:off x="6284714" y="845809"/>
            <a:ext cx="612577"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4A4A6A"/>
                </a:solidFill>
                <a:latin typeface="Space Grotesk" pitchFamily="34" charset="0"/>
                <a:ea typeface="Space Grotesk" pitchFamily="34" charset="-122"/>
                <a:cs typeface="Space Grotesk" pitchFamily="34" charset="-120"/>
              </a:rPr>
              <a:t>Standard</a:t>
            </a:r>
            <a:endParaRPr lang="en-US" sz="996" dirty="0"/>
          </a:p>
        </p:txBody>
      </p:sp>
      <p:sp>
        <p:nvSpPr>
          <p:cNvPr id="7" name="Text 3"/>
          <p:cNvSpPr/>
          <p:nvPr/>
        </p:nvSpPr>
        <p:spPr>
          <a:xfrm>
            <a:off x="7125891" y="845809"/>
            <a:ext cx="342900"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4A4A6A"/>
                </a:solidFill>
                <a:latin typeface="Space Grotesk" pitchFamily="34" charset="0"/>
                <a:ea typeface="Space Grotesk" pitchFamily="34" charset="-122"/>
                <a:cs typeface="Space Grotesk" pitchFamily="34" charset="-120"/>
              </a:rPr>
              <a:t>DPDK</a:t>
            </a:r>
            <a:endParaRPr lang="en-US" sz="996" dirty="0"/>
          </a:p>
        </p:txBody>
      </p:sp>
      <p:sp>
        <p:nvSpPr>
          <p:cNvPr id="8" name="Text 4"/>
          <p:cNvSpPr/>
          <p:nvPr/>
        </p:nvSpPr>
        <p:spPr>
          <a:xfrm>
            <a:off x="7697391" y="845809"/>
            <a:ext cx="439341"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4A4A6A"/>
                </a:solidFill>
                <a:latin typeface="Space Grotesk" pitchFamily="34" charset="0"/>
                <a:ea typeface="Space Grotesk" pitchFamily="34" charset="-122"/>
                <a:cs typeface="Space Grotesk" pitchFamily="34" charset="-120"/>
              </a:rPr>
              <a:t>SR-IOV</a:t>
            </a:r>
            <a:endParaRPr lang="en-US" sz="996" dirty="0"/>
          </a:p>
        </p:txBody>
      </p:sp>
      <p:sp>
        <p:nvSpPr>
          <p:cNvPr id="9" name="Text 5"/>
          <p:cNvSpPr/>
          <p:nvPr/>
        </p:nvSpPr>
        <p:spPr>
          <a:xfrm>
            <a:off x="8365331" y="845809"/>
            <a:ext cx="378619"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4A4A6A"/>
                </a:solidFill>
                <a:latin typeface="Space Grotesk" pitchFamily="34" charset="0"/>
                <a:ea typeface="Space Grotesk" pitchFamily="34" charset="-122"/>
                <a:cs typeface="Space Grotesk" pitchFamily="34" charset="-120"/>
              </a:rPr>
              <a:t>VMDq</a:t>
            </a:r>
            <a:endParaRPr lang="en-US" sz="996" dirty="0"/>
          </a:p>
        </p:txBody>
      </p:sp>
      <p:sp>
        <p:nvSpPr>
          <p:cNvPr id="10" name="Shape 6"/>
          <p:cNvSpPr/>
          <p:nvPr/>
        </p:nvSpPr>
        <p:spPr>
          <a:xfrm>
            <a:off x="400050" y="1133345"/>
            <a:ext cx="8343900" cy="569714"/>
          </a:xfrm>
          <a:prstGeom prst="rect">
            <a:avLst/>
          </a:prstGeom>
          <a:solidFill>
            <a:srgbClr val="1A1A2E"/>
          </a:solidFill>
          <a:ln/>
        </p:spPr>
      </p:sp>
      <p:sp>
        <p:nvSpPr>
          <p:cNvPr id="11" name="Text 7"/>
          <p:cNvSpPr/>
          <p:nvPr/>
        </p:nvSpPr>
        <p:spPr>
          <a:xfrm>
            <a:off x="400050" y="1133345"/>
            <a:ext cx="1057275" cy="569714"/>
          </a:xfrm>
          <a:prstGeom prst="rect">
            <a:avLst/>
          </a:prstGeom>
          <a:noFill/>
          <a:ln/>
        </p:spPr>
        <p:txBody>
          <a:bodyPr wrap="square" lIns="85090" tIns="85090" rIns="85090" bIns="85090" rtlCol="0" anchor="ctr">
            <a:spAutoFit/>
          </a:bodyPr>
          <a:lstStyle/>
          <a:p>
            <a:pPr marL="0" indent="0" algn="l">
              <a:lnSpc>
                <a:spcPts val="1200"/>
              </a:lnSpc>
              <a:buNone/>
            </a:pPr>
            <a:r>
              <a:rPr lang="en-US" sz="885" b="1" kern="0" spc="2" dirty="0">
                <a:solidFill>
                  <a:srgbClr val="FFFFFF">
                    <a:alpha val="45000"/>
                  </a:srgbClr>
                </a:solidFill>
                <a:latin typeface="Space Grotesk" pitchFamily="34" charset="0"/>
                <a:ea typeface="Space Grotesk" pitchFamily="34" charset="-122"/>
                <a:cs typeface="Space Grotesk" pitchFamily="34" charset="-120"/>
              </a:rPr>
              <a:t>CRITERIA</a:t>
            </a:r>
            <a:endParaRPr lang="en-US" sz="885" dirty="0"/>
          </a:p>
        </p:txBody>
      </p:sp>
      <p:sp>
        <p:nvSpPr>
          <p:cNvPr id="12" name="Text 8"/>
          <p:cNvSpPr/>
          <p:nvPr/>
        </p:nvSpPr>
        <p:spPr>
          <a:xfrm>
            <a:off x="1528763" y="1204782"/>
            <a:ext cx="1678781"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Standard</a:t>
            </a:r>
            <a:endParaRPr lang="en-US" sz="936" dirty="0"/>
          </a:p>
        </p:txBody>
      </p:sp>
      <p:sp>
        <p:nvSpPr>
          <p:cNvPr id="13" name="Text 9"/>
          <p:cNvSpPr/>
          <p:nvPr/>
        </p:nvSpPr>
        <p:spPr>
          <a:xfrm>
            <a:off x="1528763" y="1392306"/>
            <a:ext cx="1678781"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50000"/>
                  </a:srgbClr>
                </a:solidFill>
                <a:latin typeface="Open Sans" pitchFamily="34" charset="0"/>
                <a:ea typeface="Open Sans" pitchFamily="34" charset="-122"/>
                <a:cs typeface="Open Sans" pitchFamily="34" charset="-120"/>
              </a:rPr>
              <a:t>Software vSwitch</a:t>
            </a:r>
            <a:endParaRPr lang="en-US" sz="942" dirty="0"/>
          </a:p>
        </p:txBody>
      </p:sp>
      <p:sp>
        <p:nvSpPr>
          <p:cNvPr id="14" name="Text 10"/>
          <p:cNvSpPr/>
          <p:nvPr/>
        </p:nvSpPr>
        <p:spPr>
          <a:xfrm>
            <a:off x="3350419" y="1204782"/>
            <a:ext cx="1678781"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DPDK</a:t>
            </a:r>
            <a:endParaRPr lang="en-US" sz="936" dirty="0"/>
          </a:p>
        </p:txBody>
      </p:sp>
      <p:sp>
        <p:nvSpPr>
          <p:cNvPr id="15" name="Text 11"/>
          <p:cNvSpPr/>
          <p:nvPr/>
        </p:nvSpPr>
        <p:spPr>
          <a:xfrm>
            <a:off x="3350419" y="1392306"/>
            <a:ext cx="1678781"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50000"/>
                  </a:srgbClr>
                </a:solidFill>
                <a:latin typeface="Open Sans" pitchFamily="34" charset="0"/>
                <a:ea typeface="Open Sans" pitchFamily="34" charset="-122"/>
                <a:cs typeface="Open Sans" pitchFamily="34" charset="-120"/>
              </a:rPr>
              <a:t>Kernel-Bypass (SW)</a:t>
            </a:r>
            <a:endParaRPr lang="en-US" sz="942" dirty="0"/>
          </a:p>
        </p:txBody>
      </p:sp>
      <p:sp>
        <p:nvSpPr>
          <p:cNvPr id="16" name="Text 12"/>
          <p:cNvSpPr/>
          <p:nvPr/>
        </p:nvSpPr>
        <p:spPr>
          <a:xfrm>
            <a:off x="5172075" y="1204782"/>
            <a:ext cx="1678781"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SR-IOV</a:t>
            </a:r>
            <a:endParaRPr lang="en-US" sz="936" dirty="0"/>
          </a:p>
        </p:txBody>
      </p:sp>
      <p:sp>
        <p:nvSpPr>
          <p:cNvPr id="17" name="Text 13"/>
          <p:cNvSpPr/>
          <p:nvPr/>
        </p:nvSpPr>
        <p:spPr>
          <a:xfrm>
            <a:off x="5172075" y="1392306"/>
            <a:ext cx="1678781"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50000"/>
                  </a:srgbClr>
                </a:solidFill>
                <a:latin typeface="Open Sans" pitchFamily="34" charset="0"/>
                <a:ea typeface="Open Sans" pitchFamily="34" charset="-122"/>
                <a:cs typeface="Open Sans" pitchFamily="34" charset="-120"/>
              </a:rPr>
              <a:t>Hardware VF Bypass</a:t>
            </a:r>
            <a:endParaRPr lang="en-US" sz="942" dirty="0"/>
          </a:p>
        </p:txBody>
      </p:sp>
      <p:sp>
        <p:nvSpPr>
          <p:cNvPr id="18" name="Text 14"/>
          <p:cNvSpPr/>
          <p:nvPr/>
        </p:nvSpPr>
        <p:spPr>
          <a:xfrm>
            <a:off x="6993731" y="1204782"/>
            <a:ext cx="1678781"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VMDq</a:t>
            </a:r>
            <a:endParaRPr lang="en-US" sz="936" dirty="0"/>
          </a:p>
        </p:txBody>
      </p:sp>
      <p:sp>
        <p:nvSpPr>
          <p:cNvPr id="19" name="Text 15"/>
          <p:cNvSpPr/>
          <p:nvPr/>
        </p:nvSpPr>
        <p:spPr>
          <a:xfrm>
            <a:off x="6993731" y="1392306"/>
            <a:ext cx="1678781"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50000"/>
                  </a:srgbClr>
                </a:solidFill>
                <a:latin typeface="Open Sans" pitchFamily="34" charset="0"/>
                <a:ea typeface="Open Sans" pitchFamily="34" charset="-122"/>
                <a:cs typeface="Open Sans" pitchFamily="34" charset="-120"/>
              </a:rPr>
              <a:t>HW Queue Offload</a:t>
            </a:r>
            <a:endParaRPr lang="en-US" sz="942" dirty="0"/>
          </a:p>
        </p:txBody>
      </p:sp>
      <p:sp>
        <p:nvSpPr>
          <p:cNvPr id="20" name="Shape 16"/>
          <p:cNvSpPr/>
          <p:nvPr/>
        </p:nvSpPr>
        <p:spPr>
          <a:xfrm>
            <a:off x="400050" y="1703059"/>
            <a:ext cx="8343900" cy="730448"/>
          </a:xfrm>
          <a:prstGeom prst="rect">
            <a:avLst/>
          </a:prstGeom>
          <a:solidFill>
            <a:srgbClr val="FFFFFF"/>
          </a:solidFill>
          <a:ln/>
        </p:spPr>
      </p:sp>
      <p:sp>
        <p:nvSpPr>
          <p:cNvPr id="21" name="Text 17"/>
          <p:cNvSpPr/>
          <p:nvPr/>
        </p:nvSpPr>
        <p:spPr>
          <a:xfrm>
            <a:off x="400050" y="1703059"/>
            <a:ext cx="1057275" cy="730448"/>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METHOD</a:t>
            </a:r>
            <a:endParaRPr lang="en-US" sz="936" dirty="0"/>
          </a:p>
        </p:txBody>
      </p:sp>
      <p:sp>
        <p:nvSpPr>
          <p:cNvPr id="22" name="Text 18"/>
          <p:cNvSpPr/>
          <p:nvPr/>
        </p:nvSpPr>
        <p:spPr>
          <a:xfrm>
            <a:off x="1457325" y="1703059"/>
            <a:ext cx="1821656" cy="730448"/>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Software vSwitch in kernel; all packets processed by host OS</a:t>
            </a:r>
            <a:endParaRPr lang="en-US" sz="1023" dirty="0"/>
          </a:p>
        </p:txBody>
      </p:sp>
      <p:sp>
        <p:nvSpPr>
          <p:cNvPr id="23" name="Text 19"/>
          <p:cNvSpPr/>
          <p:nvPr/>
        </p:nvSpPr>
        <p:spPr>
          <a:xfrm>
            <a:off x="3278981" y="1703059"/>
            <a:ext cx="1821656" cy="730448"/>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User-space Poll Mode Driver; kernel completely bypassed</a:t>
            </a:r>
            <a:endParaRPr lang="en-US" sz="1023" dirty="0"/>
          </a:p>
        </p:txBody>
      </p:sp>
      <p:sp>
        <p:nvSpPr>
          <p:cNvPr id="24" name="Text 20"/>
          <p:cNvSpPr/>
          <p:nvPr/>
        </p:nvSpPr>
        <p:spPr>
          <a:xfrm>
            <a:off x="5100638" y="1703059"/>
            <a:ext cx="1821656" cy="730448"/>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PCIe Virtual Functions; VM talks directly to NIC hardware</a:t>
            </a:r>
            <a:endParaRPr lang="en-US" sz="1023" dirty="0"/>
          </a:p>
        </p:txBody>
      </p:sp>
      <p:sp>
        <p:nvSpPr>
          <p:cNvPr id="25" name="Text 21"/>
          <p:cNvSpPr/>
          <p:nvPr/>
        </p:nvSpPr>
        <p:spPr>
          <a:xfrm>
            <a:off x="6922294" y="1703059"/>
            <a:ext cx="1821656" cy="730448"/>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NIC sorts packets into per-VM HW queues; vSwitch delivers</a:t>
            </a:r>
            <a:endParaRPr lang="en-US" sz="1023" dirty="0"/>
          </a:p>
        </p:txBody>
      </p:sp>
      <p:sp>
        <p:nvSpPr>
          <p:cNvPr id="26" name="Shape 22"/>
          <p:cNvSpPr/>
          <p:nvPr/>
        </p:nvSpPr>
        <p:spPr>
          <a:xfrm>
            <a:off x="400050" y="2433507"/>
            <a:ext cx="8343900" cy="734020"/>
          </a:xfrm>
          <a:prstGeom prst="rect">
            <a:avLst/>
          </a:prstGeom>
          <a:solidFill>
            <a:srgbClr val="F7F8FC"/>
          </a:solidFill>
          <a:ln/>
        </p:spPr>
      </p:sp>
      <p:sp>
        <p:nvSpPr>
          <p:cNvPr id="27" name="Text 23"/>
          <p:cNvSpPr/>
          <p:nvPr/>
        </p:nvSpPr>
        <p:spPr>
          <a:xfrm>
            <a:off x="400050" y="2433507"/>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VSWITCH ROLE</a:t>
            </a:r>
            <a:endParaRPr lang="en-US" sz="936" dirty="0"/>
          </a:p>
        </p:txBody>
      </p:sp>
      <p:sp>
        <p:nvSpPr>
          <p:cNvPr id="28" name="Text 24"/>
          <p:cNvSpPr/>
          <p:nvPr/>
        </p:nvSpPr>
        <p:spPr>
          <a:xfrm>
            <a:off x="1528763" y="2496015"/>
            <a:ext cx="1119783" cy="189309"/>
          </a:xfrm>
          <a:prstGeom prst="rect">
            <a:avLst/>
          </a:prstGeom>
          <a:noFill/>
          <a:ln/>
        </p:spPr>
        <p:txBody>
          <a:bodyPr wrap="none" lIns="0" tIns="0" rIns="0" bIns="0" rtlCol="0" anchor="t">
            <a:spAutoFit/>
          </a:bodyPr>
          <a:lstStyle/>
          <a:p>
            <a:pPr marL="0" indent="0" algn="l">
              <a:lnSpc>
                <a:spcPts val="1600"/>
              </a:lnSpc>
              <a:buNone/>
            </a:pPr>
            <a:r>
              <a:rPr lang="en-US" sz="961" b="1" dirty="0">
                <a:solidFill>
                  <a:srgbClr val="1A1A2E"/>
                </a:solidFill>
                <a:latin typeface="Open Sans" pitchFamily="34" charset="0"/>
                <a:ea typeface="Open Sans" pitchFamily="34" charset="-122"/>
                <a:cs typeface="Open Sans" pitchFamily="34" charset="-120"/>
              </a:rPr>
              <a:t>Full involvement</a:t>
            </a:r>
            <a:endParaRPr lang="en-US" sz="961" dirty="0"/>
          </a:p>
        </p:txBody>
      </p:sp>
      <p:sp>
        <p:nvSpPr>
          <p:cNvPr id="29" name="Text 25"/>
          <p:cNvSpPr/>
          <p:nvPr/>
        </p:nvSpPr>
        <p:spPr>
          <a:xfrm>
            <a:off x="1528763" y="2496015"/>
            <a:ext cx="1671638" cy="60721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 sorts, copies, and delivers every packet</a:t>
            </a:r>
            <a:endParaRPr lang="en-US" sz="1023" dirty="0"/>
          </a:p>
        </p:txBody>
      </p:sp>
      <p:sp>
        <p:nvSpPr>
          <p:cNvPr id="30" name="Text 26"/>
          <p:cNvSpPr/>
          <p:nvPr/>
        </p:nvSpPr>
        <p:spPr>
          <a:xfrm>
            <a:off x="3350419" y="2496015"/>
            <a:ext cx="614363" cy="189309"/>
          </a:xfrm>
          <a:prstGeom prst="rect">
            <a:avLst/>
          </a:prstGeom>
          <a:noFill/>
          <a:ln/>
        </p:spPr>
        <p:txBody>
          <a:bodyPr wrap="none" lIns="0" tIns="0" rIns="0" bIns="0" rtlCol="0" anchor="t">
            <a:spAutoFit/>
          </a:bodyPr>
          <a:lstStyle/>
          <a:p>
            <a:pPr marL="0" indent="0" algn="l">
              <a:lnSpc>
                <a:spcPts val="1600"/>
              </a:lnSpc>
              <a:buNone/>
            </a:pPr>
            <a:r>
              <a:rPr lang="en-US" sz="961" b="1" dirty="0">
                <a:solidFill>
                  <a:srgbClr val="1A1A2E"/>
                </a:solidFill>
                <a:latin typeface="Open Sans" pitchFamily="34" charset="0"/>
                <a:ea typeface="Open Sans" pitchFamily="34" charset="-122"/>
                <a:cs typeface="Open Sans" pitchFamily="34" charset="-120"/>
              </a:rPr>
              <a:t>Replaced</a:t>
            </a:r>
            <a:endParaRPr lang="en-US" sz="961" dirty="0"/>
          </a:p>
        </p:txBody>
      </p:sp>
      <p:sp>
        <p:nvSpPr>
          <p:cNvPr id="31" name="Text 27"/>
          <p:cNvSpPr/>
          <p:nvPr/>
        </p:nvSpPr>
        <p:spPr>
          <a:xfrm>
            <a:off x="3350419" y="2496015"/>
            <a:ext cx="1650206" cy="60721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by OVS-DPDK in user space, or bypassed entirely</a:t>
            </a:r>
            <a:endParaRPr lang="en-US" sz="1023" dirty="0"/>
          </a:p>
        </p:txBody>
      </p:sp>
      <p:sp>
        <p:nvSpPr>
          <p:cNvPr id="32" name="Text 28"/>
          <p:cNvSpPr/>
          <p:nvPr/>
        </p:nvSpPr>
        <p:spPr>
          <a:xfrm>
            <a:off x="5172075" y="2496015"/>
            <a:ext cx="1432322" cy="189309"/>
          </a:xfrm>
          <a:prstGeom prst="rect">
            <a:avLst/>
          </a:prstGeom>
          <a:noFill/>
          <a:ln/>
        </p:spPr>
        <p:txBody>
          <a:bodyPr wrap="none" lIns="0" tIns="0" rIns="0" bIns="0" rtlCol="0" anchor="t">
            <a:spAutoFit/>
          </a:bodyPr>
          <a:lstStyle/>
          <a:p>
            <a:pPr marL="0" indent="0" algn="l">
              <a:lnSpc>
                <a:spcPts val="1600"/>
              </a:lnSpc>
              <a:buNone/>
            </a:pPr>
            <a:r>
              <a:rPr lang="en-US" sz="961" b="1" dirty="0">
                <a:solidFill>
                  <a:srgbClr val="1A1A2E"/>
                </a:solidFill>
                <a:latin typeface="Open Sans" pitchFamily="34" charset="0"/>
                <a:ea typeface="Open Sans" pitchFamily="34" charset="-122"/>
                <a:cs typeface="Open Sans" pitchFamily="34" charset="-120"/>
              </a:rPr>
              <a:t>Completely bypassed</a:t>
            </a:r>
            <a:endParaRPr lang="en-US" sz="961" dirty="0"/>
          </a:p>
        </p:txBody>
      </p:sp>
      <p:sp>
        <p:nvSpPr>
          <p:cNvPr id="33" name="Text 29"/>
          <p:cNvSpPr/>
          <p:nvPr/>
        </p:nvSpPr>
        <p:spPr>
          <a:xfrm>
            <a:off x="5172075" y="2496015"/>
            <a:ext cx="1607344" cy="60721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 NIC eSwitch handles L2 forwarding</a:t>
            </a:r>
            <a:endParaRPr lang="en-US" sz="1023" dirty="0"/>
          </a:p>
        </p:txBody>
      </p:sp>
      <p:sp>
        <p:nvSpPr>
          <p:cNvPr id="34" name="Text 30"/>
          <p:cNvSpPr/>
          <p:nvPr/>
        </p:nvSpPr>
        <p:spPr>
          <a:xfrm>
            <a:off x="6993731" y="2496015"/>
            <a:ext cx="685800" cy="189309"/>
          </a:xfrm>
          <a:prstGeom prst="rect">
            <a:avLst/>
          </a:prstGeom>
          <a:noFill/>
          <a:ln/>
        </p:spPr>
        <p:txBody>
          <a:bodyPr wrap="none" lIns="0" tIns="0" rIns="0" bIns="0" rtlCol="0" anchor="t">
            <a:spAutoFit/>
          </a:bodyPr>
          <a:lstStyle/>
          <a:p>
            <a:pPr marL="0" indent="0" algn="l">
              <a:lnSpc>
                <a:spcPts val="1600"/>
              </a:lnSpc>
              <a:buNone/>
            </a:pPr>
            <a:r>
              <a:rPr lang="en-US" sz="961" b="1" dirty="0">
                <a:solidFill>
                  <a:srgbClr val="1A1A2E"/>
                </a:solidFill>
                <a:latin typeface="Open Sans" pitchFamily="34" charset="0"/>
                <a:ea typeface="Open Sans" pitchFamily="34" charset="-122"/>
                <a:cs typeface="Open Sans" pitchFamily="34" charset="-120"/>
              </a:rPr>
              <a:t>Still active</a:t>
            </a:r>
            <a:endParaRPr lang="en-US" sz="961" dirty="0"/>
          </a:p>
        </p:txBody>
      </p:sp>
      <p:sp>
        <p:nvSpPr>
          <p:cNvPr id="35" name="Text 31"/>
          <p:cNvSpPr/>
          <p:nvPr/>
        </p:nvSpPr>
        <p:spPr>
          <a:xfrm>
            <a:off x="6993731" y="2496015"/>
            <a:ext cx="1619845"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 handles final delivery and all policy</a:t>
            </a:r>
            <a:endParaRPr lang="en-US" sz="1023" dirty="0"/>
          </a:p>
        </p:txBody>
      </p:sp>
      <p:sp>
        <p:nvSpPr>
          <p:cNvPr id="36" name="Shape 32"/>
          <p:cNvSpPr/>
          <p:nvPr/>
        </p:nvSpPr>
        <p:spPr>
          <a:xfrm>
            <a:off x="400050" y="3167528"/>
            <a:ext cx="8343900" cy="734020"/>
          </a:xfrm>
          <a:prstGeom prst="rect">
            <a:avLst/>
          </a:prstGeom>
          <a:solidFill>
            <a:srgbClr val="FFFFFF"/>
          </a:solidFill>
          <a:ln/>
        </p:spPr>
      </p:sp>
      <p:sp>
        <p:nvSpPr>
          <p:cNvPr id="37" name="Text 33"/>
          <p:cNvSpPr/>
          <p:nvPr/>
        </p:nvSpPr>
        <p:spPr>
          <a:xfrm>
            <a:off x="400050" y="3167528"/>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KERNEL BYPASS</a:t>
            </a:r>
            <a:endParaRPr lang="en-US" sz="936" dirty="0"/>
          </a:p>
        </p:txBody>
      </p:sp>
      <p:sp>
        <p:nvSpPr>
          <p:cNvPr id="38" name="Shape 34"/>
          <p:cNvSpPr/>
          <p:nvPr/>
        </p:nvSpPr>
        <p:spPr>
          <a:xfrm>
            <a:off x="1528763" y="3294329"/>
            <a:ext cx="264319" cy="125016"/>
          </a:xfrm>
          <a:prstGeom prst="rect">
            <a:avLst/>
          </a:prstGeom>
          <a:solidFill>
            <a:srgbClr val="6B6B8A"/>
          </a:solidFill>
          <a:ln/>
        </p:spPr>
      </p:sp>
      <p:sp>
        <p:nvSpPr>
          <p:cNvPr id="39" name="Text 35"/>
          <p:cNvSpPr/>
          <p:nvPr/>
        </p:nvSpPr>
        <p:spPr>
          <a:xfrm>
            <a:off x="1528763" y="3294329"/>
            <a:ext cx="264319"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NONE</a:t>
            </a:r>
            <a:endParaRPr lang="en-US" sz="435" dirty="0"/>
          </a:p>
        </p:txBody>
      </p:sp>
      <p:sp>
        <p:nvSpPr>
          <p:cNvPr id="40" name="Text 36"/>
          <p:cNvSpPr/>
          <p:nvPr/>
        </p:nvSpPr>
        <p:spPr>
          <a:xfrm>
            <a:off x="1528763" y="3230035"/>
            <a:ext cx="1294805"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Full kernel stack active</a:t>
            </a:r>
            <a:endParaRPr lang="en-US" sz="1023" dirty="0"/>
          </a:p>
        </p:txBody>
      </p:sp>
      <p:sp>
        <p:nvSpPr>
          <p:cNvPr id="41" name="Shape 37"/>
          <p:cNvSpPr/>
          <p:nvPr/>
        </p:nvSpPr>
        <p:spPr>
          <a:xfrm>
            <a:off x="3350419" y="3294329"/>
            <a:ext cx="248245" cy="125016"/>
          </a:xfrm>
          <a:prstGeom prst="rect">
            <a:avLst/>
          </a:prstGeom>
          <a:solidFill>
            <a:srgbClr val="1A6B72"/>
          </a:solidFill>
          <a:ln/>
        </p:spPr>
      </p:sp>
      <p:sp>
        <p:nvSpPr>
          <p:cNvPr id="42" name="Text 38"/>
          <p:cNvSpPr/>
          <p:nvPr/>
        </p:nvSpPr>
        <p:spPr>
          <a:xfrm>
            <a:off x="3350419" y="3294329"/>
            <a:ext cx="248245"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FULL</a:t>
            </a:r>
            <a:endParaRPr lang="en-US" sz="435" dirty="0"/>
          </a:p>
        </p:txBody>
      </p:sp>
      <p:sp>
        <p:nvSpPr>
          <p:cNvPr id="43" name="Text 39"/>
          <p:cNvSpPr/>
          <p:nvPr/>
        </p:nvSpPr>
        <p:spPr>
          <a:xfrm>
            <a:off x="3350419" y="3230035"/>
            <a:ext cx="1496616"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Host + guest kernel bypassed</a:t>
            </a:r>
            <a:endParaRPr lang="en-US" sz="1023" dirty="0"/>
          </a:p>
        </p:txBody>
      </p:sp>
      <p:sp>
        <p:nvSpPr>
          <p:cNvPr id="44" name="Shape 40"/>
          <p:cNvSpPr/>
          <p:nvPr/>
        </p:nvSpPr>
        <p:spPr>
          <a:xfrm>
            <a:off x="5172075" y="3294329"/>
            <a:ext cx="358973" cy="125016"/>
          </a:xfrm>
          <a:prstGeom prst="rect">
            <a:avLst/>
          </a:prstGeom>
          <a:solidFill>
            <a:srgbClr val="1A6B72"/>
          </a:solidFill>
          <a:ln/>
        </p:spPr>
      </p:sp>
      <p:sp>
        <p:nvSpPr>
          <p:cNvPr id="45" name="Text 41"/>
          <p:cNvSpPr/>
          <p:nvPr/>
        </p:nvSpPr>
        <p:spPr>
          <a:xfrm>
            <a:off x="5172075" y="3294329"/>
            <a:ext cx="358973"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PARTIAL</a:t>
            </a:r>
            <a:endParaRPr lang="en-US" sz="435" dirty="0"/>
          </a:p>
        </p:txBody>
      </p:sp>
      <p:sp>
        <p:nvSpPr>
          <p:cNvPr id="46" name="Text 42"/>
          <p:cNvSpPr/>
          <p:nvPr/>
        </p:nvSpPr>
        <p:spPr>
          <a:xfrm>
            <a:off x="5172075" y="3230035"/>
            <a:ext cx="1426964" cy="60721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Host hypervisor bypassed; guest kernel optional</a:t>
            </a:r>
            <a:endParaRPr lang="en-US" sz="1023" dirty="0"/>
          </a:p>
        </p:txBody>
      </p:sp>
      <p:sp>
        <p:nvSpPr>
          <p:cNvPr id="47" name="Shape 43"/>
          <p:cNvSpPr/>
          <p:nvPr/>
        </p:nvSpPr>
        <p:spPr>
          <a:xfrm>
            <a:off x="6993731" y="3294329"/>
            <a:ext cx="264319" cy="125016"/>
          </a:xfrm>
          <a:prstGeom prst="rect">
            <a:avLst/>
          </a:prstGeom>
          <a:solidFill>
            <a:srgbClr val="E63946"/>
          </a:solidFill>
          <a:ln/>
        </p:spPr>
      </p:sp>
      <p:sp>
        <p:nvSpPr>
          <p:cNvPr id="48" name="Text 44"/>
          <p:cNvSpPr/>
          <p:nvPr/>
        </p:nvSpPr>
        <p:spPr>
          <a:xfrm>
            <a:off x="6993731" y="3294329"/>
            <a:ext cx="264319"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NONE</a:t>
            </a:r>
            <a:endParaRPr lang="en-US" sz="435" dirty="0"/>
          </a:p>
        </p:txBody>
      </p:sp>
      <p:sp>
        <p:nvSpPr>
          <p:cNvPr id="49" name="Text 45"/>
          <p:cNvSpPr/>
          <p:nvPr/>
        </p:nvSpPr>
        <p:spPr>
          <a:xfrm>
            <a:off x="6993731" y="3230035"/>
            <a:ext cx="1343025"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Kernel stack fully active</a:t>
            </a:r>
            <a:endParaRPr lang="en-US" sz="1023" dirty="0"/>
          </a:p>
        </p:txBody>
      </p:sp>
      <p:sp>
        <p:nvSpPr>
          <p:cNvPr id="50" name="Shape 46"/>
          <p:cNvSpPr/>
          <p:nvPr/>
        </p:nvSpPr>
        <p:spPr>
          <a:xfrm>
            <a:off x="400050" y="3901548"/>
            <a:ext cx="8343900" cy="734020"/>
          </a:xfrm>
          <a:prstGeom prst="rect">
            <a:avLst/>
          </a:prstGeom>
          <a:solidFill>
            <a:srgbClr val="F7F8FC"/>
          </a:solidFill>
          <a:ln/>
        </p:spPr>
      </p:sp>
      <p:sp>
        <p:nvSpPr>
          <p:cNvPr id="51" name="Text 47"/>
          <p:cNvSpPr/>
          <p:nvPr/>
        </p:nvSpPr>
        <p:spPr>
          <a:xfrm>
            <a:off x="400050" y="3901548"/>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THROUGHPUT</a:t>
            </a:r>
            <a:endParaRPr lang="en-US" sz="936" dirty="0"/>
          </a:p>
        </p:txBody>
      </p:sp>
      <p:sp>
        <p:nvSpPr>
          <p:cNvPr id="52" name="Text 48"/>
          <p:cNvSpPr/>
          <p:nvPr/>
        </p:nvSpPr>
        <p:spPr>
          <a:xfrm>
            <a:off x="1457325" y="390154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~20–40% of bare metal. Software bottleneck at high pps.</a:t>
            </a:r>
            <a:endParaRPr lang="en-US" sz="1023" dirty="0"/>
          </a:p>
        </p:txBody>
      </p:sp>
      <p:sp>
        <p:nvSpPr>
          <p:cNvPr id="53" name="Text 49"/>
          <p:cNvSpPr/>
          <p:nvPr/>
        </p:nvSpPr>
        <p:spPr>
          <a:xfrm>
            <a:off x="3278981" y="390154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~90–95% of bare metal. 10–100 Gbps per dedicated core.</a:t>
            </a:r>
            <a:endParaRPr lang="en-US" sz="1023" dirty="0"/>
          </a:p>
        </p:txBody>
      </p:sp>
      <p:sp>
        <p:nvSpPr>
          <p:cNvPr id="54" name="Text 50"/>
          <p:cNvSpPr/>
          <p:nvPr/>
        </p:nvSpPr>
        <p:spPr>
          <a:xfrm>
            <a:off x="5100638" y="390154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~97–99% of bare metal. Closest to native NIC performance.</a:t>
            </a:r>
            <a:endParaRPr lang="en-US" sz="1023" dirty="0"/>
          </a:p>
        </p:txBody>
      </p:sp>
      <p:sp>
        <p:nvSpPr>
          <p:cNvPr id="55" name="Text 51"/>
          <p:cNvSpPr/>
          <p:nvPr/>
        </p:nvSpPr>
        <p:spPr>
          <a:xfrm>
            <a:off x="6922294" y="390154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~55–70% of bare metal. Better than standard; below SR-IOV.</a:t>
            </a:r>
            <a:endParaRPr lang="en-US" sz="1023" dirty="0"/>
          </a:p>
        </p:txBody>
      </p:sp>
      <p:sp>
        <p:nvSpPr>
          <p:cNvPr id="56" name="Shape 52"/>
          <p:cNvSpPr/>
          <p:nvPr/>
        </p:nvSpPr>
        <p:spPr>
          <a:xfrm>
            <a:off x="400050" y="4635568"/>
            <a:ext cx="8343900" cy="734020"/>
          </a:xfrm>
          <a:prstGeom prst="rect">
            <a:avLst/>
          </a:prstGeom>
          <a:solidFill>
            <a:srgbClr val="FFFFFF"/>
          </a:solidFill>
          <a:ln/>
        </p:spPr>
      </p:sp>
      <p:sp>
        <p:nvSpPr>
          <p:cNvPr id="57" name="Text 53"/>
          <p:cNvSpPr/>
          <p:nvPr/>
        </p:nvSpPr>
        <p:spPr>
          <a:xfrm>
            <a:off x="400050" y="4635568"/>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CPU OVERHEAD</a:t>
            </a:r>
            <a:endParaRPr lang="en-US" sz="936" dirty="0"/>
          </a:p>
        </p:txBody>
      </p:sp>
      <p:sp>
        <p:nvSpPr>
          <p:cNvPr id="58" name="Text 54"/>
          <p:cNvSpPr/>
          <p:nvPr/>
        </p:nvSpPr>
        <p:spPr>
          <a:xfrm>
            <a:off x="1457325" y="463556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High — IRQ per packet, context switches, kernel copies</a:t>
            </a:r>
            <a:endParaRPr lang="en-US" sz="1023" dirty="0"/>
          </a:p>
        </p:txBody>
      </p:sp>
      <p:sp>
        <p:nvSpPr>
          <p:cNvPr id="59" name="Text 55"/>
          <p:cNvSpPr/>
          <p:nvPr/>
        </p:nvSpPr>
        <p:spPr>
          <a:xfrm>
            <a:off x="3278981" y="463556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Dedicated core busy-polling; zero IRQ overhead on that core</a:t>
            </a:r>
            <a:endParaRPr lang="en-US" sz="1023" dirty="0"/>
          </a:p>
        </p:txBody>
      </p:sp>
      <p:sp>
        <p:nvSpPr>
          <p:cNvPr id="60" name="Text 56"/>
          <p:cNvSpPr/>
          <p:nvPr/>
        </p:nvSpPr>
        <p:spPr>
          <a:xfrm>
            <a:off x="5100638" y="463556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Very low — host CPU not in data path; IOMMU handles DMA</a:t>
            </a:r>
            <a:endParaRPr lang="en-US" sz="1023" dirty="0"/>
          </a:p>
        </p:txBody>
      </p:sp>
      <p:sp>
        <p:nvSpPr>
          <p:cNvPr id="61" name="Text 57"/>
          <p:cNvSpPr/>
          <p:nvPr/>
        </p:nvSpPr>
        <p:spPr>
          <a:xfrm>
            <a:off x="6922294" y="4635568"/>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Moderate — sorting offloaded; copy and delivery still on CPU</a:t>
            </a:r>
            <a:endParaRPr lang="en-US" sz="1023" dirty="0"/>
          </a:p>
        </p:txBody>
      </p:sp>
      <p:sp>
        <p:nvSpPr>
          <p:cNvPr id="62" name="Shape 58"/>
          <p:cNvSpPr/>
          <p:nvPr/>
        </p:nvSpPr>
        <p:spPr>
          <a:xfrm>
            <a:off x="400050" y="5369589"/>
            <a:ext cx="8343900" cy="734020"/>
          </a:xfrm>
          <a:prstGeom prst="rect">
            <a:avLst/>
          </a:prstGeom>
          <a:solidFill>
            <a:srgbClr val="F7F8FC"/>
          </a:solidFill>
          <a:ln/>
        </p:spPr>
      </p:sp>
      <p:sp>
        <p:nvSpPr>
          <p:cNvPr id="63" name="Text 59"/>
          <p:cNvSpPr/>
          <p:nvPr/>
        </p:nvSpPr>
        <p:spPr>
          <a:xfrm>
            <a:off x="400050" y="5369589"/>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LIVE MIGRATION</a:t>
            </a:r>
            <a:endParaRPr lang="en-US" sz="936" dirty="0"/>
          </a:p>
        </p:txBody>
      </p:sp>
      <p:sp>
        <p:nvSpPr>
          <p:cNvPr id="64" name="Shape 60"/>
          <p:cNvSpPr/>
          <p:nvPr/>
        </p:nvSpPr>
        <p:spPr>
          <a:xfrm>
            <a:off x="1528763" y="5496390"/>
            <a:ext cx="248245" cy="125016"/>
          </a:xfrm>
          <a:prstGeom prst="rect">
            <a:avLst/>
          </a:prstGeom>
          <a:solidFill>
            <a:srgbClr val="1A6B72"/>
          </a:solidFill>
          <a:ln/>
        </p:spPr>
      </p:sp>
      <p:sp>
        <p:nvSpPr>
          <p:cNvPr id="65" name="Text 61"/>
          <p:cNvSpPr/>
          <p:nvPr/>
        </p:nvSpPr>
        <p:spPr>
          <a:xfrm>
            <a:off x="1528763" y="5496390"/>
            <a:ext cx="248245"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FULL</a:t>
            </a:r>
            <a:endParaRPr lang="en-US" sz="435" dirty="0"/>
          </a:p>
        </p:txBody>
      </p:sp>
      <p:sp>
        <p:nvSpPr>
          <p:cNvPr id="66" name="Text 62"/>
          <p:cNvSpPr/>
          <p:nvPr/>
        </p:nvSpPr>
        <p:spPr>
          <a:xfrm>
            <a:off x="1528763" y="5432096"/>
            <a:ext cx="1101923"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Seamless, no interruption</a:t>
            </a:r>
            <a:endParaRPr lang="en-US" sz="1023" dirty="0"/>
          </a:p>
        </p:txBody>
      </p:sp>
      <p:sp>
        <p:nvSpPr>
          <p:cNvPr id="67" name="Shape 63"/>
          <p:cNvSpPr/>
          <p:nvPr/>
        </p:nvSpPr>
        <p:spPr>
          <a:xfrm>
            <a:off x="3350419" y="5496390"/>
            <a:ext cx="358973" cy="125016"/>
          </a:xfrm>
          <a:prstGeom prst="rect">
            <a:avLst/>
          </a:prstGeom>
          <a:solidFill>
            <a:srgbClr val="B8860B"/>
          </a:solidFill>
          <a:ln/>
        </p:spPr>
      </p:sp>
      <p:sp>
        <p:nvSpPr>
          <p:cNvPr id="68" name="Text 64"/>
          <p:cNvSpPr/>
          <p:nvPr/>
        </p:nvSpPr>
        <p:spPr>
          <a:xfrm>
            <a:off x="3350419" y="5496390"/>
            <a:ext cx="358973"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PARTIAL</a:t>
            </a:r>
            <a:endParaRPr lang="en-US" sz="435" dirty="0"/>
          </a:p>
        </p:txBody>
      </p:sp>
      <p:sp>
        <p:nvSpPr>
          <p:cNvPr id="69" name="Text 65"/>
          <p:cNvSpPr/>
          <p:nvPr/>
        </p:nvSpPr>
        <p:spPr>
          <a:xfrm>
            <a:off x="3350419" y="5432096"/>
            <a:ext cx="1535906"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Requires OVS-DPDK; added complexity</a:t>
            </a:r>
            <a:endParaRPr lang="en-US" sz="1023" dirty="0"/>
          </a:p>
        </p:txBody>
      </p:sp>
      <p:sp>
        <p:nvSpPr>
          <p:cNvPr id="70" name="Shape 66"/>
          <p:cNvSpPr/>
          <p:nvPr/>
        </p:nvSpPr>
        <p:spPr>
          <a:xfrm>
            <a:off x="5172075" y="5496390"/>
            <a:ext cx="485775" cy="125016"/>
          </a:xfrm>
          <a:prstGeom prst="rect">
            <a:avLst/>
          </a:prstGeom>
          <a:solidFill>
            <a:srgbClr val="E63946"/>
          </a:solidFill>
          <a:ln/>
        </p:spPr>
      </p:sp>
      <p:sp>
        <p:nvSpPr>
          <p:cNvPr id="71" name="Text 67"/>
          <p:cNvSpPr/>
          <p:nvPr/>
        </p:nvSpPr>
        <p:spPr>
          <a:xfrm>
            <a:off x="5172075" y="5496390"/>
            <a:ext cx="485775"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RESTRICTED</a:t>
            </a:r>
            <a:endParaRPr lang="en-US" sz="435" dirty="0"/>
          </a:p>
        </p:txBody>
      </p:sp>
      <p:sp>
        <p:nvSpPr>
          <p:cNvPr id="72" name="Text 68"/>
          <p:cNvSpPr/>
          <p:nvPr/>
        </p:nvSpPr>
        <p:spPr>
          <a:xfrm>
            <a:off x="5172075" y="5432096"/>
            <a:ext cx="1455539" cy="607219"/>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VF detach/reattach causes brief interruption</a:t>
            </a:r>
            <a:endParaRPr lang="en-US" sz="1023" dirty="0"/>
          </a:p>
        </p:txBody>
      </p:sp>
      <p:sp>
        <p:nvSpPr>
          <p:cNvPr id="73" name="Shape 69"/>
          <p:cNvSpPr/>
          <p:nvPr/>
        </p:nvSpPr>
        <p:spPr>
          <a:xfrm>
            <a:off x="6993731" y="5496390"/>
            <a:ext cx="248245" cy="125016"/>
          </a:xfrm>
          <a:prstGeom prst="rect">
            <a:avLst/>
          </a:prstGeom>
          <a:solidFill>
            <a:srgbClr val="1A6B72"/>
          </a:solidFill>
          <a:ln/>
        </p:spPr>
      </p:sp>
      <p:sp>
        <p:nvSpPr>
          <p:cNvPr id="74" name="Text 70"/>
          <p:cNvSpPr/>
          <p:nvPr/>
        </p:nvSpPr>
        <p:spPr>
          <a:xfrm>
            <a:off x="6993731" y="5496390"/>
            <a:ext cx="248245"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FULL</a:t>
            </a:r>
            <a:endParaRPr lang="en-US" sz="435" dirty="0"/>
          </a:p>
        </p:txBody>
      </p:sp>
      <p:sp>
        <p:nvSpPr>
          <p:cNvPr id="75" name="Text 71"/>
          <p:cNvSpPr/>
          <p:nvPr/>
        </p:nvSpPr>
        <p:spPr>
          <a:xfrm>
            <a:off x="6993731" y="5432096"/>
            <a:ext cx="1632347"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No hardware binding; seamless migration</a:t>
            </a:r>
            <a:endParaRPr lang="en-US" sz="1023" dirty="0"/>
          </a:p>
        </p:txBody>
      </p:sp>
      <p:sp>
        <p:nvSpPr>
          <p:cNvPr id="76" name="Shape 72"/>
          <p:cNvSpPr/>
          <p:nvPr/>
        </p:nvSpPr>
        <p:spPr>
          <a:xfrm>
            <a:off x="400050" y="6103609"/>
            <a:ext cx="8343900" cy="734020"/>
          </a:xfrm>
          <a:prstGeom prst="rect">
            <a:avLst/>
          </a:prstGeom>
          <a:solidFill>
            <a:srgbClr val="FFFFFF"/>
          </a:solidFill>
          <a:ln/>
        </p:spPr>
      </p:sp>
      <p:sp>
        <p:nvSpPr>
          <p:cNvPr id="77" name="Text 73"/>
          <p:cNvSpPr/>
          <p:nvPr/>
        </p:nvSpPr>
        <p:spPr>
          <a:xfrm>
            <a:off x="400050" y="6103609"/>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HARDWARE REQ.</a:t>
            </a:r>
            <a:endParaRPr lang="en-US" sz="936" dirty="0"/>
          </a:p>
        </p:txBody>
      </p:sp>
      <p:sp>
        <p:nvSpPr>
          <p:cNvPr id="78" name="Text 74"/>
          <p:cNvSpPr/>
          <p:nvPr/>
        </p:nvSpPr>
        <p:spPr>
          <a:xfrm>
            <a:off x="1457325" y="6103609"/>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Any NIC; no special requirements</a:t>
            </a:r>
            <a:endParaRPr lang="en-US" sz="1023" dirty="0"/>
          </a:p>
        </p:txBody>
      </p:sp>
      <p:sp>
        <p:nvSpPr>
          <p:cNvPr id="79" name="Text 75"/>
          <p:cNvSpPr/>
          <p:nvPr/>
        </p:nvSpPr>
        <p:spPr>
          <a:xfrm>
            <a:off x="3278981" y="6103609"/>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Any DPDK-supported NIC; hugepages; dedicated CPU cores</a:t>
            </a:r>
            <a:endParaRPr lang="en-US" sz="1023" dirty="0"/>
          </a:p>
        </p:txBody>
      </p:sp>
      <p:sp>
        <p:nvSpPr>
          <p:cNvPr id="80" name="Text 76"/>
          <p:cNvSpPr/>
          <p:nvPr/>
        </p:nvSpPr>
        <p:spPr>
          <a:xfrm>
            <a:off x="5100638" y="6103609"/>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SR-IOV NIC + IOMMU (VT-d/AMD-Vi) + SR-IOV BIOS enabled</a:t>
            </a:r>
            <a:endParaRPr lang="en-US" sz="1023" dirty="0"/>
          </a:p>
        </p:txBody>
      </p:sp>
      <p:sp>
        <p:nvSpPr>
          <p:cNvPr id="81" name="Text 77"/>
          <p:cNvSpPr/>
          <p:nvPr/>
        </p:nvSpPr>
        <p:spPr>
          <a:xfrm>
            <a:off x="6922294" y="6103609"/>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Intel NIC with VMDq support; Intel-proprietary feature</a:t>
            </a:r>
            <a:endParaRPr lang="en-US" sz="1023" dirty="0"/>
          </a:p>
        </p:txBody>
      </p:sp>
      <p:sp>
        <p:nvSpPr>
          <p:cNvPr id="82" name="Shape 78"/>
          <p:cNvSpPr/>
          <p:nvPr/>
        </p:nvSpPr>
        <p:spPr>
          <a:xfrm>
            <a:off x="400050" y="6837629"/>
            <a:ext cx="8343900" cy="525066"/>
          </a:xfrm>
          <a:prstGeom prst="rect">
            <a:avLst/>
          </a:prstGeom>
          <a:solidFill>
            <a:srgbClr val="F7F8FC"/>
          </a:solidFill>
          <a:ln/>
        </p:spPr>
      </p:sp>
      <p:sp>
        <p:nvSpPr>
          <p:cNvPr id="83" name="Text 79"/>
          <p:cNvSpPr/>
          <p:nvPr/>
        </p:nvSpPr>
        <p:spPr>
          <a:xfrm>
            <a:off x="400050" y="6837629"/>
            <a:ext cx="1057275" cy="525066"/>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OPEN STANDARD</a:t>
            </a:r>
            <a:endParaRPr lang="en-US" sz="936" dirty="0"/>
          </a:p>
        </p:txBody>
      </p:sp>
      <p:sp>
        <p:nvSpPr>
          <p:cNvPr id="84" name="Shape 80"/>
          <p:cNvSpPr/>
          <p:nvPr/>
        </p:nvSpPr>
        <p:spPr>
          <a:xfrm>
            <a:off x="1528763" y="6964431"/>
            <a:ext cx="210741" cy="125016"/>
          </a:xfrm>
          <a:prstGeom prst="rect">
            <a:avLst/>
          </a:prstGeom>
          <a:solidFill>
            <a:srgbClr val="1A6B72"/>
          </a:solidFill>
          <a:ln/>
        </p:spPr>
      </p:sp>
      <p:sp>
        <p:nvSpPr>
          <p:cNvPr id="85" name="Text 81"/>
          <p:cNvSpPr/>
          <p:nvPr/>
        </p:nvSpPr>
        <p:spPr>
          <a:xfrm>
            <a:off x="1528763" y="6964431"/>
            <a:ext cx="210741"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YES</a:t>
            </a:r>
            <a:endParaRPr lang="en-US" sz="435" dirty="0"/>
          </a:p>
        </p:txBody>
      </p:sp>
      <p:sp>
        <p:nvSpPr>
          <p:cNvPr id="86" name="Text 82"/>
          <p:cNvSpPr/>
          <p:nvPr/>
        </p:nvSpPr>
        <p:spPr>
          <a:xfrm>
            <a:off x="1739503" y="6900137"/>
            <a:ext cx="1391245" cy="189309"/>
          </a:xfrm>
          <a:prstGeom prst="rect">
            <a:avLst/>
          </a:prstGeom>
          <a:noFill/>
          <a:ln/>
        </p:spPr>
        <p:txBody>
          <a:bodyPr wrap="non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Linux kernel standard</a:t>
            </a:r>
            <a:endParaRPr lang="en-US" sz="1023" dirty="0"/>
          </a:p>
        </p:txBody>
      </p:sp>
      <p:sp>
        <p:nvSpPr>
          <p:cNvPr id="87" name="Shape 83"/>
          <p:cNvSpPr/>
          <p:nvPr/>
        </p:nvSpPr>
        <p:spPr>
          <a:xfrm>
            <a:off x="3350419" y="6964431"/>
            <a:ext cx="210741" cy="125016"/>
          </a:xfrm>
          <a:prstGeom prst="rect">
            <a:avLst/>
          </a:prstGeom>
          <a:solidFill>
            <a:srgbClr val="1A6B72"/>
          </a:solidFill>
          <a:ln/>
        </p:spPr>
      </p:sp>
      <p:sp>
        <p:nvSpPr>
          <p:cNvPr id="88" name="Text 84"/>
          <p:cNvSpPr/>
          <p:nvPr/>
        </p:nvSpPr>
        <p:spPr>
          <a:xfrm>
            <a:off x="3350419" y="6964431"/>
            <a:ext cx="210741"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YES</a:t>
            </a:r>
            <a:endParaRPr lang="en-US" sz="435" dirty="0"/>
          </a:p>
        </p:txBody>
      </p:sp>
      <p:sp>
        <p:nvSpPr>
          <p:cNvPr id="89" name="Text 85"/>
          <p:cNvSpPr/>
          <p:nvPr/>
        </p:nvSpPr>
        <p:spPr>
          <a:xfrm>
            <a:off x="3350419" y="6900137"/>
            <a:ext cx="1334095"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Linux Foundation open source</a:t>
            </a:r>
            <a:endParaRPr lang="en-US" sz="1023" dirty="0"/>
          </a:p>
        </p:txBody>
      </p:sp>
      <p:sp>
        <p:nvSpPr>
          <p:cNvPr id="90" name="Shape 86"/>
          <p:cNvSpPr/>
          <p:nvPr/>
        </p:nvSpPr>
        <p:spPr>
          <a:xfrm>
            <a:off x="5172075" y="6964431"/>
            <a:ext cx="210741" cy="125016"/>
          </a:xfrm>
          <a:prstGeom prst="rect">
            <a:avLst/>
          </a:prstGeom>
          <a:solidFill>
            <a:srgbClr val="1A6B72"/>
          </a:solidFill>
          <a:ln/>
        </p:spPr>
      </p:sp>
      <p:sp>
        <p:nvSpPr>
          <p:cNvPr id="91" name="Text 87"/>
          <p:cNvSpPr/>
          <p:nvPr/>
        </p:nvSpPr>
        <p:spPr>
          <a:xfrm>
            <a:off x="5172075" y="6964431"/>
            <a:ext cx="210741"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YES</a:t>
            </a:r>
            <a:endParaRPr lang="en-US" sz="435" dirty="0"/>
          </a:p>
        </p:txBody>
      </p:sp>
      <p:sp>
        <p:nvSpPr>
          <p:cNvPr id="92" name="Text 88"/>
          <p:cNvSpPr/>
          <p:nvPr/>
        </p:nvSpPr>
        <p:spPr>
          <a:xfrm>
            <a:off x="5172075" y="6900137"/>
            <a:ext cx="1180505" cy="398264"/>
          </a:xfrm>
          <a:prstGeom prst="rect">
            <a:avLst/>
          </a:prstGeom>
          <a:noFill/>
          <a:ln/>
        </p:spPr>
        <p:txBody>
          <a:bodyPr wrap="squar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PCI-SIG ratified standard</a:t>
            </a:r>
            <a:endParaRPr lang="en-US" sz="1023" dirty="0"/>
          </a:p>
        </p:txBody>
      </p:sp>
      <p:sp>
        <p:nvSpPr>
          <p:cNvPr id="93" name="Shape 89"/>
          <p:cNvSpPr/>
          <p:nvPr/>
        </p:nvSpPr>
        <p:spPr>
          <a:xfrm>
            <a:off x="6993731" y="6964431"/>
            <a:ext cx="178594" cy="125016"/>
          </a:xfrm>
          <a:prstGeom prst="rect">
            <a:avLst/>
          </a:prstGeom>
          <a:solidFill>
            <a:srgbClr val="E63946"/>
          </a:solidFill>
          <a:ln/>
        </p:spPr>
      </p:sp>
      <p:sp>
        <p:nvSpPr>
          <p:cNvPr id="94" name="Text 90"/>
          <p:cNvSpPr/>
          <p:nvPr/>
        </p:nvSpPr>
        <p:spPr>
          <a:xfrm>
            <a:off x="6993731" y="6964431"/>
            <a:ext cx="178594" cy="125016"/>
          </a:xfrm>
          <a:prstGeom prst="rect">
            <a:avLst/>
          </a:prstGeom>
          <a:noFill/>
          <a:ln/>
        </p:spPr>
        <p:txBody>
          <a:bodyPr wrap="none" lIns="51054" tIns="17018" rIns="51054" bIns="17018" rtlCol="0" anchor="t">
            <a:spAutoFit/>
          </a:bodyPr>
          <a:lstStyle/>
          <a:p>
            <a:pPr marL="0" indent="0" algn="l">
              <a:lnSpc>
                <a:spcPts val="800"/>
              </a:lnSpc>
              <a:buNone/>
            </a:pPr>
            <a:r>
              <a:rPr lang="en-US" sz="435" b="1" dirty="0">
                <a:solidFill>
                  <a:srgbClr val="FFFFFF"/>
                </a:solidFill>
                <a:latin typeface="Space Grotesk" pitchFamily="34" charset="0"/>
                <a:ea typeface="Space Grotesk" pitchFamily="34" charset="-122"/>
                <a:cs typeface="Space Grotesk" pitchFamily="34" charset="-120"/>
              </a:rPr>
              <a:t>NO</a:t>
            </a:r>
            <a:endParaRPr lang="en-US" sz="435" dirty="0"/>
          </a:p>
        </p:txBody>
      </p:sp>
      <p:sp>
        <p:nvSpPr>
          <p:cNvPr id="95" name="Text 91"/>
          <p:cNvSpPr/>
          <p:nvPr/>
        </p:nvSpPr>
        <p:spPr>
          <a:xfrm>
            <a:off x="7172325" y="6900137"/>
            <a:ext cx="1341239" cy="189309"/>
          </a:xfrm>
          <a:prstGeom prst="rect">
            <a:avLst/>
          </a:prstGeom>
          <a:noFill/>
          <a:ln/>
        </p:spPr>
        <p:txBody>
          <a:bodyPr wrap="none" lIns="0" tIns="0" rIns="0" bIns="0"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Intel proprietary only</a:t>
            </a:r>
            <a:endParaRPr lang="en-US" sz="1023" dirty="0"/>
          </a:p>
        </p:txBody>
      </p:sp>
      <p:sp>
        <p:nvSpPr>
          <p:cNvPr id="96" name="Shape 92"/>
          <p:cNvSpPr/>
          <p:nvPr/>
        </p:nvSpPr>
        <p:spPr>
          <a:xfrm>
            <a:off x="400050" y="7362695"/>
            <a:ext cx="8343900" cy="734020"/>
          </a:xfrm>
          <a:prstGeom prst="rect">
            <a:avLst/>
          </a:prstGeom>
          <a:solidFill>
            <a:srgbClr val="FFFFFF"/>
          </a:solidFill>
          <a:ln/>
        </p:spPr>
      </p:sp>
      <p:sp>
        <p:nvSpPr>
          <p:cNvPr id="97" name="Text 93"/>
          <p:cNvSpPr/>
          <p:nvPr/>
        </p:nvSpPr>
        <p:spPr>
          <a:xfrm>
            <a:off x="400050" y="7362695"/>
            <a:ext cx="1057275" cy="734020"/>
          </a:xfrm>
          <a:prstGeom prst="rect">
            <a:avLst/>
          </a:prstGeom>
          <a:noFill/>
          <a:ln/>
        </p:spPr>
        <p:txBody>
          <a:bodyPr wrap="square" lIns="85090" tIns="59563" rIns="85090" bIns="59563" rtlCol="0" anchor="ctr">
            <a:spAutoFit/>
          </a:bodyPr>
          <a:lstStyle/>
          <a:p>
            <a:pPr marL="0" indent="0" algn="l">
              <a:lnSpc>
                <a:spcPts val="1300"/>
              </a:lnSpc>
              <a:buNone/>
            </a:pPr>
            <a:r>
              <a:rPr lang="en-US" sz="936" b="1" dirty="0">
                <a:solidFill>
                  <a:srgbClr val="1A1A2E"/>
                </a:solidFill>
                <a:latin typeface="Space Grotesk" pitchFamily="34" charset="0"/>
                <a:ea typeface="Space Grotesk" pitchFamily="34" charset="-122"/>
                <a:cs typeface="Space Grotesk" pitchFamily="34" charset="-120"/>
              </a:rPr>
              <a:t>BEST FOR</a:t>
            </a:r>
            <a:endParaRPr lang="en-US" sz="936" dirty="0"/>
          </a:p>
        </p:txBody>
      </p:sp>
      <p:sp>
        <p:nvSpPr>
          <p:cNvPr id="98" name="Text 94"/>
          <p:cNvSpPr/>
          <p:nvPr/>
        </p:nvSpPr>
        <p:spPr>
          <a:xfrm>
            <a:off x="1457325" y="7362695"/>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General workloads; full vSwitch features; no performance requirement</a:t>
            </a:r>
            <a:endParaRPr lang="en-US" sz="1023" dirty="0"/>
          </a:p>
        </p:txBody>
      </p:sp>
      <p:sp>
        <p:nvSpPr>
          <p:cNvPr id="99" name="Text 95"/>
          <p:cNvSpPr/>
          <p:nvPr/>
        </p:nvSpPr>
        <p:spPr>
          <a:xfrm>
            <a:off x="3278981" y="7362695"/>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NFV service chains; East-West traffic; OVS-DPDK; 5G UPF</a:t>
            </a:r>
            <a:endParaRPr lang="en-US" sz="1023" dirty="0"/>
          </a:p>
        </p:txBody>
      </p:sp>
      <p:sp>
        <p:nvSpPr>
          <p:cNvPr id="100" name="Text 96"/>
          <p:cNvSpPr/>
          <p:nvPr/>
        </p:nvSpPr>
        <p:spPr>
          <a:xfrm>
            <a:off x="5100638" y="7362695"/>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North-South high throughput; telecom NFV; HFT; HPC</a:t>
            </a:r>
            <a:endParaRPr lang="en-US" sz="1023" dirty="0"/>
          </a:p>
        </p:txBody>
      </p:sp>
      <p:sp>
        <p:nvSpPr>
          <p:cNvPr id="101" name="Text 97"/>
          <p:cNvSpPr/>
          <p:nvPr/>
        </p:nvSpPr>
        <p:spPr>
          <a:xfrm>
            <a:off x="6922294" y="7362695"/>
            <a:ext cx="1821656" cy="734020"/>
          </a:xfrm>
          <a:prstGeom prst="rect">
            <a:avLst/>
          </a:prstGeom>
          <a:noFill/>
          <a:ln/>
        </p:spPr>
        <p:txBody>
          <a:bodyPr wrap="square" lIns="85090" tIns="59563" rIns="85090" bIns="59563" rtlCol="0" anchor="t">
            <a:spAutoFit/>
          </a:bodyPr>
          <a:lstStyle/>
          <a:p>
            <a:pPr marL="0" indent="0" algn="l">
              <a:lnSpc>
                <a:spcPts val="1600"/>
              </a:lnSpc>
              <a:buNone/>
            </a:pPr>
            <a:r>
              <a:rPr lang="en-US" sz="1023" dirty="0">
                <a:solidFill>
                  <a:srgbClr val="4A4A6A"/>
                </a:solidFill>
                <a:latin typeface="Open Sans" pitchFamily="34" charset="0"/>
                <a:ea typeface="Open Sans" pitchFamily="34" charset="-122"/>
                <a:cs typeface="Open Sans" pitchFamily="34" charset="-120"/>
              </a:rPr>
              <a:t>Enterprise VMware/Hyper-V; live migration required; moderate perf</a:t>
            </a:r>
            <a:endParaRPr lang="en-US" sz="1023" dirty="0"/>
          </a:p>
        </p:txBody>
      </p:sp>
      <p:sp>
        <p:nvSpPr>
          <p:cNvPr id="102" name="Shape 98"/>
          <p:cNvSpPr/>
          <p:nvPr/>
        </p:nvSpPr>
        <p:spPr>
          <a:xfrm>
            <a:off x="0" y="8100287"/>
            <a:ext cx="9144000" cy="242888"/>
          </a:xfrm>
          <a:prstGeom prst="rect">
            <a:avLst/>
          </a:prstGeom>
          <a:solidFill>
            <a:srgbClr val="000000">
              <a:alpha val="0"/>
            </a:srgbClr>
          </a:solidFill>
          <a:ln/>
        </p:spPr>
      </p:sp>
      <p:sp>
        <p:nvSpPr>
          <p:cNvPr id="103" name="Shape 99"/>
          <p:cNvSpPr/>
          <p:nvPr/>
        </p:nvSpPr>
        <p:spPr>
          <a:xfrm>
            <a:off x="0" y="8100287"/>
            <a:ext cx="9144000" cy="7144"/>
          </a:xfrm>
          <a:prstGeom prst="rect">
            <a:avLst/>
          </a:prstGeom>
          <a:solidFill>
            <a:srgbClr val="EBEBF0"/>
          </a:solidFill>
          <a:ln/>
        </p:spPr>
      </p:sp>
      <p:sp>
        <p:nvSpPr>
          <p:cNvPr id="104" name="Text 100"/>
          <p:cNvSpPr/>
          <p:nvPr/>
        </p:nvSpPr>
        <p:spPr>
          <a:xfrm>
            <a:off x="400050" y="8135113"/>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105" name="Text 101"/>
          <p:cNvSpPr/>
          <p:nvPr/>
        </p:nvSpPr>
        <p:spPr>
          <a:xfrm>
            <a:off x="8338542" y="8135113"/>
            <a:ext cx="405408"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10 / 15</a:t>
            </a:r>
            <a:endParaRPr lang="en-US" sz="996"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8640338"/>
          </a:xfrm>
          <a:prstGeom prst="rect">
            <a:avLst/>
          </a:prstGeom>
        </p:spPr>
      </p:pic>
      <p:sp>
        <p:nvSpPr>
          <p:cNvPr id="4" name="Text 0"/>
          <p:cNvSpPr/>
          <p:nvPr/>
        </p:nvSpPr>
        <p:spPr>
          <a:xfrm>
            <a:off x="457200" y="271463"/>
            <a:ext cx="82296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DECISION FRAMEWORK</a:t>
            </a:r>
            <a:endParaRPr lang="en-US" sz="936" dirty="0"/>
          </a:p>
        </p:txBody>
      </p:sp>
      <p:sp>
        <p:nvSpPr>
          <p:cNvPr id="5" name="Text 1"/>
          <p:cNvSpPr/>
          <p:nvPr/>
        </p:nvSpPr>
        <p:spPr>
          <a:xfrm>
            <a:off x="457200" y="487561"/>
            <a:ext cx="8229600" cy="480027"/>
          </a:xfrm>
          <a:prstGeom prst="rect">
            <a:avLst/>
          </a:prstGeom>
          <a:noFill/>
          <a:ln/>
        </p:spPr>
        <p:txBody>
          <a:bodyPr wrap="square" lIns="0" tIns="0" rIns="0" bIns="0" rtlCol="0" anchor="t">
            <a:spAutoFit/>
          </a:bodyPr>
          <a:lstStyle/>
          <a:p>
            <a:pPr marL="0" indent="0" algn="l">
              <a:lnSpc>
                <a:spcPts val="1900"/>
              </a:lnSpc>
              <a:buNone/>
            </a:pPr>
            <a:r>
              <a:rPr lang="en-US" sz="1397" b="1" dirty="0">
                <a:solidFill>
                  <a:srgbClr val="1A1A2E"/>
                </a:solidFill>
                <a:latin typeface="Playfair Display" pitchFamily="34" charset="0"/>
                <a:ea typeface="Playfair Display" pitchFamily="34" charset="-122"/>
                <a:cs typeface="Playfair Display" pitchFamily="34" charset="-120"/>
              </a:rPr>
              <a:t>Choosing the Right Technology Depends on Traffic Direction, Live Migration, and Hardware Constraints</a:t>
            </a:r>
            <a:endParaRPr lang="en-US" sz="1397" dirty="0"/>
          </a:p>
        </p:txBody>
      </p:sp>
      <p:sp>
        <p:nvSpPr>
          <p:cNvPr id="6" name="Text 2"/>
          <p:cNvSpPr/>
          <p:nvPr/>
        </p:nvSpPr>
        <p:spPr>
          <a:xfrm>
            <a:off x="457200" y="1296200"/>
            <a:ext cx="2433647"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E63946"/>
                </a:solidFill>
                <a:latin typeface="Space Grotesk" pitchFamily="34" charset="0"/>
                <a:ea typeface="Space Grotesk" pitchFamily="34" charset="-122"/>
                <a:cs typeface="Space Grotesk" pitchFamily="34" charset="-120"/>
              </a:rPr>
              <a:t>SR-IOV</a:t>
            </a:r>
            <a:endParaRPr lang="en-US" sz="936" dirty="0"/>
          </a:p>
        </p:txBody>
      </p:sp>
      <p:sp>
        <p:nvSpPr>
          <p:cNvPr id="7" name="Text 3"/>
          <p:cNvSpPr/>
          <p:nvPr/>
        </p:nvSpPr>
        <p:spPr>
          <a:xfrm>
            <a:off x="457200" y="1498011"/>
            <a:ext cx="2433647" cy="178594"/>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Single Root I/O Virtualization</a:t>
            </a:r>
            <a:endParaRPr lang="en-US" sz="987" dirty="0"/>
          </a:p>
        </p:txBody>
      </p:sp>
      <p:sp>
        <p:nvSpPr>
          <p:cNvPr id="8" name="Text 4"/>
          <p:cNvSpPr/>
          <p:nvPr/>
        </p:nvSpPr>
        <p:spPr>
          <a:xfrm>
            <a:off x="457200" y="1733755"/>
            <a:ext cx="2433647"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CHOOSE SR-IOV WHEN…</a:t>
            </a:r>
            <a:endParaRPr lang="en-US" sz="942" dirty="0"/>
          </a:p>
        </p:txBody>
      </p:sp>
      <p:sp>
        <p:nvSpPr>
          <p:cNvPr id="9" name="Text 5"/>
          <p:cNvSpPr/>
          <p:nvPr/>
        </p:nvSpPr>
        <p:spPr>
          <a:xfrm>
            <a:off x="457200" y="2005217"/>
            <a:ext cx="1159659"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North-South Throughput is the Priority</a:t>
            </a:r>
            <a:endParaRPr lang="en-US" sz="936" dirty="0"/>
          </a:p>
        </p:txBody>
      </p:sp>
      <p:sp>
        <p:nvSpPr>
          <p:cNvPr id="10" name="Text 6"/>
          <p:cNvSpPr/>
          <p:nvPr/>
        </p:nvSpPr>
        <p:spPr>
          <a:xfrm>
            <a:off x="457200" y="2578503"/>
            <a:ext cx="1159659" cy="205078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Traffic crosses server boundaries and you need the absolute closest performance to a bare-metal NIC. Telecom NFV, 5G UPF, and HPC interconnects are canonical use cases.</a:t>
            </a:r>
            <a:endParaRPr lang="en-US" sz="942" dirty="0"/>
          </a:p>
        </p:txBody>
      </p:sp>
      <p:sp>
        <p:nvSpPr>
          <p:cNvPr id="11" name="Text 7"/>
          <p:cNvSpPr/>
          <p:nvPr/>
        </p:nvSpPr>
        <p:spPr>
          <a:xfrm>
            <a:off x="1731159" y="1998073"/>
            <a:ext cx="1159687"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Host CPU Must Remain Free</a:t>
            </a:r>
            <a:endParaRPr lang="en-US" sz="936" dirty="0"/>
          </a:p>
        </p:txBody>
      </p:sp>
      <p:sp>
        <p:nvSpPr>
          <p:cNvPr id="12" name="Text 8"/>
          <p:cNvSpPr/>
          <p:nvPr/>
        </p:nvSpPr>
        <p:spPr>
          <a:xfrm>
            <a:off x="1731159" y="2387408"/>
            <a:ext cx="1159687" cy="186435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host CPU must not be consumed by packet processing. SR-IOV's hardware eSwitch and IOMMU DMA remove the host entirely from the data path.</a:t>
            </a:r>
            <a:endParaRPr lang="en-US" sz="942" dirty="0"/>
          </a:p>
        </p:txBody>
      </p:sp>
      <p:sp>
        <p:nvSpPr>
          <p:cNvPr id="13" name="Text 9"/>
          <p:cNvSpPr/>
          <p:nvPr/>
        </p:nvSpPr>
        <p:spPr>
          <a:xfrm>
            <a:off x="457200" y="4779308"/>
            <a:ext cx="1159659"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Live Migration is Not a Hard Requirement</a:t>
            </a:r>
            <a:endParaRPr lang="en-US" sz="936" dirty="0"/>
          </a:p>
        </p:txBody>
      </p:sp>
      <p:sp>
        <p:nvSpPr>
          <p:cNvPr id="14" name="Text 10"/>
          <p:cNvSpPr/>
          <p:nvPr/>
        </p:nvSpPr>
        <p:spPr>
          <a:xfrm>
            <a:off x="457200" y="5352594"/>
            <a:ext cx="1159659" cy="186435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operational model accepts brief network interruption during VM migration, or uses switchdev/SR-IOV live migration extensions to manage the transition.</a:t>
            </a:r>
            <a:endParaRPr lang="en-US" sz="942" dirty="0"/>
          </a:p>
        </p:txBody>
      </p:sp>
      <p:sp>
        <p:nvSpPr>
          <p:cNvPr id="15" name="Text 11"/>
          <p:cNvSpPr/>
          <p:nvPr/>
        </p:nvSpPr>
        <p:spPr>
          <a:xfrm>
            <a:off x="1731159" y="4779308"/>
            <a:ext cx="1159687"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SR-IOV-Capable Hardware is Available</a:t>
            </a:r>
            <a:endParaRPr lang="en-US" sz="936" dirty="0"/>
          </a:p>
        </p:txBody>
      </p:sp>
      <p:sp>
        <p:nvSpPr>
          <p:cNvPr id="16" name="Text 12"/>
          <p:cNvSpPr/>
          <p:nvPr/>
        </p:nvSpPr>
        <p:spPr>
          <a:xfrm>
            <a:off x="1731159" y="5352594"/>
            <a:ext cx="1159687" cy="167791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NIC, motherboard, and BIOS all support SR-IOV and IOMMU (Intel VT-d or AMD-Vi) is enabled. This is standard in modern server platforms.</a:t>
            </a:r>
            <a:endParaRPr lang="en-US" sz="942" dirty="0"/>
          </a:p>
        </p:txBody>
      </p:sp>
      <p:sp>
        <p:nvSpPr>
          <p:cNvPr id="17" name="Text 13"/>
          <p:cNvSpPr/>
          <p:nvPr/>
        </p:nvSpPr>
        <p:spPr>
          <a:xfrm>
            <a:off x="3355191" y="1296200"/>
            <a:ext cx="2433647"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003087"/>
                </a:solidFill>
                <a:latin typeface="Space Grotesk" pitchFamily="34" charset="0"/>
                <a:ea typeface="Space Grotesk" pitchFamily="34" charset="-122"/>
                <a:cs typeface="Space Grotesk" pitchFamily="34" charset="-120"/>
              </a:rPr>
              <a:t>DPDK</a:t>
            </a:r>
            <a:endParaRPr lang="en-US" sz="936" dirty="0"/>
          </a:p>
        </p:txBody>
      </p:sp>
      <p:sp>
        <p:nvSpPr>
          <p:cNvPr id="18" name="Text 14"/>
          <p:cNvSpPr/>
          <p:nvPr/>
        </p:nvSpPr>
        <p:spPr>
          <a:xfrm>
            <a:off x="3355191" y="1498011"/>
            <a:ext cx="2433647" cy="178594"/>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Data Plane Development Kit</a:t>
            </a:r>
            <a:endParaRPr lang="en-US" sz="987" dirty="0"/>
          </a:p>
        </p:txBody>
      </p:sp>
      <p:sp>
        <p:nvSpPr>
          <p:cNvPr id="19" name="Text 15"/>
          <p:cNvSpPr/>
          <p:nvPr/>
        </p:nvSpPr>
        <p:spPr>
          <a:xfrm>
            <a:off x="3355191" y="1733755"/>
            <a:ext cx="2433647"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CHOOSE DPDK WHEN…</a:t>
            </a:r>
            <a:endParaRPr lang="en-US" sz="942" dirty="0"/>
          </a:p>
        </p:txBody>
      </p:sp>
      <p:sp>
        <p:nvSpPr>
          <p:cNvPr id="20" name="Text 16"/>
          <p:cNvSpPr/>
          <p:nvPr/>
        </p:nvSpPr>
        <p:spPr>
          <a:xfrm>
            <a:off x="3355191" y="2005217"/>
            <a:ext cx="1159659" cy="367903"/>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East-West Traffic Dominates</a:t>
            </a:r>
            <a:endParaRPr lang="en-US" sz="936" dirty="0"/>
          </a:p>
        </p:txBody>
      </p:sp>
      <p:sp>
        <p:nvSpPr>
          <p:cNvPr id="21" name="Text 17"/>
          <p:cNvSpPr/>
          <p:nvPr/>
        </p:nvSpPr>
        <p:spPr>
          <a:xfrm>
            <a:off x="3355191" y="2394552"/>
            <a:ext cx="1159659" cy="149148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Most traffic flows VM-to-VM on the same physical host. OVS-DPDK or VPP can switch this traffic in user space at line rate without leaving the server.</a:t>
            </a:r>
            <a:endParaRPr lang="en-US" sz="942" dirty="0"/>
          </a:p>
        </p:txBody>
      </p:sp>
      <p:sp>
        <p:nvSpPr>
          <p:cNvPr id="22" name="Text 18"/>
          <p:cNvSpPr/>
          <p:nvPr/>
        </p:nvSpPr>
        <p:spPr>
          <a:xfrm>
            <a:off x="4629150" y="1998073"/>
            <a:ext cx="1159687" cy="735806"/>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Programmable Packet Processing is Required</a:t>
            </a:r>
            <a:endParaRPr lang="en-US" sz="936" dirty="0"/>
          </a:p>
        </p:txBody>
      </p:sp>
      <p:sp>
        <p:nvSpPr>
          <p:cNvPr id="23" name="Text 19"/>
          <p:cNvSpPr/>
          <p:nvPr/>
        </p:nvSpPr>
        <p:spPr>
          <a:xfrm>
            <a:off x="4629150" y="2755311"/>
            <a:ext cx="1159687" cy="205078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Custom forwarding logic, deep packet inspection, or NFV service chaining (vRouter → vFirewall → vLB) must be implemented in software with full control over the pipeline.</a:t>
            </a:r>
            <a:endParaRPr lang="en-US" sz="942" dirty="0"/>
          </a:p>
        </p:txBody>
      </p:sp>
      <p:sp>
        <p:nvSpPr>
          <p:cNvPr id="24" name="Text 20"/>
          <p:cNvSpPr/>
          <p:nvPr/>
        </p:nvSpPr>
        <p:spPr>
          <a:xfrm>
            <a:off x="3355191" y="4956116"/>
            <a:ext cx="1159659"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Standard Hardware Must Be Used</a:t>
            </a:r>
            <a:endParaRPr lang="en-US" sz="936" dirty="0"/>
          </a:p>
        </p:txBody>
      </p:sp>
      <p:sp>
        <p:nvSpPr>
          <p:cNvPr id="25" name="Text 21"/>
          <p:cNvSpPr/>
          <p:nvPr/>
        </p:nvSpPr>
        <p:spPr>
          <a:xfrm>
            <a:off x="3355191" y="5529402"/>
            <a:ext cx="1159659" cy="186435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No SR-IOV hardware is available or the budget does not allow for specialised NICs. DPDK works on any commodity NIC with a supported Poll Mode Driver.</a:t>
            </a:r>
            <a:endParaRPr lang="en-US" sz="942" dirty="0"/>
          </a:p>
        </p:txBody>
      </p:sp>
      <p:sp>
        <p:nvSpPr>
          <p:cNvPr id="26" name="Text 22"/>
          <p:cNvSpPr/>
          <p:nvPr/>
        </p:nvSpPr>
        <p:spPr>
          <a:xfrm>
            <a:off x="4629150" y="4956116"/>
            <a:ext cx="1159687" cy="735806"/>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Combined with SR-IOV for Maximum Performance</a:t>
            </a:r>
            <a:endParaRPr lang="en-US" sz="936" dirty="0"/>
          </a:p>
        </p:txBody>
      </p:sp>
      <p:sp>
        <p:nvSpPr>
          <p:cNvPr id="27" name="Text 23"/>
          <p:cNvSpPr/>
          <p:nvPr/>
        </p:nvSpPr>
        <p:spPr>
          <a:xfrm>
            <a:off x="4629150" y="5713354"/>
            <a:ext cx="1159687" cy="167791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SR-IOV delivers the VF to the VM, then DPDK inside the VM bypasses the guest kernel — creating a two-level bypass that achieves within 1% of bare-metal throughput.</a:t>
            </a:r>
            <a:endParaRPr lang="en-US" sz="942" dirty="0"/>
          </a:p>
        </p:txBody>
      </p:sp>
      <p:sp>
        <p:nvSpPr>
          <p:cNvPr id="28" name="Text 24"/>
          <p:cNvSpPr/>
          <p:nvPr/>
        </p:nvSpPr>
        <p:spPr>
          <a:xfrm>
            <a:off x="6253181" y="1296200"/>
            <a:ext cx="2433647"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1A6B72"/>
                </a:solidFill>
                <a:latin typeface="Space Grotesk" pitchFamily="34" charset="0"/>
                <a:ea typeface="Space Grotesk" pitchFamily="34" charset="-122"/>
                <a:cs typeface="Space Grotesk" pitchFamily="34" charset="-120"/>
              </a:rPr>
              <a:t>VMDQ</a:t>
            </a:r>
            <a:endParaRPr lang="en-US" sz="936" dirty="0"/>
          </a:p>
        </p:txBody>
      </p:sp>
      <p:sp>
        <p:nvSpPr>
          <p:cNvPr id="29" name="Text 25"/>
          <p:cNvSpPr/>
          <p:nvPr/>
        </p:nvSpPr>
        <p:spPr>
          <a:xfrm>
            <a:off x="6253181" y="1498011"/>
            <a:ext cx="2433647" cy="178594"/>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Playfair Display" pitchFamily="34" charset="0"/>
                <a:ea typeface="Playfair Display" pitchFamily="34" charset="-122"/>
                <a:cs typeface="Playfair Display" pitchFamily="34" charset="-120"/>
              </a:rPr>
              <a:t>Virtual Machine Device Queues</a:t>
            </a:r>
            <a:endParaRPr lang="en-US" sz="987" dirty="0"/>
          </a:p>
        </p:txBody>
      </p:sp>
      <p:sp>
        <p:nvSpPr>
          <p:cNvPr id="30" name="Text 26"/>
          <p:cNvSpPr/>
          <p:nvPr/>
        </p:nvSpPr>
        <p:spPr>
          <a:xfrm>
            <a:off x="6253181" y="1733755"/>
            <a:ext cx="2433647"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CHOOSE VMDQ WHEN…</a:t>
            </a:r>
            <a:endParaRPr lang="en-US" sz="942" dirty="0"/>
          </a:p>
        </p:txBody>
      </p:sp>
      <p:sp>
        <p:nvSpPr>
          <p:cNvPr id="31" name="Text 27"/>
          <p:cNvSpPr/>
          <p:nvPr/>
        </p:nvSpPr>
        <p:spPr>
          <a:xfrm>
            <a:off x="6253181" y="2005217"/>
            <a:ext cx="1159659"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Seamless Live Migration is Non-Negotiable</a:t>
            </a:r>
            <a:endParaRPr lang="en-US" sz="936" dirty="0"/>
          </a:p>
        </p:txBody>
      </p:sp>
      <p:sp>
        <p:nvSpPr>
          <p:cNvPr id="32" name="Text 28"/>
          <p:cNvSpPr/>
          <p:nvPr/>
        </p:nvSpPr>
        <p:spPr>
          <a:xfrm>
            <a:off x="6253181" y="2578503"/>
            <a:ext cx="1159659" cy="205078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operational model requires zero-interruption VM mobility between hosts. VMDq preserves full vSwitch compatibility and hypervisor control, enabling standard live migration.</a:t>
            </a:r>
            <a:endParaRPr lang="en-US" sz="942" dirty="0"/>
          </a:p>
        </p:txBody>
      </p:sp>
      <p:sp>
        <p:nvSpPr>
          <p:cNvPr id="33" name="Text 29"/>
          <p:cNvSpPr/>
          <p:nvPr/>
        </p:nvSpPr>
        <p:spPr>
          <a:xfrm>
            <a:off x="7527141" y="1998073"/>
            <a:ext cx="1159687"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vSwitch Features Must Be Preserved</a:t>
            </a:r>
            <a:endParaRPr lang="en-US" sz="936" dirty="0"/>
          </a:p>
        </p:txBody>
      </p:sp>
      <p:sp>
        <p:nvSpPr>
          <p:cNvPr id="34" name="Text 30"/>
          <p:cNvSpPr/>
          <p:nvPr/>
        </p:nvSpPr>
        <p:spPr>
          <a:xfrm>
            <a:off x="7527141" y="2571359"/>
            <a:ext cx="1159687" cy="186435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Security groups, ACLs, port mirroring, and QoS policies must remain enforceable. VMDq keeps the hypervisor vSwitch in the path for all policy enforcement.</a:t>
            </a:r>
            <a:endParaRPr lang="en-US" sz="942" dirty="0"/>
          </a:p>
        </p:txBody>
      </p:sp>
      <p:sp>
        <p:nvSpPr>
          <p:cNvPr id="35" name="Text 31"/>
          <p:cNvSpPr/>
          <p:nvPr/>
        </p:nvSpPr>
        <p:spPr>
          <a:xfrm>
            <a:off x="6253181" y="4779308"/>
            <a:ext cx="1159659" cy="735806"/>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A Moderate Performance Improvement is Sufficient</a:t>
            </a:r>
            <a:endParaRPr lang="en-US" sz="936" dirty="0"/>
          </a:p>
        </p:txBody>
      </p:sp>
      <p:sp>
        <p:nvSpPr>
          <p:cNvPr id="36" name="Text 32"/>
          <p:cNvSpPr/>
          <p:nvPr/>
        </p:nvSpPr>
        <p:spPr>
          <a:xfrm>
            <a:off x="6253181" y="5536546"/>
            <a:ext cx="1159659" cy="167791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The workload does not require SR-IOV-level throughput. Reducing hypervisor CPU load from packet sorting is sufficient to meet the performance target.</a:t>
            </a:r>
            <a:endParaRPr lang="en-US" sz="942" dirty="0"/>
          </a:p>
        </p:txBody>
      </p:sp>
      <p:sp>
        <p:nvSpPr>
          <p:cNvPr id="37" name="Text 33"/>
          <p:cNvSpPr/>
          <p:nvPr/>
        </p:nvSpPr>
        <p:spPr>
          <a:xfrm>
            <a:off x="7527141" y="4779308"/>
            <a:ext cx="1159687" cy="551855"/>
          </a:xfrm>
          <a:prstGeom prst="rect">
            <a:avLst/>
          </a:prstGeom>
          <a:noFill/>
          <a:ln/>
        </p:spPr>
        <p:txBody>
          <a:bodyPr wrap="square" lIns="0" tIns="0" rIns="0" bIns="0" rtlCol="0" anchor="t">
            <a:spAutoFit/>
          </a:bodyPr>
          <a:lstStyle/>
          <a:p>
            <a:pPr marL="0" indent="0" algn="l">
              <a:lnSpc>
                <a:spcPts val="1300"/>
              </a:lnSpc>
              <a:buNone/>
            </a:pPr>
            <a:r>
              <a:rPr lang="en-US" sz="936" b="1" dirty="0">
                <a:solidFill>
                  <a:srgbClr val="1A1A2E"/>
                </a:solidFill>
                <a:latin typeface="Open Sans" pitchFamily="34" charset="0"/>
                <a:ea typeface="Open Sans" pitchFamily="34" charset="-122"/>
                <a:cs typeface="Open Sans" pitchFamily="34" charset="-120"/>
              </a:rPr>
              <a:t>Intel NIC Hardware is Already Deployed</a:t>
            </a:r>
            <a:endParaRPr lang="en-US" sz="936" dirty="0"/>
          </a:p>
        </p:txBody>
      </p:sp>
      <p:sp>
        <p:nvSpPr>
          <p:cNvPr id="38" name="Text 34"/>
          <p:cNvSpPr/>
          <p:nvPr/>
        </p:nvSpPr>
        <p:spPr>
          <a:xfrm>
            <a:off x="7527141" y="5352594"/>
            <a:ext cx="1159687" cy="1491481"/>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4A4A6A"/>
                </a:solidFill>
                <a:latin typeface="Open Sans" pitchFamily="34" charset="0"/>
                <a:ea typeface="Open Sans" pitchFamily="34" charset="-122"/>
                <a:cs typeface="Open Sans" pitchFamily="34" charset="-120"/>
              </a:rPr>
              <a:t>VMDq is available on existing Intel NIC deployments (82599, X710, E810 series) without additional hardware investment or BIOS reconfiguration.</a:t>
            </a:r>
            <a:endParaRPr lang="en-US" sz="942" dirty="0"/>
          </a:p>
        </p:txBody>
      </p:sp>
      <p:sp>
        <p:nvSpPr>
          <p:cNvPr id="39" name="Shape 35"/>
          <p:cNvSpPr/>
          <p:nvPr/>
        </p:nvSpPr>
        <p:spPr>
          <a:xfrm>
            <a:off x="0" y="7443760"/>
            <a:ext cx="9144000" cy="939403"/>
          </a:xfrm>
          <a:prstGeom prst="rect">
            <a:avLst/>
          </a:prstGeom>
          <a:solidFill>
            <a:srgbClr val="1A1A2E"/>
          </a:solidFill>
          <a:ln/>
        </p:spPr>
      </p:sp>
      <p:sp>
        <p:nvSpPr>
          <p:cNvPr id="40" name="Text 36"/>
          <p:cNvSpPr/>
          <p:nvPr/>
        </p:nvSpPr>
        <p:spPr>
          <a:xfrm>
            <a:off x="457200" y="7486622"/>
            <a:ext cx="1276945" cy="185738"/>
          </a:xfrm>
          <a:prstGeom prst="rect">
            <a:avLst/>
          </a:prstGeom>
          <a:noFill/>
          <a:ln/>
        </p:spPr>
        <p:txBody>
          <a:bodyPr wrap="none" lIns="0" tIns="25527" rIns="0" bIns="0" rtlCol="0" anchor="t">
            <a:spAutoFit/>
          </a:bodyPr>
          <a:lstStyle/>
          <a:p>
            <a:pPr marL="0" indent="0" algn="l">
              <a:lnSpc>
                <a:spcPts val="1200"/>
              </a:lnSpc>
              <a:buNone/>
            </a:pPr>
            <a:r>
              <a:rPr lang="en-US" sz="942" kern="0" spc="2" dirty="0">
                <a:solidFill>
                  <a:srgbClr val="FFFFFF">
                    <a:alpha val="45000"/>
                  </a:srgbClr>
                </a:solidFill>
                <a:latin typeface="Space Grotesk" pitchFamily="34" charset="0"/>
                <a:ea typeface="Space Grotesk" pitchFamily="34" charset="-122"/>
                <a:cs typeface="Space Grotesk" pitchFamily="34" charset="-120"/>
              </a:rPr>
              <a:t>COMBINED USAGE</a:t>
            </a:r>
            <a:endParaRPr lang="en-US" sz="942" dirty="0"/>
          </a:p>
        </p:txBody>
      </p:sp>
      <p:sp>
        <p:nvSpPr>
          <p:cNvPr id="41" name="Shape 37"/>
          <p:cNvSpPr/>
          <p:nvPr/>
        </p:nvSpPr>
        <p:spPr>
          <a:xfrm>
            <a:off x="1912739" y="7500910"/>
            <a:ext cx="621506" cy="216098"/>
          </a:xfrm>
          <a:prstGeom prst="rect">
            <a:avLst/>
          </a:prstGeom>
          <a:solidFill>
            <a:srgbClr val="E63946"/>
          </a:solidFill>
          <a:ln/>
        </p:spPr>
      </p:sp>
      <p:sp>
        <p:nvSpPr>
          <p:cNvPr id="42" name="Text 38"/>
          <p:cNvSpPr/>
          <p:nvPr/>
        </p:nvSpPr>
        <p:spPr>
          <a:xfrm>
            <a:off x="1912739" y="7500910"/>
            <a:ext cx="621506" cy="216098"/>
          </a:xfrm>
          <a:prstGeom prst="rect">
            <a:avLst/>
          </a:prstGeom>
          <a:noFill/>
          <a:ln/>
        </p:spPr>
        <p:txBody>
          <a:bodyPr wrap="none" lIns="85090" tIns="25527" rIns="85090" bIns="25527"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SR-IOV</a:t>
            </a:r>
            <a:endParaRPr lang="en-US" sz="936" dirty="0"/>
          </a:p>
        </p:txBody>
      </p:sp>
      <p:sp>
        <p:nvSpPr>
          <p:cNvPr id="43" name="Text 39"/>
          <p:cNvSpPr/>
          <p:nvPr/>
        </p:nvSpPr>
        <p:spPr>
          <a:xfrm>
            <a:off x="2591395" y="7500910"/>
            <a:ext cx="141089" cy="216098"/>
          </a:xfrm>
          <a:prstGeom prst="rect">
            <a:avLst/>
          </a:prstGeom>
          <a:noFill/>
          <a:ln/>
        </p:spPr>
        <p:txBody>
          <a:bodyPr wrap="none" lIns="34036" tIns="0" rIns="34036" bIns="0" rtlCol="0" anchor="t">
            <a:spAutoFit/>
          </a:bodyPr>
          <a:lstStyle/>
          <a:p>
            <a:pPr marL="0" indent="0" algn="l">
              <a:lnSpc>
                <a:spcPts val="1300"/>
              </a:lnSpc>
              <a:buNone/>
            </a:pPr>
            <a:r>
              <a:rPr lang="en-US" sz="936" b="1" dirty="0">
                <a:solidFill>
                  <a:srgbClr val="FFFFFF">
                    <a:alpha val="50000"/>
                  </a:srgbClr>
                </a:solidFill>
                <a:latin typeface="Space Grotesk" pitchFamily="34" charset="0"/>
                <a:ea typeface="Space Grotesk" pitchFamily="34" charset="-122"/>
                <a:cs typeface="Space Grotesk" pitchFamily="34" charset="-120"/>
              </a:rPr>
              <a:t>+</a:t>
            </a:r>
            <a:endParaRPr lang="en-US" sz="936" dirty="0"/>
          </a:p>
        </p:txBody>
      </p:sp>
      <p:sp>
        <p:nvSpPr>
          <p:cNvPr id="44" name="Shape 40"/>
          <p:cNvSpPr/>
          <p:nvPr/>
        </p:nvSpPr>
        <p:spPr>
          <a:xfrm>
            <a:off x="2789634" y="7500910"/>
            <a:ext cx="519708" cy="216098"/>
          </a:xfrm>
          <a:prstGeom prst="rect">
            <a:avLst/>
          </a:prstGeom>
          <a:solidFill>
            <a:srgbClr val="003087"/>
          </a:solidFill>
          <a:ln/>
        </p:spPr>
      </p:sp>
      <p:sp>
        <p:nvSpPr>
          <p:cNvPr id="45" name="Text 41"/>
          <p:cNvSpPr/>
          <p:nvPr/>
        </p:nvSpPr>
        <p:spPr>
          <a:xfrm>
            <a:off x="2789634" y="7500910"/>
            <a:ext cx="519708" cy="216098"/>
          </a:xfrm>
          <a:prstGeom prst="rect">
            <a:avLst/>
          </a:prstGeom>
          <a:noFill/>
          <a:ln/>
        </p:spPr>
        <p:txBody>
          <a:bodyPr wrap="none" lIns="85090" tIns="25527" rIns="85090" bIns="25527"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DPDK</a:t>
            </a:r>
            <a:endParaRPr lang="en-US" sz="936" dirty="0"/>
          </a:p>
        </p:txBody>
      </p:sp>
      <p:sp>
        <p:nvSpPr>
          <p:cNvPr id="46" name="Text 42"/>
          <p:cNvSpPr/>
          <p:nvPr/>
        </p:nvSpPr>
        <p:spPr>
          <a:xfrm>
            <a:off x="3366492" y="7500910"/>
            <a:ext cx="141089" cy="216098"/>
          </a:xfrm>
          <a:prstGeom prst="rect">
            <a:avLst/>
          </a:prstGeom>
          <a:noFill/>
          <a:ln/>
        </p:spPr>
        <p:txBody>
          <a:bodyPr wrap="none" lIns="34036" tIns="0" rIns="34036" bIns="0" rtlCol="0" anchor="t">
            <a:spAutoFit/>
          </a:bodyPr>
          <a:lstStyle/>
          <a:p>
            <a:pPr marL="0" indent="0" algn="l">
              <a:lnSpc>
                <a:spcPts val="1300"/>
              </a:lnSpc>
              <a:buNone/>
            </a:pPr>
            <a:r>
              <a:rPr lang="en-US" sz="936" b="1" dirty="0">
                <a:solidFill>
                  <a:srgbClr val="FFFFFF">
                    <a:alpha val="50000"/>
                  </a:srgbClr>
                </a:solidFill>
                <a:latin typeface="Space Grotesk" pitchFamily="34" charset="0"/>
                <a:ea typeface="Space Grotesk" pitchFamily="34" charset="-122"/>
                <a:cs typeface="Space Grotesk" pitchFamily="34" charset="-120"/>
              </a:rPr>
              <a:t>+</a:t>
            </a:r>
            <a:endParaRPr lang="en-US" sz="936" dirty="0"/>
          </a:p>
        </p:txBody>
      </p:sp>
      <p:sp>
        <p:nvSpPr>
          <p:cNvPr id="47" name="Shape 43"/>
          <p:cNvSpPr/>
          <p:nvPr/>
        </p:nvSpPr>
        <p:spPr>
          <a:xfrm>
            <a:off x="3564731" y="7500910"/>
            <a:ext cx="555427" cy="216098"/>
          </a:xfrm>
          <a:prstGeom prst="rect">
            <a:avLst/>
          </a:prstGeom>
          <a:solidFill>
            <a:srgbClr val="1A6B72"/>
          </a:solidFill>
          <a:ln/>
        </p:spPr>
      </p:sp>
      <p:sp>
        <p:nvSpPr>
          <p:cNvPr id="48" name="Text 44"/>
          <p:cNvSpPr/>
          <p:nvPr/>
        </p:nvSpPr>
        <p:spPr>
          <a:xfrm>
            <a:off x="3564731" y="7500910"/>
            <a:ext cx="555427" cy="216098"/>
          </a:xfrm>
          <a:prstGeom prst="rect">
            <a:avLst/>
          </a:prstGeom>
          <a:noFill/>
          <a:ln/>
        </p:spPr>
        <p:txBody>
          <a:bodyPr wrap="none" lIns="85090" tIns="25527" rIns="85090" bIns="25527"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VMDQ</a:t>
            </a:r>
            <a:endParaRPr lang="en-US" sz="936" dirty="0"/>
          </a:p>
        </p:txBody>
      </p:sp>
      <p:sp>
        <p:nvSpPr>
          <p:cNvPr id="49" name="Text 45"/>
          <p:cNvSpPr/>
          <p:nvPr/>
        </p:nvSpPr>
        <p:spPr>
          <a:xfrm>
            <a:off x="1912739" y="7745583"/>
            <a:ext cx="6774061" cy="594717"/>
          </a:xfrm>
          <a:prstGeom prst="rect">
            <a:avLst/>
          </a:prstGeom>
          <a:noFill/>
          <a:ln/>
        </p:spPr>
        <p:txBody>
          <a:bodyPr wrap="square" lIns="0" tIns="0" rIns="0" bIns="0" rtlCol="0" anchor="t">
            <a:spAutoFit/>
          </a:bodyPr>
          <a:lstStyle/>
          <a:p>
            <a:pPr marL="0" indent="0" algn="l">
              <a:lnSpc>
                <a:spcPts val="1600"/>
              </a:lnSpc>
              <a:buNone/>
            </a:pPr>
            <a:r>
              <a:rPr lang="en-US" sz="969" dirty="0">
                <a:solidFill>
                  <a:srgbClr val="FFFFFF">
                    <a:alpha val="78000"/>
                  </a:srgbClr>
                </a:solidFill>
                <a:latin typeface="Open Sans" pitchFamily="34" charset="0"/>
                <a:ea typeface="Open Sans" pitchFamily="34" charset="-122"/>
                <a:cs typeface="Open Sans" pitchFamily="34" charset="-120"/>
              </a:rPr>
              <a:t>A single physical server can run all three simultaneously: SR-IOV VFs assigned to latency-critical NFV workloads, OVS-DPDK switching East-West traffic between general VMs, and VMDq queues serving workloads that require live migration. The choice is not mutually exclusive at the server level — it is made per-workload and per-NIC-port.</a:t>
            </a:r>
            <a:endParaRPr lang="en-US" sz="969" dirty="0"/>
          </a:p>
        </p:txBody>
      </p:sp>
      <p:sp>
        <p:nvSpPr>
          <p:cNvPr id="50" name="Shape 46"/>
          <p:cNvSpPr/>
          <p:nvPr/>
        </p:nvSpPr>
        <p:spPr>
          <a:xfrm>
            <a:off x="0" y="8383163"/>
            <a:ext cx="9144000" cy="257175"/>
          </a:xfrm>
          <a:prstGeom prst="rect">
            <a:avLst/>
          </a:prstGeom>
          <a:solidFill>
            <a:srgbClr val="000000">
              <a:alpha val="0"/>
            </a:srgbClr>
          </a:solidFill>
          <a:ln/>
        </p:spPr>
      </p:sp>
      <p:sp>
        <p:nvSpPr>
          <p:cNvPr id="51" name="Shape 47"/>
          <p:cNvSpPr/>
          <p:nvPr/>
        </p:nvSpPr>
        <p:spPr>
          <a:xfrm>
            <a:off x="0" y="8383163"/>
            <a:ext cx="9144000" cy="7144"/>
          </a:xfrm>
          <a:prstGeom prst="rect">
            <a:avLst/>
          </a:prstGeom>
          <a:solidFill>
            <a:srgbClr val="EBEBF0"/>
          </a:solidFill>
          <a:ln/>
        </p:spPr>
      </p:sp>
      <p:sp>
        <p:nvSpPr>
          <p:cNvPr id="52" name="Text 48"/>
          <p:cNvSpPr/>
          <p:nvPr/>
        </p:nvSpPr>
        <p:spPr>
          <a:xfrm>
            <a:off x="457200" y="8425132"/>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53" name="Text 49"/>
          <p:cNvSpPr/>
          <p:nvPr/>
        </p:nvSpPr>
        <p:spPr>
          <a:xfrm>
            <a:off x="8286750" y="8425132"/>
            <a:ext cx="400050"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13 / 15</a:t>
            </a:r>
            <a:endParaRPr lang="en-US" sz="996"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567017"/>
          </a:xfrm>
          <a:prstGeom prst="rect">
            <a:avLst/>
          </a:prstGeom>
        </p:spPr>
      </p:pic>
      <p:sp>
        <p:nvSpPr>
          <p:cNvPr id="4" name="Text 0"/>
          <p:cNvSpPr/>
          <p:nvPr/>
        </p:nvSpPr>
        <p:spPr>
          <a:xfrm>
            <a:off x="457200" y="242888"/>
            <a:ext cx="6974086"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COMBINED USAGE</a:t>
            </a:r>
            <a:endParaRPr lang="en-US" sz="936" dirty="0"/>
          </a:p>
        </p:txBody>
      </p:sp>
      <p:sp>
        <p:nvSpPr>
          <p:cNvPr id="5" name="Text 1"/>
          <p:cNvSpPr/>
          <p:nvPr/>
        </p:nvSpPr>
        <p:spPr>
          <a:xfrm>
            <a:off x="457200" y="473273"/>
            <a:ext cx="6974086" cy="464344"/>
          </a:xfrm>
          <a:prstGeom prst="rect">
            <a:avLst/>
          </a:prstGeom>
          <a:noFill/>
          <a:ln/>
        </p:spPr>
        <p:txBody>
          <a:bodyPr wrap="square" lIns="0" tIns="0" rIns="0" bIns="0" rtlCol="0" anchor="t">
            <a:spAutoFit/>
          </a:bodyPr>
          <a:lstStyle/>
          <a:p>
            <a:pPr marL="0" indent="0" algn="l">
              <a:lnSpc>
                <a:spcPts val="1800"/>
              </a:lnSpc>
              <a:buNone/>
            </a:pPr>
            <a:r>
              <a:rPr lang="en-US" sz="1295" b="1" dirty="0">
                <a:solidFill>
                  <a:srgbClr val="1A1A2E"/>
                </a:solidFill>
                <a:latin typeface="Playfair Display" pitchFamily="34" charset="0"/>
                <a:ea typeface="Playfair Display" pitchFamily="34" charset="-122"/>
                <a:cs typeface="Playfair Display" pitchFamily="34" charset="-120"/>
              </a:rPr>
              <a:t>SR-IOV + DPDK: A Two-Level Bypass That Eliminates Both the Hypervisor and the Guest Kernel from the Packet Path</a:t>
            </a:r>
            <a:endParaRPr lang="en-US" sz="1295" dirty="0"/>
          </a:p>
        </p:txBody>
      </p:sp>
      <p:sp>
        <p:nvSpPr>
          <p:cNvPr id="6" name="Shape 2"/>
          <p:cNvSpPr/>
          <p:nvPr/>
        </p:nvSpPr>
        <p:spPr>
          <a:xfrm>
            <a:off x="7431286" y="242888"/>
            <a:ext cx="650081" cy="244673"/>
          </a:xfrm>
          <a:prstGeom prst="rect">
            <a:avLst/>
          </a:prstGeom>
          <a:solidFill>
            <a:srgbClr val="E63946"/>
          </a:solidFill>
          <a:ln/>
        </p:spPr>
      </p:sp>
      <p:sp>
        <p:nvSpPr>
          <p:cNvPr id="7" name="Text 3"/>
          <p:cNvSpPr/>
          <p:nvPr/>
        </p:nvSpPr>
        <p:spPr>
          <a:xfrm>
            <a:off x="7431286" y="242888"/>
            <a:ext cx="650081" cy="244673"/>
          </a:xfrm>
          <a:prstGeom prst="rect">
            <a:avLst/>
          </a:prstGeom>
          <a:noFill/>
          <a:ln/>
        </p:spPr>
        <p:txBody>
          <a:bodyPr wrap="square" lIns="102108" tIns="42545" rIns="102108" bIns="42545"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SR-IOV</a:t>
            </a:r>
            <a:endParaRPr lang="en-US" sz="936" dirty="0"/>
          </a:p>
        </p:txBody>
      </p:sp>
      <p:sp>
        <p:nvSpPr>
          <p:cNvPr id="8" name="Shape 4"/>
          <p:cNvSpPr/>
          <p:nvPr/>
        </p:nvSpPr>
        <p:spPr>
          <a:xfrm>
            <a:off x="8138517" y="242888"/>
            <a:ext cx="548283" cy="244673"/>
          </a:xfrm>
          <a:prstGeom prst="rect">
            <a:avLst/>
          </a:prstGeom>
          <a:solidFill>
            <a:srgbClr val="003087"/>
          </a:solidFill>
          <a:ln/>
        </p:spPr>
      </p:sp>
      <p:sp>
        <p:nvSpPr>
          <p:cNvPr id="9" name="Text 5"/>
          <p:cNvSpPr/>
          <p:nvPr/>
        </p:nvSpPr>
        <p:spPr>
          <a:xfrm>
            <a:off x="8138517" y="242888"/>
            <a:ext cx="548283" cy="244673"/>
          </a:xfrm>
          <a:prstGeom prst="rect">
            <a:avLst/>
          </a:prstGeom>
          <a:noFill/>
          <a:ln/>
        </p:spPr>
        <p:txBody>
          <a:bodyPr wrap="square" lIns="102108" tIns="42545" rIns="102108" bIns="42545"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DPDK</a:t>
            </a:r>
            <a:endParaRPr lang="en-US" sz="936" dirty="0"/>
          </a:p>
        </p:txBody>
      </p:sp>
      <p:sp>
        <p:nvSpPr>
          <p:cNvPr id="10" name="Text 6"/>
          <p:cNvSpPr/>
          <p:nvPr/>
        </p:nvSpPr>
        <p:spPr>
          <a:xfrm>
            <a:off x="457200" y="1259086"/>
            <a:ext cx="1857375" cy="328613"/>
          </a:xfrm>
          <a:prstGeom prst="rect">
            <a:avLst/>
          </a:prstGeom>
          <a:noFill/>
          <a:ln/>
        </p:spPr>
        <p:txBody>
          <a:bodyPr wrap="squar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COMBINED PACKET PATH (RX)</a:t>
            </a:r>
            <a:endParaRPr lang="en-US" sz="942" dirty="0"/>
          </a:p>
        </p:txBody>
      </p:sp>
      <p:sp>
        <p:nvSpPr>
          <p:cNvPr id="11" name="Shape 7"/>
          <p:cNvSpPr/>
          <p:nvPr/>
        </p:nvSpPr>
        <p:spPr>
          <a:xfrm>
            <a:off x="457200" y="1659136"/>
            <a:ext cx="1857375" cy="623292"/>
          </a:xfrm>
          <a:prstGeom prst="rect">
            <a:avLst/>
          </a:prstGeom>
          <a:solidFill>
            <a:srgbClr val="E63946"/>
          </a:solidFill>
          <a:ln/>
        </p:spPr>
      </p:sp>
      <p:sp>
        <p:nvSpPr>
          <p:cNvPr id="12" name="Text 8"/>
          <p:cNvSpPr/>
          <p:nvPr/>
        </p:nvSpPr>
        <p:spPr>
          <a:xfrm>
            <a:off x="542925" y="1701998"/>
            <a:ext cx="1685925"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Physical NIC + eSwitch</a:t>
            </a:r>
            <a:endParaRPr lang="en-US" sz="936" dirty="0"/>
          </a:p>
        </p:txBody>
      </p:sp>
      <p:sp>
        <p:nvSpPr>
          <p:cNvPr id="13" name="Text 9"/>
          <p:cNvSpPr/>
          <p:nvPr/>
        </p:nvSpPr>
        <p:spPr>
          <a:xfrm>
            <a:off x="542925" y="1889522"/>
            <a:ext cx="16859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0000"/>
                  </a:srgbClr>
                </a:solidFill>
                <a:latin typeface="Open Sans" pitchFamily="34" charset="0"/>
                <a:ea typeface="Open Sans" pitchFamily="34" charset="-122"/>
                <a:cs typeface="Open Sans" pitchFamily="34" charset="-120"/>
              </a:rPr>
              <a:t>Hardware L2 forwarding by MAC/VLAN</a:t>
            </a:r>
            <a:endParaRPr lang="en-US" sz="942" dirty="0"/>
          </a:p>
        </p:txBody>
      </p:sp>
      <p:sp>
        <p:nvSpPr>
          <p:cNvPr id="14" name="Shape 10"/>
          <p:cNvSpPr/>
          <p:nvPr/>
        </p:nvSpPr>
        <p:spPr>
          <a:xfrm>
            <a:off x="457200" y="2339578"/>
            <a:ext cx="1857375" cy="623292"/>
          </a:xfrm>
          <a:prstGeom prst="rect">
            <a:avLst/>
          </a:prstGeom>
          <a:solidFill>
            <a:srgbClr val="E63946"/>
          </a:solidFill>
          <a:ln/>
        </p:spPr>
      </p:sp>
      <p:sp>
        <p:nvSpPr>
          <p:cNvPr id="15" name="Text 11"/>
          <p:cNvSpPr/>
          <p:nvPr/>
        </p:nvSpPr>
        <p:spPr>
          <a:xfrm>
            <a:off x="542925" y="2382441"/>
            <a:ext cx="1685925"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VF DMA Ring</a:t>
            </a:r>
            <a:endParaRPr lang="en-US" sz="936" dirty="0"/>
          </a:p>
        </p:txBody>
      </p:sp>
      <p:sp>
        <p:nvSpPr>
          <p:cNvPr id="16" name="Text 12"/>
          <p:cNvSpPr/>
          <p:nvPr/>
        </p:nvSpPr>
        <p:spPr>
          <a:xfrm>
            <a:off x="542925" y="2569964"/>
            <a:ext cx="16859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0000"/>
                  </a:srgbClr>
                </a:solidFill>
                <a:latin typeface="Open Sans" pitchFamily="34" charset="0"/>
                <a:ea typeface="Open Sans" pitchFamily="34" charset="-122"/>
                <a:cs typeface="Open Sans" pitchFamily="34" charset="-120"/>
              </a:rPr>
              <a:t>PCIe Virtual Function · Direct DMA</a:t>
            </a:r>
            <a:endParaRPr lang="en-US" sz="942" dirty="0"/>
          </a:p>
        </p:txBody>
      </p:sp>
      <p:sp>
        <p:nvSpPr>
          <p:cNvPr id="17" name="Shape 13"/>
          <p:cNvSpPr/>
          <p:nvPr/>
        </p:nvSpPr>
        <p:spPr>
          <a:xfrm>
            <a:off x="457200" y="3020020"/>
            <a:ext cx="1857375" cy="623292"/>
          </a:xfrm>
          <a:prstGeom prst="rect">
            <a:avLst/>
          </a:prstGeom>
          <a:solidFill>
            <a:srgbClr val="1A1A2E"/>
          </a:solidFill>
          <a:ln/>
        </p:spPr>
      </p:sp>
      <p:sp>
        <p:nvSpPr>
          <p:cNvPr id="18" name="Text 14"/>
          <p:cNvSpPr/>
          <p:nvPr/>
        </p:nvSpPr>
        <p:spPr>
          <a:xfrm>
            <a:off x="542925" y="3062883"/>
            <a:ext cx="1685925"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IOMMU / VT-d</a:t>
            </a:r>
            <a:endParaRPr lang="en-US" sz="936" dirty="0"/>
          </a:p>
        </p:txBody>
      </p:sp>
      <p:sp>
        <p:nvSpPr>
          <p:cNvPr id="19" name="Text 15"/>
          <p:cNvSpPr/>
          <p:nvPr/>
        </p:nvSpPr>
        <p:spPr>
          <a:xfrm>
            <a:off x="542925" y="3250406"/>
            <a:ext cx="16859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0000"/>
                  </a:srgbClr>
                </a:solidFill>
                <a:latin typeface="Open Sans" pitchFamily="34" charset="0"/>
                <a:ea typeface="Open Sans" pitchFamily="34" charset="-122"/>
                <a:cs typeface="Open Sans" pitchFamily="34" charset="-120"/>
              </a:rPr>
              <a:t>Safe DMA address translation</a:t>
            </a:r>
            <a:endParaRPr lang="en-US" sz="942" dirty="0"/>
          </a:p>
        </p:txBody>
      </p:sp>
      <p:sp>
        <p:nvSpPr>
          <p:cNvPr id="20" name="Shape 16"/>
          <p:cNvSpPr/>
          <p:nvPr/>
        </p:nvSpPr>
        <p:spPr>
          <a:xfrm>
            <a:off x="457200" y="3700463"/>
            <a:ext cx="1857375" cy="580430"/>
          </a:xfrm>
          <a:prstGeom prst="rect">
            <a:avLst/>
          </a:prstGeom>
          <a:solidFill>
            <a:srgbClr val="F0F0F5"/>
          </a:solidFill>
          <a:ln/>
        </p:spPr>
      </p:sp>
      <p:sp>
        <p:nvSpPr>
          <p:cNvPr id="21" name="Text 17"/>
          <p:cNvSpPr/>
          <p:nvPr/>
        </p:nvSpPr>
        <p:spPr>
          <a:xfrm>
            <a:off x="542925" y="3743325"/>
            <a:ext cx="1685925" cy="173236"/>
          </a:xfrm>
          <a:prstGeom prst="rect">
            <a:avLst/>
          </a:prstGeom>
          <a:noFill/>
          <a:ln/>
        </p:spPr>
        <p:txBody>
          <a:bodyPr wrap="none" lIns="0" tIns="0" rIns="0" bIns="0" rtlCol="0" anchor="t">
            <a:spAutoFit/>
          </a:bodyPr>
          <a:lstStyle/>
          <a:p>
            <a:pPr marL="0" indent="0" algn="l">
              <a:lnSpc>
                <a:spcPts val="1300"/>
              </a:lnSpc>
              <a:buNone/>
            </a:pPr>
            <a:r>
              <a:rPr lang="en-US" sz="936" b="1" strike="sngStrike" dirty="0">
                <a:solidFill>
                  <a:srgbClr val="9090A8"/>
                </a:solidFill>
                <a:latin typeface="Space Grotesk" pitchFamily="34" charset="0"/>
                <a:ea typeface="Space Grotesk" pitchFamily="34" charset="-122"/>
                <a:cs typeface="Space Grotesk" pitchFamily="34" charset="-120"/>
              </a:rPr>
              <a:t>Hypervisor vSwitch</a:t>
            </a:r>
            <a:endParaRPr lang="en-US" sz="936" dirty="0"/>
          </a:p>
        </p:txBody>
      </p:sp>
      <p:sp>
        <p:nvSpPr>
          <p:cNvPr id="22" name="Text 18"/>
          <p:cNvSpPr/>
          <p:nvPr/>
        </p:nvSpPr>
        <p:spPr>
          <a:xfrm>
            <a:off x="542925" y="3930848"/>
            <a:ext cx="16859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Eliminated by SR-IOV</a:t>
            </a:r>
            <a:endParaRPr lang="en-US" sz="942" dirty="0"/>
          </a:p>
        </p:txBody>
      </p:sp>
      <p:sp>
        <p:nvSpPr>
          <p:cNvPr id="23" name="Shape 19"/>
          <p:cNvSpPr/>
          <p:nvPr/>
        </p:nvSpPr>
        <p:spPr>
          <a:xfrm>
            <a:off x="542925" y="4127302"/>
            <a:ext cx="635794" cy="110728"/>
          </a:xfrm>
          <a:prstGeom prst="rect">
            <a:avLst/>
          </a:prstGeom>
          <a:solidFill>
            <a:srgbClr val="E63946"/>
          </a:solidFill>
          <a:ln/>
        </p:spPr>
      </p:sp>
      <p:sp>
        <p:nvSpPr>
          <p:cNvPr id="24" name="Text 20"/>
          <p:cNvSpPr/>
          <p:nvPr/>
        </p:nvSpPr>
        <p:spPr>
          <a:xfrm>
            <a:off x="542925" y="4127302"/>
            <a:ext cx="635794"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SR-IOV BYPASS</a:t>
            </a:r>
            <a:endParaRPr lang="en-US" sz="435" dirty="0"/>
          </a:p>
        </p:txBody>
      </p:sp>
      <p:sp>
        <p:nvSpPr>
          <p:cNvPr id="25" name="Shape 21"/>
          <p:cNvSpPr/>
          <p:nvPr/>
        </p:nvSpPr>
        <p:spPr>
          <a:xfrm>
            <a:off x="457200" y="4338042"/>
            <a:ext cx="1857375" cy="580430"/>
          </a:xfrm>
          <a:prstGeom prst="rect">
            <a:avLst/>
          </a:prstGeom>
          <a:solidFill>
            <a:srgbClr val="F0F0F5"/>
          </a:solidFill>
          <a:ln/>
        </p:spPr>
      </p:sp>
      <p:sp>
        <p:nvSpPr>
          <p:cNvPr id="26" name="Text 22"/>
          <p:cNvSpPr/>
          <p:nvPr/>
        </p:nvSpPr>
        <p:spPr>
          <a:xfrm>
            <a:off x="542925" y="4380905"/>
            <a:ext cx="1685925" cy="173236"/>
          </a:xfrm>
          <a:prstGeom prst="rect">
            <a:avLst/>
          </a:prstGeom>
          <a:noFill/>
          <a:ln/>
        </p:spPr>
        <p:txBody>
          <a:bodyPr wrap="none" lIns="0" tIns="0" rIns="0" bIns="0" rtlCol="0" anchor="t">
            <a:spAutoFit/>
          </a:bodyPr>
          <a:lstStyle/>
          <a:p>
            <a:pPr marL="0" indent="0" algn="l">
              <a:lnSpc>
                <a:spcPts val="1300"/>
              </a:lnSpc>
              <a:buNone/>
            </a:pPr>
            <a:r>
              <a:rPr lang="en-US" sz="936" b="1" strike="sngStrike" dirty="0">
                <a:solidFill>
                  <a:srgbClr val="9090A8"/>
                </a:solidFill>
                <a:latin typeface="Space Grotesk" pitchFamily="34" charset="0"/>
                <a:ea typeface="Space Grotesk" pitchFamily="34" charset="-122"/>
                <a:cs typeface="Space Grotesk" pitchFamily="34" charset="-120"/>
              </a:rPr>
              <a:t>Guest Kernel NIC Driver</a:t>
            </a:r>
            <a:endParaRPr lang="en-US" sz="936" dirty="0"/>
          </a:p>
        </p:txBody>
      </p:sp>
      <p:sp>
        <p:nvSpPr>
          <p:cNvPr id="27" name="Text 23"/>
          <p:cNvSpPr/>
          <p:nvPr/>
        </p:nvSpPr>
        <p:spPr>
          <a:xfrm>
            <a:off x="542925" y="4568428"/>
            <a:ext cx="16859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Eliminated by DPDK PMD</a:t>
            </a:r>
            <a:endParaRPr lang="en-US" sz="942" dirty="0"/>
          </a:p>
        </p:txBody>
      </p:sp>
      <p:sp>
        <p:nvSpPr>
          <p:cNvPr id="28" name="Shape 24"/>
          <p:cNvSpPr/>
          <p:nvPr/>
        </p:nvSpPr>
        <p:spPr>
          <a:xfrm>
            <a:off x="542925" y="4764881"/>
            <a:ext cx="580430" cy="110728"/>
          </a:xfrm>
          <a:prstGeom prst="rect">
            <a:avLst/>
          </a:prstGeom>
          <a:solidFill>
            <a:srgbClr val="003087"/>
          </a:solidFill>
          <a:ln/>
        </p:spPr>
      </p:sp>
      <p:sp>
        <p:nvSpPr>
          <p:cNvPr id="29" name="Text 25"/>
          <p:cNvSpPr/>
          <p:nvPr/>
        </p:nvSpPr>
        <p:spPr>
          <a:xfrm>
            <a:off x="542925" y="4764881"/>
            <a:ext cx="580430"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DPDK BYPASS</a:t>
            </a:r>
            <a:endParaRPr lang="en-US" sz="435" dirty="0"/>
          </a:p>
        </p:txBody>
      </p:sp>
      <p:sp>
        <p:nvSpPr>
          <p:cNvPr id="30" name="Shape 26"/>
          <p:cNvSpPr/>
          <p:nvPr/>
        </p:nvSpPr>
        <p:spPr>
          <a:xfrm>
            <a:off x="457200" y="4975622"/>
            <a:ext cx="1857375" cy="580430"/>
          </a:xfrm>
          <a:prstGeom prst="rect">
            <a:avLst/>
          </a:prstGeom>
          <a:solidFill>
            <a:srgbClr val="F0F0F5"/>
          </a:solidFill>
          <a:ln/>
        </p:spPr>
      </p:sp>
      <p:sp>
        <p:nvSpPr>
          <p:cNvPr id="31" name="Text 27"/>
          <p:cNvSpPr/>
          <p:nvPr/>
        </p:nvSpPr>
        <p:spPr>
          <a:xfrm>
            <a:off x="542925" y="5018484"/>
            <a:ext cx="1685925" cy="173236"/>
          </a:xfrm>
          <a:prstGeom prst="rect">
            <a:avLst/>
          </a:prstGeom>
          <a:noFill/>
          <a:ln/>
        </p:spPr>
        <p:txBody>
          <a:bodyPr wrap="none" lIns="0" tIns="0" rIns="0" bIns="0" rtlCol="0" anchor="t">
            <a:spAutoFit/>
          </a:bodyPr>
          <a:lstStyle/>
          <a:p>
            <a:pPr marL="0" indent="0" algn="l">
              <a:lnSpc>
                <a:spcPts val="1300"/>
              </a:lnSpc>
              <a:buNone/>
            </a:pPr>
            <a:r>
              <a:rPr lang="en-US" sz="936" b="1" strike="sngStrike" dirty="0">
                <a:solidFill>
                  <a:srgbClr val="9090A8"/>
                </a:solidFill>
                <a:latin typeface="Space Grotesk" pitchFamily="34" charset="0"/>
                <a:ea typeface="Space Grotesk" pitchFamily="34" charset="-122"/>
                <a:cs typeface="Space Grotesk" pitchFamily="34" charset="-120"/>
              </a:rPr>
              <a:t>Guest TCP/IP Stack</a:t>
            </a:r>
            <a:endParaRPr lang="en-US" sz="936" dirty="0"/>
          </a:p>
        </p:txBody>
      </p:sp>
      <p:sp>
        <p:nvSpPr>
          <p:cNvPr id="32" name="Text 28"/>
          <p:cNvSpPr/>
          <p:nvPr/>
        </p:nvSpPr>
        <p:spPr>
          <a:xfrm>
            <a:off x="542925" y="5206008"/>
            <a:ext cx="16859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BBBBC8"/>
                </a:solidFill>
                <a:latin typeface="Open Sans" pitchFamily="34" charset="0"/>
                <a:ea typeface="Open Sans" pitchFamily="34" charset="-122"/>
                <a:cs typeface="Open Sans" pitchFamily="34" charset="-120"/>
              </a:rPr>
              <a:t>Eliminated by DPDK PMD</a:t>
            </a:r>
            <a:endParaRPr lang="en-US" sz="942" dirty="0"/>
          </a:p>
        </p:txBody>
      </p:sp>
      <p:sp>
        <p:nvSpPr>
          <p:cNvPr id="33" name="Shape 29"/>
          <p:cNvSpPr/>
          <p:nvPr/>
        </p:nvSpPr>
        <p:spPr>
          <a:xfrm>
            <a:off x="542925" y="5402461"/>
            <a:ext cx="580430" cy="110728"/>
          </a:xfrm>
          <a:prstGeom prst="rect">
            <a:avLst/>
          </a:prstGeom>
          <a:solidFill>
            <a:srgbClr val="003087"/>
          </a:solidFill>
          <a:ln/>
        </p:spPr>
      </p:sp>
      <p:sp>
        <p:nvSpPr>
          <p:cNvPr id="34" name="Text 30"/>
          <p:cNvSpPr/>
          <p:nvPr/>
        </p:nvSpPr>
        <p:spPr>
          <a:xfrm>
            <a:off x="542925" y="5402461"/>
            <a:ext cx="580430" cy="110728"/>
          </a:xfrm>
          <a:prstGeom prst="rect">
            <a:avLst/>
          </a:prstGeom>
          <a:noFill/>
          <a:ln/>
        </p:spPr>
        <p:txBody>
          <a:bodyPr wrap="none" lIns="51054" tIns="17018" rIns="51054" bIns="17018" rtlCol="0" anchor="t">
            <a:spAutoFit/>
          </a:bodyPr>
          <a:lstStyle/>
          <a:p>
            <a:pPr marL="0" indent="0" algn="l">
              <a:lnSpc>
                <a:spcPts val="600"/>
              </a:lnSpc>
              <a:buNone/>
            </a:pPr>
            <a:r>
              <a:rPr lang="en-US" sz="435" b="1" kern="0" spc="1" dirty="0">
                <a:solidFill>
                  <a:srgbClr val="FFFFFF"/>
                </a:solidFill>
                <a:latin typeface="Space Grotesk" pitchFamily="34" charset="0"/>
                <a:ea typeface="Space Grotesk" pitchFamily="34" charset="-122"/>
                <a:cs typeface="Space Grotesk" pitchFamily="34" charset="-120"/>
              </a:rPr>
              <a:t>DPDK BYPASS</a:t>
            </a:r>
            <a:endParaRPr lang="en-US" sz="435" dirty="0"/>
          </a:p>
        </p:txBody>
      </p:sp>
      <p:sp>
        <p:nvSpPr>
          <p:cNvPr id="35" name="Shape 31"/>
          <p:cNvSpPr/>
          <p:nvPr/>
        </p:nvSpPr>
        <p:spPr>
          <a:xfrm>
            <a:off x="457200" y="5613202"/>
            <a:ext cx="1857375" cy="623292"/>
          </a:xfrm>
          <a:prstGeom prst="rect">
            <a:avLst/>
          </a:prstGeom>
          <a:solidFill>
            <a:srgbClr val="003087"/>
          </a:solidFill>
          <a:ln/>
        </p:spPr>
      </p:sp>
      <p:sp>
        <p:nvSpPr>
          <p:cNvPr id="36" name="Text 32"/>
          <p:cNvSpPr/>
          <p:nvPr/>
        </p:nvSpPr>
        <p:spPr>
          <a:xfrm>
            <a:off x="542925" y="5656064"/>
            <a:ext cx="1685925"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DPDK Poll Mode Driver</a:t>
            </a:r>
            <a:endParaRPr lang="en-US" sz="936" dirty="0"/>
          </a:p>
        </p:txBody>
      </p:sp>
      <p:sp>
        <p:nvSpPr>
          <p:cNvPr id="37" name="Text 33"/>
          <p:cNvSpPr/>
          <p:nvPr/>
        </p:nvSpPr>
        <p:spPr>
          <a:xfrm>
            <a:off x="542925" y="5843588"/>
            <a:ext cx="1685925" cy="350044"/>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FFFFFF">
                    <a:alpha val="60000"/>
                  </a:srgbClr>
                </a:solidFill>
                <a:latin typeface="Open Sans" pitchFamily="34" charset="0"/>
                <a:ea typeface="Open Sans" pitchFamily="34" charset="-122"/>
                <a:cs typeface="Open Sans" pitchFamily="34" charset="-120"/>
              </a:rPr>
              <a:t>User Space · Zero-copy · Hugepages</a:t>
            </a:r>
            <a:endParaRPr lang="en-US" sz="942" dirty="0"/>
          </a:p>
        </p:txBody>
      </p:sp>
      <p:sp>
        <p:nvSpPr>
          <p:cNvPr id="38" name="Shape 34"/>
          <p:cNvSpPr/>
          <p:nvPr/>
        </p:nvSpPr>
        <p:spPr>
          <a:xfrm>
            <a:off x="457200" y="6293644"/>
            <a:ext cx="1857375" cy="448270"/>
          </a:xfrm>
          <a:prstGeom prst="rect">
            <a:avLst/>
          </a:prstGeom>
          <a:solidFill>
            <a:srgbClr val="003087"/>
          </a:solidFill>
          <a:ln/>
        </p:spPr>
      </p:sp>
      <p:sp>
        <p:nvSpPr>
          <p:cNvPr id="39" name="Text 35"/>
          <p:cNvSpPr/>
          <p:nvPr/>
        </p:nvSpPr>
        <p:spPr>
          <a:xfrm>
            <a:off x="542925" y="6336506"/>
            <a:ext cx="1685925" cy="173236"/>
          </a:xfrm>
          <a:prstGeom prst="rect">
            <a:avLst/>
          </a:prstGeom>
          <a:noFill/>
          <a:ln/>
        </p:spPr>
        <p:txBody>
          <a:bodyPr wrap="none" lIns="0" tIns="0" rIns="0" bIns="0" rtlCol="0" anchor="t">
            <a:spAutoFit/>
          </a:bodyPr>
          <a:lstStyle/>
          <a:p>
            <a:pPr marL="0" indent="0" algn="l">
              <a:lnSpc>
                <a:spcPts val="1300"/>
              </a:lnSpc>
              <a:buNone/>
            </a:pPr>
            <a:r>
              <a:rPr lang="en-US" sz="936" b="1" dirty="0">
                <a:solidFill>
                  <a:srgbClr val="FFFFFF"/>
                </a:solidFill>
                <a:latin typeface="Space Grotesk" pitchFamily="34" charset="0"/>
                <a:ea typeface="Space Grotesk" pitchFamily="34" charset="-122"/>
                <a:cs typeface="Space Grotesk" pitchFamily="34" charset="-120"/>
              </a:rPr>
              <a:t>NFV Application</a:t>
            </a:r>
            <a:endParaRPr lang="en-US" sz="936" dirty="0"/>
          </a:p>
        </p:txBody>
      </p:sp>
      <p:sp>
        <p:nvSpPr>
          <p:cNvPr id="40" name="Text 36"/>
          <p:cNvSpPr/>
          <p:nvPr/>
        </p:nvSpPr>
        <p:spPr>
          <a:xfrm>
            <a:off x="542925" y="6524030"/>
            <a:ext cx="1685925"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alpha val="60000"/>
                  </a:srgbClr>
                </a:solidFill>
                <a:latin typeface="Open Sans" pitchFamily="34" charset="0"/>
                <a:ea typeface="Open Sans" pitchFamily="34" charset="-122"/>
                <a:cs typeface="Open Sans" pitchFamily="34" charset="-120"/>
              </a:rPr>
              <a:t>vRouter / vFirewall / 5G UPF</a:t>
            </a:r>
            <a:endParaRPr lang="en-US" sz="942" dirty="0"/>
          </a:p>
        </p:txBody>
      </p:sp>
      <p:sp>
        <p:nvSpPr>
          <p:cNvPr id="41" name="Text 37"/>
          <p:cNvSpPr/>
          <p:nvPr/>
        </p:nvSpPr>
        <p:spPr>
          <a:xfrm>
            <a:off x="2571750" y="1259086"/>
            <a:ext cx="6115050"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HOW THE TWO-LEVEL BYPASS WORKS</a:t>
            </a:r>
            <a:endParaRPr lang="en-US" sz="942" dirty="0"/>
          </a:p>
        </p:txBody>
      </p:sp>
      <p:sp>
        <p:nvSpPr>
          <p:cNvPr id="42" name="Text 38"/>
          <p:cNvSpPr/>
          <p:nvPr/>
        </p:nvSpPr>
        <p:spPr>
          <a:xfrm>
            <a:off x="2700338" y="1537692"/>
            <a:ext cx="598646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Level 1 — SR-IOV Eliminates the Hypervisor</a:t>
            </a:r>
            <a:endParaRPr lang="en-US" sz="987" dirty="0"/>
          </a:p>
        </p:txBody>
      </p:sp>
      <p:sp>
        <p:nvSpPr>
          <p:cNvPr id="43" name="Text 39"/>
          <p:cNvSpPr/>
          <p:nvPr/>
        </p:nvSpPr>
        <p:spPr>
          <a:xfrm>
            <a:off x="2700338" y="1760934"/>
            <a:ext cx="5986463" cy="700367"/>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SR-IOV exposes a hardware Virtual Function (VF) to the VM and the NIC's eSwitch delivers frames directly to the VF's DMA ring. The IOMMU translates addresses so the NIC DMA writes straight into guest memory. </a:t>
            </a:r>
            <a:r>
              <a:rPr lang="en-US" sz="936" b="1" dirty="0">
                <a:solidFill>
                  <a:srgbClr val="1A1A2E"/>
                </a:solidFill>
                <a:latin typeface="Open Sans" pitchFamily="34" charset="0"/>
                <a:ea typeface="Open Sans" pitchFamily="34" charset="-122"/>
                <a:cs typeface="Open Sans" pitchFamily="34" charset="-120"/>
              </a:rPr>
              <a:t>Result: no hypervisor packet processing or extra memory copies.</a:t>
            </a:r>
            <a:endParaRPr lang="en-US" sz="996" dirty="0"/>
          </a:p>
        </p:txBody>
      </p:sp>
      <p:sp>
        <p:nvSpPr>
          <p:cNvPr id="44" name="Text 40"/>
          <p:cNvSpPr/>
          <p:nvPr/>
        </p:nvSpPr>
        <p:spPr>
          <a:xfrm>
            <a:off x="2700338" y="2582745"/>
            <a:ext cx="598646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Level 2 — DPDK Eliminates the Guest Kernel</a:t>
            </a:r>
            <a:endParaRPr lang="en-US" sz="987" dirty="0"/>
          </a:p>
        </p:txBody>
      </p:sp>
      <p:sp>
        <p:nvSpPr>
          <p:cNvPr id="45" name="Text 41"/>
          <p:cNvSpPr/>
          <p:nvPr/>
        </p:nvSpPr>
        <p:spPr>
          <a:xfrm>
            <a:off x="2700338" y="2805987"/>
            <a:ext cx="5986463" cy="700367"/>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Inside the VM a DPDK PMD polls the VF's RX ring from user space, bypassing the guest kernel driver and TCP/IP stack. Packets land in DPDK hugepage mempools and are processed directly by the NFV app. </a:t>
            </a:r>
            <a:r>
              <a:rPr lang="en-US" sz="936" b="1" dirty="0">
                <a:solidFill>
                  <a:srgbClr val="1A1A2E"/>
                </a:solidFill>
                <a:latin typeface="Open Sans" pitchFamily="34" charset="0"/>
                <a:ea typeface="Open Sans" pitchFamily="34" charset="-122"/>
                <a:cs typeface="Open Sans" pitchFamily="34" charset="-120"/>
              </a:rPr>
              <a:t>Result: no guest IRQs or socket buffer copies.</a:t>
            </a:r>
            <a:endParaRPr lang="en-US" sz="996" dirty="0"/>
          </a:p>
        </p:txBody>
      </p:sp>
      <p:sp>
        <p:nvSpPr>
          <p:cNvPr id="46" name="Text 42"/>
          <p:cNvSpPr/>
          <p:nvPr/>
        </p:nvSpPr>
        <p:spPr>
          <a:xfrm>
            <a:off x="2700338" y="3627797"/>
            <a:ext cx="598646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Combined Result — Near Bare-Metal Performance</a:t>
            </a:r>
            <a:endParaRPr lang="en-US" sz="987" dirty="0"/>
          </a:p>
        </p:txBody>
      </p:sp>
      <p:sp>
        <p:nvSpPr>
          <p:cNvPr id="47" name="Text 43"/>
          <p:cNvSpPr/>
          <p:nvPr/>
        </p:nvSpPr>
        <p:spPr>
          <a:xfrm>
            <a:off x="2700338" y="3851039"/>
            <a:ext cx="5986463" cy="700367"/>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Together SR-IOV + DPDK remove software overhead between the NIC and the NFV application, typically yielding </a:t>
            </a:r>
            <a:r>
              <a:rPr lang="en-US" sz="936" b="1" dirty="0">
                <a:solidFill>
                  <a:srgbClr val="1A1A2E"/>
                </a:solidFill>
                <a:latin typeface="Open Sans" pitchFamily="34" charset="0"/>
                <a:ea typeface="Open Sans" pitchFamily="34" charset="-122"/>
                <a:cs typeface="Open Sans" pitchFamily="34" charset="-120"/>
              </a:rPr>
              <a:t>&lt;1–3%</a:t>
            </a:r>
            <a:r>
              <a:rPr lang="en-US" sz="996" dirty="0">
                <a:solidFill>
                  <a:srgbClr val="4A4A6A"/>
                </a:solidFill>
                <a:latin typeface="Open Sans" pitchFamily="34" charset="0"/>
                <a:ea typeface="Open Sans" pitchFamily="34" charset="-122"/>
                <a:cs typeface="Open Sans" pitchFamily="34" charset="-120"/>
              </a:rPr>
              <a:t> throughput overhead versus bare metal. This is the recommended pattern for high-performance NFV deployments.</a:t>
            </a:r>
            <a:endParaRPr lang="en-US" sz="996" dirty="0"/>
          </a:p>
        </p:txBody>
      </p:sp>
      <p:sp>
        <p:nvSpPr>
          <p:cNvPr id="48" name="Text 44"/>
          <p:cNvSpPr/>
          <p:nvPr/>
        </p:nvSpPr>
        <p:spPr>
          <a:xfrm>
            <a:off x="2700338" y="4672850"/>
            <a:ext cx="5986463"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Open Sans" pitchFamily="34" charset="0"/>
                <a:ea typeface="Open Sans" pitchFamily="34" charset="-122"/>
                <a:cs typeface="Open Sans" pitchFamily="34" charset="-120"/>
              </a:rPr>
              <a:t>Operational Considerations</a:t>
            </a:r>
            <a:endParaRPr lang="en-US" sz="987" dirty="0"/>
          </a:p>
        </p:txBody>
      </p:sp>
      <p:sp>
        <p:nvSpPr>
          <p:cNvPr id="49" name="Text 45"/>
          <p:cNvSpPr/>
          <p:nvPr/>
        </p:nvSpPr>
        <p:spPr>
          <a:xfrm>
            <a:off x="2700338" y="4896092"/>
            <a:ext cx="5986463" cy="466911"/>
          </a:xfrm>
          <a:prstGeom prst="rect">
            <a:avLst/>
          </a:prstGeom>
          <a:noFill/>
          <a:ln/>
        </p:spPr>
        <p:txBody>
          <a:bodyPr wrap="square" lIns="0" tIns="0" rIns="0" bIns="0" rtlCol="0" anchor="t">
            <a:spAutoFit/>
          </a:bodyPr>
          <a:lstStyle/>
          <a:p>
            <a:pPr marL="0" indent="0" algn="l">
              <a:lnSpc>
                <a:spcPts val="1800"/>
              </a:lnSpc>
              <a:buNone/>
            </a:pPr>
            <a:r>
              <a:rPr lang="en-US" sz="996" dirty="0">
                <a:solidFill>
                  <a:srgbClr val="4A4A6A"/>
                </a:solidFill>
                <a:latin typeface="Open Sans" pitchFamily="34" charset="0"/>
                <a:ea typeface="Open Sans" pitchFamily="34" charset="-122"/>
                <a:cs typeface="Open Sans" pitchFamily="34" charset="-120"/>
              </a:rPr>
              <a:t>Requires SR-IOV capable NICs and IOMMU, DPDK hugepages, and a DPDK-compatible VF PMD. SR-IOV VF-bound VMs need special handling for live migration and monitoring.</a:t>
            </a:r>
            <a:endParaRPr lang="en-US" sz="996" dirty="0"/>
          </a:p>
        </p:txBody>
      </p:sp>
      <p:sp>
        <p:nvSpPr>
          <p:cNvPr id="50" name="Shape 46"/>
          <p:cNvSpPr/>
          <p:nvPr/>
        </p:nvSpPr>
        <p:spPr>
          <a:xfrm>
            <a:off x="0" y="6741914"/>
            <a:ext cx="9144000" cy="567928"/>
          </a:xfrm>
          <a:prstGeom prst="rect">
            <a:avLst/>
          </a:prstGeom>
          <a:solidFill>
            <a:srgbClr val="1A1A2E"/>
          </a:solidFill>
          <a:ln/>
        </p:spPr>
      </p:sp>
      <p:sp>
        <p:nvSpPr>
          <p:cNvPr id="51" name="Text 47"/>
          <p:cNvSpPr/>
          <p:nvPr/>
        </p:nvSpPr>
        <p:spPr>
          <a:xfrm>
            <a:off x="457200" y="6943725"/>
            <a:ext cx="1053703"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FFFFFF">
                    <a:alpha val="45000"/>
                  </a:srgbClr>
                </a:solidFill>
                <a:latin typeface="Space Grotesk" pitchFamily="34" charset="0"/>
                <a:ea typeface="Space Grotesk" pitchFamily="34" charset="-122"/>
                <a:cs typeface="Space Grotesk" pitchFamily="34" charset="-120"/>
              </a:rPr>
              <a:t>PERFORMANCE</a:t>
            </a:r>
            <a:endParaRPr lang="en-US" sz="942" dirty="0"/>
          </a:p>
        </p:txBody>
      </p:sp>
      <p:sp>
        <p:nvSpPr>
          <p:cNvPr id="52" name="Text 48"/>
          <p:cNvSpPr/>
          <p:nvPr/>
        </p:nvSpPr>
        <p:spPr>
          <a:xfrm>
            <a:off x="1803797" y="6827639"/>
            <a:ext cx="6883003" cy="396478"/>
          </a:xfrm>
          <a:prstGeom prst="rect">
            <a:avLst/>
          </a:prstGeom>
          <a:noFill/>
          <a:ln/>
        </p:spPr>
        <p:txBody>
          <a:bodyPr wrap="square" lIns="0" tIns="0" rIns="0" bIns="0" rtlCol="0" anchor="t">
            <a:spAutoFit/>
          </a:bodyPr>
          <a:lstStyle/>
          <a:p>
            <a:pPr marL="0" indent="0" algn="l">
              <a:lnSpc>
                <a:spcPts val="1600"/>
              </a:lnSpc>
              <a:buNone/>
            </a:pPr>
            <a:r>
              <a:rPr lang="en-US" sz="911" b="1" dirty="0">
                <a:solidFill>
                  <a:srgbClr val="FFFFFF"/>
                </a:solidFill>
                <a:latin typeface="Open Sans" pitchFamily="34" charset="0"/>
                <a:ea typeface="Open Sans" pitchFamily="34" charset="-122"/>
                <a:cs typeface="Open Sans" pitchFamily="34" charset="-120"/>
              </a:rPr>
              <a:t>Typical overhead vs bare metal: &lt;1–3%</a:t>
            </a:r>
            <a:r>
              <a:rPr lang="en-US" sz="969" dirty="0">
                <a:solidFill>
                  <a:srgbClr val="FFFFFF">
                    <a:alpha val="85000"/>
                  </a:srgbClr>
                </a:solidFill>
                <a:latin typeface="Open Sans" pitchFamily="34" charset="0"/>
                <a:ea typeface="Open Sans" pitchFamily="34" charset="-122"/>
                <a:cs typeface="Open Sans" pitchFamily="34" charset="-120"/>
              </a:rPr>
              <a:t> — SR-IOV removes the hypervisor layer; DPDK removes the guest kernel layer.</a:t>
            </a:r>
            <a:endParaRPr lang="en-US" sz="911" dirty="0"/>
          </a:p>
        </p:txBody>
      </p:sp>
      <p:sp>
        <p:nvSpPr>
          <p:cNvPr id="53" name="Shape 49"/>
          <p:cNvSpPr/>
          <p:nvPr/>
        </p:nvSpPr>
        <p:spPr>
          <a:xfrm>
            <a:off x="0" y="7309842"/>
            <a:ext cx="9144000" cy="257175"/>
          </a:xfrm>
          <a:prstGeom prst="rect">
            <a:avLst/>
          </a:prstGeom>
          <a:solidFill>
            <a:srgbClr val="000000">
              <a:alpha val="0"/>
            </a:srgbClr>
          </a:solidFill>
          <a:ln/>
        </p:spPr>
      </p:sp>
      <p:sp>
        <p:nvSpPr>
          <p:cNvPr id="54" name="Shape 50"/>
          <p:cNvSpPr/>
          <p:nvPr/>
        </p:nvSpPr>
        <p:spPr>
          <a:xfrm>
            <a:off x="0" y="7309842"/>
            <a:ext cx="9144000" cy="7144"/>
          </a:xfrm>
          <a:prstGeom prst="rect">
            <a:avLst/>
          </a:prstGeom>
          <a:solidFill>
            <a:srgbClr val="EBEBF0"/>
          </a:solidFill>
          <a:ln/>
        </p:spPr>
      </p:sp>
      <p:sp>
        <p:nvSpPr>
          <p:cNvPr id="55" name="Text 51"/>
          <p:cNvSpPr/>
          <p:nvPr/>
        </p:nvSpPr>
        <p:spPr>
          <a:xfrm>
            <a:off x="457200" y="7351812"/>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56" name="Text 52"/>
          <p:cNvSpPr/>
          <p:nvPr/>
        </p:nvSpPr>
        <p:spPr>
          <a:xfrm>
            <a:off x="8281392" y="7351812"/>
            <a:ext cx="405408"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10 / 15</a:t>
            </a:r>
            <a:endParaRPr lang="en-US" sz="996"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421966"/>
          </a:xfrm>
          <a:prstGeom prst="rect">
            <a:avLst/>
          </a:prstGeom>
        </p:spPr>
      </p:pic>
      <p:sp>
        <p:nvSpPr>
          <p:cNvPr id="4" name="Shape 0"/>
          <p:cNvSpPr/>
          <p:nvPr/>
        </p:nvSpPr>
        <p:spPr>
          <a:xfrm>
            <a:off x="0" y="42863"/>
            <a:ext cx="2714625" cy="7121928"/>
          </a:xfrm>
          <a:prstGeom prst="rect">
            <a:avLst/>
          </a:prstGeom>
          <a:solidFill>
            <a:srgbClr val="1A1A2E"/>
          </a:solidFill>
          <a:ln/>
        </p:spPr>
      </p:sp>
      <p:sp>
        <p:nvSpPr>
          <p:cNvPr id="5" name="Text 1"/>
          <p:cNvSpPr/>
          <p:nvPr/>
        </p:nvSpPr>
        <p:spPr>
          <a:xfrm>
            <a:off x="342900" y="357188"/>
            <a:ext cx="2085975"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FFFFFF">
                    <a:alpha val="35000"/>
                  </a:srgbClr>
                </a:solidFill>
                <a:latin typeface="Space Grotesk" pitchFamily="34" charset="0"/>
                <a:ea typeface="Space Grotesk" pitchFamily="34" charset="-122"/>
                <a:cs typeface="Space Grotesk" pitchFamily="34" charset="-120"/>
              </a:rPr>
              <a:t>SUMMARY</a:t>
            </a:r>
            <a:endParaRPr lang="en-US" sz="936" dirty="0"/>
          </a:p>
        </p:txBody>
      </p:sp>
      <p:sp>
        <p:nvSpPr>
          <p:cNvPr id="6" name="Text 2"/>
          <p:cNvSpPr/>
          <p:nvPr/>
        </p:nvSpPr>
        <p:spPr>
          <a:xfrm>
            <a:off x="342900" y="659011"/>
            <a:ext cx="2085975" cy="267891"/>
          </a:xfrm>
          <a:prstGeom prst="rect">
            <a:avLst/>
          </a:prstGeom>
          <a:noFill/>
          <a:ln/>
        </p:spPr>
        <p:txBody>
          <a:bodyPr wrap="none" lIns="0" tIns="0" rIns="0" bIns="0" rtlCol="0" anchor="t">
            <a:spAutoFit/>
          </a:bodyPr>
          <a:lstStyle/>
          <a:p>
            <a:pPr marL="0" indent="0" algn="l">
              <a:lnSpc>
                <a:spcPts val="2100"/>
              </a:lnSpc>
              <a:buNone/>
            </a:pPr>
            <a:r>
              <a:rPr lang="en-US" sz="1499" b="1" dirty="0">
                <a:solidFill>
                  <a:srgbClr val="FFFFFF"/>
                </a:solidFill>
                <a:latin typeface="Playfair Display" pitchFamily="34" charset="0"/>
                <a:ea typeface="Playfair Display" pitchFamily="34" charset="-122"/>
                <a:cs typeface="Playfair Display" pitchFamily="34" charset="-120"/>
              </a:rPr>
              <a:t>Key Takeaways</a:t>
            </a:r>
            <a:endParaRPr lang="en-US" sz="1499" dirty="0"/>
          </a:p>
        </p:txBody>
      </p:sp>
      <p:sp>
        <p:nvSpPr>
          <p:cNvPr id="7" name="Text 3"/>
          <p:cNvSpPr/>
          <p:nvPr/>
        </p:nvSpPr>
        <p:spPr>
          <a:xfrm>
            <a:off x="342900" y="1355527"/>
            <a:ext cx="319683"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alpha val="18000"/>
                  </a:srgbClr>
                </a:solidFill>
                <a:latin typeface="Playfair Display" pitchFamily="34" charset="0"/>
                <a:ea typeface="Playfair Display" pitchFamily="34" charset="-122"/>
                <a:cs typeface="Playfair Display" pitchFamily="34" charset="-120"/>
              </a:rPr>
              <a:t>01</a:t>
            </a:r>
            <a:endParaRPr lang="en-US" sz="2121" dirty="0"/>
          </a:p>
        </p:txBody>
      </p:sp>
      <p:sp>
        <p:nvSpPr>
          <p:cNvPr id="8" name="Text 4"/>
          <p:cNvSpPr/>
          <p:nvPr/>
        </p:nvSpPr>
        <p:spPr>
          <a:xfrm>
            <a:off x="776883" y="1355527"/>
            <a:ext cx="1651992" cy="667941"/>
          </a:xfrm>
          <a:prstGeom prst="rect">
            <a:avLst/>
          </a:prstGeom>
          <a:noFill/>
          <a:ln/>
        </p:spPr>
        <p:txBody>
          <a:bodyPr wrap="square" lIns="0" tIns="68072" rIns="0" bIns="0" rtlCol="0" anchor="t">
            <a:spAutoFit/>
          </a:bodyPr>
          <a:lstStyle/>
          <a:p>
            <a:pPr marL="0" indent="0" algn="l">
              <a:lnSpc>
                <a:spcPts val="1600"/>
              </a:lnSpc>
              <a:buNone/>
            </a:pPr>
            <a:r>
              <a:rPr lang="en-US" sz="936" b="1" dirty="0">
                <a:solidFill>
                  <a:srgbClr val="FFFFFF">
                    <a:alpha val="75000"/>
                  </a:srgbClr>
                </a:solidFill>
                <a:latin typeface="Open Sans" pitchFamily="34" charset="0"/>
                <a:ea typeface="Open Sans" pitchFamily="34" charset="-122"/>
                <a:cs typeface="Open Sans" pitchFamily="34" charset="-120"/>
              </a:rPr>
              <a:t>Switching is never eliminated — only relocated</a:t>
            </a:r>
            <a:endParaRPr lang="en-US" sz="936" dirty="0"/>
          </a:p>
        </p:txBody>
      </p:sp>
      <p:sp>
        <p:nvSpPr>
          <p:cNvPr id="9" name="Text 5"/>
          <p:cNvSpPr/>
          <p:nvPr/>
        </p:nvSpPr>
        <p:spPr>
          <a:xfrm>
            <a:off x="342900" y="2194917"/>
            <a:ext cx="367903"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alpha val="18000"/>
                  </a:srgbClr>
                </a:solidFill>
                <a:latin typeface="Playfair Display" pitchFamily="34" charset="0"/>
                <a:ea typeface="Playfair Display" pitchFamily="34" charset="-122"/>
                <a:cs typeface="Playfair Display" pitchFamily="34" charset="-120"/>
              </a:rPr>
              <a:t>02</a:t>
            </a:r>
            <a:endParaRPr lang="en-US" sz="2121" dirty="0"/>
          </a:p>
        </p:txBody>
      </p:sp>
      <p:sp>
        <p:nvSpPr>
          <p:cNvPr id="10" name="Text 6"/>
          <p:cNvSpPr/>
          <p:nvPr/>
        </p:nvSpPr>
        <p:spPr>
          <a:xfrm>
            <a:off x="825103" y="2194917"/>
            <a:ext cx="1603772" cy="464344"/>
          </a:xfrm>
          <a:prstGeom prst="rect">
            <a:avLst/>
          </a:prstGeom>
          <a:noFill/>
          <a:ln/>
        </p:spPr>
        <p:txBody>
          <a:bodyPr wrap="square" lIns="0" tIns="68072" rIns="0" bIns="0" rtlCol="0" anchor="t">
            <a:spAutoFit/>
          </a:bodyPr>
          <a:lstStyle/>
          <a:p>
            <a:pPr marL="0" indent="0" algn="l">
              <a:lnSpc>
                <a:spcPts val="1600"/>
              </a:lnSpc>
              <a:buNone/>
            </a:pPr>
            <a:r>
              <a:rPr lang="en-US" sz="936" b="1" dirty="0">
                <a:solidFill>
                  <a:srgbClr val="FFFFFF">
                    <a:alpha val="75000"/>
                  </a:srgbClr>
                </a:solidFill>
                <a:latin typeface="Open Sans" pitchFamily="34" charset="0"/>
                <a:ea typeface="Open Sans" pitchFamily="34" charset="-122"/>
                <a:cs typeface="Open Sans" pitchFamily="34" charset="-120"/>
              </a:rPr>
              <a:t>SR-IOV + DPDK is the NFV gold standard</a:t>
            </a:r>
            <a:endParaRPr lang="en-US" sz="936" dirty="0"/>
          </a:p>
        </p:txBody>
      </p:sp>
      <p:sp>
        <p:nvSpPr>
          <p:cNvPr id="11" name="Text 7"/>
          <p:cNvSpPr/>
          <p:nvPr/>
        </p:nvSpPr>
        <p:spPr>
          <a:xfrm>
            <a:off x="342900" y="2830711"/>
            <a:ext cx="355402"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alpha val="18000"/>
                  </a:srgbClr>
                </a:solidFill>
                <a:latin typeface="Playfair Display" pitchFamily="34" charset="0"/>
                <a:ea typeface="Playfair Display" pitchFamily="34" charset="-122"/>
                <a:cs typeface="Playfair Display" pitchFamily="34" charset="-120"/>
              </a:rPr>
              <a:t>03</a:t>
            </a:r>
            <a:endParaRPr lang="en-US" sz="2121" dirty="0"/>
          </a:p>
        </p:txBody>
      </p:sp>
      <p:sp>
        <p:nvSpPr>
          <p:cNvPr id="12" name="Text 8"/>
          <p:cNvSpPr/>
          <p:nvPr/>
        </p:nvSpPr>
        <p:spPr>
          <a:xfrm>
            <a:off x="812602" y="2830711"/>
            <a:ext cx="1616273" cy="667941"/>
          </a:xfrm>
          <a:prstGeom prst="rect">
            <a:avLst/>
          </a:prstGeom>
          <a:noFill/>
          <a:ln/>
        </p:spPr>
        <p:txBody>
          <a:bodyPr wrap="square" lIns="0" tIns="68072" rIns="0" bIns="0" rtlCol="0" anchor="t">
            <a:spAutoFit/>
          </a:bodyPr>
          <a:lstStyle/>
          <a:p>
            <a:pPr marL="0" indent="0" algn="l">
              <a:lnSpc>
                <a:spcPts val="1600"/>
              </a:lnSpc>
              <a:buNone/>
            </a:pPr>
            <a:r>
              <a:rPr lang="en-US" sz="936" b="1" dirty="0">
                <a:solidFill>
                  <a:srgbClr val="FFFFFF">
                    <a:alpha val="75000"/>
                  </a:srgbClr>
                </a:solidFill>
                <a:latin typeface="Open Sans" pitchFamily="34" charset="0"/>
                <a:ea typeface="Open Sans" pitchFamily="34" charset="-122"/>
                <a:cs typeface="Open Sans" pitchFamily="34" charset="-120"/>
              </a:rPr>
              <a:t>All three are complementary, not competing</a:t>
            </a:r>
            <a:endParaRPr lang="en-US" sz="936" dirty="0"/>
          </a:p>
        </p:txBody>
      </p:sp>
      <p:sp>
        <p:nvSpPr>
          <p:cNvPr id="13" name="Text 9"/>
          <p:cNvSpPr/>
          <p:nvPr/>
        </p:nvSpPr>
        <p:spPr>
          <a:xfrm>
            <a:off x="3086100" y="357188"/>
            <a:ext cx="5600700"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DETAILED TAKEAWAYS</a:t>
            </a:r>
            <a:endParaRPr lang="en-US" sz="936" dirty="0"/>
          </a:p>
        </p:txBody>
      </p:sp>
      <p:sp>
        <p:nvSpPr>
          <p:cNvPr id="14" name="Text 10"/>
          <p:cNvSpPr/>
          <p:nvPr/>
        </p:nvSpPr>
        <p:spPr>
          <a:xfrm>
            <a:off x="3086100" y="801886"/>
            <a:ext cx="257175" cy="1899512"/>
          </a:xfrm>
          <a:prstGeom prst="rect">
            <a:avLst/>
          </a:prstGeom>
          <a:noFill/>
          <a:ln/>
        </p:spPr>
        <p:txBody>
          <a:bodyPr wrap="square" lIns="0" tIns="17018" rIns="0" bIns="0" rtlCol="0" anchor="t">
            <a:spAutoFit/>
          </a:bodyPr>
          <a:lstStyle/>
          <a:p>
            <a:pPr marL="0" indent="0" algn="r">
              <a:lnSpc>
                <a:spcPts val="1600"/>
              </a:lnSpc>
              <a:buNone/>
            </a:pPr>
            <a:r>
              <a:rPr lang="en-US" sz="1397" b="1" dirty="0">
                <a:solidFill>
                  <a:srgbClr val="E0E0E8"/>
                </a:solidFill>
                <a:latin typeface="Playfair Display" pitchFamily="34" charset="0"/>
                <a:ea typeface="Playfair Display" pitchFamily="34" charset="-122"/>
                <a:cs typeface="Playfair Display" pitchFamily="34" charset="-120"/>
              </a:rPr>
              <a:t>01</a:t>
            </a:r>
            <a:endParaRPr lang="en-US" sz="1397" dirty="0"/>
          </a:p>
        </p:txBody>
      </p:sp>
      <p:sp>
        <p:nvSpPr>
          <p:cNvPr id="15" name="Text 11"/>
          <p:cNvSpPr/>
          <p:nvPr/>
        </p:nvSpPr>
        <p:spPr>
          <a:xfrm>
            <a:off x="3486150" y="801886"/>
            <a:ext cx="5200650"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1A1A2E"/>
                </a:solidFill>
                <a:latin typeface="Open Sans" pitchFamily="34" charset="0"/>
                <a:ea typeface="Open Sans" pitchFamily="34" charset="-122"/>
                <a:cs typeface="Open Sans" pitchFamily="34" charset="-120"/>
              </a:rPr>
              <a:t>Switching Is Never Eliminated — It Moves to a Different Layer</a:t>
            </a:r>
            <a:endParaRPr lang="en-US" sz="885" dirty="0"/>
          </a:p>
        </p:txBody>
      </p:sp>
      <p:sp>
        <p:nvSpPr>
          <p:cNvPr id="16" name="Text 12"/>
          <p:cNvSpPr/>
          <p:nvPr/>
        </p:nvSpPr>
        <p:spPr>
          <a:xfrm>
            <a:off x="3486150" y="1011901"/>
            <a:ext cx="5200650" cy="1425178"/>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All three technologies bypass the </a:t>
            </a:r>
            <a:r>
              <a:rPr lang="en-US" sz="936" b="1" dirty="0">
                <a:solidFill>
                  <a:srgbClr val="1A1A2E"/>
                </a:solidFill>
                <a:latin typeface="Open Sans" pitchFamily="34" charset="0"/>
                <a:ea typeface="Open Sans" pitchFamily="34" charset="-122"/>
                <a:cs typeface="Open Sans" pitchFamily="34" charset="-120"/>
              </a:rPr>
              <a:t>software kernel vSwitch</a:t>
            </a:r>
            <a:r>
              <a:rPr lang="en-US" sz="996" dirty="0">
                <a:solidFill>
                  <a:srgbClr val="4A4A6A"/>
                </a:solidFill>
                <a:latin typeface="Open Sans" pitchFamily="34" charset="0"/>
                <a:ea typeface="Open Sans" pitchFamily="34" charset="-122"/>
                <a:cs typeface="Open Sans" pitchFamily="34" charset="-120"/>
              </a:rPr>
              <a:t>, but none remove the need for Layer 2 forwarding decisions. SR-IOV moves switching into the </a:t>
            </a:r>
            <a:r>
              <a:rPr lang="en-US" sz="936" b="1" dirty="0">
                <a:solidFill>
                  <a:srgbClr val="1A1A2E"/>
                </a:solidFill>
                <a:latin typeface="Open Sans" pitchFamily="34" charset="0"/>
                <a:ea typeface="Open Sans" pitchFamily="34" charset="-122"/>
                <a:cs typeface="Open Sans" pitchFamily="34" charset="-120"/>
              </a:rPr>
              <a:t>NIC eSwitch silicon</a:t>
            </a:r>
            <a:r>
              <a:rPr lang="en-US" sz="996" dirty="0">
                <a:solidFill>
                  <a:srgbClr val="4A4A6A"/>
                </a:solidFill>
                <a:latin typeface="Open Sans" pitchFamily="34" charset="0"/>
                <a:ea typeface="Open Sans" pitchFamily="34" charset="-122"/>
                <a:cs typeface="Open Sans" pitchFamily="34" charset="-120"/>
              </a:rPr>
              <a:t>, DPDK moves it into a </a:t>
            </a:r>
            <a:r>
              <a:rPr lang="en-US" sz="936" b="1" dirty="0">
                <a:solidFill>
                  <a:srgbClr val="1A1A2E"/>
                </a:solidFill>
                <a:latin typeface="Open Sans" pitchFamily="34" charset="0"/>
                <a:ea typeface="Open Sans" pitchFamily="34" charset="-122"/>
                <a:cs typeface="Open Sans" pitchFamily="34" charset="-120"/>
              </a:rPr>
              <a:t>user-space OVS-DPDK flow table</a:t>
            </a:r>
            <a:r>
              <a:rPr lang="en-US" sz="996" dirty="0">
                <a:solidFill>
                  <a:srgbClr val="4A4A6A"/>
                </a:solidFill>
                <a:latin typeface="Open Sans" pitchFamily="34" charset="0"/>
                <a:ea typeface="Open Sans" pitchFamily="34" charset="-122"/>
                <a:cs typeface="Open Sans" pitchFamily="34" charset="-120"/>
              </a:rPr>
              <a:t>, and VMDq offloads classification to </a:t>
            </a:r>
            <a:r>
              <a:rPr lang="en-US" sz="936" b="1" dirty="0">
                <a:solidFill>
                  <a:srgbClr val="1A1A2E"/>
                </a:solidFill>
                <a:latin typeface="Open Sans" pitchFamily="34" charset="0"/>
                <a:ea typeface="Open Sans" pitchFamily="34" charset="-122"/>
                <a:cs typeface="Open Sans" pitchFamily="34" charset="-120"/>
              </a:rPr>
              <a:t>NIC hardware queues</a:t>
            </a:r>
            <a:r>
              <a:rPr lang="en-US" sz="996" dirty="0">
                <a:solidFill>
                  <a:srgbClr val="4A4A6A"/>
                </a:solidFill>
                <a:latin typeface="Open Sans" pitchFamily="34" charset="0"/>
                <a:ea typeface="Open Sans" pitchFamily="34" charset="-122"/>
                <a:cs typeface="Open Sans" pitchFamily="34" charset="-120"/>
              </a:rPr>
              <a:t> while the vSwitch still delivers. MAC addresses and VLAN tags remain the universal addressing mechanism in all three cases.</a:t>
            </a:r>
            <a:endParaRPr lang="en-US" sz="996" dirty="0"/>
          </a:p>
        </p:txBody>
      </p:sp>
      <p:sp>
        <p:nvSpPr>
          <p:cNvPr id="17" name="Shape 13"/>
          <p:cNvSpPr/>
          <p:nvPr/>
        </p:nvSpPr>
        <p:spPr>
          <a:xfrm>
            <a:off x="3486150" y="2494229"/>
            <a:ext cx="1193006" cy="207169"/>
          </a:xfrm>
          <a:prstGeom prst="rect">
            <a:avLst/>
          </a:prstGeom>
          <a:solidFill>
            <a:srgbClr val="E63946"/>
          </a:solidFill>
          <a:ln/>
        </p:spPr>
      </p:sp>
      <p:sp>
        <p:nvSpPr>
          <p:cNvPr id="18" name="Text 14"/>
          <p:cNvSpPr/>
          <p:nvPr/>
        </p:nvSpPr>
        <p:spPr>
          <a:xfrm>
            <a:off x="3486150" y="2494229"/>
            <a:ext cx="1193006"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SR-IOV ESWITCH</a:t>
            </a:r>
            <a:endParaRPr lang="en-US" sz="885" dirty="0"/>
          </a:p>
        </p:txBody>
      </p:sp>
      <p:sp>
        <p:nvSpPr>
          <p:cNvPr id="19" name="Shape 15"/>
          <p:cNvSpPr/>
          <p:nvPr/>
        </p:nvSpPr>
        <p:spPr>
          <a:xfrm>
            <a:off x="4722019" y="2494229"/>
            <a:ext cx="798314" cy="207169"/>
          </a:xfrm>
          <a:prstGeom prst="rect">
            <a:avLst/>
          </a:prstGeom>
          <a:solidFill>
            <a:srgbClr val="003087"/>
          </a:solidFill>
          <a:ln/>
        </p:spPr>
      </p:sp>
      <p:sp>
        <p:nvSpPr>
          <p:cNvPr id="20" name="Text 16"/>
          <p:cNvSpPr/>
          <p:nvPr/>
        </p:nvSpPr>
        <p:spPr>
          <a:xfrm>
            <a:off x="4722019" y="2494229"/>
            <a:ext cx="798314"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OVS-DPDK</a:t>
            </a:r>
            <a:endParaRPr lang="en-US" sz="885" dirty="0"/>
          </a:p>
        </p:txBody>
      </p:sp>
      <p:sp>
        <p:nvSpPr>
          <p:cNvPr id="21" name="Shape 17"/>
          <p:cNvSpPr/>
          <p:nvPr/>
        </p:nvSpPr>
        <p:spPr>
          <a:xfrm>
            <a:off x="5563195" y="2494229"/>
            <a:ext cx="1067991" cy="207169"/>
          </a:xfrm>
          <a:prstGeom prst="rect">
            <a:avLst/>
          </a:prstGeom>
          <a:solidFill>
            <a:srgbClr val="1A6B72"/>
          </a:solidFill>
          <a:ln/>
        </p:spPr>
      </p:sp>
      <p:sp>
        <p:nvSpPr>
          <p:cNvPr id="22" name="Text 18"/>
          <p:cNvSpPr/>
          <p:nvPr/>
        </p:nvSpPr>
        <p:spPr>
          <a:xfrm>
            <a:off x="5563195" y="2494229"/>
            <a:ext cx="1067991"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VMDQ QUEUES</a:t>
            </a:r>
            <a:endParaRPr lang="en-US" sz="885" dirty="0"/>
          </a:p>
        </p:txBody>
      </p:sp>
      <p:sp>
        <p:nvSpPr>
          <p:cNvPr id="23" name="Text 19"/>
          <p:cNvSpPr/>
          <p:nvPr/>
        </p:nvSpPr>
        <p:spPr>
          <a:xfrm>
            <a:off x="3086100" y="2965717"/>
            <a:ext cx="257175" cy="1899512"/>
          </a:xfrm>
          <a:prstGeom prst="rect">
            <a:avLst/>
          </a:prstGeom>
          <a:noFill/>
          <a:ln/>
        </p:spPr>
        <p:txBody>
          <a:bodyPr wrap="square" lIns="0" tIns="17018" rIns="0" bIns="0" rtlCol="0" anchor="t">
            <a:spAutoFit/>
          </a:bodyPr>
          <a:lstStyle/>
          <a:p>
            <a:pPr marL="0" indent="0" algn="r">
              <a:lnSpc>
                <a:spcPts val="1600"/>
              </a:lnSpc>
              <a:buNone/>
            </a:pPr>
            <a:r>
              <a:rPr lang="en-US" sz="1397" b="1" dirty="0">
                <a:solidFill>
                  <a:srgbClr val="E0E0E8"/>
                </a:solidFill>
                <a:latin typeface="Playfair Display" pitchFamily="34" charset="0"/>
                <a:ea typeface="Playfair Display" pitchFamily="34" charset="-122"/>
                <a:cs typeface="Playfair Display" pitchFamily="34" charset="-120"/>
              </a:rPr>
              <a:t>02</a:t>
            </a:r>
            <a:endParaRPr lang="en-US" sz="1397" dirty="0"/>
          </a:p>
        </p:txBody>
      </p:sp>
      <p:sp>
        <p:nvSpPr>
          <p:cNvPr id="24" name="Text 20"/>
          <p:cNvSpPr/>
          <p:nvPr/>
        </p:nvSpPr>
        <p:spPr>
          <a:xfrm>
            <a:off x="3486150" y="2965717"/>
            <a:ext cx="5200650"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1A1A2E"/>
                </a:solidFill>
                <a:latin typeface="Open Sans" pitchFamily="34" charset="0"/>
                <a:ea typeface="Open Sans" pitchFamily="34" charset="-122"/>
                <a:cs typeface="Open Sans" pitchFamily="34" charset="-120"/>
              </a:rPr>
              <a:t>SR-IOV + DPDK Is the Gold Standard for NFV Data Plane Performance</a:t>
            </a:r>
            <a:endParaRPr lang="en-US" sz="885" dirty="0"/>
          </a:p>
        </p:txBody>
      </p:sp>
      <p:sp>
        <p:nvSpPr>
          <p:cNvPr id="25" name="Text 21"/>
          <p:cNvSpPr/>
          <p:nvPr/>
        </p:nvSpPr>
        <p:spPr>
          <a:xfrm>
            <a:off x="3486150" y="3175732"/>
            <a:ext cx="5200650" cy="1425178"/>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Combining SR-IOV and DPDK creates a </a:t>
            </a:r>
            <a:r>
              <a:rPr lang="en-US" sz="936" b="1" dirty="0">
                <a:solidFill>
                  <a:srgbClr val="1A1A2E"/>
                </a:solidFill>
                <a:latin typeface="Open Sans" pitchFamily="34" charset="0"/>
                <a:ea typeface="Open Sans" pitchFamily="34" charset="-122"/>
                <a:cs typeface="Open Sans" pitchFamily="34" charset="-120"/>
              </a:rPr>
              <a:t>two-level bypass</a:t>
            </a:r>
            <a:r>
              <a:rPr lang="en-US" sz="996" dirty="0">
                <a:solidFill>
                  <a:srgbClr val="4A4A6A"/>
                </a:solidFill>
                <a:latin typeface="Open Sans" pitchFamily="34" charset="0"/>
                <a:ea typeface="Open Sans" pitchFamily="34" charset="-122"/>
                <a:cs typeface="Open Sans" pitchFamily="34" charset="-120"/>
              </a:rPr>
              <a:t>: SR-IOV removes the hypervisor vSwitch and VMM from the host data path, while DPDK inside the VM removes the guest kernel NIC driver and TCP/IP stack. The result is a packet path from physical NIC to NFV application with </a:t>
            </a:r>
            <a:r>
              <a:rPr lang="en-US" sz="936" b="1" dirty="0">
                <a:solidFill>
                  <a:srgbClr val="1A1A2E"/>
                </a:solidFill>
                <a:latin typeface="Open Sans" pitchFamily="34" charset="0"/>
                <a:ea typeface="Open Sans" pitchFamily="34" charset="-122"/>
                <a:cs typeface="Open Sans" pitchFamily="34" charset="-120"/>
              </a:rPr>
              <a:t>less than 1–3% overhead versus bare metal</a:t>
            </a:r>
            <a:r>
              <a:rPr lang="en-US" sz="996" dirty="0">
                <a:solidFill>
                  <a:srgbClr val="4A4A6A"/>
                </a:solidFill>
                <a:latin typeface="Open Sans" pitchFamily="34" charset="0"/>
                <a:ea typeface="Open Sans" pitchFamily="34" charset="-122"/>
                <a:cs typeface="Open Sans" pitchFamily="34" charset="-120"/>
              </a:rPr>
              <a:t> — the architecture recommended by Intel, Red Hat OpenStack, and the OKD/OpenShift NFV platform for 5G UPF, virtual routers, and virtual firewalls.</a:t>
            </a:r>
            <a:endParaRPr lang="en-US" sz="996" dirty="0"/>
          </a:p>
        </p:txBody>
      </p:sp>
      <p:sp>
        <p:nvSpPr>
          <p:cNvPr id="26" name="Shape 22"/>
          <p:cNvSpPr/>
          <p:nvPr/>
        </p:nvSpPr>
        <p:spPr>
          <a:xfrm>
            <a:off x="3486150" y="4658060"/>
            <a:ext cx="571500" cy="207169"/>
          </a:xfrm>
          <a:prstGeom prst="rect">
            <a:avLst/>
          </a:prstGeom>
          <a:solidFill>
            <a:srgbClr val="E63946"/>
          </a:solidFill>
          <a:ln/>
        </p:spPr>
      </p:sp>
      <p:sp>
        <p:nvSpPr>
          <p:cNvPr id="27" name="Text 23"/>
          <p:cNvSpPr/>
          <p:nvPr/>
        </p:nvSpPr>
        <p:spPr>
          <a:xfrm>
            <a:off x="3486150" y="4658060"/>
            <a:ext cx="571500"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SR-IOV</a:t>
            </a:r>
            <a:endParaRPr lang="en-US" sz="885" dirty="0"/>
          </a:p>
        </p:txBody>
      </p:sp>
      <p:sp>
        <p:nvSpPr>
          <p:cNvPr id="28" name="Shape 24"/>
          <p:cNvSpPr/>
          <p:nvPr/>
        </p:nvSpPr>
        <p:spPr>
          <a:xfrm>
            <a:off x="4100513" y="4658060"/>
            <a:ext cx="471488" cy="207169"/>
          </a:xfrm>
          <a:prstGeom prst="rect">
            <a:avLst/>
          </a:prstGeom>
          <a:solidFill>
            <a:srgbClr val="003087"/>
          </a:solidFill>
          <a:ln/>
        </p:spPr>
      </p:sp>
      <p:sp>
        <p:nvSpPr>
          <p:cNvPr id="29" name="Text 25"/>
          <p:cNvSpPr/>
          <p:nvPr/>
        </p:nvSpPr>
        <p:spPr>
          <a:xfrm>
            <a:off x="4100513" y="4658060"/>
            <a:ext cx="471488"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DPDK</a:t>
            </a:r>
            <a:endParaRPr lang="en-US" sz="885" dirty="0"/>
          </a:p>
        </p:txBody>
      </p:sp>
      <p:sp>
        <p:nvSpPr>
          <p:cNvPr id="30" name="Shape 26"/>
          <p:cNvSpPr/>
          <p:nvPr/>
        </p:nvSpPr>
        <p:spPr>
          <a:xfrm>
            <a:off x="4614863" y="4658060"/>
            <a:ext cx="2352080" cy="207169"/>
          </a:xfrm>
          <a:prstGeom prst="rect">
            <a:avLst/>
          </a:prstGeom>
          <a:solidFill>
            <a:srgbClr val="1A1A2E"/>
          </a:solidFill>
          <a:ln/>
        </p:spPr>
      </p:sp>
      <p:sp>
        <p:nvSpPr>
          <p:cNvPr id="31" name="Text 27"/>
          <p:cNvSpPr/>
          <p:nvPr/>
        </p:nvSpPr>
        <p:spPr>
          <a:xfrm>
            <a:off x="4614863" y="4658060"/>
            <a:ext cx="2352080"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&lt;1–3% OVERHEAD VS BARE METAL</a:t>
            </a:r>
            <a:endParaRPr lang="en-US" sz="885" dirty="0"/>
          </a:p>
        </p:txBody>
      </p:sp>
      <p:sp>
        <p:nvSpPr>
          <p:cNvPr id="32" name="Text 28"/>
          <p:cNvSpPr/>
          <p:nvPr/>
        </p:nvSpPr>
        <p:spPr>
          <a:xfrm>
            <a:off x="3086100" y="5129547"/>
            <a:ext cx="257175" cy="1899512"/>
          </a:xfrm>
          <a:prstGeom prst="rect">
            <a:avLst/>
          </a:prstGeom>
          <a:noFill/>
          <a:ln/>
        </p:spPr>
        <p:txBody>
          <a:bodyPr wrap="square" lIns="0" tIns="17018" rIns="0" bIns="0" rtlCol="0" anchor="t">
            <a:spAutoFit/>
          </a:bodyPr>
          <a:lstStyle/>
          <a:p>
            <a:pPr marL="0" indent="0" algn="r">
              <a:lnSpc>
                <a:spcPts val="1600"/>
              </a:lnSpc>
              <a:buNone/>
            </a:pPr>
            <a:r>
              <a:rPr lang="en-US" sz="1397" b="1" dirty="0">
                <a:solidFill>
                  <a:srgbClr val="E0E0E8"/>
                </a:solidFill>
                <a:latin typeface="Playfair Display" pitchFamily="34" charset="0"/>
                <a:ea typeface="Playfair Display" pitchFamily="34" charset="-122"/>
                <a:cs typeface="Playfair Display" pitchFamily="34" charset="-120"/>
              </a:rPr>
              <a:t>03</a:t>
            </a:r>
            <a:endParaRPr lang="en-US" sz="1397" dirty="0"/>
          </a:p>
        </p:txBody>
      </p:sp>
      <p:sp>
        <p:nvSpPr>
          <p:cNvPr id="33" name="Text 29"/>
          <p:cNvSpPr/>
          <p:nvPr/>
        </p:nvSpPr>
        <p:spPr>
          <a:xfrm>
            <a:off x="3486150" y="5129547"/>
            <a:ext cx="5200650"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1A1A2E"/>
                </a:solidFill>
                <a:latin typeface="Open Sans" pitchFamily="34" charset="0"/>
                <a:ea typeface="Open Sans" pitchFamily="34" charset="-122"/>
                <a:cs typeface="Open Sans" pitchFamily="34" charset="-120"/>
              </a:rPr>
              <a:t>The Three Technologies Are Complementary and Often Deployed Together</a:t>
            </a:r>
            <a:endParaRPr lang="en-US" sz="885" dirty="0"/>
          </a:p>
        </p:txBody>
      </p:sp>
      <p:sp>
        <p:nvSpPr>
          <p:cNvPr id="34" name="Text 30"/>
          <p:cNvSpPr/>
          <p:nvPr/>
        </p:nvSpPr>
        <p:spPr>
          <a:xfrm>
            <a:off x="3486150" y="5339562"/>
            <a:ext cx="5200650" cy="1425178"/>
          </a:xfrm>
          <a:prstGeom prst="rect">
            <a:avLst/>
          </a:prstGeom>
          <a:noFill/>
          <a:ln/>
        </p:spPr>
        <p:txBody>
          <a:bodyPr wrap="square" lIns="0" tIns="0" rIns="0" bIns="0" rtlCol="0" anchor="t">
            <a:spAutoFit/>
          </a:bodyPr>
          <a:lstStyle/>
          <a:p>
            <a:pPr marL="0" indent="0" algn="l">
              <a:lnSpc>
                <a:spcPts val="1900"/>
              </a:lnSpc>
              <a:buNone/>
            </a:pPr>
            <a:r>
              <a:rPr lang="en-US" sz="996" dirty="0">
                <a:solidFill>
                  <a:srgbClr val="4A4A6A"/>
                </a:solidFill>
                <a:latin typeface="Open Sans" pitchFamily="34" charset="0"/>
                <a:ea typeface="Open Sans" pitchFamily="34" charset="-122"/>
                <a:cs typeface="Open Sans" pitchFamily="34" charset="-120"/>
              </a:rPr>
              <a:t>A single physical server can run all three simultaneously — </a:t>
            </a:r>
            <a:r>
              <a:rPr lang="en-US" sz="936" b="1" dirty="0">
                <a:solidFill>
                  <a:srgbClr val="1A1A2E"/>
                </a:solidFill>
                <a:latin typeface="Open Sans" pitchFamily="34" charset="0"/>
                <a:ea typeface="Open Sans" pitchFamily="34" charset="-122"/>
                <a:cs typeface="Open Sans" pitchFamily="34" charset="-120"/>
              </a:rPr>
              <a:t>SR-IOV VFs</a:t>
            </a:r>
            <a:r>
              <a:rPr lang="en-US" sz="996" dirty="0">
                <a:solidFill>
                  <a:srgbClr val="4A4A6A"/>
                </a:solidFill>
                <a:latin typeface="Open Sans" pitchFamily="34" charset="0"/>
                <a:ea typeface="Open Sans" pitchFamily="34" charset="-122"/>
                <a:cs typeface="Open Sans" pitchFamily="34" charset="-120"/>
              </a:rPr>
              <a:t> for latency-critical NFV workloads, </a:t>
            </a:r>
            <a:r>
              <a:rPr lang="en-US" sz="936" b="1" dirty="0">
                <a:solidFill>
                  <a:srgbClr val="1A1A2E"/>
                </a:solidFill>
                <a:latin typeface="Open Sans" pitchFamily="34" charset="0"/>
                <a:ea typeface="Open Sans" pitchFamily="34" charset="-122"/>
                <a:cs typeface="Open Sans" pitchFamily="34" charset="-120"/>
              </a:rPr>
              <a:t>OVS-DPDK</a:t>
            </a:r>
            <a:r>
              <a:rPr lang="en-US" sz="996" dirty="0">
                <a:solidFill>
                  <a:srgbClr val="4A4A6A"/>
                </a:solidFill>
                <a:latin typeface="Open Sans" pitchFamily="34" charset="0"/>
                <a:ea typeface="Open Sans" pitchFamily="34" charset="-122"/>
                <a:cs typeface="Open Sans" pitchFamily="34" charset="-120"/>
              </a:rPr>
              <a:t> for high-performance East-West VM-to-VM switching, and </a:t>
            </a:r>
            <a:r>
              <a:rPr lang="en-US" sz="936" b="1" dirty="0">
                <a:solidFill>
                  <a:srgbClr val="1A1A2E"/>
                </a:solidFill>
                <a:latin typeface="Open Sans" pitchFamily="34" charset="0"/>
                <a:ea typeface="Open Sans" pitchFamily="34" charset="-122"/>
                <a:cs typeface="Open Sans" pitchFamily="34" charset="-120"/>
              </a:rPr>
              <a:t>VMDq queues</a:t>
            </a:r>
            <a:r>
              <a:rPr lang="en-US" sz="996" dirty="0">
                <a:solidFill>
                  <a:srgbClr val="4A4A6A"/>
                </a:solidFill>
                <a:latin typeface="Open Sans" pitchFamily="34" charset="0"/>
                <a:ea typeface="Open Sans" pitchFamily="34" charset="-122"/>
                <a:cs typeface="Open Sans" pitchFamily="34" charset="-120"/>
              </a:rPr>
              <a:t> for workloads that require live migration and full vSwitch feature support. The choice is made per-workload and per-NIC-port, not as a single server-wide decision. VMDq and SR-IOV are mutually exclusive on the same port, but can coexist on different ports of the same NIC.</a:t>
            </a:r>
            <a:endParaRPr lang="en-US" sz="996" dirty="0"/>
          </a:p>
        </p:txBody>
      </p:sp>
      <p:sp>
        <p:nvSpPr>
          <p:cNvPr id="35" name="Shape 31"/>
          <p:cNvSpPr/>
          <p:nvPr/>
        </p:nvSpPr>
        <p:spPr>
          <a:xfrm>
            <a:off x="3486150" y="6821891"/>
            <a:ext cx="571500" cy="207169"/>
          </a:xfrm>
          <a:prstGeom prst="rect">
            <a:avLst/>
          </a:prstGeom>
          <a:solidFill>
            <a:srgbClr val="E63946"/>
          </a:solidFill>
          <a:ln/>
        </p:spPr>
      </p:sp>
      <p:sp>
        <p:nvSpPr>
          <p:cNvPr id="36" name="Text 32"/>
          <p:cNvSpPr/>
          <p:nvPr/>
        </p:nvSpPr>
        <p:spPr>
          <a:xfrm>
            <a:off x="3486150" y="6821891"/>
            <a:ext cx="571500"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SR-IOV</a:t>
            </a:r>
            <a:endParaRPr lang="en-US" sz="885" dirty="0"/>
          </a:p>
        </p:txBody>
      </p:sp>
      <p:sp>
        <p:nvSpPr>
          <p:cNvPr id="37" name="Shape 33"/>
          <p:cNvSpPr/>
          <p:nvPr/>
        </p:nvSpPr>
        <p:spPr>
          <a:xfrm>
            <a:off x="4100513" y="6821891"/>
            <a:ext cx="471488" cy="207169"/>
          </a:xfrm>
          <a:prstGeom prst="rect">
            <a:avLst/>
          </a:prstGeom>
          <a:solidFill>
            <a:srgbClr val="003087"/>
          </a:solidFill>
          <a:ln/>
        </p:spPr>
      </p:sp>
      <p:sp>
        <p:nvSpPr>
          <p:cNvPr id="38" name="Text 34"/>
          <p:cNvSpPr/>
          <p:nvPr/>
        </p:nvSpPr>
        <p:spPr>
          <a:xfrm>
            <a:off x="4100513" y="6821891"/>
            <a:ext cx="471488"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DPDK</a:t>
            </a:r>
            <a:endParaRPr lang="en-US" sz="885" dirty="0"/>
          </a:p>
        </p:txBody>
      </p:sp>
      <p:sp>
        <p:nvSpPr>
          <p:cNvPr id="39" name="Shape 35"/>
          <p:cNvSpPr/>
          <p:nvPr/>
        </p:nvSpPr>
        <p:spPr>
          <a:xfrm>
            <a:off x="4614863" y="6821891"/>
            <a:ext cx="507206" cy="207169"/>
          </a:xfrm>
          <a:prstGeom prst="rect">
            <a:avLst/>
          </a:prstGeom>
          <a:solidFill>
            <a:srgbClr val="1A6B72"/>
          </a:solidFill>
          <a:ln/>
        </p:spPr>
      </p:sp>
      <p:sp>
        <p:nvSpPr>
          <p:cNvPr id="40" name="Text 36"/>
          <p:cNvSpPr/>
          <p:nvPr/>
        </p:nvSpPr>
        <p:spPr>
          <a:xfrm>
            <a:off x="4614863" y="6821891"/>
            <a:ext cx="507206"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VMDQ</a:t>
            </a:r>
            <a:endParaRPr lang="en-US" sz="885" dirty="0"/>
          </a:p>
        </p:txBody>
      </p:sp>
      <p:sp>
        <p:nvSpPr>
          <p:cNvPr id="41" name="Shape 37"/>
          <p:cNvSpPr/>
          <p:nvPr/>
        </p:nvSpPr>
        <p:spPr>
          <a:xfrm>
            <a:off x="5164931" y="6821891"/>
            <a:ext cx="1919883" cy="207169"/>
          </a:xfrm>
          <a:prstGeom prst="rect">
            <a:avLst/>
          </a:prstGeom>
          <a:solidFill>
            <a:srgbClr val="1A1A2E"/>
          </a:solidFill>
          <a:ln/>
        </p:spPr>
      </p:sp>
      <p:sp>
        <p:nvSpPr>
          <p:cNvPr id="42" name="Text 38"/>
          <p:cNvSpPr/>
          <p:nvPr/>
        </p:nvSpPr>
        <p:spPr>
          <a:xfrm>
            <a:off x="5164931" y="6821891"/>
            <a:ext cx="1919883" cy="207169"/>
          </a:xfrm>
          <a:prstGeom prst="rect">
            <a:avLst/>
          </a:prstGeom>
          <a:noFill/>
          <a:ln/>
        </p:spPr>
        <p:txBody>
          <a:bodyPr wrap="none" lIns="68072" tIns="25527" rIns="68072" bIns="25527" rtlCol="0" anchor="t">
            <a:spAutoFit/>
          </a:bodyPr>
          <a:lstStyle/>
          <a:p>
            <a:pPr marL="0" indent="0" algn="l">
              <a:lnSpc>
                <a:spcPts val="1200"/>
              </a:lnSpc>
              <a:buNone/>
            </a:pPr>
            <a:r>
              <a:rPr lang="en-US" sz="885" b="1" kern="0" spc="1" dirty="0">
                <a:solidFill>
                  <a:srgbClr val="FFFFFF"/>
                </a:solidFill>
                <a:latin typeface="Space Grotesk" pitchFamily="34" charset="0"/>
                <a:ea typeface="Space Grotesk" pitchFamily="34" charset="-122"/>
                <a:cs typeface="Space Grotesk" pitchFamily="34" charset="-120"/>
              </a:rPr>
              <a:t>PER-WORKLOAD SELECTION</a:t>
            </a:r>
            <a:endParaRPr lang="en-US" sz="885" dirty="0"/>
          </a:p>
        </p:txBody>
      </p:sp>
      <p:sp>
        <p:nvSpPr>
          <p:cNvPr id="43" name="Shape 39"/>
          <p:cNvSpPr/>
          <p:nvPr/>
        </p:nvSpPr>
        <p:spPr>
          <a:xfrm>
            <a:off x="0" y="7164791"/>
            <a:ext cx="9144000" cy="257175"/>
          </a:xfrm>
          <a:prstGeom prst="rect">
            <a:avLst/>
          </a:prstGeom>
          <a:solidFill>
            <a:srgbClr val="000000">
              <a:alpha val="0"/>
            </a:srgbClr>
          </a:solidFill>
          <a:ln/>
        </p:spPr>
      </p:sp>
      <p:sp>
        <p:nvSpPr>
          <p:cNvPr id="44" name="Shape 40"/>
          <p:cNvSpPr/>
          <p:nvPr/>
        </p:nvSpPr>
        <p:spPr>
          <a:xfrm>
            <a:off x="0" y="7164791"/>
            <a:ext cx="9144000" cy="7144"/>
          </a:xfrm>
          <a:prstGeom prst="rect">
            <a:avLst/>
          </a:prstGeom>
          <a:solidFill>
            <a:srgbClr val="EBEBF0"/>
          </a:solidFill>
          <a:ln/>
        </p:spPr>
      </p:sp>
      <p:sp>
        <p:nvSpPr>
          <p:cNvPr id="45" name="Text 41"/>
          <p:cNvSpPr/>
          <p:nvPr/>
        </p:nvSpPr>
        <p:spPr>
          <a:xfrm>
            <a:off x="457200" y="7206760"/>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46" name="Text 42"/>
          <p:cNvSpPr/>
          <p:nvPr/>
        </p:nvSpPr>
        <p:spPr>
          <a:xfrm>
            <a:off x="8283178" y="7206760"/>
            <a:ext cx="403622"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14 / 15</a:t>
            </a:r>
            <a:endParaRPr lang="en-US" sz="996"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7875622"/>
          </a:xfrm>
          <a:prstGeom prst="rect">
            <a:avLst/>
          </a:prstGeom>
        </p:spPr>
      </p:pic>
      <p:sp>
        <p:nvSpPr>
          <p:cNvPr id="4" name="Text 0"/>
          <p:cNvSpPr/>
          <p:nvPr/>
        </p:nvSpPr>
        <p:spPr>
          <a:xfrm>
            <a:off x="457200" y="242888"/>
            <a:ext cx="2671763" cy="173236"/>
          </a:xfrm>
          <a:prstGeom prst="rect">
            <a:avLst/>
          </a:prstGeom>
          <a:noFill/>
          <a:ln/>
        </p:spPr>
        <p:txBody>
          <a:bodyPr wrap="none" lIns="0" tIns="0" rIns="0" bIns="0" rtlCol="0" anchor="t">
            <a:spAutoFit/>
          </a:bodyPr>
          <a:lstStyle/>
          <a:p>
            <a:pPr marL="0" indent="0" algn="l">
              <a:lnSpc>
                <a:spcPts val="1300"/>
              </a:lnSpc>
              <a:buNone/>
            </a:pPr>
            <a:r>
              <a:rPr lang="en-US" sz="936" b="1" kern="0" spc="2" dirty="0">
                <a:solidFill>
                  <a:srgbClr val="9090A8"/>
                </a:solidFill>
                <a:latin typeface="Space Grotesk" pitchFamily="34" charset="0"/>
                <a:ea typeface="Space Grotesk" pitchFamily="34" charset="-122"/>
                <a:cs typeface="Space Grotesk" pitchFamily="34" charset="-120"/>
              </a:rPr>
              <a:t>SOURCES AND FURTHER READING</a:t>
            </a:r>
            <a:endParaRPr lang="en-US" sz="936" dirty="0"/>
          </a:p>
        </p:txBody>
      </p:sp>
      <p:sp>
        <p:nvSpPr>
          <p:cNvPr id="5" name="Text 1"/>
          <p:cNvSpPr/>
          <p:nvPr/>
        </p:nvSpPr>
        <p:spPr>
          <a:xfrm>
            <a:off x="457200" y="473273"/>
            <a:ext cx="2671763" cy="222879"/>
          </a:xfrm>
          <a:prstGeom prst="rect">
            <a:avLst/>
          </a:prstGeom>
          <a:noFill/>
          <a:ln/>
        </p:spPr>
        <p:txBody>
          <a:bodyPr wrap="none" lIns="0" tIns="0" rIns="0" bIns="0" rtlCol="0" anchor="t">
            <a:spAutoFit/>
          </a:bodyPr>
          <a:lstStyle/>
          <a:p>
            <a:pPr marL="0" indent="0" algn="l">
              <a:lnSpc>
                <a:spcPts val="1800"/>
              </a:lnSpc>
              <a:buNone/>
            </a:pPr>
            <a:r>
              <a:rPr lang="en-US" sz="1295" b="1" dirty="0">
                <a:solidFill>
                  <a:srgbClr val="1A1A2E"/>
                </a:solidFill>
                <a:latin typeface="Playfair Display" pitchFamily="34" charset="0"/>
                <a:ea typeface="Playfair Display" pitchFamily="34" charset="-122"/>
                <a:cs typeface="Playfair Display" pitchFamily="34" charset="-120"/>
              </a:rPr>
              <a:t>References</a:t>
            </a:r>
            <a:endParaRPr lang="en-US" sz="1295" dirty="0"/>
          </a:p>
        </p:txBody>
      </p:sp>
      <p:sp>
        <p:nvSpPr>
          <p:cNvPr id="6" name="Shape 2"/>
          <p:cNvSpPr/>
          <p:nvPr/>
        </p:nvSpPr>
        <p:spPr>
          <a:xfrm>
            <a:off x="7640241" y="242888"/>
            <a:ext cx="1046559" cy="244673"/>
          </a:xfrm>
          <a:prstGeom prst="rect">
            <a:avLst/>
          </a:prstGeom>
          <a:solidFill>
            <a:srgbClr val="1A1A2E"/>
          </a:solidFill>
          <a:ln/>
        </p:spPr>
      </p:sp>
      <p:sp>
        <p:nvSpPr>
          <p:cNvPr id="7" name="Text 3"/>
          <p:cNvSpPr/>
          <p:nvPr/>
        </p:nvSpPr>
        <p:spPr>
          <a:xfrm>
            <a:off x="7640241" y="242888"/>
            <a:ext cx="1046559" cy="244673"/>
          </a:xfrm>
          <a:prstGeom prst="rect">
            <a:avLst/>
          </a:prstGeom>
          <a:noFill/>
          <a:ln/>
        </p:spPr>
        <p:txBody>
          <a:bodyPr wrap="square" lIns="119126" tIns="42545" rIns="119126" bIns="42545" rtlCol="0" anchor="t">
            <a:spAutoFit/>
          </a:bodyPr>
          <a:lstStyle/>
          <a:p>
            <a:pPr marL="0" indent="0" algn="l">
              <a:lnSpc>
                <a:spcPts val="1300"/>
              </a:lnSpc>
              <a:buNone/>
            </a:pPr>
            <a:r>
              <a:rPr lang="en-US" sz="936" b="1" kern="0" spc="1" dirty="0">
                <a:solidFill>
                  <a:srgbClr val="FFFFFF"/>
                </a:solidFill>
                <a:latin typeface="Space Grotesk" pitchFamily="34" charset="0"/>
                <a:ea typeface="Space Grotesk" pitchFamily="34" charset="-122"/>
                <a:cs typeface="Space Grotesk" pitchFamily="34" charset="-120"/>
              </a:rPr>
              <a:t>10 SOURCES</a:t>
            </a:r>
            <a:endParaRPr lang="en-US" sz="936" dirty="0"/>
          </a:p>
        </p:txBody>
      </p:sp>
      <p:sp>
        <p:nvSpPr>
          <p:cNvPr id="8" name="Shape 4"/>
          <p:cNvSpPr/>
          <p:nvPr/>
        </p:nvSpPr>
        <p:spPr>
          <a:xfrm>
            <a:off x="457200" y="1081915"/>
            <a:ext cx="171450" cy="171450"/>
          </a:xfrm>
          <a:prstGeom prst="rect">
            <a:avLst/>
          </a:prstGeom>
          <a:solidFill>
            <a:srgbClr val="1A1A2E"/>
          </a:solidFill>
          <a:ln/>
        </p:spPr>
      </p:sp>
      <p:sp>
        <p:nvSpPr>
          <p:cNvPr id="9" name="Text 5"/>
          <p:cNvSpPr/>
          <p:nvPr/>
        </p:nvSpPr>
        <p:spPr>
          <a:xfrm>
            <a:off x="457200" y="1081915"/>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1</a:t>
            </a:r>
            <a:endParaRPr lang="en-US" sz="936" dirty="0"/>
          </a:p>
        </p:txBody>
      </p:sp>
      <p:sp>
        <p:nvSpPr>
          <p:cNvPr id="10" name="Text 6"/>
          <p:cNvSpPr/>
          <p:nvPr/>
        </p:nvSpPr>
        <p:spPr>
          <a:xfrm>
            <a:off x="728663" y="1074772"/>
            <a:ext cx="3818334"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SR-IOV for Network Function Virtualization Technology Brief</a:t>
            </a:r>
            <a:endParaRPr lang="en-US" sz="911" dirty="0"/>
          </a:p>
        </p:txBody>
      </p:sp>
      <p:sp>
        <p:nvSpPr>
          <p:cNvPr id="11" name="Text 7"/>
          <p:cNvSpPr/>
          <p:nvPr/>
        </p:nvSpPr>
        <p:spPr>
          <a:xfrm>
            <a:off x="728663" y="1262295"/>
            <a:ext cx="3818334"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Intel Corporation</a:t>
            </a:r>
            <a:endParaRPr lang="en-US" sz="996" dirty="0"/>
          </a:p>
        </p:txBody>
      </p:sp>
      <p:sp>
        <p:nvSpPr>
          <p:cNvPr id="12" name="Text 8"/>
          <p:cNvSpPr/>
          <p:nvPr/>
        </p:nvSpPr>
        <p:spPr>
          <a:xfrm>
            <a:off x="728663" y="1446247"/>
            <a:ext cx="3818334"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cdrdv2-public.intel.com/335625/sr-iov-nfv-tech-brief.pdf</a:t>
            </a:r>
            <a:endParaRPr lang="en-US" sz="942" dirty="0"/>
          </a:p>
        </p:txBody>
      </p:sp>
      <p:sp>
        <p:nvSpPr>
          <p:cNvPr id="13" name="Shape 9"/>
          <p:cNvSpPr/>
          <p:nvPr/>
        </p:nvSpPr>
        <p:spPr>
          <a:xfrm>
            <a:off x="457200" y="1724853"/>
            <a:ext cx="171450" cy="171450"/>
          </a:xfrm>
          <a:prstGeom prst="rect">
            <a:avLst/>
          </a:prstGeom>
          <a:solidFill>
            <a:srgbClr val="1A1A2E"/>
          </a:solidFill>
          <a:ln/>
        </p:spPr>
      </p:sp>
      <p:sp>
        <p:nvSpPr>
          <p:cNvPr id="14" name="Text 10"/>
          <p:cNvSpPr/>
          <p:nvPr/>
        </p:nvSpPr>
        <p:spPr>
          <a:xfrm>
            <a:off x="457200" y="1724853"/>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2</a:t>
            </a:r>
            <a:endParaRPr lang="en-US" sz="936" dirty="0"/>
          </a:p>
        </p:txBody>
      </p:sp>
      <p:sp>
        <p:nvSpPr>
          <p:cNvPr id="15" name="Text 11"/>
          <p:cNvSpPr/>
          <p:nvPr/>
        </p:nvSpPr>
        <p:spPr>
          <a:xfrm>
            <a:off x="728663" y="1717709"/>
            <a:ext cx="6409730"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Intel VMDq Technology White Paper</a:t>
            </a:r>
            <a:endParaRPr lang="en-US" sz="911" dirty="0"/>
          </a:p>
        </p:txBody>
      </p:sp>
      <p:sp>
        <p:nvSpPr>
          <p:cNvPr id="16" name="Text 12"/>
          <p:cNvSpPr/>
          <p:nvPr/>
        </p:nvSpPr>
        <p:spPr>
          <a:xfrm>
            <a:off x="728663" y="1905233"/>
            <a:ext cx="6409730"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Intel Corporation</a:t>
            </a:r>
            <a:endParaRPr lang="en-US" sz="996" dirty="0"/>
          </a:p>
        </p:txBody>
      </p:sp>
      <p:sp>
        <p:nvSpPr>
          <p:cNvPr id="17" name="Text 13"/>
          <p:cNvSpPr/>
          <p:nvPr/>
        </p:nvSpPr>
        <p:spPr>
          <a:xfrm>
            <a:off x="728663" y="2089184"/>
            <a:ext cx="6409730"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intel.com.tw/content/dam/www/public/us/en/documents/white-papers/vmdq-technology-paper.pdf</a:t>
            </a:r>
            <a:endParaRPr lang="en-US" sz="942" dirty="0"/>
          </a:p>
        </p:txBody>
      </p:sp>
      <p:sp>
        <p:nvSpPr>
          <p:cNvPr id="18" name="Shape 14"/>
          <p:cNvSpPr/>
          <p:nvPr/>
        </p:nvSpPr>
        <p:spPr>
          <a:xfrm>
            <a:off x="457200" y="2367790"/>
            <a:ext cx="171450" cy="171450"/>
          </a:xfrm>
          <a:prstGeom prst="rect">
            <a:avLst/>
          </a:prstGeom>
          <a:solidFill>
            <a:srgbClr val="1A1A2E"/>
          </a:solidFill>
          <a:ln/>
        </p:spPr>
      </p:sp>
      <p:sp>
        <p:nvSpPr>
          <p:cNvPr id="19" name="Text 15"/>
          <p:cNvSpPr/>
          <p:nvPr/>
        </p:nvSpPr>
        <p:spPr>
          <a:xfrm>
            <a:off x="457200" y="2367790"/>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3</a:t>
            </a:r>
            <a:endParaRPr lang="en-US" sz="936" dirty="0"/>
          </a:p>
        </p:txBody>
      </p:sp>
      <p:sp>
        <p:nvSpPr>
          <p:cNvPr id="20" name="Text 16"/>
          <p:cNvSpPr/>
          <p:nvPr/>
        </p:nvSpPr>
        <p:spPr>
          <a:xfrm>
            <a:off x="728663" y="2360647"/>
            <a:ext cx="5067067"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Intel Virtualization Technology for Connectivity (VT-c) Brief</a:t>
            </a:r>
            <a:endParaRPr lang="en-US" sz="911" dirty="0"/>
          </a:p>
        </p:txBody>
      </p:sp>
      <p:sp>
        <p:nvSpPr>
          <p:cNvPr id="21" name="Text 17"/>
          <p:cNvSpPr/>
          <p:nvPr/>
        </p:nvSpPr>
        <p:spPr>
          <a:xfrm>
            <a:off x="728663" y="2548170"/>
            <a:ext cx="5067067"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Intel Corporation</a:t>
            </a:r>
            <a:endParaRPr lang="en-US" sz="996" dirty="0"/>
          </a:p>
        </p:txBody>
      </p:sp>
      <p:sp>
        <p:nvSpPr>
          <p:cNvPr id="22" name="Text 18"/>
          <p:cNvSpPr/>
          <p:nvPr/>
        </p:nvSpPr>
        <p:spPr>
          <a:xfrm>
            <a:off x="728663" y="2732122"/>
            <a:ext cx="5067067"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intel.com/content/dam/support/us/en/documents/network/sb/intelvtcbrief.pdf</a:t>
            </a:r>
            <a:endParaRPr lang="en-US" sz="942" dirty="0"/>
          </a:p>
        </p:txBody>
      </p:sp>
      <p:sp>
        <p:nvSpPr>
          <p:cNvPr id="23" name="Shape 19"/>
          <p:cNvSpPr/>
          <p:nvPr/>
        </p:nvSpPr>
        <p:spPr>
          <a:xfrm>
            <a:off x="457200" y="3010728"/>
            <a:ext cx="171450" cy="171450"/>
          </a:xfrm>
          <a:prstGeom prst="rect">
            <a:avLst/>
          </a:prstGeom>
          <a:solidFill>
            <a:srgbClr val="1A1A2E"/>
          </a:solidFill>
          <a:ln/>
        </p:spPr>
      </p:sp>
      <p:sp>
        <p:nvSpPr>
          <p:cNvPr id="24" name="Text 20"/>
          <p:cNvSpPr/>
          <p:nvPr/>
        </p:nvSpPr>
        <p:spPr>
          <a:xfrm>
            <a:off x="457200" y="3010728"/>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4</a:t>
            </a:r>
            <a:endParaRPr lang="en-US" sz="936" dirty="0"/>
          </a:p>
        </p:txBody>
      </p:sp>
      <p:sp>
        <p:nvSpPr>
          <p:cNvPr id="25" name="Text 21"/>
          <p:cNvSpPr/>
          <p:nvPr/>
        </p:nvSpPr>
        <p:spPr>
          <a:xfrm>
            <a:off x="728663" y="3003584"/>
            <a:ext cx="5258526"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SR-IOV Architecture — Windows Hardware Developer Documentation</a:t>
            </a:r>
            <a:endParaRPr lang="en-US" sz="911" dirty="0"/>
          </a:p>
        </p:txBody>
      </p:sp>
      <p:sp>
        <p:nvSpPr>
          <p:cNvPr id="26" name="Text 22"/>
          <p:cNvSpPr/>
          <p:nvPr/>
        </p:nvSpPr>
        <p:spPr>
          <a:xfrm>
            <a:off x="728663" y="3191108"/>
            <a:ext cx="5258526"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Microsoft Corporation</a:t>
            </a:r>
            <a:endParaRPr lang="en-US" sz="996" dirty="0"/>
          </a:p>
        </p:txBody>
      </p:sp>
      <p:sp>
        <p:nvSpPr>
          <p:cNvPr id="27" name="Text 23"/>
          <p:cNvSpPr/>
          <p:nvPr/>
        </p:nvSpPr>
        <p:spPr>
          <a:xfrm>
            <a:off x="728663" y="3375059"/>
            <a:ext cx="5258526"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learn.microsoft.com/en-us/windows-hardware/drivers/network/sr-iov-architecture</a:t>
            </a:r>
            <a:endParaRPr lang="en-US" sz="942" dirty="0"/>
          </a:p>
        </p:txBody>
      </p:sp>
      <p:sp>
        <p:nvSpPr>
          <p:cNvPr id="28" name="Shape 24"/>
          <p:cNvSpPr/>
          <p:nvPr/>
        </p:nvSpPr>
        <p:spPr>
          <a:xfrm>
            <a:off x="457200" y="3653665"/>
            <a:ext cx="171450" cy="171450"/>
          </a:xfrm>
          <a:prstGeom prst="rect">
            <a:avLst/>
          </a:prstGeom>
          <a:solidFill>
            <a:srgbClr val="1A1A2E"/>
          </a:solidFill>
          <a:ln/>
        </p:spPr>
      </p:sp>
      <p:sp>
        <p:nvSpPr>
          <p:cNvPr id="29" name="Text 25"/>
          <p:cNvSpPr/>
          <p:nvPr/>
        </p:nvSpPr>
        <p:spPr>
          <a:xfrm>
            <a:off x="457200" y="3653665"/>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5</a:t>
            </a:r>
            <a:endParaRPr lang="en-US" sz="936" dirty="0"/>
          </a:p>
        </p:txBody>
      </p:sp>
      <p:sp>
        <p:nvSpPr>
          <p:cNvPr id="30" name="Text 26"/>
          <p:cNvSpPr/>
          <p:nvPr/>
        </p:nvSpPr>
        <p:spPr>
          <a:xfrm>
            <a:off x="728663" y="3646522"/>
            <a:ext cx="6727292"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About SR-IOV — Hardware Networks</a:t>
            </a:r>
            <a:endParaRPr lang="en-US" sz="911" dirty="0"/>
          </a:p>
        </p:txBody>
      </p:sp>
      <p:sp>
        <p:nvSpPr>
          <p:cNvPr id="31" name="Text 27"/>
          <p:cNvSpPr/>
          <p:nvPr/>
        </p:nvSpPr>
        <p:spPr>
          <a:xfrm>
            <a:off x="728663" y="3834045"/>
            <a:ext cx="6727292"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Red Hat OpenShift Container Platform 4.18</a:t>
            </a:r>
            <a:endParaRPr lang="en-US" sz="996" dirty="0"/>
          </a:p>
        </p:txBody>
      </p:sp>
      <p:sp>
        <p:nvSpPr>
          <p:cNvPr id="32" name="Text 28"/>
          <p:cNvSpPr/>
          <p:nvPr/>
        </p:nvSpPr>
        <p:spPr>
          <a:xfrm>
            <a:off x="728663" y="4017997"/>
            <a:ext cx="6727292" cy="328613"/>
          </a:xfrm>
          <a:prstGeom prst="rect">
            <a:avLst/>
          </a:prstGeom>
          <a:noFill/>
          <a:ln/>
        </p:spPr>
        <p:txBody>
          <a:bodyPr wrap="squar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docs.redhat.com/en/documentation/openshift_container_platform/4.18/html/hardware_networks/about-sriov</a:t>
            </a:r>
            <a:endParaRPr lang="en-US" sz="942" dirty="0"/>
          </a:p>
        </p:txBody>
      </p:sp>
      <p:sp>
        <p:nvSpPr>
          <p:cNvPr id="33" name="Shape 29"/>
          <p:cNvSpPr/>
          <p:nvPr/>
        </p:nvSpPr>
        <p:spPr>
          <a:xfrm>
            <a:off x="457200" y="4460909"/>
            <a:ext cx="171450" cy="171450"/>
          </a:xfrm>
          <a:prstGeom prst="rect">
            <a:avLst/>
          </a:prstGeom>
          <a:solidFill>
            <a:srgbClr val="1A1A2E"/>
          </a:solidFill>
          <a:ln/>
        </p:spPr>
      </p:sp>
      <p:sp>
        <p:nvSpPr>
          <p:cNvPr id="34" name="Text 30"/>
          <p:cNvSpPr/>
          <p:nvPr/>
        </p:nvSpPr>
        <p:spPr>
          <a:xfrm>
            <a:off x="457200" y="4460909"/>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6</a:t>
            </a:r>
            <a:endParaRPr lang="en-US" sz="936" dirty="0"/>
          </a:p>
        </p:txBody>
      </p:sp>
      <p:sp>
        <p:nvSpPr>
          <p:cNvPr id="35" name="Text 31"/>
          <p:cNvSpPr/>
          <p:nvPr/>
        </p:nvSpPr>
        <p:spPr>
          <a:xfrm>
            <a:off x="728663" y="4453765"/>
            <a:ext cx="4380207"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Using DPDK with SR-IOV — VM Networking</a:t>
            </a:r>
            <a:endParaRPr lang="en-US" sz="911" dirty="0"/>
          </a:p>
        </p:txBody>
      </p:sp>
      <p:sp>
        <p:nvSpPr>
          <p:cNvPr id="36" name="Text 32"/>
          <p:cNvSpPr/>
          <p:nvPr/>
        </p:nvSpPr>
        <p:spPr>
          <a:xfrm>
            <a:off x="728663" y="4641289"/>
            <a:ext cx="4380207"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OKD / OpenShift</a:t>
            </a:r>
            <a:endParaRPr lang="en-US" sz="996" dirty="0"/>
          </a:p>
        </p:txBody>
      </p:sp>
      <p:sp>
        <p:nvSpPr>
          <p:cNvPr id="37" name="Text 33"/>
          <p:cNvSpPr/>
          <p:nvPr/>
        </p:nvSpPr>
        <p:spPr>
          <a:xfrm>
            <a:off x="728663" y="4825240"/>
            <a:ext cx="4380207"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docs.okd.io/4.16/virt/vm_networking/virt-using-dpdk-with-sriov.html</a:t>
            </a:r>
            <a:endParaRPr lang="en-US" sz="942" dirty="0"/>
          </a:p>
        </p:txBody>
      </p:sp>
      <p:sp>
        <p:nvSpPr>
          <p:cNvPr id="38" name="Shape 34"/>
          <p:cNvSpPr/>
          <p:nvPr/>
        </p:nvSpPr>
        <p:spPr>
          <a:xfrm>
            <a:off x="457200" y="5103847"/>
            <a:ext cx="171450" cy="171450"/>
          </a:xfrm>
          <a:prstGeom prst="rect">
            <a:avLst/>
          </a:prstGeom>
          <a:solidFill>
            <a:srgbClr val="1A1A2E"/>
          </a:solidFill>
          <a:ln/>
        </p:spPr>
      </p:sp>
      <p:sp>
        <p:nvSpPr>
          <p:cNvPr id="39" name="Text 35"/>
          <p:cNvSpPr/>
          <p:nvPr/>
        </p:nvSpPr>
        <p:spPr>
          <a:xfrm>
            <a:off x="457200" y="5103847"/>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7</a:t>
            </a:r>
            <a:endParaRPr lang="en-US" sz="936" dirty="0"/>
          </a:p>
        </p:txBody>
      </p:sp>
      <p:sp>
        <p:nvSpPr>
          <p:cNvPr id="40" name="Text 36"/>
          <p:cNvSpPr/>
          <p:nvPr/>
        </p:nvSpPr>
        <p:spPr>
          <a:xfrm>
            <a:off x="728663" y="5096703"/>
            <a:ext cx="6405460"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DPDK vs SR-IOV for NFV: Why a Wrong Decision Can Impact Performance</a:t>
            </a:r>
            <a:endParaRPr lang="en-US" sz="911" dirty="0"/>
          </a:p>
        </p:txBody>
      </p:sp>
      <p:sp>
        <p:nvSpPr>
          <p:cNvPr id="41" name="Text 37"/>
          <p:cNvSpPr/>
          <p:nvPr/>
        </p:nvSpPr>
        <p:spPr>
          <a:xfrm>
            <a:off x="728663" y="5284226"/>
            <a:ext cx="6405460"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TelcoCloudBridge</a:t>
            </a:r>
            <a:endParaRPr lang="en-US" sz="996" dirty="0"/>
          </a:p>
        </p:txBody>
      </p:sp>
      <p:sp>
        <p:nvSpPr>
          <p:cNvPr id="42" name="Text 38"/>
          <p:cNvSpPr/>
          <p:nvPr/>
        </p:nvSpPr>
        <p:spPr>
          <a:xfrm>
            <a:off x="728663" y="5468178"/>
            <a:ext cx="6405460"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telcocloudbridge.com/blog/dpdk-vs-sr-iov-for-nfv-why-a-wrong-decision-can-impact-performance</a:t>
            </a:r>
            <a:endParaRPr lang="en-US" sz="942" dirty="0"/>
          </a:p>
        </p:txBody>
      </p:sp>
      <p:sp>
        <p:nvSpPr>
          <p:cNvPr id="43" name="Shape 39"/>
          <p:cNvSpPr/>
          <p:nvPr/>
        </p:nvSpPr>
        <p:spPr>
          <a:xfrm>
            <a:off x="457200" y="5746784"/>
            <a:ext cx="171450" cy="171450"/>
          </a:xfrm>
          <a:prstGeom prst="rect">
            <a:avLst/>
          </a:prstGeom>
          <a:solidFill>
            <a:srgbClr val="1A1A2E"/>
          </a:solidFill>
          <a:ln/>
        </p:spPr>
      </p:sp>
      <p:sp>
        <p:nvSpPr>
          <p:cNvPr id="44" name="Text 40"/>
          <p:cNvSpPr/>
          <p:nvPr/>
        </p:nvSpPr>
        <p:spPr>
          <a:xfrm>
            <a:off x="457200" y="5746784"/>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8</a:t>
            </a:r>
            <a:endParaRPr lang="en-US" sz="936" dirty="0"/>
          </a:p>
        </p:txBody>
      </p:sp>
      <p:sp>
        <p:nvSpPr>
          <p:cNvPr id="45" name="Text 41"/>
          <p:cNvSpPr/>
          <p:nvPr/>
        </p:nvSpPr>
        <p:spPr>
          <a:xfrm>
            <a:off x="728663" y="5739640"/>
            <a:ext cx="4690235"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An In-Depth Look at SR-IOV NIC Passthrough</a:t>
            </a:r>
            <a:endParaRPr lang="en-US" sz="911" dirty="0"/>
          </a:p>
        </p:txBody>
      </p:sp>
      <p:sp>
        <p:nvSpPr>
          <p:cNvPr id="46" name="Text 42"/>
          <p:cNvSpPr/>
          <p:nvPr/>
        </p:nvSpPr>
        <p:spPr>
          <a:xfrm>
            <a:off x="728663" y="5927164"/>
            <a:ext cx="4690235"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vswitchzero.com</a:t>
            </a:r>
            <a:endParaRPr lang="en-US" sz="996" dirty="0"/>
          </a:p>
        </p:txBody>
      </p:sp>
      <p:sp>
        <p:nvSpPr>
          <p:cNvPr id="47" name="Text 43"/>
          <p:cNvSpPr/>
          <p:nvPr/>
        </p:nvSpPr>
        <p:spPr>
          <a:xfrm>
            <a:off x="728663" y="6111115"/>
            <a:ext cx="4690235"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vswitchzero.com/2019/06/19/an-in-depth-look-at-sr-iov-nic-passthrough</a:t>
            </a:r>
            <a:endParaRPr lang="en-US" sz="942" dirty="0"/>
          </a:p>
        </p:txBody>
      </p:sp>
      <p:sp>
        <p:nvSpPr>
          <p:cNvPr id="48" name="Shape 44"/>
          <p:cNvSpPr/>
          <p:nvPr/>
        </p:nvSpPr>
        <p:spPr>
          <a:xfrm>
            <a:off x="457200" y="6389722"/>
            <a:ext cx="171450" cy="171450"/>
          </a:xfrm>
          <a:prstGeom prst="rect">
            <a:avLst/>
          </a:prstGeom>
          <a:solidFill>
            <a:srgbClr val="1A1A2E"/>
          </a:solidFill>
          <a:ln/>
        </p:spPr>
      </p:sp>
      <p:sp>
        <p:nvSpPr>
          <p:cNvPr id="49" name="Text 45"/>
          <p:cNvSpPr/>
          <p:nvPr/>
        </p:nvSpPr>
        <p:spPr>
          <a:xfrm>
            <a:off x="457200" y="6389722"/>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9</a:t>
            </a:r>
            <a:endParaRPr lang="en-US" sz="936" dirty="0"/>
          </a:p>
        </p:txBody>
      </p:sp>
      <p:sp>
        <p:nvSpPr>
          <p:cNvPr id="50" name="Text 46"/>
          <p:cNvSpPr/>
          <p:nvPr/>
        </p:nvSpPr>
        <p:spPr>
          <a:xfrm>
            <a:off x="728663" y="6382578"/>
            <a:ext cx="5882180"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Are VMDq and SR-IOV Performing the Same Function?</a:t>
            </a:r>
            <a:endParaRPr lang="en-US" sz="911" dirty="0"/>
          </a:p>
        </p:txBody>
      </p:sp>
      <p:sp>
        <p:nvSpPr>
          <p:cNvPr id="51" name="Text 47"/>
          <p:cNvSpPr/>
          <p:nvPr/>
        </p:nvSpPr>
        <p:spPr>
          <a:xfrm>
            <a:off x="728663" y="6570101"/>
            <a:ext cx="5882180"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ITPro Today</a:t>
            </a:r>
            <a:endParaRPr lang="en-US" sz="996" dirty="0"/>
          </a:p>
        </p:txBody>
      </p:sp>
      <p:sp>
        <p:nvSpPr>
          <p:cNvPr id="52" name="Text 48"/>
          <p:cNvSpPr/>
          <p:nvPr/>
        </p:nvSpPr>
        <p:spPr>
          <a:xfrm>
            <a:off x="728663" y="6754053"/>
            <a:ext cx="5882180"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itprotoday.com/server-virtualization/q-are-vmdq-and-sr-iov-performing-the-same-function</a:t>
            </a:r>
            <a:endParaRPr lang="en-US" sz="942" dirty="0"/>
          </a:p>
        </p:txBody>
      </p:sp>
      <p:sp>
        <p:nvSpPr>
          <p:cNvPr id="53" name="Shape 49"/>
          <p:cNvSpPr/>
          <p:nvPr/>
        </p:nvSpPr>
        <p:spPr>
          <a:xfrm>
            <a:off x="457200" y="7032659"/>
            <a:ext cx="171450" cy="171450"/>
          </a:xfrm>
          <a:prstGeom prst="rect">
            <a:avLst/>
          </a:prstGeom>
          <a:solidFill>
            <a:srgbClr val="1A1A2E"/>
          </a:solidFill>
          <a:ln/>
        </p:spPr>
      </p:sp>
      <p:sp>
        <p:nvSpPr>
          <p:cNvPr id="54" name="Text 50"/>
          <p:cNvSpPr/>
          <p:nvPr/>
        </p:nvSpPr>
        <p:spPr>
          <a:xfrm>
            <a:off x="457200" y="7032659"/>
            <a:ext cx="171450" cy="171450"/>
          </a:xfrm>
          <a:prstGeom prst="rect">
            <a:avLst/>
          </a:prstGeom>
          <a:noFill/>
          <a:ln/>
        </p:spPr>
        <p:txBody>
          <a:bodyPr wrap="none" lIns="0" tIns="0" rIns="0" bIns="0" rtlCol="0" anchor="ctr">
            <a:spAutoFit/>
          </a:bodyPr>
          <a:lstStyle/>
          <a:p>
            <a:pPr marL="0" indent="0" algn="ctr">
              <a:lnSpc>
                <a:spcPts val="1300"/>
              </a:lnSpc>
              <a:buNone/>
            </a:pPr>
            <a:r>
              <a:rPr lang="en-US" sz="936" b="1" dirty="0">
                <a:solidFill>
                  <a:srgbClr val="FFFFFF"/>
                </a:solidFill>
                <a:latin typeface="Space Grotesk" pitchFamily="34" charset="0"/>
                <a:ea typeface="Space Grotesk" pitchFamily="34" charset="-122"/>
                <a:cs typeface="Space Grotesk" pitchFamily="34" charset="-120"/>
              </a:rPr>
              <a:t>10</a:t>
            </a:r>
            <a:endParaRPr lang="en-US" sz="936" dirty="0"/>
          </a:p>
        </p:txBody>
      </p:sp>
      <p:sp>
        <p:nvSpPr>
          <p:cNvPr id="55" name="Text 51"/>
          <p:cNvSpPr/>
          <p:nvPr/>
        </p:nvSpPr>
        <p:spPr>
          <a:xfrm>
            <a:off x="728663" y="7025515"/>
            <a:ext cx="3893344" cy="180380"/>
          </a:xfrm>
          <a:prstGeom prst="rect">
            <a:avLst/>
          </a:prstGeom>
          <a:noFill/>
          <a:ln/>
        </p:spPr>
        <p:txBody>
          <a:bodyPr wrap="none" lIns="0" tIns="0" rIns="0" bIns="0" rtlCol="0" anchor="t">
            <a:spAutoFit/>
          </a:bodyPr>
          <a:lstStyle/>
          <a:p>
            <a:pPr marL="0" indent="0" algn="l">
              <a:lnSpc>
                <a:spcPts val="1200"/>
              </a:lnSpc>
              <a:buNone/>
            </a:pPr>
            <a:r>
              <a:rPr lang="en-US" sz="911" b="1" dirty="0">
                <a:solidFill>
                  <a:srgbClr val="1A1A2E"/>
                </a:solidFill>
                <a:latin typeface="Open Sans" pitchFamily="34" charset="0"/>
                <a:ea typeface="Open Sans" pitchFamily="34" charset="-122"/>
                <a:cs typeface="Open Sans" pitchFamily="34" charset="-120"/>
              </a:rPr>
              <a:t>What is DPDK? Data Plane Development Kit Explained</a:t>
            </a:r>
            <a:endParaRPr lang="en-US" sz="911" dirty="0"/>
          </a:p>
        </p:txBody>
      </p:sp>
      <p:sp>
        <p:nvSpPr>
          <p:cNvPr id="56" name="Text 52"/>
          <p:cNvSpPr/>
          <p:nvPr/>
        </p:nvSpPr>
        <p:spPr>
          <a:xfrm>
            <a:off x="728663" y="7213039"/>
            <a:ext cx="3893344" cy="183952"/>
          </a:xfrm>
          <a:prstGeom prst="rect">
            <a:avLst/>
          </a:prstGeom>
          <a:noFill/>
          <a:ln/>
        </p:spPr>
        <p:txBody>
          <a:bodyPr wrap="none" lIns="0" tIns="0" rIns="0" bIns="0" rtlCol="0" anchor="t">
            <a:spAutoFit/>
          </a:bodyPr>
          <a:lstStyle/>
          <a:p>
            <a:pPr marL="0" indent="0" algn="l">
              <a:lnSpc>
                <a:spcPts val="1300"/>
              </a:lnSpc>
              <a:buNone/>
            </a:pPr>
            <a:r>
              <a:rPr lang="en-US" sz="996" dirty="0">
                <a:solidFill>
                  <a:srgbClr val="6B6B8A"/>
                </a:solidFill>
                <a:latin typeface="Open Sans" pitchFamily="34" charset="0"/>
                <a:ea typeface="Open Sans" pitchFamily="34" charset="-122"/>
                <a:cs typeface="Open Sans" pitchFamily="34" charset="-120"/>
              </a:rPr>
              <a:t>Trenton Systems</a:t>
            </a:r>
            <a:endParaRPr lang="en-US" sz="996" dirty="0"/>
          </a:p>
        </p:txBody>
      </p:sp>
      <p:sp>
        <p:nvSpPr>
          <p:cNvPr id="57" name="Text 53"/>
          <p:cNvSpPr/>
          <p:nvPr/>
        </p:nvSpPr>
        <p:spPr>
          <a:xfrm>
            <a:off x="728663" y="7396990"/>
            <a:ext cx="3893344" cy="164306"/>
          </a:xfrm>
          <a:prstGeom prst="rect">
            <a:avLst/>
          </a:prstGeom>
          <a:noFill/>
          <a:ln/>
        </p:spPr>
        <p:txBody>
          <a:bodyPr wrap="none" lIns="0" tIns="0" rIns="0" bIns="0" rtlCol="0" anchor="t">
            <a:spAutoFit/>
          </a:bodyPr>
          <a:lstStyle/>
          <a:p>
            <a:pPr marL="0" indent="0" algn="l">
              <a:lnSpc>
                <a:spcPts val="1200"/>
              </a:lnSpc>
              <a:buNone/>
            </a:pPr>
            <a:r>
              <a:rPr lang="en-US" sz="942" dirty="0">
                <a:solidFill>
                  <a:srgbClr val="003087"/>
                </a:solidFill>
                <a:latin typeface="Space Grotesk" pitchFamily="34" charset="0"/>
                <a:ea typeface="Space Grotesk" pitchFamily="34" charset="-122"/>
                <a:cs typeface="Space Grotesk" pitchFamily="34" charset="-120"/>
              </a:rPr>
              <a:t>trentonsystems.com/en-us/resource-hub/blog/what-is-dpdk</a:t>
            </a:r>
            <a:endParaRPr lang="en-US" sz="942" dirty="0"/>
          </a:p>
        </p:txBody>
      </p:sp>
      <p:sp>
        <p:nvSpPr>
          <p:cNvPr id="58" name="Text 54"/>
          <p:cNvSpPr/>
          <p:nvPr/>
        </p:nvSpPr>
        <p:spPr>
          <a:xfrm>
            <a:off x="7798854" y="1017622"/>
            <a:ext cx="2143125"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FEATURED SOURCE</a:t>
            </a:r>
            <a:endParaRPr lang="en-US" sz="942" dirty="0"/>
          </a:p>
        </p:txBody>
      </p:sp>
      <p:pic>
        <p:nvPicPr>
          <p:cNvPr id="59" name="Image 1" descr="preencoded.png"/>
          <p:cNvPicPr>
            <a:picLocks noChangeAspect="1"/>
          </p:cNvPicPr>
          <p:nvPr/>
        </p:nvPicPr>
        <p:blipFill>
          <a:blip r:embed="rId4"/>
          <a:stretch>
            <a:fillRect/>
          </a:stretch>
        </p:blipFill>
        <p:spPr>
          <a:xfrm>
            <a:off x="7798854" y="1281940"/>
            <a:ext cx="2143125" cy="1571625"/>
          </a:xfrm>
          <a:prstGeom prst="rect">
            <a:avLst/>
          </a:prstGeom>
        </p:spPr>
      </p:pic>
      <p:sp>
        <p:nvSpPr>
          <p:cNvPr id="60" name="Text 55"/>
          <p:cNvSpPr/>
          <p:nvPr/>
        </p:nvSpPr>
        <p:spPr>
          <a:xfrm>
            <a:off x="7798854" y="2982153"/>
            <a:ext cx="2143125"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1A1A2E"/>
                </a:solidFill>
                <a:latin typeface="Open Sans" pitchFamily="34" charset="0"/>
                <a:ea typeface="Open Sans" pitchFamily="34" charset="-122"/>
                <a:cs typeface="Open Sans" pitchFamily="34" charset="-120"/>
              </a:rPr>
              <a:t>Intel VT-c Technology Brief</a:t>
            </a:r>
            <a:endParaRPr lang="en-US" sz="885" dirty="0"/>
          </a:p>
        </p:txBody>
      </p:sp>
      <p:sp>
        <p:nvSpPr>
          <p:cNvPr id="61" name="Text 56"/>
          <p:cNvSpPr/>
          <p:nvPr/>
        </p:nvSpPr>
        <p:spPr>
          <a:xfrm>
            <a:off x="7798854" y="3285762"/>
            <a:ext cx="2143125" cy="1017984"/>
          </a:xfrm>
          <a:prstGeom prst="rect">
            <a:avLst/>
          </a:prstGeom>
          <a:noFill/>
          <a:ln/>
        </p:spPr>
        <p:txBody>
          <a:bodyPr wrap="square" lIns="0" tIns="0" rIns="0" bIns="0" rtlCol="0" anchor="t">
            <a:spAutoFit/>
          </a:bodyPr>
          <a:lstStyle/>
          <a:p>
            <a:pPr marL="0" indent="0" algn="l">
              <a:lnSpc>
                <a:spcPts val="1600"/>
              </a:lnSpc>
              <a:buNone/>
            </a:pPr>
            <a:r>
              <a:rPr lang="en-US" sz="996" dirty="0">
                <a:solidFill>
                  <a:srgbClr val="6B6B8A"/>
                </a:solidFill>
                <a:latin typeface="Open Sans" pitchFamily="34" charset="0"/>
                <a:ea typeface="Open Sans" pitchFamily="34" charset="-122"/>
                <a:cs typeface="Open Sans" pitchFamily="34" charset="-120"/>
              </a:rPr>
              <a:t>Virtualization Technology for Connectivity — Intel's foundational document covering VMDq and SR-IOV hardware architecture, referenced as Source 3 above.</a:t>
            </a:r>
            <a:endParaRPr lang="en-US" sz="996" dirty="0"/>
          </a:p>
        </p:txBody>
      </p:sp>
      <p:sp>
        <p:nvSpPr>
          <p:cNvPr id="62" name="Shape 57"/>
          <p:cNvSpPr/>
          <p:nvPr/>
        </p:nvSpPr>
        <p:spPr>
          <a:xfrm>
            <a:off x="7798854" y="4982459"/>
            <a:ext cx="2143125" cy="2635988"/>
          </a:xfrm>
          <a:prstGeom prst="rect">
            <a:avLst/>
          </a:prstGeom>
          <a:solidFill>
            <a:srgbClr val="F7F8FC"/>
          </a:solidFill>
          <a:ln/>
        </p:spPr>
      </p:sp>
      <p:sp>
        <p:nvSpPr>
          <p:cNvPr id="63" name="Text 58"/>
          <p:cNvSpPr/>
          <p:nvPr/>
        </p:nvSpPr>
        <p:spPr>
          <a:xfrm>
            <a:off x="7913154" y="5082471"/>
            <a:ext cx="1914525" cy="164306"/>
          </a:xfrm>
          <a:prstGeom prst="rect">
            <a:avLst/>
          </a:prstGeom>
          <a:noFill/>
          <a:ln/>
        </p:spPr>
        <p:txBody>
          <a:bodyPr wrap="none" lIns="0" tIns="0" rIns="0" bIns="0" rtlCol="0" anchor="t">
            <a:spAutoFit/>
          </a:bodyPr>
          <a:lstStyle/>
          <a:p>
            <a:pPr marL="0" indent="0" algn="l">
              <a:lnSpc>
                <a:spcPts val="1200"/>
              </a:lnSpc>
              <a:buNone/>
            </a:pPr>
            <a:r>
              <a:rPr lang="en-US" sz="942" kern="0" spc="2" dirty="0">
                <a:solidFill>
                  <a:srgbClr val="9090A8"/>
                </a:solidFill>
                <a:latin typeface="Space Grotesk" pitchFamily="34" charset="0"/>
                <a:ea typeface="Space Grotesk" pitchFamily="34" charset="-122"/>
                <a:cs typeface="Space Grotesk" pitchFamily="34" charset="-120"/>
              </a:rPr>
              <a:t>DISCLOSURE</a:t>
            </a:r>
            <a:endParaRPr lang="en-US" sz="942" dirty="0"/>
          </a:p>
        </p:txBody>
      </p:sp>
      <p:sp>
        <p:nvSpPr>
          <p:cNvPr id="64" name="Text 59"/>
          <p:cNvSpPr/>
          <p:nvPr/>
        </p:nvSpPr>
        <p:spPr>
          <a:xfrm>
            <a:off x="7913154" y="5289640"/>
            <a:ext cx="1914525" cy="2228794"/>
          </a:xfrm>
          <a:prstGeom prst="rect">
            <a:avLst/>
          </a:prstGeom>
          <a:noFill/>
          <a:ln/>
        </p:spPr>
        <p:txBody>
          <a:bodyPr wrap="square" lIns="0" tIns="0" rIns="0" bIns="0" rtlCol="0" anchor="t">
            <a:spAutoFit/>
          </a:bodyPr>
          <a:lstStyle/>
          <a:p>
            <a:pPr marL="0" indent="0" algn="l">
              <a:lnSpc>
                <a:spcPts val="1800"/>
              </a:lnSpc>
              <a:buNone/>
            </a:pPr>
            <a:r>
              <a:rPr lang="en-US" sz="1023" dirty="0">
                <a:solidFill>
                  <a:srgbClr val="4A4A6A"/>
                </a:solidFill>
                <a:latin typeface="Open Sans" pitchFamily="34" charset="0"/>
                <a:ea typeface="Open Sans" pitchFamily="34" charset="-122"/>
                <a:cs typeface="Open Sans" pitchFamily="34" charset="-120"/>
              </a:rPr>
              <a:t>All technical claims in this presentation are grounded in the primary sources listed. Performance figures are representative ranges drawn from vendor documentation and published benchmarks; actual results vary by hardware, workload, and configuration.</a:t>
            </a:r>
            <a:endParaRPr lang="en-US" sz="1023" dirty="0"/>
          </a:p>
        </p:txBody>
      </p:sp>
      <p:sp>
        <p:nvSpPr>
          <p:cNvPr id="65" name="Shape 60"/>
          <p:cNvSpPr/>
          <p:nvPr/>
        </p:nvSpPr>
        <p:spPr>
          <a:xfrm>
            <a:off x="0" y="7618447"/>
            <a:ext cx="9144000" cy="257175"/>
          </a:xfrm>
          <a:prstGeom prst="rect">
            <a:avLst/>
          </a:prstGeom>
          <a:solidFill>
            <a:srgbClr val="000000">
              <a:alpha val="0"/>
            </a:srgbClr>
          </a:solidFill>
          <a:ln/>
        </p:spPr>
      </p:sp>
      <p:sp>
        <p:nvSpPr>
          <p:cNvPr id="66" name="Shape 61"/>
          <p:cNvSpPr/>
          <p:nvPr/>
        </p:nvSpPr>
        <p:spPr>
          <a:xfrm>
            <a:off x="0" y="7618447"/>
            <a:ext cx="9144000" cy="7144"/>
          </a:xfrm>
          <a:prstGeom prst="rect">
            <a:avLst/>
          </a:prstGeom>
          <a:solidFill>
            <a:srgbClr val="EBEBF0"/>
          </a:solidFill>
          <a:ln/>
        </p:spPr>
      </p:sp>
      <p:sp>
        <p:nvSpPr>
          <p:cNvPr id="67" name="Text 62"/>
          <p:cNvSpPr/>
          <p:nvPr/>
        </p:nvSpPr>
        <p:spPr>
          <a:xfrm>
            <a:off x="457200" y="7660416"/>
            <a:ext cx="2844998" cy="173236"/>
          </a:xfrm>
          <a:prstGeom prst="rect">
            <a:avLst/>
          </a:prstGeom>
          <a:noFill/>
          <a:ln/>
        </p:spPr>
        <p:txBody>
          <a:bodyPr wrap="none" lIns="0" tIns="0" rIns="0" bIns="0" rtlCol="0" anchor="t">
            <a:spAutoFit/>
          </a:bodyPr>
          <a:lstStyle/>
          <a:p>
            <a:pPr marL="0" indent="0" algn="l">
              <a:lnSpc>
                <a:spcPts val="1300"/>
              </a:lnSpc>
              <a:buNone/>
            </a:pPr>
            <a:r>
              <a:rPr lang="en-US" sz="996" kern="0" spc="1" dirty="0">
                <a:solidFill>
                  <a:srgbClr val="9090A8"/>
                </a:solidFill>
                <a:latin typeface="Space Grotesk" pitchFamily="34" charset="0"/>
                <a:ea typeface="Space Grotesk" pitchFamily="34" charset="-122"/>
                <a:cs typeface="Space Grotesk" pitchFamily="34" charset="-120"/>
              </a:rPr>
              <a:t>Network I/O Virtualization Technologies</a:t>
            </a:r>
            <a:endParaRPr lang="en-US" sz="996" dirty="0"/>
          </a:p>
        </p:txBody>
      </p:sp>
      <p:sp>
        <p:nvSpPr>
          <p:cNvPr id="68" name="Text 63"/>
          <p:cNvSpPr/>
          <p:nvPr/>
        </p:nvSpPr>
        <p:spPr>
          <a:xfrm>
            <a:off x="8286750" y="7660416"/>
            <a:ext cx="400050" cy="173236"/>
          </a:xfrm>
          <a:prstGeom prst="rect">
            <a:avLst/>
          </a:prstGeom>
          <a:noFill/>
          <a:ln/>
        </p:spPr>
        <p:txBody>
          <a:bodyPr wrap="none" lIns="0" tIns="0" rIns="0" bIns="0" rtlCol="0" anchor="t">
            <a:spAutoFit/>
          </a:bodyPr>
          <a:lstStyle/>
          <a:p>
            <a:pPr marL="0" indent="0" algn="l">
              <a:lnSpc>
                <a:spcPts val="1300"/>
              </a:lnSpc>
              <a:buNone/>
            </a:pPr>
            <a:r>
              <a:rPr lang="en-US" sz="996" dirty="0">
                <a:solidFill>
                  <a:srgbClr val="9090A8"/>
                </a:solidFill>
                <a:latin typeface="Space Grotesk" pitchFamily="34" charset="0"/>
                <a:ea typeface="Space Grotesk" pitchFamily="34" charset="-122"/>
                <a:cs typeface="Space Grotesk" pitchFamily="34" charset="-120"/>
              </a:rPr>
              <a:t>15 / 15</a:t>
            </a:r>
            <a:endParaRPr lang="en-US" sz="99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10089</Words>
  <Application>Microsoft Office PowerPoint</Application>
  <PresentationFormat>On-screen Show (16:9)</PresentationFormat>
  <Paragraphs>672</Paragraphs>
  <Slides>30</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Open Sans</vt:lpstr>
      <vt:lpstr>Playfair Display</vt:lpstr>
      <vt:lpstr>Space Grotesk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Plane Development Kit (DPDK)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Kingsley, Scott</cp:lastModifiedBy>
  <cp:revision>3</cp:revision>
  <cp:lastPrinted>2026-02-25T22:14:52Z</cp:lastPrinted>
  <dcterms:created xsi:type="dcterms:W3CDTF">2026-02-25T20:15:29Z</dcterms:created>
  <dcterms:modified xsi:type="dcterms:W3CDTF">2026-02-25T23:32:53Z</dcterms:modified>
</cp:coreProperties>
</file>