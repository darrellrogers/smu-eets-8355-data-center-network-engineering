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2"/>
  </p:notesMasterIdLst>
  <p:handoutMasterIdLst>
    <p:handoutMasterId r:id="rId33"/>
  </p:handoutMasterIdLst>
  <p:sldIdLst>
    <p:sldId id="258" r:id="rId2"/>
    <p:sldId id="470" r:id="rId3"/>
    <p:sldId id="472" r:id="rId4"/>
    <p:sldId id="548" r:id="rId5"/>
    <p:sldId id="475" r:id="rId6"/>
    <p:sldId id="564" r:id="rId7"/>
    <p:sldId id="552" r:id="rId8"/>
    <p:sldId id="553" r:id="rId9"/>
    <p:sldId id="554" r:id="rId10"/>
    <p:sldId id="555" r:id="rId11"/>
    <p:sldId id="556" r:id="rId12"/>
    <p:sldId id="557" r:id="rId13"/>
    <p:sldId id="559" r:id="rId14"/>
    <p:sldId id="560" r:id="rId15"/>
    <p:sldId id="562" r:id="rId16"/>
    <p:sldId id="563" r:id="rId17"/>
    <p:sldId id="575" r:id="rId18"/>
    <p:sldId id="577" r:id="rId19"/>
    <p:sldId id="576" r:id="rId20"/>
    <p:sldId id="578" r:id="rId21"/>
    <p:sldId id="565" r:id="rId22"/>
    <p:sldId id="566" r:id="rId23"/>
    <p:sldId id="567" r:id="rId24"/>
    <p:sldId id="568" r:id="rId25"/>
    <p:sldId id="569" r:id="rId26"/>
    <p:sldId id="570" r:id="rId27"/>
    <p:sldId id="571" r:id="rId28"/>
    <p:sldId id="572" r:id="rId29"/>
    <p:sldId id="573" r:id="rId30"/>
    <p:sldId id="574" r:id="rId31"/>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A6A"/>
    <a:srgbClr val="16DE0C"/>
    <a:srgbClr val="FFFF00"/>
    <a:srgbClr val="1F09BF"/>
    <a:srgbClr val="FBFBFB"/>
    <a:srgbClr val="2A3A68"/>
    <a:srgbClr val="FFFFFF"/>
    <a:srgbClr val="FFFFCC"/>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39" autoAdjust="0"/>
    <p:restoredTop sz="86834" autoAdjust="0"/>
  </p:normalViewPr>
  <p:slideViewPr>
    <p:cSldViewPr>
      <p:cViewPr varScale="1">
        <p:scale>
          <a:sx n="76" d="100"/>
          <a:sy n="76" d="100"/>
        </p:scale>
        <p:origin x="1781" y="53"/>
      </p:cViewPr>
      <p:guideLst>
        <p:guide orient="horz" pos="2160"/>
        <p:guide orient="horz" pos="4004"/>
        <p:guide orient="horz" pos="4136"/>
        <p:guide pos="2880"/>
        <p:guide pos="144"/>
        <p:guide pos="55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190"/>
    </p:cViewPr>
  </p:sorterViewPr>
  <p:notesViewPr>
    <p:cSldViewPr>
      <p:cViewPr varScale="1">
        <p:scale>
          <a:sx n="120" d="100"/>
          <a:sy n="120" d="100"/>
        </p:scale>
        <p:origin x="-1472"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dirty="0"/>
          </a:p>
        </p:txBody>
      </p:sp>
      <p:sp>
        <p:nvSpPr>
          <p:cNvPr id="8909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dirty="0"/>
          </a:p>
        </p:txBody>
      </p:sp>
      <p:sp>
        <p:nvSpPr>
          <p:cNvPr id="8909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dirty="0"/>
          </a:p>
        </p:txBody>
      </p:sp>
      <p:sp>
        <p:nvSpPr>
          <p:cNvPr id="8909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8B8FAEF-4EC0-46B6-842C-DD1E8A8FDD9A}" type="slidenum">
              <a:rPr lang="en-US"/>
              <a:pPr/>
              <a:t>‹#›</a:t>
            </a:fld>
            <a:endParaRPr lang="en-US" dirty="0"/>
          </a:p>
        </p:txBody>
      </p:sp>
    </p:spTree>
    <p:extLst>
      <p:ext uri="{BB962C8B-B14F-4D97-AF65-F5344CB8AC3E}">
        <p14:creationId xmlns:p14="http://schemas.microsoft.com/office/powerpoint/2010/main" val="2101383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vl1pPr>
          </a:lstStyle>
          <a:p>
            <a:endParaRPr lang="en-US" dirty="0"/>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dirty="0"/>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vl1pPr>
          </a:lstStyle>
          <a:p>
            <a:endParaRPr lang="en-US" dirty="0"/>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461950BF-5E6A-4CD6-97CF-B82A16459836}" type="slidenum">
              <a:rPr lang="en-US"/>
              <a:pPr/>
              <a:t>‹#›</a:t>
            </a:fld>
            <a:endParaRPr lang="en-US" dirty="0"/>
          </a:p>
        </p:txBody>
      </p:sp>
    </p:spTree>
    <p:extLst>
      <p:ext uri="{BB962C8B-B14F-4D97-AF65-F5344CB8AC3E}">
        <p14:creationId xmlns:p14="http://schemas.microsoft.com/office/powerpoint/2010/main" val="2922707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0</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a:t>
            </a:fld>
            <a:endParaRPr lang="en-US" dirty="0"/>
          </a:p>
        </p:txBody>
      </p:sp>
    </p:spTree>
    <p:extLst>
      <p:ext uri="{BB962C8B-B14F-4D97-AF65-F5344CB8AC3E}">
        <p14:creationId xmlns:p14="http://schemas.microsoft.com/office/powerpoint/2010/main" val="2292648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5</a:t>
            </a:fld>
            <a:endParaRPr lang="en-US" dirty="0"/>
          </a:p>
        </p:txBody>
      </p:sp>
    </p:spTree>
    <p:extLst>
      <p:ext uri="{BB962C8B-B14F-4D97-AF65-F5344CB8AC3E}">
        <p14:creationId xmlns:p14="http://schemas.microsoft.com/office/powerpoint/2010/main" val="236777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6</a:t>
            </a:fld>
            <a:endParaRPr lang="en-US" dirty="0"/>
          </a:p>
        </p:txBody>
      </p:sp>
    </p:spTree>
    <p:extLst>
      <p:ext uri="{BB962C8B-B14F-4D97-AF65-F5344CB8AC3E}">
        <p14:creationId xmlns:p14="http://schemas.microsoft.com/office/powerpoint/2010/main" val="3446063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7</a:t>
            </a:fld>
            <a:endParaRPr lang="en-US" dirty="0"/>
          </a:p>
        </p:txBody>
      </p:sp>
    </p:spTree>
    <p:extLst>
      <p:ext uri="{BB962C8B-B14F-4D97-AF65-F5344CB8AC3E}">
        <p14:creationId xmlns:p14="http://schemas.microsoft.com/office/powerpoint/2010/main" val="348217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8</a:t>
            </a:fld>
            <a:endParaRPr lang="en-US" dirty="0"/>
          </a:p>
        </p:txBody>
      </p:sp>
    </p:spTree>
    <p:extLst>
      <p:ext uri="{BB962C8B-B14F-4D97-AF65-F5344CB8AC3E}">
        <p14:creationId xmlns:p14="http://schemas.microsoft.com/office/powerpoint/2010/main" val="832053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9</a:t>
            </a:fld>
            <a:endParaRPr lang="en-US" dirty="0"/>
          </a:p>
        </p:txBody>
      </p:sp>
    </p:spTree>
    <p:extLst>
      <p:ext uri="{BB962C8B-B14F-4D97-AF65-F5344CB8AC3E}">
        <p14:creationId xmlns:p14="http://schemas.microsoft.com/office/powerpoint/2010/main" val="2355901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10</a:t>
            </a:fld>
            <a:endParaRPr lang="en-US" dirty="0"/>
          </a:p>
        </p:txBody>
      </p:sp>
    </p:spTree>
    <p:extLst>
      <p:ext uri="{BB962C8B-B14F-4D97-AF65-F5344CB8AC3E}">
        <p14:creationId xmlns:p14="http://schemas.microsoft.com/office/powerpoint/2010/main" val="3449531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11</a:t>
            </a:fld>
            <a:endParaRPr lang="en-US" dirty="0"/>
          </a:p>
        </p:txBody>
      </p:sp>
    </p:spTree>
    <p:extLst>
      <p:ext uri="{BB962C8B-B14F-4D97-AF65-F5344CB8AC3E}">
        <p14:creationId xmlns:p14="http://schemas.microsoft.com/office/powerpoint/2010/main" val="291335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12</a:t>
            </a:fld>
            <a:endParaRPr lang="en-US" dirty="0"/>
          </a:p>
        </p:txBody>
      </p:sp>
    </p:spTree>
    <p:extLst>
      <p:ext uri="{BB962C8B-B14F-4D97-AF65-F5344CB8AC3E}">
        <p14:creationId xmlns:p14="http://schemas.microsoft.com/office/powerpoint/2010/main" val="2269418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13</a:t>
            </a:fld>
            <a:endParaRPr lang="en-US" dirty="0"/>
          </a:p>
        </p:txBody>
      </p:sp>
    </p:spTree>
    <p:extLst>
      <p:ext uri="{BB962C8B-B14F-4D97-AF65-F5344CB8AC3E}">
        <p14:creationId xmlns:p14="http://schemas.microsoft.com/office/powerpoint/2010/main" val="3143594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14</a:t>
            </a:fld>
            <a:endParaRPr lang="en-US" dirty="0"/>
          </a:p>
        </p:txBody>
      </p:sp>
    </p:spTree>
    <p:extLst>
      <p:ext uri="{BB962C8B-B14F-4D97-AF65-F5344CB8AC3E}">
        <p14:creationId xmlns:p14="http://schemas.microsoft.com/office/powerpoint/2010/main" val="3148415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15</a:t>
            </a:fld>
            <a:endParaRPr lang="en-US" dirty="0"/>
          </a:p>
        </p:txBody>
      </p:sp>
    </p:spTree>
    <p:extLst>
      <p:ext uri="{BB962C8B-B14F-4D97-AF65-F5344CB8AC3E}">
        <p14:creationId xmlns:p14="http://schemas.microsoft.com/office/powerpoint/2010/main" val="2178025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20</a:t>
            </a:fld>
            <a:endParaRPr lang="en-US" dirty="0"/>
          </a:p>
        </p:txBody>
      </p:sp>
    </p:spTree>
    <p:extLst>
      <p:ext uri="{BB962C8B-B14F-4D97-AF65-F5344CB8AC3E}">
        <p14:creationId xmlns:p14="http://schemas.microsoft.com/office/powerpoint/2010/main" val="1590483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21</a:t>
            </a:fld>
            <a:endParaRPr lang="en-US" dirty="0"/>
          </a:p>
        </p:txBody>
      </p:sp>
    </p:spTree>
    <p:extLst>
      <p:ext uri="{BB962C8B-B14F-4D97-AF65-F5344CB8AC3E}">
        <p14:creationId xmlns:p14="http://schemas.microsoft.com/office/powerpoint/2010/main" val="2612125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22</a:t>
            </a:fld>
            <a:endParaRPr lang="en-US" dirty="0"/>
          </a:p>
        </p:txBody>
      </p:sp>
    </p:spTree>
    <p:extLst>
      <p:ext uri="{BB962C8B-B14F-4D97-AF65-F5344CB8AC3E}">
        <p14:creationId xmlns:p14="http://schemas.microsoft.com/office/powerpoint/2010/main" val="2006432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23</a:t>
            </a:fld>
            <a:endParaRPr lang="en-US" dirty="0"/>
          </a:p>
        </p:txBody>
      </p:sp>
    </p:spTree>
    <p:extLst>
      <p:ext uri="{BB962C8B-B14F-4D97-AF65-F5344CB8AC3E}">
        <p14:creationId xmlns:p14="http://schemas.microsoft.com/office/powerpoint/2010/main" val="4142957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24</a:t>
            </a:fld>
            <a:endParaRPr lang="en-US" dirty="0"/>
          </a:p>
        </p:txBody>
      </p:sp>
    </p:spTree>
    <p:extLst>
      <p:ext uri="{BB962C8B-B14F-4D97-AF65-F5344CB8AC3E}">
        <p14:creationId xmlns:p14="http://schemas.microsoft.com/office/powerpoint/2010/main" val="2661425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25</a:t>
            </a:fld>
            <a:endParaRPr lang="en-US" dirty="0"/>
          </a:p>
        </p:txBody>
      </p:sp>
    </p:spTree>
    <p:extLst>
      <p:ext uri="{BB962C8B-B14F-4D97-AF65-F5344CB8AC3E}">
        <p14:creationId xmlns:p14="http://schemas.microsoft.com/office/powerpoint/2010/main" val="3193019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26</a:t>
            </a:fld>
            <a:endParaRPr lang="en-US" dirty="0"/>
          </a:p>
        </p:txBody>
      </p:sp>
    </p:spTree>
    <p:extLst>
      <p:ext uri="{BB962C8B-B14F-4D97-AF65-F5344CB8AC3E}">
        <p14:creationId xmlns:p14="http://schemas.microsoft.com/office/powerpoint/2010/main" val="696308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27</a:t>
            </a:fld>
            <a:endParaRPr lang="en-US" dirty="0"/>
          </a:p>
        </p:txBody>
      </p:sp>
    </p:spTree>
    <p:extLst>
      <p:ext uri="{BB962C8B-B14F-4D97-AF65-F5344CB8AC3E}">
        <p14:creationId xmlns:p14="http://schemas.microsoft.com/office/powerpoint/2010/main" val="108492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28</a:t>
            </a:fld>
            <a:endParaRPr lang="en-US" dirty="0"/>
          </a:p>
        </p:txBody>
      </p:sp>
    </p:spTree>
    <p:extLst>
      <p:ext uri="{BB962C8B-B14F-4D97-AF65-F5344CB8AC3E}">
        <p14:creationId xmlns:p14="http://schemas.microsoft.com/office/powerpoint/2010/main" val="3500912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29</a:t>
            </a:fld>
            <a:endParaRPr lang="en-US" dirty="0"/>
          </a:p>
        </p:txBody>
      </p:sp>
    </p:spTree>
    <p:extLst>
      <p:ext uri="{BB962C8B-B14F-4D97-AF65-F5344CB8AC3E}">
        <p14:creationId xmlns:p14="http://schemas.microsoft.com/office/powerpoint/2010/main" val="34122965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204" name="Picture 36" descr="stmntpg_bkgrd2"/>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1C0FA7A3-0FBF-4EC3-BE45-825983E95E58}"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340D0772-A24E-4F60-87C6-1B8FABEC81BE}" type="slidenum">
              <a:rPr lang="en-US"/>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smtClean="0"/>
              <a:t>Click to edit Master title style</a:t>
            </a:r>
            <a:endParaRPr lang="en-US" dirty="0"/>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30D1CA97-B344-4217-90AD-1773C9A60CA6}"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fld id="{AA73854A-5C14-47C3-B598-1F673C68FB47}"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smtClean="0"/>
              <a:t>Click to edit Master title style</a:t>
            </a:r>
            <a:endParaRPr lang="en-US" dirty="0"/>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fld id="{CDC70ED7-27EA-4514-903C-D4A37184F7C2}"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fld id="{8361A7F4-E54E-4223-9BAA-A5DFCE9EB1E4}"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C9188CC7-1F86-4711-BAA0-C20CBBAA9A13}" type="slidenum">
              <a:rPr lang="en-US"/>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fld id="{A23425AD-99C3-4D67-BAAA-9EF149E2BC6E}"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1CAF9A4D-BF2E-454A-8E48-0BE3BF83C625}" type="slidenum">
              <a:rPr lang="en-US"/>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78D09FAD-2610-4BCF-8A6E-D3BAB9283AB4}"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0518207C-D3B4-4E49-8C59-E267A7D5C2C0}" type="slidenum">
              <a:rPr lang="en-US" smtClean="0"/>
              <a:pPr/>
              <a:t>‹#›</a:t>
            </a:fld>
            <a:endParaRPr lang="en-US" dirty="0"/>
          </a:p>
        </p:txBody>
      </p:sp>
      <p:pic>
        <p:nvPicPr>
          <p:cNvPr id="4" name="Picture 21" descr="textpg_bkgrd2b2"/>
          <p:cNvPicPr>
            <a:picLocks noChangeAspect="1" noChangeArrowheads="1"/>
          </p:cNvPicPr>
          <p:nvPr userDrawn="1"/>
        </p:nvPicPr>
        <p:blipFill>
          <a:blip r:embed="rId2" cstate="print"/>
          <a:srcRect r="8560" b="8560"/>
          <a:stretch>
            <a:fillRect/>
          </a:stretch>
        </p:blipFill>
        <p:spPr bwMode="auto">
          <a:xfrm>
            <a:off x="0" y="0"/>
            <a:ext cx="9144000" cy="6858000"/>
          </a:xfrm>
          <a:prstGeom prst="rect">
            <a:avLst/>
          </a:prstGeom>
          <a:noFill/>
        </p:spPr>
      </p:pic>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a:defRPr sz="1000" b="0">
                <a:solidFill>
                  <a:schemeClr val="tx2"/>
                </a:solidFill>
              </a:defRPr>
            </a:lvl1pPr>
          </a:lstStyle>
          <a:p>
            <a:fld id="{0518207C-D3B4-4E49-8C59-E267A7D5C2C0}" type="slidenum">
              <a:rPr lang="en-US"/>
              <a:pPr/>
              <a:t>‹#›</a:t>
            </a:fld>
            <a:endParaRPr lang="en-US" dirty="0"/>
          </a:p>
        </p:txBody>
      </p:sp>
      <p:pic>
        <p:nvPicPr>
          <p:cNvPr id="1045" name="Picture 21" descr="textpg_bkgrd2b2"/>
          <p:cNvPicPr>
            <a:picLocks noChangeAspect="1" noChangeArrowheads="1"/>
          </p:cNvPicPr>
          <p:nvPr/>
        </p:nvPicPr>
        <p:blipFill>
          <a:blip r:embed="rId14" cstate="print"/>
          <a:srcRect r="5512" b="5512"/>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smtClean="0"/>
              <a:t>Click to edit Master title style</a:t>
            </a:r>
          </a:p>
        </p:txBody>
      </p:sp>
      <p:sp>
        <p:nvSpPr>
          <p:cNvPr id="1027" name="Rectangle 3"/>
          <p:cNvSpPr>
            <a:spLocks noGrp="1" noChangeArrowheads="1"/>
          </p:cNvSpPr>
          <p:nvPr>
            <p:ph type="body" idx="1"/>
          </p:nvPr>
        </p:nvSpPr>
        <p:spPr bwMode="auto">
          <a:xfrm>
            <a:off x="228600" y="838200"/>
            <a:ext cx="8686800" cy="5029200"/>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99" name="Rectangle 75"/>
          <p:cNvSpPr>
            <a:spLocks noChangeArrowheads="1"/>
          </p:cNvSpPr>
          <p:nvPr/>
        </p:nvSpPr>
        <p:spPr bwMode="auto">
          <a:xfrm>
            <a:off x="0" y="6248400"/>
            <a:ext cx="9144000" cy="609600"/>
          </a:xfrm>
          <a:prstGeom prst="rect">
            <a:avLst/>
          </a:prstGeom>
          <a:solidFill>
            <a:schemeClr val="bg1"/>
          </a:solidFill>
          <a:ln w="9525">
            <a:noFill/>
            <a:miter lim="800000"/>
            <a:headEnd/>
            <a:tailEnd/>
          </a:ln>
          <a:effectLst/>
        </p:spPr>
        <p:txBody>
          <a:bodyPr wrap="none" anchor="ctr"/>
          <a:lstStyle/>
          <a:p>
            <a:endParaRPr lang="en-US" dirty="0"/>
          </a:p>
        </p:txBody>
      </p:sp>
      <p:pic>
        <p:nvPicPr>
          <p:cNvPr id="1098" name="Picture 74"/>
          <p:cNvPicPr>
            <a:picLocks noChangeAspect="1" noChangeArrowheads="1"/>
          </p:cNvPicPr>
          <p:nvPr/>
        </p:nvPicPr>
        <p:blipFill>
          <a:blip r:embed="rId15" cstate="print"/>
          <a:stretch>
            <a:fillRect/>
          </a:stretch>
        </p:blipFill>
        <p:spPr bwMode="auto">
          <a:xfrm>
            <a:off x="127000" y="6324600"/>
            <a:ext cx="2971800" cy="460200"/>
          </a:xfrm>
          <a:prstGeom prst="rect">
            <a:avLst/>
          </a:prstGeom>
          <a:solidFill>
            <a:srgbClr val="FFFFFF">
              <a:shade val="85000"/>
            </a:srgbClr>
          </a:solidFill>
          <a:ln w="88900" cap="sq">
            <a:noFill/>
            <a:miter lim="800000"/>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iming>
    <p:tnLst>
      <p:par>
        <p:cTn id="1" dur="indefinite" restart="never" nodeType="tmRoot"/>
      </p:par>
    </p:tnLst>
  </p:timing>
  <p:hf hdr="0" ftr="0" dt="0"/>
  <p:txStyles>
    <p:titleStyle>
      <a:lvl1pPr algn="l" rtl="0" fontAlgn="base">
        <a:spcBef>
          <a:spcPct val="0"/>
        </a:spcBef>
        <a:spcAft>
          <a:spcPct val="0"/>
        </a:spcAft>
        <a:defRPr sz="3200" cap="small" baseline="0">
          <a:solidFill>
            <a:schemeClr val="bg1"/>
          </a:solidFill>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fontAlgn="base">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fontAlgn="base">
        <a:spcBef>
          <a:spcPct val="20000"/>
        </a:spcBef>
        <a:spcAft>
          <a:spcPct val="0"/>
        </a:spcAft>
        <a:buClr>
          <a:schemeClr val="tx2"/>
        </a:buClr>
        <a:buFont typeface="Arial" charset="0"/>
        <a:buChar char="–"/>
        <a:defRPr>
          <a:solidFill>
            <a:schemeClr val="tx1"/>
          </a:solidFill>
          <a:latin typeface="+mn-lt"/>
        </a:defRPr>
      </a:lvl2pPr>
      <a:lvl3pPr marL="908050" indent="-228600" algn="l" rtl="0" fontAlgn="base">
        <a:spcBef>
          <a:spcPct val="20000"/>
        </a:spcBef>
        <a:spcAft>
          <a:spcPct val="0"/>
        </a:spcAft>
        <a:buClr>
          <a:srgbClr val="918C5A"/>
        </a:buClr>
        <a:buChar char="•"/>
        <a:defRPr sz="1600">
          <a:solidFill>
            <a:schemeClr val="tx1"/>
          </a:solidFill>
          <a:latin typeface="+mn-lt"/>
        </a:defRPr>
      </a:lvl3pPr>
      <a:lvl4pPr marL="1250950" indent="-228600" algn="l" rtl="0" fontAlgn="base">
        <a:spcBef>
          <a:spcPct val="20000"/>
        </a:spcBef>
        <a:spcAft>
          <a:spcPct val="0"/>
        </a:spcAft>
        <a:buClr>
          <a:srgbClr val="918C5A"/>
        </a:buClr>
        <a:buChar char="•"/>
        <a:defRPr sz="1600">
          <a:solidFill>
            <a:schemeClr val="tx1"/>
          </a:solidFill>
          <a:latin typeface="+mn-lt"/>
        </a:defRPr>
      </a:lvl4pPr>
      <a:lvl5pPr marL="1593850" indent="-228600" algn="l" rtl="0" fontAlgn="base">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safaribooksonline.com/library/view/cloud-networking/9780128007280/B9780128007280000047.xhtml#f002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safaribooksonline.com/library/view/cloud-networking/9780128007280/B9780128007280000047.xhtml#f0010"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safaribooksonline.com/library/view/cloud-networking/9780128007280/B9780128007280000047.xhtml#f0015"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Hltydu9PXk"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685800" y="1371600"/>
            <a:ext cx="7851775" cy="1725612"/>
          </a:xfrm>
        </p:spPr>
        <p:txBody>
          <a:bodyPr/>
          <a:lstStyle/>
          <a:p>
            <a:r>
              <a:rPr lang="en-US" sz="4000" dirty="0" smtClean="0"/>
              <a:t>EETS </a:t>
            </a:r>
            <a:r>
              <a:rPr lang="en-US" sz="4000" dirty="0" smtClean="0"/>
              <a:t>8355: </a:t>
            </a:r>
            <a:r>
              <a:rPr lang="en-US" sz="4000" dirty="0" smtClean="0"/>
              <a:t>data center network engineering</a:t>
            </a:r>
            <a:endParaRPr lang="en-US" sz="4000" dirty="0"/>
          </a:p>
        </p:txBody>
      </p:sp>
      <p:sp>
        <p:nvSpPr>
          <p:cNvPr id="44043" name="Rectangle 11"/>
          <p:cNvSpPr>
            <a:spLocks noGrp="1" noChangeArrowheads="1"/>
          </p:cNvSpPr>
          <p:nvPr>
            <p:ph type="subTitle" idx="1"/>
          </p:nvPr>
        </p:nvSpPr>
        <p:spPr>
          <a:xfrm>
            <a:off x="631825" y="3657600"/>
            <a:ext cx="7851775" cy="1597025"/>
          </a:xfrm>
        </p:spPr>
        <p:txBody>
          <a:bodyPr/>
          <a:lstStyle/>
          <a:p>
            <a:r>
              <a:rPr lang="en-US" sz="3600" i="0" dirty="0" smtClean="0">
                <a:latin typeface="Calibri" pitchFamily="34" charset="0"/>
              </a:rPr>
              <a:t>M. Scott Kingsley</a:t>
            </a:r>
            <a:endParaRPr lang="en-US" i="0" dirty="0" smtClean="0">
              <a:latin typeface="Calibri" pitchFamily="34" charset="0"/>
            </a:endParaRPr>
          </a:p>
          <a:p>
            <a:endParaRPr lang="en-US" sz="2800" dirty="0"/>
          </a:p>
          <a:p>
            <a:r>
              <a:rPr lang="en-US" sz="2800" i="0" dirty="0" smtClean="0">
                <a:latin typeface="Calibri" pitchFamily="34" charset="0"/>
              </a:rPr>
              <a:t>CHAPTER </a:t>
            </a:r>
            <a:r>
              <a:rPr lang="en-US" sz="2800" dirty="0" smtClean="0"/>
              <a:t>4: </a:t>
            </a:r>
            <a:r>
              <a:rPr lang="en-US" sz="2800" dirty="0">
                <a:effectLst>
                  <a:outerShdw blurRad="38100" dist="38100" dir="2700000" algn="tl">
                    <a:srgbClr val="000000">
                      <a:alpha val="43137"/>
                    </a:srgbClr>
                  </a:outerShdw>
                </a:effectLst>
              </a:rPr>
              <a:t>Cloud Data Center Networking Topologies</a:t>
            </a:r>
          </a:p>
          <a:p>
            <a:endParaRPr lang="en-US" sz="2400" i="0" dirty="0">
              <a:latin typeface="Calibri" pitchFamily="34"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sz="2800" dirty="0" smtClean="0">
                <a:effectLst/>
              </a:rPr>
              <a:t>Chapter 4: Cloud </a:t>
            </a:r>
            <a:r>
              <a:rPr lang="en-US" sz="2800" dirty="0">
                <a:effectLst/>
              </a:rPr>
              <a:t>Data Center Networking </a:t>
            </a:r>
            <a:r>
              <a:rPr lang="en-US" sz="2800" dirty="0" smtClean="0">
                <a:effectLst/>
              </a:rPr>
              <a:t>Technologies</a:t>
            </a:r>
            <a:endParaRPr lang="en-US" sz="2800" dirty="0">
              <a:effectLst/>
            </a:endParaRPr>
          </a:p>
        </p:txBody>
      </p:sp>
      <p:sp>
        <p:nvSpPr>
          <p:cNvPr id="9" name="Content Placeholder 8"/>
          <p:cNvSpPr>
            <a:spLocks noGrp="1"/>
          </p:cNvSpPr>
          <p:nvPr>
            <p:ph idx="1"/>
          </p:nvPr>
        </p:nvSpPr>
        <p:spPr/>
        <p:txBody>
          <a:bodyPr/>
          <a:lstStyle/>
          <a:p>
            <a:pPr>
              <a:buFontTx/>
              <a:buNone/>
            </a:pPr>
            <a:r>
              <a:rPr lang="en-GB" dirty="0" smtClean="0"/>
              <a:t>What’s in a data </a:t>
            </a:r>
            <a:r>
              <a:rPr lang="en-GB" dirty="0" err="1" smtClean="0"/>
              <a:t>center</a:t>
            </a:r>
            <a:r>
              <a:rPr lang="en-GB" dirty="0" smtClean="0"/>
              <a:t>?</a:t>
            </a:r>
          </a:p>
          <a:p>
            <a:pPr>
              <a:buFontTx/>
              <a:buNone/>
            </a:pPr>
            <a:r>
              <a:rPr lang="en-GB" dirty="0" smtClean="0"/>
              <a:t>Compute, storage, network</a:t>
            </a:r>
          </a:p>
          <a:p>
            <a:pPr>
              <a:buFontTx/>
              <a:buNone/>
            </a:pPr>
            <a:r>
              <a:rPr lang="en-GB" dirty="0"/>
              <a:t>Consists of:</a:t>
            </a:r>
          </a:p>
          <a:p>
            <a:pPr lvl="2"/>
            <a:r>
              <a:rPr lang="en-GB" dirty="0" smtClean="0"/>
              <a:t> </a:t>
            </a:r>
            <a:r>
              <a:rPr lang="en-GB" dirty="0"/>
              <a:t>Servers (Physical machines)</a:t>
            </a:r>
          </a:p>
          <a:p>
            <a:pPr lvl="2"/>
            <a:r>
              <a:rPr lang="en-GB" dirty="0"/>
              <a:t>Storage</a:t>
            </a:r>
          </a:p>
          <a:p>
            <a:pPr lvl="2"/>
            <a:r>
              <a:rPr lang="en-GB" dirty="0"/>
              <a:t>Network devices (switch, router, cables)</a:t>
            </a:r>
          </a:p>
          <a:p>
            <a:pPr lvl="2"/>
            <a:r>
              <a:rPr lang="en-GB" dirty="0"/>
              <a:t>Power distribution systems</a:t>
            </a:r>
          </a:p>
          <a:p>
            <a:pPr lvl="2"/>
            <a:r>
              <a:rPr lang="en-GB" dirty="0"/>
              <a:t>Cooling systems</a:t>
            </a:r>
          </a:p>
          <a:p>
            <a:pPr>
              <a:buFontTx/>
              <a:buNone/>
            </a:pPr>
            <a:endParaRPr lang="en-GB" dirty="0"/>
          </a:p>
          <a:p>
            <a:endParaRPr lang="en-US"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a:t>
            </a:fld>
            <a:endParaRPr lang="en-US" dirty="0"/>
          </a:p>
        </p:txBody>
      </p:sp>
    </p:spTree>
    <p:extLst>
      <p:ext uri="{BB962C8B-B14F-4D97-AF65-F5344CB8AC3E}">
        <p14:creationId xmlns:p14="http://schemas.microsoft.com/office/powerpoint/2010/main" val="370908685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Traditional </a:t>
            </a:r>
            <a:r>
              <a:rPr lang="en-US" dirty="0" err="1">
                <a:effectLst/>
              </a:rPr>
              <a:t>multitiered</a:t>
            </a:r>
            <a:r>
              <a:rPr lang="en-US" dirty="0">
                <a:effectLst/>
              </a:rPr>
              <a:t> enterprise networks</a:t>
            </a:r>
          </a:p>
        </p:txBody>
      </p:sp>
      <p:sp>
        <p:nvSpPr>
          <p:cNvPr id="2" name="Content Placeholder 1"/>
          <p:cNvSpPr>
            <a:spLocks noGrp="1"/>
          </p:cNvSpPr>
          <p:nvPr>
            <p:ph idx="1"/>
          </p:nvPr>
        </p:nvSpPr>
        <p:spPr>
          <a:xfrm>
            <a:off x="381000" y="990600"/>
            <a:ext cx="8382000" cy="7391400"/>
          </a:xfrm>
        </p:spPr>
        <p:txBody>
          <a:bodyPr/>
          <a:lstStyle/>
          <a:p>
            <a:r>
              <a:rPr lang="en-US" dirty="0"/>
              <a:t>In this section, we will describe the cost and performance factors that are driving a change in how these data center networks are implemented and managed. </a:t>
            </a:r>
            <a:endParaRPr lang="en-US" dirty="0" smtClean="0"/>
          </a:p>
          <a:p>
            <a:r>
              <a:rPr lang="en-US" dirty="0" smtClean="0"/>
              <a:t>In </a:t>
            </a:r>
            <a:r>
              <a:rPr lang="en-US" dirty="0"/>
              <a:t>the following sections, we will describe the various data center networking components and industry trends that are being driven in part by large cloud data center network requirements.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a:t>
            </a:fld>
            <a:endParaRPr lang="en-US" dirty="0"/>
          </a:p>
        </p:txBody>
      </p:sp>
    </p:spTree>
    <p:extLst>
      <p:ext uri="{BB962C8B-B14F-4D97-AF65-F5344CB8AC3E}">
        <p14:creationId xmlns:p14="http://schemas.microsoft.com/office/powerpoint/2010/main" val="39386054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sz="2800" dirty="0" smtClean="0">
                <a:effectLst/>
              </a:rPr>
              <a:t>Chapter 4: Cloud </a:t>
            </a:r>
            <a:r>
              <a:rPr lang="en-US" sz="2800" dirty="0">
                <a:effectLst/>
              </a:rPr>
              <a:t>Data Center Networking </a:t>
            </a:r>
            <a:r>
              <a:rPr lang="en-US" sz="2800" dirty="0" smtClean="0">
                <a:effectLst/>
              </a:rPr>
              <a:t>Technologies</a:t>
            </a:r>
            <a:endParaRPr lang="en-US" sz="2800" dirty="0">
              <a:effectLst/>
            </a:endParaRPr>
          </a:p>
        </p:txBody>
      </p:sp>
      <p:sp>
        <p:nvSpPr>
          <p:cNvPr id="3" name="Content Placeholder 2"/>
          <p:cNvSpPr>
            <a:spLocks noGrp="1"/>
          </p:cNvSpPr>
          <p:nvPr>
            <p:ph idx="1"/>
          </p:nvPr>
        </p:nvSpPr>
        <p:spPr/>
        <p:txBody>
          <a:bodyPr/>
          <a:lstStyle/>
          <a:p>
            <a:r>
              <a:rPr lang="en-US" dirty="0" smtClean="0"/>
              <a:t>Traditional three-layer switch architecture</a:t>
            </a:r>
            <a:endParaRPr lang="en-US"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a:t>
            </a:fld>
            <a:endParaRPr lang="en-US" dirty="0"/>
          </a:p>
        </p:txBody>
      </p:sp>
      <p:pic>
        <p:nvPicPr>
          <p:cNvPr id="1026"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4099" y="1752600"/>
            <a:ext cx="4495801"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067576"/>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609600" y="838200"/>
            <a:ext cx="8686800" cy="563563"/>
          </a:xfrm>
        </p:spPr>
        <p:txBody>
          <a:bodyPr/>
          <a:lstStyle/>
          <a:p>
            <a:r>
              <a:rPr lang="en-US" sz="2800" b="1" cap="all" dirty="0">
                <a:effectLst/>
              </a:rPr>
              <a:t>FIGURE 4.1</a:t>
            </a:r>
            <a:r>
              <a:rPr lang="en-US" sz="2800" dirty="0">
                <a:effectLst/>
              </a:rPr>
              <a:t> Traditional enterprise data center </a:t>
            </a:r>
            <a:r>
              <a:rPr lang="en-US" sz="2800" dirty="0" smtClean="0">
                <a:effectLst/>
              </a:rPr>
              <a:t>network</a:t>
            </a:r>
            <a:endParaRPr lang="en-US" sz="2800" cap="all"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a:t>
            </a:fld>
            <a:endParaRPr lang="en-US" dirty="0"/>
          </a:p>
        </p:txBody>
      </p:sp>
      <p:pic>
        <p:nvPicPr>
          <p:cNvPr id="1026" name="Picture 2" descr="f04-01-97801280072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00" y="1828800"/>
            <a:ext cx="6286500" cy="4191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p:cNvSpPr txBox="1">
            <a:spLocks/>
          </p:cNvSpPr>
          <p:nvPr/>
        </p:nvSpPr>
        <p:spPr bwMode="auto">
          <a:xfrm>
            <a:off x="228600" y="122237"/>
            <a:ext cx="8686800" cy="5635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r>
              <a:rPr lang="en-US" kern="0" cap="all" smtClean="0">
                <a:effectLst/>
              </a:rPr>
              <a:t>COST FACTORS</a:t>
            </a:r>
            <a:endParaRPr lang="en-US" kern="0" cap="all" dirty="0">
              <a:effectLst/>
            </a:endParaRPr>
          </a:p>
        </p:txBody>
      </p:sp>
    </p:spTree>
    <p:extLst>
      <p:ext uri="{BB962C8B-B14F-4D97-AF65-F5344CB8AC3E}">
        <p14:creationId xmlns:p14="http://schemas.microsoft.com/office/powerpoint/2010/main" val="387360695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066800"/>
            <a:ext cx="8382000" cy="7391400"/>
          </a:xfrm>
        </p:spPr>
        <p:txBody>
          <a:bodyPr/>
          <a:lstStyle/>
          <a:p>
            <a:r>
              <a:rPr lang="en-US" dirty="0" smtClean="0"/>
              <a:t>This </a:t>
            </a:r>
            <a:r>
              <a:rPr lang="en-US" dirty="0"/>
              <a:t>three tiered approach adds cost, complexity, and latency in large cloud data center networks. </a:t>
            </a:r>
            <a:endParaRPr lang="en-US" dirty="0" smtClean="0"/>
          </a:p>
          <a:p>
            <a:r>
              <a:rPr lang="en-US" dirty="0" smtClean="0"/>
              <a:t>In </a:t>
            </a:r>
            <a:r>
              <a:rPr lang="en-US" dirty="0"/>
              <a:t>addition, with the large increase we have seen in east-west data center traffic, this approach leads to high-latency variation between servers making data center performance unpredictable. </a:t>
            </a:r>
            <a:endParaRPr lang="en-US" sz="1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5</a:t>
            </a:fld>
            <a:endParaRPr lang="en-US" dirty="0"/>
          </a:p>
        </p:txBody>
      </p:sp>
      <p:sp>
        <p:nvSpPr>
          <p:cNvPr id="6" name="Title 4"/>
          <p:cNvSpPr>
            <a:spLocks noGrp="1"/>
          </p:cNvSpPr>
          <p:nvPr>
            <p:ph type="title"/>
          </p:nvPr>
        </p:nvSpPr>
        <p:spPr>
          <a:xfrm>
            <a:off x="228600" y="122237"/>
            <a:ext cx="8686800" cy="563563"/>
          </a:xfrm>
        </p:spPr>
        <p:txBody>
          <a:bodyPr/>
          <a:lstStyle/>
          <a:p>
            <a:r>
              <a:rPr lang="en-US" dirty="0">
                <a:effectLst/>
              </a:rPr>
              <a:t>Flat data center networks</a:t>
            </a:r>
          </a:p>
        </p:txBody>
      </p:sp>
    </p:spTree>
    <p:extLst>
      <p:ext uri="{BB962C8B-B14F-4D97-AF65-F5344CB8AC3E}">
        <p14:creationId xmlns:p14="http://schemas.microsoft.com/office/powerpoint/2010/main" val="137004734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3840" y="990600"/>
            <a:ext cx="8900160" cy="1276350"/>
          </a:xfrm>
        </p:spPr>
        <p:txBody>
          <a:bodyPr/>
          <a:lstStyle/>
          <a:p>
            <a:pPr marL="0" indent="0">
              <a:buNone/>
            </a:pPr>
            <a:r>
              <a:rPr lang="en-US" sz="2400" dirty="0" smtClean="0"/>
              <a:t> </a:t>
            </a:r>
            <a:r>
              <a:rPr lang="en-US" sz="2400" b="1" cap="all" dirty="0"/>
              <a:t>FIGURE 4.3</a:t>
            </a:r>
            <a:r>
              <a:rPr lang="en-US" sz="2400" dirty="0"/>
              <a:t> Top of rack switch feeding an aggregation </a:t>
            </a:r>
            <a:r>
              <a:rPr lang="en-US" sz="2400" dirty="0" smtClean="0"/>
              <a:t>switch.</a:t>
            </a:r>
            <a:endParaRPr lang="en-US" sz="1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6</a:t>
            </a:fld>
            <a:endParaRPr lang="en-US" dirty="0"/>
          </a:p>
        </p:txBody>
      </p:sp>
      <p:sp>
        <p:nvSpPr>
          <p:cNvPr id="6" name="Title 4"/>
          <p:cNvSpPr>
            <a:spLocks noGrp="1"/>
          </p:cNvSpPr>
          <p:nvPr>
            <p:ph type="title"/>
          </p:nvPr>
        </p:nvSpPr>
        <p:spPr>
          <a:xfrm>
            <a:off x="228600" y="122237"/>
            <a:ext cx="8686800" cy="563563"/>
          </a:xfrm>
        </p:spPr>
        <p:txBody>
          <a:bodyPr/>
          <a:lstStyle/>
          <a:p>
            <a:r>
              <a:rPr lang="en-US" cap="all" dirty="0" smtClean="0">
                <a:effectLst/>
              </a:rPr>
              <a:t>Top-of-rack (TOR) Switches</a:t>
            </a:r>
            <a:endParaRPr lang="en-US" cap="all" dirty="0">
              <a:effectLst/>
            </a:endParaRPr>
          </a:p>
        </p:txBody>
      </p:sp>
      <p:pic>
        <p:nvPicPr>
          <p:cNvPr id="22530" name="Picture 2" descr="https://www.safaribooksonline.com/library/view/cloud-networking/9780128007280/images/B9780128007280000047/f04-03-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0220" y="1676400"/>
            <a:ext cx="58674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86754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8270" y="990600"/>
            <a:ext cx="8714105" cy="7391400"/>
          </a:xfrm>
        </p:spPr>
        <p:txBody>
          <a:bodyPr/>
          <a:lstStyle/>
          <a:p>
            <a:r>
              <a:rPr lang="en-US" dirty="0"/>
              <a:t>The servers within the rack connect to a </a:t>
            </a:r>
            <a:r>
              <a:rPr lang="en-US" dirty="0" err="1"/>
              <a:t>ToR</a:t>
            </a:r>
            <a:r>
              <a:rPr lang="en-US" dirty="0"/>
              <a:t> switch using a star topology as shown in </a:t>
            </a:r>
            <a:r>
              <a:rPr lang="en-US" dirty="0">
                <a:hlinkClick r:id="rId3"/>
              </a:rPr>
              <a:t>Figure 4.3</a:t>
            </a:r>
            <a:r>
              <a:rPr lang="en-US" dirty="0"/>
              <a:t>. </a:t>
            </a:r>
            <a:endParaRPr lang="en-US" dirty="0" smtClean="0"/>
          </a:p>
          <a:p>
            <a:r>
              <a:rPr lang="en-US" dirty="0" smtClean="0"/>
              <a:t>Here</a:t>
            </a:r>
            <a:r>
              <a:rPr lang="en-US" dirty="0"/>
              <a:t>, every server has a dedicated link to the </a:t>
            </a:r>
            <a:r>
              <a:rPr lang="en-US" dirty="0" err="1"/>
              <a:t>ToR</a:t>
            </a:r>
            <a:r>
              <a:rPr lang="en-US" dirty="0"/>
              <a:t> switch and the </a:t>
            </a:r>
            <a:r>
              <a:rPr lang="en-US" dirty="0" err="1"/>
              <a:t>ToR</a:t>
            </a:r>
            <a:r>
              <a:rPr lang="en-US" dirty="0"/>
              <a:t> switch may forward data to other servers in the rack, or out of the rack through high-bandwidth uplink ports. </a:t>
            </a:r>
            <a:endParaRPr lang="en-US" dirty="0" smtClean="0"/>
          </a:p>
          <a:p>
            <a:r>
              <a:rPr lang="en-US" dirty="0" smtClean="0"/>
              <a:t>Due </a:t>
            </a:r>
            <a:r>
              <a:rPr lang="en-US" dirty="0"/>
              <a:t>to factors such as multiple VMs sharing the same network connection, 10Gb Ethernet is widely used as the link between the server shelf and the </a:t>
            </a:r>
            <a:r>
              <a:rPr lang="en-US" dirty="0" err="1"/>
              <a:t>ToR</a:t>
            </a:r>
            <a:r>
              <a:rPr lang="en-US" dirty="0"/>
              <a:t> switch in cloud data center networks.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7</a:t>
            </a:fld>
            <a:endParaRPr lang="en-US" dirty="0"/>
          </a:p>
        </p:txBody>
      </p:sp>
      <p:sp>
        <p:nvSpPr>
          <p:cNvPr id="6" name="Title 4"/>
          <p:cNvSpPr>
            <a:spLocks noGrp="1"/>
          </p:cNvSpPr>
          <p:nvPr>
            <p:ph type="title"/>
          </p:nvPr>
        </p:nvSpPr>
        <p:spPr>
          <a:xfrm>
            <a:off x="228600" y="122237"/>
            <a:ext cx="8686800" cy="563563"/>
          </a:xfrm>
        </p:spPr>
        <p:txBody>
          <a:bodyPr/>
          <a:lstStyle/>
          <a:p>
            <a:r>
              <a:rPr lang="en-US" sz="4000" cap="all" dirty="0">
                <a:effectLst/>
              </a:rPr>
              <a:t>Top-of-rack (TOR) Switches</a:t>
            </a:r>
            <a:endParaRPr lang="en-US" sz="4000" dirty="0">
              <a:effectLst/>
            </a:endParaRPr>
          </a:p>
        </p:txBody>
      </p:sp>
    </p:spTree>
    <p:extLst>
      <p:ext uri="{BB962C8B-B14F-4D97-AF65-F5344CB8AC3E}">
        <p14:creationId xmlns:p14="http://schemas.microsoft.com/office/powerpoint/2010/main" val="136535242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a:t>A typical rack may contain on the order of 40 or more servers, so many </a:t>
            </a:r>
            <a:r>
              <a:rPr lang="en-US" dirty="0" err="1"/>
              <a:t>ToR</a:t>
            </a:r>
            <a:r>
              <a:rPr lang="en-US" dirty="0"/>
              <a:t> switches contain up to 48 10GbE ports and four 40GbE uplink ports which are connected to aggregation switches. </a:t>
            </a:r>
            <a:endParaRPr lang="en-US" dirty="0" smtClean="0"/>
          </a:p>
          <a:p>
            <a:r>
              <a:rPr lang="en-US" dirty="0" smtClean="0"/>
              <a:t>Although </a:t>
            </a:r>
            <a:r>
              <a:rPr lang="en-US" dirty="0"/>
              <a:t>this is a 3:1 mismatch in server bandwidth (480Gbps) versus uplink bandwidth (160Gbps), data center traffic is very </a:t>
            </a:r>
            <a:r>
              <a:rPr lang="en-US" dirty="0" err="1"/>
              <a:t>bursty</a:t>
            </a:r>
            <a:r>
              <a:rPr lang="en-US" dirty="0"/>
              <a:t> in nature and it is rare for all the servers to be using their full allocation of 10Gbps bandwidth simultaneously.</a:t>
            </a:r>
            <a:endParaRPr lang="en-US" sz="1600" dirty="0"/>
          </a:p>
          <a:p>
            <a:r>
              <a:rPr lang="en-US" dirty="0"/>
              <a:t>.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8</a:t>
            </a:fld>
            <a:endParaRPr lang="en-US" dirty="0"/>
          </a:p>
        </p:txBody>
      </p:sp>
      <p:sp>
        <p:nvSpPr>
          <p:cNvPr id="6" name="Title 4"/>
          <p:cNvSpPr>
            <a:spLocks noGrp="1"/>
          </p:cNvSpPr>
          <p:nvPr>
            <p:ph type="title"/>
          </p:nvPr>
        </p:nvSpPr>
        <p:spPr>
          <a:xfrm>
            <a:off x="228600" y="122237"/>
            <a:ext cx="8686800" cy="563563"/>
          </a:xfrm>
        </p:spPr>
        <p:txBody>
          <a:bodyPr/>
          <a:lstStyle/>
          <a:p>
            <a:r>
              <a:rPr lang="en-US" sz="4000" cap="all" dirty="0">
                <a:effectLst/>
              </a:rPr>
              <a:t>Top-of-rack (TOR) Switches</a:t>
            </a:r>
            <a:endParaRPr lang="en-US" sz="4000" dirty="0">
              <a:effectLst/>
            </a:endParaRPr>
          </a:p>
        </p:txBody>
      </p:sp>
    </p:spTree>
    <p:extLst>
      <p:ext uri="{BB962C8B-B14F-4D97-AF65-F5344CB8AC3E}">
        <p14:creationId xmlns:p14="http://schemas.microsoft.com/office/powerpoint/2010/main" val="2088893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a:t>A typical rack may contain on the order of 40 or more servers, so many </a:t>
            </a:r>
            <a:r>
              <a:rPr lang="en-US" dirty="0" err="1"/>
              <a:t>ToR</a:t>
            </a:r>
            <a:r>
              <a:rPr lang="en-US" dirty="0"/>
              <a:t> switches contain up to 48 10GbE ports and four 40GbE uplink ports which are connected to aggregation switches. </a:t>
            </a:r>
            <a:endParaRPr lang="en-US" dirty="0" smtClean="0"/>
          </a:p>
          <a:p>
            <a:r>
              <a:rPr lang="en-US" dirty="0" smtClean="0"/>
              <a:t>Although </a:t>
            </a:r>
            <a:r>
              <a:rPr lang="en-US" dirty="0"/>
              <a:t>this is a 3:1 mismatch in server bandwidth (480Gbps) versus uplink bandwidth (160Gbps), data center traffic is very </a:t>
            </a:r>
            <a:r>
              <a:rPr lang="en-US" dirty="0" err="1"/>
              <a:t>bursty</a:t>
            </a:r>
            <a:r>
              <a:rPr lang="en-US" dirty="0"/>
              <a:t> in nature and it is rare for all the servers to be using their full allocation of 10Gbps bandwidth simultaneously.</a:t>
            </a:r>
            <a:endParaRPr lang="en-US" sz="1600" dirty="0"/>
          </a:p>
          <a:p>
            <a:r>
              <a:rPr lang="en-US" dirty="0"/>
              <a:t>.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9</a:t>
            </a:fld>
            <a:endParaRPr lang="en-US" dirty="0"/>
          </a:p>
        </p:txBody>
      </p:sp>
      <p:sp>
        <p:nvSpPr>
          <p:cNvPr id="6" name="Title 4"/>
          <p:cNvSpPr>
            <a:spLocks noGrp="1"/>
          </p:cNvSpPr>
          <p:nvPr>
            <p:ph type="title"/>
          </p:nvPr>
        </p:nvSpPr>
        <p:spPr>
          <a:xfrm>
            <a:off x="228600" y="122237"/>
            <a:ext cx="8686800" cy="563563"/>
          </a:xfrm>
        </p:spPr>
        <p:txBody>
          <a:bodyPr/>
          <a:lstStyle/>
          <a:p>
            <a:r>
              <a:rPr lang="en-US" sz="4000" cap="all" dirty="0">
                <a:effectLst/>
              </a:rPr>
              <a:t>Top-of-rack (TOR) Switches</a:t>
            </a:r>
            <a:endParaRPr lang="en-US" sz="4000" dirty="0">
              <a:effectLst/>
            </a:endParaRPr>
          </a:p>
        </p:txBody>
      </p:sp>
    </p:spTree>
    <p:extLst>
      <p:ext uri="{BB962C8B-B14F-4D97-AF65-F5344CB8AC3E}">
        <p14:creationId xmlns:p14="http://schemas.microsoft.com/office/powerpoint/2010/main" val="2708467496"/>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1C0FA7A3-0FBF-4EC3-BE45-825983E95E58}" type="slidenum">
              <a:rPr lang="en-US" smtClean="0"/>
              <a:pPr/>
              <a:t>10</a:t>
            </a:fld>
            <a:endParaRPr lang="en-US" dirty="0"/>
          </a:p>
        </p:txBody>
      </p:sp>
      <p:sp>
        <p:nvSpPr>
          <p:cNvPr id="6" name="Title 4"/>
          <p:cNvSpPr>
            <a:spLocks noGrp="1"/>
          </p:cNvSpPr>
          <p:nvPr>
            <p:ph type="title"/>
          </p:nvPr>
        </p:nvSpPr>
        <p:spPr>
          <a:xfrm>
            <a:off x="152400" y="122237"/>
            <a:ext cx="8763000" cy="563563"/>
          </a:xfrm>
        </p:spPr>
        <p:txBody>
          <a:bodyPr/>
          <a:lstStyle/>
          <a:p>
            <a:r>
              <a:rPr lang="en-US" sz="4000" cap="all" dirty="0" smtClean="0">
                <a:effectLst/>
              </a:rPr>
              <a:t>end-of-row (</a:t>
            </a:r>
            <a:r>
              <a:rPr lang="en-US" sz="4000" cap="all" dirty="0" err="1" smtClean="0">
                <a:effectLst/>
              </a:rPr>
              <a:t>eor</a:t>
            </a:r>
            <a:r>
              <a:rPr lang="en-US" sz="4000" cap="all" dirty="0" smtClean="0">
                <a:effectLst/>
              </a:rPr>
              <a:t>) </a:t>
            </a:r>
            <a:r>
              <a:rPr lang="en-US" sz="4000" cap="all" dirty="0">
                <a:effectLst/>
              </a:rPr>
              <a:t>Switches</a:t>
            </a:r>
            <a:endParaRPr lang="en-US" sz="4000" dirty="0">
              <a:effectLst/>
            </a:endParaRPr>
          </a:p>
        </p:txBody>
      </p:sp>
      <p:sp>
        <p:nvSpPr>
          <p:cNvPr id="3" name="Content Placeholder 2"/>
          <p:cNvSpPr>
            <a:spLocks noGrp="1"/>
          </p:cNvSpPr>
          <p:nvPr>
            <p:ph idx="1"/>
          </p:nvPr>
        </p:nvSpPr>
        <p:spPr>
          <a:xfrm>
            <a:off x="381000" y="990600"/>
            <a:ext cx="8382000" cy="838200"/>
          </a:xfrm>
        </p:spPr>
        <p:txBody>
          <a:bodyPr/>
          <a:lstStyle/>
          <a:p>
            <a:r>
              <a:rPr lang="en-US" sz="2800" b="1" cap="all" dirty="0"/>
              <a:t>FIGURE 4.4</a:t>
            </a:r>
            <a:r>
              <a:rPr lang="en-US" sz="2800" dirty="0"/>
              <a:t> Configuration of an end of row switch.</a:t>
            </a:r>
          </a:p>
        </p:txBody>
      </p:sp>
      <p:pic>
        <p:nvPicPr>
          <p:cNvPr id="28674" name="Picture 2" descr="https://www.safaribooksonline.com/library/view/cloud-networking/9780128007280/images/B9780128007280000047/f04-04-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1798320"/>
            <a:ext cx="588645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876890"/>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1002" y="914400"/>
            <a:ext cx="8382000" cy="7391400"/>
          </a:xfrm>
        </p:spPr>
        <p:txBody>
          <a:bodyPr/>
          <a:lstStyle/>
          <a:p>
            <a:r>
              <a:rPr lang="en-US" sz="2800" dirty="0" smtClean="0"/>
              <a:t>By using EOR switches, costs </a:t>
            </a:r>
            <a:r>
              <a:rPr lang="en-US" sz="2800" dirty="0"/>
              <a:t>can be reduced by eliminating separate power supplies, cooling fans, and CPU subsystems that exist in every </a:t>
            </a:r>
            <a:r>
              <a:rPr lang="en-US" sz="2800" dirty="0" err="1"/>
              <a:t>ToR</a:t>
            </a:r>
            <a:r>
              <a:rPr lang="en-US" sz="2800" dirty="0"/>
              <a:t> switch and aggregation switch. </a:t>
            </a:r>
            <a:endParaRPr lang="en-US" sz="2800" dirty="0" smtClean="0"/>
          </a:p>
          <a:p>
            <a:r>
              <a:rPr lang="en-US" sz="2800" dirty="0" smtClean="0"/>
              <a:t>Central </a:t>
            </a:r>
            <a:r>
              <a:rPr lang="en-US" sz="2800" dirty="0"/>
              <a:t>management processors not only reduce costs, but also provide a single point of management without the need to separately manage multiple </a:t>
            </a:r>
            <a:r>
              <a:rPr lang="en-US" sz="2800" dirty="0" err="1"/>
              <a:t>ToR</a:t>
            </a:r>
            <a:r>
              <a:rPr lang="en-US" sz="2800" dirty="0"/>
              <a:t> switches. </a:t>
            </a:r>
            <a:endParaRPr lang="en-US" sz="2800" dirty="0" smtClean="0"/>
          </a:p>
          <a:p>
            <a:r>
              <a:rPr lang="en-US" sz="2800" dirty="0" smtClean="0"/>
              <a:t>In </a:t>
            </a:r>
            <a:r>
              <a:rPr lang="en-US" sz="2800" dirty="0"/>
              <a:t>addition, cabling costs can be reduced by interconnecting the switch cards and aggregation cards together through a chassis backplane. But this comes at the cost of additional cable distance between the servers and </a:t>
            </a:r>
            <a:r>
              <a:rPr lang="en-US" sz="2800" dirty="0" err="1"/>
              <a:t>EoR</a:t>
            </a:r>
            <a:r>
              <a:rPr lang="en-US" sz="2800" dirty="0"/>
              <a:t> switches.</a:t>
            </a:r>
            <a:endParaRPr lang="en-US" sz="1400" dirty="0" smtClean="0"/>
          </a:p>
          <a:p>
            <a:pPr marL="0" indent="0">
              <a:buNone/>
            </a:pPr>
            <a:endParaRPr lang="en-US" sz="1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11</a:t>
            </a:fld>
            <a:endParaRPr lang="en-US" dirty="0"/>
          </a:p>
        </p:txBody>
      </p:sp>
      <p:sp>
        <p:nvSpPr>
          <p:cNvPr id="6" name="Title 4"/>
          <p:cNvSpPr>
            <a:spLocks noGrp="1"/>
          </p:cNvSpPr>
          <p:nvPr>
            <p:ph type="title"/>
          </p:nvPr>
        </p:nvSpPr>
        <p:spPr>
          <a:xfrm>
            <a:off x="228600" y="122237"/>
            <a:ext cx="8686800" cy="563563"/>
          </a:xfrm>
        </p:spPr>
        <p:txBody>
          <a:bodyPr/>
          <a:lstStyle/>
          <a:p>
            <a:r>
              <a:rPr lang="en-US" sz="4000" cap="all" dirty="0">
                <a:effectLst/>
              </a:rPr>
              <a:t>end-of-row (</a:t>
            </a:r>
            <a:r>
              <a:rPr lang="en-US" sz="4000" cap="all" dirty="0" err="1">
                <a:effectLst/>
              </a:rPr>
              <a:t>eor</a:t>
            </a:r>
            <a:r>
              <a:rPr lang="en-US" sz="4000" cap="all" dirty="0">
                <a:effectLst/>
              </a:rPr>
              <a:t>) Switches</a:t>
            </a:r>
            <a:endParaRPr lang="en-US" sz="4000" dirty="0">
              <a:effectLst/>
            </a:endParaRPr>
          </a:p>
        </p:txBody>
      </p:sp>
    </p:spTree>
    <p:extLst>
      <p:ext uri="{BB962C8B-B14F-4D97-AF65-F5344CB8AC3E}">
        <p14:creationId xmlns:p14="http://schemas.microsoft.com/office/powerpoint/2010/main" val="272933545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7347" y="838200"/>
            <a:ext cx="8382000" cy="1143000"/>
          </a:xfrm>
        </p:spPr>
        <p:txBody>
          <a:bodyPr/>
          <a:lstStyle/>
          <a:p>
            <a:r>
              <a:rPr lang="en-US" sz="2800" b="1" cap="all" dirty="0"/>
              <a:t>FIGURE 4.5</a:t>
            </a:r>
            <a:r>
              <a:rPr lang="en-US" sz="2800" dirty="0"/>
              <a:t> Fabric extenders acting as a disaggregated end of row switch.</a:t>
            </a:r>
            <a:endParaRPr lang="en-US" sz="1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12</a:t>
            </a:fld>
            <a:endParaRPr lang="en-US" dirty="0"/>
          </a:p>
        </p:txBody>
      </p:sp>
      <p:sp>
        <p:nvSpPr>
          <p:cNvPr id="6" name="Title 4"/>
          <p:cNvSpPr>
            <a:spLocks noGrp="1"/>
          </p:cNvSpPr>
          <p:nvPr>
            <p:ph type="title"/>
          </p:nvPr>
        </p:nvSpPr>
        <p:spPr>
          <a:xfrm>
            <a:off x="228600" y="122237"/>
            <a:ext cx="8686800" cy="563563"/>
          </a:xfrm>
        </p:spPr>
        <p:txBody>
          <a:bodyPr/>
          <a:lstStyle/>
          <a:p>
            <a:r>
              <a:rPr lang="en-US" sz="4000" cap="all" dirty="0">
                <a:effectLst/>
              </a:rPr>
              <a:t>FABRIC EXTENDERS</a:t>
            </a:r>
          </a:p>
        </p:txBody>
      </p:sp>
      <p:pic>
        <p:nvPicPr>
          <p:cNvPr id="32770" name="Picture 2" descr="https://www.safaribooksonline.com/library/view/cloud-networking/9780128007280/images/B9780128007280000047/f04-05-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947" y="2011680"/>
            <a:ext cx="64008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89923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14400"/>
            <a:ext cx="8554402" cy="7391400"/>
          </a:xfrm>
        </p:spPr>
        <p:txBody>
          <a:bodyPr/>
          <a:lstStyle/>
          <a:p>
            <a:r>
              <a:rPr lang="en-US" sz="2800" dirty="0"/>
              <a:t>Fabric extenders provide a unified management model while allowing the same cabling topologies used with </a:t>
            </a:r>
            <a:r>
              <a:rPr lang="en-US" sz="2800" dirty="0" err="1"/>
              <a:t>ToR</a:t>
            </a:r>
            <a:r>
              <a:rPr lang="en-US" sz="2800" dirty="0"/>
              <a:t> and aggregation switches. </a:t>
            </a:r>
          </a:p>
          <a:p>
            <a:r>
              <a:rPr lang="en-US" sz="2800" dirty="0" smtClean="0"/>
              <a:t> </a:t>
            </a:r>
            <a:r>
              <a:rPr lang="en-US" sz="2800" dirty="0"/>
              <a:t>The controlling bridge also has switch functionality which is much like the second stage spine switches in a fat-tree. Because of this, the controlling bridge is sometime referred to as a spine switch. </a:t>
            </a:r>
          </a:p>
          <a:p>
            <a:r>
              <a:rPr lang="en-US" sz="2800" dirty="0"/>
              <a:t>The entire configuration can be managed through a shared CPU control plane card in the controlling bridge, acting like a single logical </a:t>
            </a:r>
            <a:r>
              <a:rPr lang="en-US" sz="2800" dirty="0" err="1"/>
              <a:t>EoR</a:t>
            </a:r>
            <a:r>
              <a:rPr lang="en-US" sz="2800" dirty="0"/>
              <a:t> switch, easing configuration time and overhead.</a:t>
            </a:r>
          </a:p>
          <a:p>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13</a:t>
            </a:fld>
            <a:endParaRPr lang="en-US" dirty="0"/>
          </a:p>
        </p:txBody>
      </p:sp>
      <p:sp>
        <p:nvSpPr>
          <p:cNvPr id="6" name="Title 4"/>
          <p:cNvSpPr>
            <a:spLocks noGrp="1"/>
          </p:cNvSpPr>
          <p:nvPr>
            <p:ph type="title"/>
          </p:nvPr>
        </p:nvSpPr>
        <p:spPr>
          <a:xfrm>
            <a:off x="228600" y="122237"/>
            <a:ext cx="8686800" cy="563563"/>
          </a:xfrm>
        </p:spPr>
        <p:txBody>
          <a:bodyPr/>
          <a:lstStyle/>
          <a:p>
            <a:r>
              <a:rPr lang="en-US" sz="4000" cap="all" dirty="0">
                <a:effectLst/>
              </a:rPr>
              <a:t>end-of-row (</a:t>
            </a:r>
            <a:r>
              <a:rPr lang="en-US" sz="4000" cap="all" dirty="0" err="1">
                <a:effectLst/>
              </a:rPr>
              <a:t>eor</a:t>
            </a:r>
            <a:r>
              <a:rPr lang="en-US" sz="4000" cap="all" dirty="0">
                <a:effectLst/>
              </a:rPr>
              <a:t>) Switches</a:t>
            </a:r>
            <a:endParaRPr lang="en-US" sz="4000" dirty="0">
              <a:effectLst/>
            </a:endParaRPr>
          </a:p>
        </p:txBody>
      </p:sp>
    </p:spTree>
    <p:extLst>
      <p:ext uri="{BB962C8B-B14F-4D97-AF65-F5344CB8AC3E}">
        <p14:creationId xmlns:p14="http://schemas.microsoft.com/office/powerpoint/2010/main" val="142344560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01040"/>
            <a:ext cx="8382000" cy="7391400"/>
          </a:xfrm>
        </p:spPr>
        <p:txBody>
          <a:bodyPr/>
          <a:lstStyle/>
          <a:p>
            <a:r>
              <a:rPr lang="en-US" dirty="0"/>
              <a:t>Aggregation switches are typically used to connect a number of </a:t>
            </a:r>
            <a:r>
              <a:rPr lang="en-US" dirty="0" err="1"/>
              <a:t>ToR</a:t>
            </a:r>
            <a:r>
              <a:rPr lang="en-US" dirty="0"/>
              <a:t> switches to a core switch/router. </a:t>
            </a:r>
            <a:endParaRPr lang="en-US" dirty="0" smtClean="0"/>
          </a:p>
          <a:p>
            <a:r>
              <a:rPr lang="en-US" dirty="0" smtClean="0"/>
              <a:t>The </a:t>
            </a:r>
            <a:r>
              <a:rPr lang="en-US" dirty="0"/>
              <a:t>core switch is at the top of the cloud data center network pyramid and may include a wide area network (WAN) connection to the outside carrier network. </a:t>
            </a:r>
            <a:endParaRPr lang="en-US" dirty="0" smtClean="0"/>
          </a:p>
          <a:p>
            <a:r>
              <a:rPr lang="en-US" dirty="0" smtClean="0"/>
              <a:t>Because </a:t>
            </a:r>
            <a:r>
              <a:rPr lang="en-US" dirty="0"/>
              <a:t>of the high-bandwidth links and high port counts of these switches, modular designs are employed with two stage fabrics either in a star or fat-tree topology</a:t>
            </a:r>
            <a:r>
              <a:rPr lang="en-US" dirty="0" smtClean="0"/>
              <a:t>..</a:t>
            </a:r>
            <a:endParaRPr lang="en-US" sz="1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14</a:t>
            </a:fld>
            <a:endParaRPr lang="en-US" dirty="0"/>
          </a:p>
        </p:txBody>
      </p:sp>
      <p:sp>
        <p:nvSpPr>
          <p:cNvPr id="6" name="Title 4"/>
          <p:cNvSpPr>
            <a:spLocks noGrp="1"/>
          </p:cNvSpPr>
          <p:nvPr>
            <p:ph type="title"/>
          </p:nvPr>
        </p:nvSpPr>
        <p:spPr>
          <a:xfrm>
            <a:off x="228600" y="122237"/>
            <a:ext cx="8686800" cy="563563"/>
          </a:xfrm>
        </p:spPr>
        <p:txBody>
          <a:bodyPr/>
          <a:lstStyle/>
          <a:p>
            <a:r>
              <a:rPr lang="en-US" cap="all" dirty="0">
                <a:effectLst/>
              </a:rPr>
              <a:t>AGGREGATION AND CORE SWITCHES</a:t>
            </a:r>
          </a:p>
        </p:txBody>
      </p:sp>
    </p:spTree>
    <p:extLst>
      <p:ext uri="{BB962C8B-B14F-4D97-AF65-F5344CB8AC3E}">
        <p14:creationId xmlns:p14="http://schemas.microsoft.com/office/powerpoint/2010/main" val="79908725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066800"/>
            <a:ext cx="8382000" cy="7391400"/>
          </a:xfrm>
        </p:spPr>
        <p:txBody>
          <a:bodyPr/>
          <a:lstStyle/>
          <a:p>
            <a:r>
              <a:rPr lang="en-US" dirty="0"/>
              <a:t>High-bandwidth aggregation ports are switched or routed to even higher bandwidth uplink ports. In the case of core switches, the uplink interface cards may be designed to interface directly with the carrier network and may include features such as network security and monitoring. </a:t>
            </a:r>
            <a:endParaRPr lang="en-US" dirty="0" smtClean="0"/>
          </a:p>
          <a:p>
            <a:r>
              <a:rPr lang="en-US" dirty="0" smtClean="0"/>
              <a:t>These </a:t>
            </a:r>
            <a:r>
              <a:rPr lang="en-US" dirty="0"/>
              <a:t>are expensive systems that must meet high reliability requirements. The next section will describe these core switches in more </a:t>
            </a:r>
            <a:r>
              <a:rPr lang="en-US" dirty="0" smtClean="0"/>
              <a:t>detail.</a:t>
            </a:r>
            <a:endParaRPr lang="en-US" sz="1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15</a:t>
            </a:fld>
            <a:endParaRPr lang="en-US" dirty="0"/>
          </a:p>
        </p:txBody>
      </p:sp>
      <p:sp>
        <p:nvSpPr>
          <p:cNvPr id="6" name="Title 4"/>
          <p:cNvSpPr>
            <a:spLocks noGrp="1"/>
          </p:cNvSpPr>
          <p:nvPr>
            <p:ph type="title"/>
          </p:nvPr>
        </p:nvSpPr>
        <p:spPr>
          <a:xfrm>
            <a:off x="228600" y="122237"/>
            <a:ext cx="8686800" cy="563563"/>
          </a:xfrm>
        </p:spPr>
        <p:txBody>
          <a:bodyPr/>
          <a:lstStyle/>
          <a:p>
            <a:r>
              <a:rPr lang="en-US" cap="all" dirty="0">
                <a:effectLst/>
              </a:rPr>
              <a:t>AGGREGATION AND CORE SWITCHES</a:t>
            </a:r>
          </a:p>
        </p:txBody>
      </p:sp>
    </p:spTree>
    <p:extLst>
      <p:ext uri="{BB962C8B-B14F-4D97-AF65-F5344CB8AC3E}">
        <p14:creationId xmlns:p14="http://schemas.microsoft.com/office/powerpoint/2010/main" val="3533727608"/>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sz="2800" dirty="0" smtClean="0">
                <a:effectLst/>
              </a:rPr>
              <a:t>Chapter 4: Cloud </a:t>
            </a:r>
            <a:r>
              <a:rPr lang="en-US" sz="2800" dirty="0">
                <a:effectLst/>
              </a:rPr>
              <a:t>Data Center Networking </a:t>
            </a:r>
            <a:r>
              <a:rPr lang="en-US" sz="2800" dirty="0" smtClean="0">
                <a:effectLst/>
              </a:rPr>
              <a:t>Technologies</a:t>
            </a:r>
            <a:endParaRPr lang="en-US" sz="28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16</a:t>
            </a:fld>
            <a:endParaRPr lang="en-US" dirty="0"/>
          </a:p>
        </p:txBody>
      </p:sp>
      <p:pic>
        <p:nvPicPr>
          <p:cNvPr id="3074" name="Picture 2" descr="Image result for data center architectur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7286625" cy="410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1701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sz="2800" dirty="0" smtClean="0">
                <a:effectLst/>
              </a:rPr>
              <a:t>Chapter 4: Cloud </a:t>
            </a:r>
            <a:r>
              <a:rPr lang="en-US" sz="2800" dirty="0">
                <a:effectLst/>
              </a:rPr>
              <a:t>Data Center Networking </a:t>
            </a:r>
            <a:r>
              <a:rPr lang="en-US" sz="2800" dirty="0" smtClean="0">
                <a:effectLst/>
              </a:rPr>
              <a:t>Technologies</a:t>
            </a:r>
            <a:endParaRPr lang="en-US" sz="2800" dirty="0">
              <a:effectLst/>
            </a:endParaRPr>
          </a:p>
        </p:txBody>
      </p:sp>
      <p:sp>
        <p:nvSpPr>
          <p:cNvPr id="2" name="Content Placeholder 1"/>
          <p:cNvSpPr>
            <a:spLocks noGrp="1"/>
          </p:cNvSpPr>
          <p:nvPr>
            <p:ph idx="1"/>
          </p:nvPr>
        </p:nvSpPr>
        <p:spPr>
          <a:xfrm>
            <a:off x="228600" y="914400"/>
            <a:ext cx="3352800" cy="4953000"/>
          </a:xfrm>
        </p:spPr>
        <p:txBody>
          <a:bodyPr/>
          <a:lstStyle/>
          <a:p>
            <a:r>
              <a:rPr lang="en-US" sz="2400" dirty="0" smtClean="0"/>
              <a:t>“Collapsed core” two-tier architecture</a:t>
            </a:r>
          </a:p>
          <a:p>
            <a:r>
              <a:rPr lang="en-US" sz="2400" dirty="0" smtClean="0"/>
              <a:t>“Spine and leaf”</a:t>
            </a:r>
          </a:p>
          <a:p>
            <a:r>
              <a:rPr lang="en-US" sz="2400" dirty="0" smtClean="0"/>
              <a:t>“Folded CLOS” or “fat tree”</a:t>
            </a:r>
          </a:p>
          <a:p>
            <a:r>
              <a:rPr lang="en-US" sz="2400" dirty="0" smtClean="0"/>
              <a:t>10x cost savings</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17</a:t>
            </a:fld>
            <a:endParaRPr lang="en-US" dirty="0"/>
          </a:p>
        </p:txBody>
      </p:sp>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2133600"/>
            <a:ext cx="5562600"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54215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sz="2800" dirty="0" smtClean="0">
                <a:effectLst/>
              </a:rPr>
              <a:t>Chapter 4: Cloud </a:t>
            </a:r>
            <a:r>
              <a:rPr lang="en-US" sz="2800" dirty="0">
                <a:effectLst/>
              </a:rPr>
              <a:t>Data Center Networking </a:t>
            </a:r>
            <a:r>
              <a:rPr lang="en-US" sz="2800" dirty="0" smtClean="0">
                <a:effectLst/>
              </a:rPr>
              <a:t>Technologies</a:t>
            </a:r>
            <a:endParaRPr lang="en-US" sz="28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18</a:t>
            </a:fld>
            <a:endParaRPr lang="en-US" dirty="0"/>
          </a:p>
        </p:txBody>
      </p:sp>
      <p:sp>
        <p:nvSpPr>
          <p:cNvPr id="8" name="Rectangle 3"/>
          <p:cNvSpPr>
            <a:spLocks noGrp="1" noChangeArrowheads="1"/>
          </p:cNvSpPr>
          <p:nvPr>
            <p:ph idx="1"/>
          </p:nvPr>
        </p:nvSpPr>
        <p:spPr>
          <a:xfrm>
            <a:off x="381000" y="914400"/>
            <a:ext cx="8382000" cy="4953000"/>
          </a:xfrm>
        </p:spPr>
        <p:txBody>
          <a:bodyPr>
            <a:noAutofit/>
          </a:bodyPr>
          <a:lstStyle/>
          <a:p>
            <a:pPr eaLnBrk="1" hangingPunct="1">
              <a:lnSpc>
                <a:spcPct val="80000"/>
              </a:lnSpc>
            </a:pPr>
            <a:r>
              <a:rPr lang="en-US" altLang="zh-CN" sz="2800" b="1" dirty="0" smtClean="0">
                <a:solidFill>
                  <a:schemeClr val="tx2"/>
                </a:solidFill>
                <a:ea typeface="SimSun" panose="02010600030101010101" pitchFamily="2" charset="-122"/>
              </a:rPr>
              <a:t>Why Fat-Tree?</a:t>
            </a:r>
          </a:p>
          <a:p>
            <a:pPr lvl="1" eaLnBrk="1" hangingPunct="1">
              <a:lnSpc>
                <a:spcPct val="80000"/>
              </a:lnSpc>
            </a:pPr>
            <a:r>
              <a:rPr lang="en-US" altLang="zh-CN" sz="2400" dirty="0" smtClean="0">
                <a:ea typeface="SimSun" panose="02010600030101010101" pitchFamily="2" charset="-122"/>
              </a:rPr>
              <a:t>Fat tree has identical bandwidth at any bisections</a:t>
            </a:r>
          </a:p>
          <a:p>
            <a:pPr lvl="1" eaLnBrk="1" hangingPunct="1">
              <a:lnSpc>
                <a:spcPct val="80000"/>
              </a:lnSpc>
            </a:pPr>
            <a:r>
              <a:rPr lang="en-US" altLang="zh-CN" sz="2400" dirty="0" smtClean="0">
                <a:ea typeface="SimSun" panose="02010600030101010101" pitchFamily="2" charset="-122"/>
              </a:rPr>
              <a:t>Each layer has the same aggregated bandwidth</a:t>
            </a:r>
            <a:endParaRPr lang="en-US" altLang="en-US" sz="2400" dirty="0" smtClean="0"/>
          </a:p>
          <a:p>
            <a:pPr eaLnBrk="1" hangingPunct="1"/>
            <a:r>
              <a:rPr lang="en-US" altLang="en-US" sz="2800" dirty="0" smtClean="0">
                <a:solidFill>
                  <a:schemeClr val="tx2"/>
                </a:solidFill>
              </a:rPr>
              <a:t>Can be built using cheap devices with uniform capacity</a:t>
            </a:r>
            <a:endParaRPr lang="en-US" altLang="en-US" sz="2400" dirty="0" smtClean="0">
              <a:solidFill>
                <a:schemeClr val="tx2"/>
              </a:solidFill>
            </a:endParaRPr>
          </a:p>
          <a:p>
            <a:pPr lvl="1" eaLnBrk="1" hangingPunct="1"/>
            <a:r>
              <a:rPr lang="en-US" altLang="en-US" sz="2400" dirty="0" smtClean="0"/>
              <a:t>Each port supports same speed as end host</a:t>
            </a:r>
          </a:p>
          <a:p>
            <a:pPr lvl="1" eaLnBrk="1" hangingPunct="1"/>
            <a:r>
              <a:rPr lang="en-US" altLang="en-US" sz="2400" dirty="0" smtClean="0"/>
              <a:t>All devices can transmit at line speed if packets are distributed uniform along available paths </a:t>
            </a:r>
          </a:p>
        </p:txBody>
      </p:sp>
      <p:pic>
        <p:nvPicPr>
          <p:cNvPr id="5" name="Picture 4" descr="fat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10000"/>
            <a:ext cx="7315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415176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sz="2800" dirty="0" smtClean="0">
                <a:effectLst/>
              </a:rPr>
              <a:t>Chapter 4: Cloud </a:t>
            </a:r>
            <a:r>
              <a:rPr lang="en-US" sz="2800" dirty="0">
                <a:effectLst/>
              </a:rPr>
              <a:t>Data Center Networking </a:t>
            </a:r>
            <a:r>
              <a:rPr lang="en-US" sz="2800" dirty="0" smtClean="0">
                <a:effectLst/>
              </a:rPr>
              <a:t>Technologies</a:t>
            </a:r>
            <a:endParaRPr lang="en-US" sz="28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19</a:t>
            </a:fld>
            <a:endParaRPr lang="en-US" dirty="0"/>
          </a:p>
        </p:txBody>
      </p:sp>
      <p:sp>
        <p:nvSpPr>
          <p:cNvPr id="8" name="Rectangle 3"/>
          <p:cNvSpPr>
            <a:spLocks noGrp="1" noChangeArrowheads="1"/>
          </p:cNvSpPr>
          <p:nvPr>
            <p:ph idx="1"/>
          </p:nvPr>
        </p:nvSpPr>
        <p:spPr>
          <a:xfrm>
            <a:off x="381000" y="914400"/>
            <a:ext cx="8382000" cy="4953000"/>
          </a:xfrm>
        </p:spPr>
        <p:txBody>
          <a:bodyPr>
            <a:noAutofit/>
          </a:bodyPr>
          <a:lstStyle/>
          <a:p>
            <a:pPr eaLnBrk="1" hangingPunct="1">
              <a:lnSpc>
                <a:spcPct val="80000"/>
              </a:lnSpc>
            </a:pPr>
            <a:r>
              <a:rPr lang="en-US" altLang="zh-CN" sz="2800" b="1" dirty="0" smtClean="0">
                <a:solidFill>
                  <a:schemeClr val="tx2"/>
                </a:solidFill>
                <a:ea typeface="SimSun" panose="02010600030101010101" pitchFamily="2" charset="-122"/>
              </a:rPr>
              <a:t>Why Fat-Tree?</a:t>
            </a:r>
          </a:p>
          <a:p>
            <a:pPr lvl="1" eaLnBrk="1" hangingPunct="1">
              <a:lnSpc>
                <a:spcPct val="80000"/>
              </a:lnSpc>
            </a:pPr>
            <a:r>
              <a:rPr lang="en-US" altLang="zh-CN" sz="2400" dirty="0" smtClean="0">
                <a:ea typeface="SimSun" panose="02010600030101010101" pitchFamily="2" charset="-122"/>
              </a:rPr>
              <a:t>Fat tree has identical bandwidth at any bisections</a:t>
            </a:r>
          </a:p>
          <a:p>
            <a:pPr lvl="1" eaLnBrk="1" hangingPunct="1">
              <a:lnSpc>
                <a:spcPct val="80000"/>
              </a:lnSpc>
            </a:pPr>
            <a:r>
              <a:rPr lang="en-US" altLang="zh-CN" sz="2400" dirty="0" smtClean="0">
                <a:ea typeface="SimSun" panose="02010600030101010101" pitchFamily="2" charset="-122"/>
              </a:rPr>
              <a:t>Each layer has the same aggregated bandwidth</a:t>
            </a:r>
            <a:endParaRPr lang="en-US" altLang="en-US" sz="2400" dirty="0" smtClean="0"/>
          </a:p>
          <a:p>
            <a:pPr eaLnBrk="1" hangingPunct="1"/>
            <a:r>
              <a:rPr lang="en-US" altLang="en-US" sz="2800" dirty="0" smtClean="0">
                <a:solidFill>
                  <a:schemeClr val="tx2"/>
                </a:solidFill>
              </a:rPr>
              <a:t>Can be built using cheap devices with uniform capacity</a:t>
            </a:r>
            <a:endParaRPr lang="en-US" altLang="en-US" sz="2400" dirty="0" smtClean="0">
              <a:solidFill>
                <a:schemeClr val="tx2"/>
              </a:solidFill>
            </a:endParaRPr>
          </a:p>
          <a:p>
            <a:pPr lvl="1" eaLnBrk="1" hangingPunct="1"/>
            <a:r>
              <a:rPr lang="en-US" altLang="en-US" sz="2400" dirty="0" smtClean="0"/>
              <a:t>Each port supports same speed as end host</a:t>
            </a:r>
          </a:p>
          <a:p>
            <a:pPr lvl="1" eaLnBrk="1" hangingPunct="1"/>
            <a:r>
              <a:rPr lang="en-US" altLang="en-US" sz="2400" dirty="0" smtClean="0"/>
              <a:t>All devices can transmit at line speed if packets are distributed uniform along available paths </a:t>
            </a:r>
          </a:p>
        </p:txBody>
      </p:sp>
    </p:spTree>
    <p:extLst>
      <p:ext uri="{BB962C8B-B14F-4D97-AF65-F5344CB8AC3E}">
        <p14:creationId xmlns:p14="http://schemas.microsoft.com/office/powerpoint/2010/main" val="3564664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914400"/>
            <a:ext cx="8382000" cy="7391400"/>
          </a:xfrm>
        </p:spPr>
        <p:txBody>
          <a:bodyPr/>
          <a:lstStyle/>
          <a:p>
            <a:r>
              <a:rPr lang="en-US" sz="2000" dirty="0"/>
              <a:t>When data travels from a VM within a physical server through the network to another server, or to storage, or outside the datacenter, it must travel through a variety of network equipment as shown in </a:t>
            </a:r>
            <a:r>
              <a:rPr lang="en-US" sz="2000" dirty="0">
                <a:hlinkClick r:id="rId3"/>
              </a:rPr>
              <a:t>Figure 4.1</a:t>
            </a:r>
            <a:r>
              <a:rPr lang="en-US" sz="2000" dirty="0"/>
              <a:t>. </a:t>
            </a:r>
            <a:endParaRPr lang="en-US" sz="2000" dirty="0" smtClean="0"/>
          </a:p>
          <a:p>
            <a:endParaRPr lang="en-US" sz="2000" dirty="0" smtClean="0"/>
          </a:p>
        </p:txBody>
      </p:sp>
      <p:sp>
        <p:nvSpPr>
          <p:cNvPr id="4" name="Slide Number Placeholder 3"/>
          <p:cNvSpPr>
            <a:spLocks noGrp="1"/>
          </p:cNvSpPr>
          <p:nvPr>
            <p:ph type="sldNum" sz="quarter" idx="10"/>
          </p:nvPr>
        </p:nvSpPr>
        <p:spPr/>
        <p:txBody>
          <a:bodyPr/>
          <a:lstStyle/>
          <a:p>
            <a:fld id="{1C0FA7A3-0FBF-4EC3-BE45-825983E95E58}" type="slidenum">
              <a:rPr lang="en-US" smtClean="0"/>
              <a:pPr/>
              <a:t>20</a:t>
            </a:fld>
            <a:endParaRPr lang="en-US" dirty="0"/>
          </a:p>
        </p:txBody>
      </p:sp>
      <p:sp>
        <p:nvSpPr>
          <p:cNvPr id="6" name="Title 4"/>
          <p:cNvSpPr>
            <a:spLocks noGrp="1"/>
          </p:cNvSpPr>
          <p:nvPr>
            <p:ph type="title"/>
          </p:nvPr>
        </p:nvSpPr>
        <p:spPr>
          <a:xfrm>
            <a:off x="228600" y="122237"/>
            <a:ext cx="8686800" cy="563563"/>
          </a:xfrm>
        </p:spPr>
        <p:txBody>
          <a:bodyPr/>
          <a:lstStyle/>
          <a:p>
            <a:r>
              <a:rPr lang="en-US" dirty="0">
                <a:effectLst/>
              </a:rPr>
              <a:t>Data center network </a:t>
            </a:r>
            <a:r>
              <a:rPr lang="en-US" dirty="0" smtClean="0">
                <a:effectLst/>
              </a:rPr>
              <a:t>virtual switches</a:t>
            </a:r>
            <a:endParaRPr lang="en-US" dirty="0">
              <a:effectLst/>
            </a:endParaRPr>
          </a:p>
        </p:txBody>
      </p:sp>
      <p:pic>
        <p:nvPicPr>
          <p:cNvPr id="5" name="Picture 2" descr="f04-01-97801280072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981200"/>
            <a:ext cx="62865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091327"/>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sz="2800" dirty="0"/>
              <a:t>Data traveling to another VM within the same physical server can be routed using a virtual switch (</a:t>
            </a:r>
            <a:r>
              <a:rPr lang="en-US" sz="2800" dirty="0" err="1"/>
              <a:t>vSwitch</a:t>
            </a:r>
            <a:r>
              <a:rPr lang="en-US" sz="2800" dirty="0"/>
              <a:t>) within the server. Data traveling to another physical server within the same rack is routed through the </a:t>
            </a:r>
            <a:r>
              <a:rPr lang="en-US" sz="2800" dirty="0" err="1"/>
              <a:t>vSwitch</a:t>
            </a:r>
            <a:r>
              <a:rPr lang="en-US" sz="2800" dirty="0"/>
              <a:t> and the switch at the top of the rack. </a:t>
            </a:r>
            <a:endParaRPr lang="en-US" sz="1600" dirty="0"/>
          </a:p>
          <a:p>
            <a:r>
              <a:rPr lang="en-US" sz="2800" dirty="0" smtClean="0"/>
              <a:t>Data </a:t>
            </a:r>
            <a:r>
              <a:rPr lang="en-US" sz="2800" dirty="0"/>
              <a:t>traveling between racks will be further routed through an aggregation switch or end of row (</a:t>
            </a:r>
            <a:r>
              <a:rPr lang="en-US" sz="2800" dirty="0" err="1"/>
              <a:t>EoR</a:t>
            </a:r>
            <a:r>
              <a:rPr lang="en-US" sz="2800" dirty="0"/>
              <a:t>) switch. If this data needs to be routed to another part of the data center or to the internet, it may also travel through a data center core switch/router. </a:t>
            </a:r>
            <a:endParaRPr lang="en-US" sz="2800" dirty="0" smtClean="0"/>
          </a:p>
        </p:txBody>
      </p:sp>
      <p:sp>
        <p:nvSpPr>
          <p:cNvPr id="4" name="Slide Number Placeholder 3"/>
          <p:cNvSpPr>
            <a:spLocks noGrp="1"/>
          </p:cNvSpPr>
          <p:nvPr>
            <p:ph type="sldNum" sz="quarter" idx="10"/>
          </p:nvPr>
        </p:nvSpPr>
        <p:spPr/>
        <p:txBody>
          <a:bodyPr/>
          <a:lstStyle/>
          <a:p>
            <a:fld id="{1C0FA7A3-0FBF-4EC3-BE45-825983E95E58}" type="slidenum">
              <a:rPr lang="en-US" smtClean="0"/>
              <a:pPr/>
              <a:t>21</a:t>
            </a:fld>
            <a:endParaRPr lang="en-US" dirty="0"/>
          </a:p>
        </p:txBody>
      </p:sp>
      <p:sp>
        <p:nvSpPr>
          <p:cNvPr id="6" name="Title 4"/>
          <p:cNvSpPr>
            <a:spLocks noGrp="1"/>
          </p:cNvSpPr>
          <p:nvPr>
            <p:ph type="title"/>
          </p:nvPr>
        </p:nvSpPr>
        <p:spPr>
          <a:xfrm>
            <a:off x="228600" y="122237"/>
            <a:ext cx="8686800" cy="563563"/>
          </a:xfrm>
        </p:spPr>
        <p:txBody>
          <a:bodyPr/>
          <a:lstStyle/>
          <a:p>
            <a:r>
              <a:rPr lang="en-US" dirty="0">
                <a:effectLst/>
              </a:rPr>
              <a:t>Data center network virtual switches</a:t>
            </a:r>
          </a:p>
        </p:txBody>
      </p:sp>
    </p:spTree>
    <p:extLst>
      <p:ext uri="{BB962C8B-B14F-4D97-AF65-F5344CB8AC3E}">
        <p14:creationId xmlns:p14="http://schemas.microsoft.com/office/powerpoint/2010/main" val="74931388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sz="2800" dirty="0"/>
              <a:t>Each of these networking components requires different levels of features and performance. </a:t>
            </a:r>
          </a:p>
          <a:p>
            <a:r>
              <a:rPr lang="en-US" sz="2800" dirty="0"/>
              <a:t>This section will show where these different components are located in the network, and the features and performance required for each.</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22</a:t>
            </a:fld>
            <a:endParaRPr lang="en-US" dirty="0"/>
          </a:p>
        </p:txBody>
      </p:sp>
      <p:sp>
        <p:nvSpPr>
          <p:cNvPr id="6" name="Title 4"/>
          <p:cNvSpPr>
            <a:spLocks noGrp="1"/>
          </p:cNvSpPr>
          <p:nvPr>
            <p:ph type="title"/>
          </p:nvPr>
        </p:nvSpPr>
        <p:spPr>
          <a:xfrm>
            <a:off x="228600" y="122237"/>
            <a:ext cx="8686800" cy="563563"/>
          </a:xfrm>
        </p:spPr>
        <p:txBody>
          <a:bodyPr/>
          <a:lstStyle/>
          <a:p>
            <a:r>
              <a:rPr lang="en-US" dirty="0">
                <a:effectLst/>
              </a:rPr>
              <a:t>Data center network virtual switches</a:t>
            </a:r>
          </a:p>
        </p:txBody>
      </p:sp>
    </p:spTree>
    <p:extLst>
      <p:ext uri="{BB962C8B-B14F-4D97-AF65-F5344CB8AC3E}">
        <p14:creationId xmlns:p14="http://schemas.microsoft.com/office/powerpoint/2010/main" val="9061137"/>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Data center network virtual switches</a:t>
            </a:r>
            <a:endParaRPr lang="en-US" cap="all" dirty="0">
              <a:effectLst/>
            </a:endParaRPr>
          </a:p>
        </p:txBody>
      </p:sp>
      <p:sp>
        <p:nvSpPr>
          <p:cNvPr id="5" name="Content Placeholder 4"/>
          <p:cNvSpPr>
            <a:spLocks noGrp="1"/>
          </p:cNvSpPr>
          <p:nvPr>
            <p:ph idx="1"/>
          </p:nvPr>
        </p:nvSpPr>
        <p:spPr/>
        <p:txBody>
          <a:bodyPr/>
          <a:lstStyle/>
          <a:p>
            <a:r>
              <a:rPr lang="en-US" b="1" cap="all" dirty="0"/>
              <a:t>FIGURE 4.2</a:t>
            </a:r>
            <a:r>
              <a:rPr lang="en-US" dirty="0"/>
              <a:t> Logical diagram of a virtual switch within the server shelf.</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23</a:t>
            </a:fld>
            <a:endParaRPr lang="en-US" dirty="0"/>
          </a:p>
        </p:txBody>
      </p:sp>
      <p:pic>
        <p:nvPicPr>
          <p:cNvPr id="2050" name="Picture 2" descr="https://www.safaribooksonline.com/library/view/cloud-networking/9780128007280/images/B9780128007280000047/f04-02-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209800"/>
            <a:ext cx="4762500" cy="3362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228331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a:t>The concept of VMs has been around for some time and allows multiple guest operating systems to run on a single physical server. </a:t>
            </a:r>
            <a:endParaRPr lang="en-US" dirty="0" smtClean="0"/>
          </a:p>
          <a:p>
            <a:r>
              <a:rPr lang="en-US" dirty="0" smtClean="0"/>
              <a:t>This </a:t>
            </a:r>
            <a:r>
              <a:rPr lang="en-US" dirty="0"/>
              <a:t>improves data center efficiencies through higher server utilization and flexible resource allocation. </a:t>
            </a:r>
            <a:endParaRPr lang="en-US" dirty="0" smtClean="0"/>
          </a:p>
          <a:p>
            <a:r>
              <a:rPr lang="en-US" dirty="0" smtClean="0"/>
              <a:t>But </a:t>
            </a:r>
            <a:r>
              <a:rPr lang="en-US" dirty="0"/>
              <a:t>it also increases the software complexity by requiring switching capability between these VMs using a </a:t>
            </a:r>
            <a:r>
              <a:rPr lang="en-US" dirty="0" err="1"/>
              <a:t>vSwitch</a:t>
            </a:r>
            <a:r>
              <a:rPr lang="en-US" dirty="0"/>
              <a:t> as shown in </a:t>
            </a:r>
            <a:r>
              <a:rPr lang="en-US" dirty="0">
                <a:hlinkClick r:id="rId3"/>
              </a:rPr>
              <a:t>Figure 4.2</a:t>
            </a:r>
            <a:r>
              <a:rPr lang="en-US" dirty="0"/>
              <a:t>.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24</a:t>
            </a:fld>
            <a:endParaRPr lang="en-US" dirty="0"/>
          </a:p>
        </p:txBody>
      </p:sp>
      <p:sp>
        <p:nvSpPr>
          <p:cNvPr id="6" name="Title 4"/>
          <p:cNvSpPr>
            <a:spLocks noGrp="1"/>
          </p:cNvSpPr>
          <p:nvPr>
            <p:ph type="title"/>
          </p:nvPr>
        </p:nvSpPr>
        <p:spPr>
          <a:xfrm>
            <a:off x="228600" y="122237"/>
            <a:ext cx="8686800" cy="563563"/>
          </a:xfrm>
        </p:spPr>
        <p:txBody>
          <a:bodyPr/>
          <a:lstStyle/>
          <a:p>
            <a:r>
              <a:rPr lang="en-US" sz="4000" dirty="0">
                <a:effectLst/>
              </a:rPr>
              <a:t>Data center network virtual switches</a:t>
            </a:r>
          </a:p>
        </p:txBody>
      </p:sp>
    </p:spTree>
    <p:extLst>
      <p:ext uri="{BB962C8B-B14F-4D97-AF65-F5344CB8AC3E}">
        <p14:creationId xmlns:p14="http://schemas.microsoft.com/office/powerpoint/2010/main" val="2889773476"/>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a:t>In a virtualized server, the hypervisor is a program that configures and maintains both the VMs and the </a:t>
            </a:r>
            <a:r>
              <a:rPr lang="en-US" dirty="0" err="1"/>
              <a:t>vSwitch</a:t>
            </a:r>
            <a:r>
              <a:rPr lang="en-US" dirty="0"/>
              <a:t>. </a:t>
            </a:r>
            <a:endParaRPr lang="en-US" dirty="0" smtClean="0"/>
          </a:p>
          <a:p>
            <a:r>
              <a:rPr lang="en-US" dirty="0" smtClean="0"/>
              <a:t>A</a:t>
            </a:r>
            <a:r>
              <a:rPr lang="en-US" dirty="0"/>
              <a:t> network interface device is used to connect the server CPU chip set to the data center network, which is usually a connection to an Ethernet </a:t>
            </a:r>
            <a:r>
              <a:rPr lang="en-US" dirty="0" err="1"/>
              <a:t>ToR</a:t>
            </a:r>
            <a:r>
              <a:rPr lang="en-US" dirty="0"/>
              <a:t> switch. </a:t>
            </a:r>
            <a:endParaRPr lang="en-US" dirty="0" smtClean="0"/>
          </a:p>
          <a:p>
            <a:r>
              <a:rPr lang="en-US" dirty="0" smtClean="0"/>
              <a:t>This </a:t>
            </a:r>
            <a:r>
              <a:rPr lang="en-US" dirty="0"/>
              <a:t>device may be a network interface card (NIC) or a LAN on motherboard (LOM) device.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25</a:t>
            </a:fld>
            <a:endParaRPr lang="en-US" dirty="0"/>
          </a:p>
        </p:txBody>
      </p:sp>
      <p:sp>
        <p:nvSpPr>
          <p:cNvPr id="6" name="Title 4"/>
          <p:cNvSpPr>
            <a:spLocks noGrp="1"/>
          </p:cNvSpPr>
          <p:nvPr>
            <p:ph type="title"/>
          </p:nvPr>
        </p:nvSpPr>
        <p:spPr>
          <a:xfrm>
            <a:off x="228600" y="122237"/>
            <a:ext cx="8686800" cy="563563"/>
          </a:xfrm>
        </p:spPr>
        <p:txBody>
          <a:bodyPr/>
          <a:lstStyle/>
          <a:p>
            <a:r>
              <a:rPr lang="en-US" sz="4000" dirty="0">
                <a:effectLst/>
              </a:rPr>
              <a:t>Data center network virtual switches</a:t>
            </a:r>
          </a:p>
        </p:txBody>
      </p:sp>
    </p:spTree>
    <p:extLst>
      <p:ext uri="{BB962C8B-B14F-4D97-AF65-F5344CB8AC3E}">
        <p14:creationId xmlns:p14="http://schemas.microsoft.com/office/powerpoint/2010/main" val="98978098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smtClean="0"/>
              <a:t>Virtual switching provides </a:t>
            </a:r>
            <a:r>
              <a:rPr lang="en-US" dirty="0"/>
              <a:t>very </a:t>
            </a:r>
            <a:r>
              <a:rPr lang="en-US" dirty="0" smtClean="0"/>
              <a:t>high bandwidth </a:t>
            </a:r>
            <a:r>
              <a:rPr lang="en-US" dirty="0"/>
              <a:t>virtual connections between VMs within the same </a:t>
            </a:r>
            <a:r>
              <a:rPr lang="en-US" dirty="0" smtClean="0"/>
              <a:t>server</a:t>
            </a:r>
          </a:p>
          <a:p>
            <a:r>
              <a:rPr lang="en-US" dirty="0" smtClean="0"/>
              <a:t>But </a:t>
            </a:r>
            <a:r>
              <a:rPr lang="en-US" dirty="0"/>
              <a:t>data movement in and out of the server is constrained by the network interface bandwidth. This is one reason that 10GbE is used in many of these virtualized servers.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26</a:t>
            </a:fld>
            <a:endParaRPr lang="en-US" dirty="0"/>
          </a:p>
        </p:txBody>
      </p:sp>
      <p:sp>
        <p:nvSpPr>
          <p:cNvPr id="6" name="Title 4"/>
          <p:cNvSpPr>
            <a:spLocks noGrp="1"/>
          </p:cNvSpPr>
          <p:nvPr>
            <p:ph type="title"/>
          </p:nvPr>
        </p:nvSpPr>
        <p:spPr>
          <a:xfrm>
            <a:off x="228600" y="122237"/>
            <a:ext cx="8686800" cy="563563"/>
          </a:xfrm>
        </p:spPr>
        <p:txBody>
          <a:bodyPr/>
          <a:lstStyle/>
          <a:p>
            <a:r>
              <a:rPr lang="en-US" sz="4000" dirty="0">
                <a:effectLst/>
              </a:rPr>
              <a:t>Data center network virtual switches</a:t>
            </a:r>
          </a:p>
        </p:txBody>
      </p:sp>
    </p:spTree>
    <p:extLst>
      <p:ext uri="{BB962C8B-B14F-4D97-AF65-F5344CB8AC3E}">
        <p14:creationId xmlns:p14="http://schemas.microsoft.com/office/powerpoint/2010/main" val="209622588"/>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a:t>Another factor to consider is network management. </a:t>
            </a:r>
            <a:endParaRPr lang="en-US" dirty="0" smtClean="0"/>
          </a:p>
          <a:p>
            <a:r>
              <a:rPr lang="en-US" dirty="0" smtClean="0"/>
              <a:t>Traditionally</a:t>
            </a:r>
            <a:r>
              <a:rPr lang="en-US" dirty="0"/>
              <a:t>, data centers employ server administrators and network administrators. </a:t>
            </a:r>
            <a:endParaRPr lang="en-US" dirty="0" smtClean="0"/>
          </a:p>
          <a:p>
            <a:r>
              <a:rPr lang="en-US" dirty="0" smtClean="0"/>
              <a:t>Ideally</a:t>
            </a:r>
            <a:r>
              <a:rPr lang="en-US" dirty="0"/>
              <a:t>, the </a:t>
            </a:r>
            <a:r>
              <a:rPr lang="en-US" dirty="0" err="1"/>
              <a:t>vSwitch</a:t>
            </a:r>
            <a:r>
              <a:rPr lang="en-US" dirty="0"/>
              <a:t> would be a seamless part of the overall data center network. </a:t>
            </a:r>
            <a:endParaRPr lang="en-US" dirty="0" smtClean="0"/>
          </a:p>
          <a:p>
            <a:r>
              <a:rPr lang="en-US" dirty="0" smtClean="0"/>
              <a:t>But </a:t>
            </a:r>
            <a:r>
              <a:rPr lang="en-US" dirty="0"/>
              <a:t>in reality, the </a:t>
            </a:r>
            <a:r>
              <a:rPr lang="en-US" dirty="0" err="1"/>
              <a:t>vSwitch</a:t>
            </a:r>
            <a:r>
              <a:rPr lang="en-US" dirty="0"/>
              <a:t> is configured and managed by the server administrator.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27</a:t>
            </a:fld>
            <a:endParaRPr lang="en-US" dirty="0"/>
          </a:p>
        </p:txBody>
      </p:sp>
      <p:sp>
        <p:nvSpPr>
          <p:cNvPr id="6" name="Title 4"/>
          <p:cNvSpPr>
            <a:spLocks noGrp="1"/>
          </p:cNvSpPr>
          <p:nvPr>
            <p:ph type="title"/>
          </p:nvPr>
        </p:nvSpPr>
        <p:spPr>
          <a:xfrm>
            <a:off x="228600" y="122237"/>
            <a:ext cx="8686800" cy="563563"/>
          </a:xfrm>
        </p:spPr>
        <p:txBody>
          <a:bodyPr/>
          <a:lstStyle/>
          <a:p>
            <a:r>
              <a:rPr lang="en-US" sz="4000" dirty="0">
                <a:effectLst/>
              </a:rPr>
              <a:t>Data center network virtual switches</a:t>
            </a:r>
          </a:p>
        </p:txBody>
      </p:sp>
    </p:spTree>
    <p:extLst>
      <p:ext uri="{BB962C8B-B14F-4D97-AF65-F5344CB8AC3E}">
        <p14:creationId xmlns:p14="http://schemas.microsoft.com/office/powerpoint/2010/main" val="19518179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895" y="1143000"/>
            <a:ext cx="8382000" cy="7391400"/>
          </a:xfrm>
        </p:spPr>
        <p:txBody>
          <a:bodyPr/>
          <a:lstStyle/>
          <a:p>
            <a:r>
              <a:rPr lang="en-US" dirty="0"/>
              <a:t>This requires tight coordination between the server administrator and network administrator which can increase configuration time as well as introduce errors. </a:t>
            </a:r>
            <a:endParaRPr lang="en-US" dirty="0" smtClean="0"/>
          </a:p>
          <a:p>
            <a:r>
              <a:rPr lang="en-US" dirty="0" smtClean="0"/>
              <a:t>In </a:t>
            </a:r>
            <a:r>
              <a:rPr lang="en-US" dirty="0"/>
              <a:t>addition, it is ideal if the </a:t>
            </a:r>
            <a:r>
              <a:rPr lang="en-US" dirty="0" err="1"/>
              <a:t>vSwitch</a:t>
            </a:r>
            <a:r>
              <a:rPr lang="en-US" dirty="0"/>
              <a:t> uses the same forwarding rules and capabilities that is used by all of the other equipment in the network in order to provide unified services. This is not always the case, requiring additional coordination with the physical switches.</a:t>
            </a:r>
            <a:endParaRPr lang="en-US" sz="1600" dirty="0"/>
          </a:p>
          <a:p>
            <a:r>
              <a:rPr lang="en-US" dirty="0" smtClean="0"/>
              <a:t>. </a:t>
            </a:r>
            <a:endParaRPr lang="en-US" sz="1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28</a:t>
            </a:fld>
            <a:endParaRPr lang="en-US" dirty="0"/>
          </a:p>
        </p:txBody>
      </p:sp>
      <p:sp>
        <p:nvSpPr>
          <p:cNvPr id="6" name="Title 4"/>
          <p:cNvSpPr>
            <a:spLocks noGrp="1"/>
          </p:cNvSpPr>
          <p:nvPr>
            <p:ph type="title"/>
          </p:nvPr>
        </p:nvSpPr>
        <p:spPr>
          <a:xfrm>
            <a:off x="228600" y="122237"/>
            <a:ext cx="8686800" cy="563563"/>
          </a:xfrm>
        </p:spPr>
        <p:txBody>
          <a:bodyPr/>
          <a:lstStyle/>
          <a:p>
            <a:r>
              <a:rPr lang="en-US" sz="4000" dirty="0">
                <a:effectLst/>
              </a:rPr>
              <a:t>Data center network virtual switches</a:t>
            </a:r>
          </a:p>
        </p:txBody>
      </p:sp>
    </p:spTree>
    <p:extLst>
      <p:ext uri="{BB962C8B-B14F-4D97-AF65-F5344CB8AC3E}">
        <p14:creationId xmlns:p14="http://schemas.microsoft.com/office/powerpoint/2010/main" val="263329863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066800"/>
            <a:ext cx="8382000" cy="7391400"/>
          </a:xfrm>
        </p:spPr>
        <p:txBody>
          <a:bodyPr/>
          <a:lstStyle/>
          <a:p>
            <a:r>
              <a:rPr lang="en-US" dirty="0">
                <a:hlinkClick r:id="rId3"/>
              </a:rPr>
              <a:t>https://www.youtube.com/watch?v=-</a:t>
            </a:r>
            <a:r>
              <a:rPr lang="en-US" dirty="0" smtClean="0">
                <a:hlinkClick r:id="rId3"/>
              </a:rPr>
              <a:t>Hltydu9PXk</a:t>
            </a:r>
            <a:endParaRPr lang="en-US" dirty="0" smtClean="0"/>
          </a:p>
          <a:p>
            <a:endParaRPr lang="en-US" sz="1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29</a:t>
            </a:fld>
            <a:endParaRPr lang="en-US" dirty="0"/>
          </a:p>
        </p:txBody>
      </p:sp>
      <p:sp>
        <p:nvSpPr>
          <p:cNvPr id="6" name="Title 4"/>
          <p:cNvSpPr>
            <a:spLocks noGrp="1"/>
          </p:cNvSpPr>
          <p:nvPr>
            <p:ph type="title"/>
          </p:nvPr>
        </p:nvSpPr>
        <p:spPr>
          <a:xfrm>
            <a:off x="228600" y="122237"/>
            <a:ext cx="8686800" cy="563563"/>
          </a:xfrm>
        </p:spPr>
        <p:txBody>
          <a:bodyPr/>
          <a:lstStyle/>
          <a:p>
            <a:r>
              <a:rPr lang="en-US" dirty="0" smtClean="0">
                <a:effectLst/>
              </a:rPr>
              <a:t>VMWARE YOUTUBE</a:t>
            </a:r>
            <a:endParaRPr lang="en-US" dirty="0">
              <a:effectLst/>
            </a:endParaRPr>
          </a:p>
        </p:txBody>
      </p:sp>
    </p:spTree>
    <p:extLst>
      <p:ext uri="{BB962C8B-B14F-4D97-AF65-F5344CB8AC3E}">
        <p14:creationId xmlns:p14="http://schemas.microsoft.com/office/powerpoint/2010/main" val="212749750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10588</TotalTime>
  <Words>1630</Words>
  <Application>Microsoft Office PowerPoint</Application>
  <PresentationFormat>On-screen Show (4:3)</PresentationFormat>
  <Paragraphs>160</Paragraphs>
  <Slides>30</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SimSun</vt:lpstr>
      <vt:lpstr>Arial</vt:lpstr>
      <vt:lpstr>Calibri</vt:lpstr>
      <vt:lpstr>Wingdings</vt:lpstr>
      <vt:lpstr>Default Design</vt:lpstr>
      <vt:lpstr>EETS 8355: data center network engineering</vt:lpstr>
      <vt:lpstr>Chapter 4: Cloud Data Center Networking Technologies</vt:lpstr>
      <vt:lpstr>Traditional multitiered enterprise networks</vt:lpstr>
      <vt:lpstr>Chapter 4: Cloud Data Center Networking Technologies</vt:lpstr>
      <vt:lpstr>FIGURE 4.1 Traditional enterprise data center network</vt:lpstr>
      <vt:lpstr>Flat data center networks</vt:lpstr>
      <vt:lpstr>Top-of-rack (TOR) Switches</vt:lpstr>
      <vt:lpstr>Top-of-rack (TOR) Switches</vt:lpstr>
      <vt:lpstr>Top-of-rack (TOR) Switches</vt:lpstr>
      <vt:lpstr>Top-of-rack (TOR) Switches</vt:lpstr>
      <vt:lpstr>end-of-row (eor) Switches</vt:lpstr>
      <vt:lpstr>end-of-row (eor) Switches</vt:lpstr>
      <vt:lpstr>FABRIC EXTENDERS</vt:lpstr>
      <vt:lpstr>end-of-row (eor) Switches</vt:lpstr>
      <vt:lpstr>AGGREGATION AND CORE SWITCHES</vt:lpstr>
      <vt:lpstr>AGGREGATION AND CORE SWITCHES</vt:lpstr>
      <vt:lpstr>Chapter 4: Cloud Data Center Networking Technologies</vt:lpstr>
      <vt:lpstr>Chapter 4: Cloud Data Center Networking Technologies</vt:lpstr>
      <vt:lpstr>Chapter 4: Cloud Data Center Networking Technologies</vt:lpstr>
      <vt:lpstr>Chapter 4: Cloud Data Center Networking Technologies</vt:lpstr>
      <vt:lpstr>Data center network virtual switches</vt:lpstr>
      <vt:lpstr>Data center network virtual switches</vt:lpstr>
      <vt:lpstr>Data center network virtual switches</vt:lpstr>
      <vt:lpstr>Data center network virtual switches</vt:lpstr>
      <vt:lpstr>Data center network virtual switches</vt:lpstr>
      <vt:lpstr>Data center network virtual switches</vt:lpstr>
      <vt:lpstr>Data center network virtual switches</vt:lpstr>
      <vt:lpstr>Data center network virtual switches</vt:lpstr>
      <vt:lpstr>Data center network virtual switches</vt:lpstr>
      <vt:lpstr>VMWARE YOUTUBE</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Kingsley, Scott</cp:lastModifiedBy>
  <cp:revision>768</cp:revision>
  <dcterms:created xsi:type="dcterms:W3CDTF">2004-08-08T18:58:35Z</dcterms:created>
  <dcterms:modified xsi:type="dcterms:W3CDTF">2022-10-02T03:55:21Z</dcterms:modified>
</cp:coreProperties>
</file>