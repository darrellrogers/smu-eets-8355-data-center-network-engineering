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8" r:id="rId2"/>
    <p:sldId id="589" r:id="rId3"/>
    <p:sldId id="590" r:id="rId4"/>
    <p:sldId id="592" r:id="rId5"/>
    <p:sldId id="593" r:id="rId6"/>
    <p:sldId id="595" r:id="rId7"/>
    <p:sldId id="600" r:id="rId8"/>
    <p:sldId id="601" r:id="rId9"/>
    <p:sldId id="602" r:id="rId10"/>
    <p:sldId id="603" r:id="rId11"/>
    <p:sldId id="604" r:id="rId12"/>
    <p:sldId id="681" r:id="rId13"/>
    <p:sldId id="606" r:id="rId14"/>
    <p:sldId id="607" r:id="rId15"/>
    <p:sldId id="668" r:id="rId1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4004">
          <p15:clr>
            <a:srgbClr val="A4A3A4"/>
          </p15:clr>
        </p15:guide>
        <p15:guide id="3" orient="horz" pos="4136">
          <p15:clr>
            <a:srgbClr val="A4A3A4"/>
          </p15:clr>
        </p15:guide>
        <p15:guide id="4" pos="2880">
          <p15:clr>
            <a:srgbClr val="A4A3A4"/>
          </p15:clr>
        </p15:guide>
        <p15:guide id="5" pos="144">
          <p15:clr>
            <a:srgbClr val="A4A3A4"/>
          </p15:clr>
        </p15:guide>
        <p15:guide id="6" pos="55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EA6A"/>
    <a:srgbClr val="16DE0C"/>
    <a:srgbClr val="FFFF00"/>
    <a:srgbClr val="1F09BF"/>
    <a:srgbClr val="FBFBFB"/>
    <a:srgbClr val="2A3A68"/>
    <a:srgbClr val="FFFFFF"/>
    <a:srgbClr val="FFFFCC"/>
    <a:srgbClr val="CC99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39" autoAdjust="0"/>
    <p:restoredTop sz="86834" autoAdjust="0"/>
  </p:normalViewPr>
  <p:slideViewPr>
    <p:cSldViewPr>
      <p:cViewPr varScale="1">
        <p:scale>
          <a:sx n="76" d="100"/>
          <a:sy n="76" d="100"/>
        </p:scale>
        <p:origin x="1781" y="58"/>
      </p:cViewPr>
      <p:guideLst>
        <p:guide orient="horz" pos="2160"/>
        <p:guide orient="horz" pos="4004"/>
        <p:guide orient="horz" pos="4136"/>
        <p:guide pos="2880"/>
        <p:guide pos="144"/>
        <p:guide pos="55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8190"/>
    </p:cViewPr>
  </p:sorterViewPr>
  <p:notesViewPr>
    <p:cSldViewPr>
      <p:cViewPr varScale="1">
        <p:scale>
          <a:sx n="120" d="100"/>
          <a:sy n="120" d="100"/>
        </p:scale>
        <p:origin x="-1472" y="-10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89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8B8FAEF-4EC0-46B6-842C-DD1E8A8FDD9A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3833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en-US" dirty="0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 dirty="0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461950BF-5E6A-4CD6-97CF-B82A16459836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7077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1950BF-5E6A-4CD6-97CF-B82A16459836}" type="slidenum">
              <a:rPr lang="en-US" smtClean="0"/>
              <a:pPr/>
              <a:t>0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1950BF-5E6A-4CD6-97CF-B82A1645983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153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04" name="Picture 36" descr="stmntpg_bkgrd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717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33401" y="1931988"/>
            <a:ext cx="8153400" cy="887412"/>
          </a:xfrm>
        </p:spPr>
        <p:txBody>
          <a:bodyPr/>
          <a:lstStyle>
            <a:lvl1pPr algn="ctr">
              <a:defRPr sz="54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31825" y="2898775"/>
            <a:ext cx="7851775" cy="3121025"/>
          </a:xfrm>
        </p:spPr>
        <p:txBody>
          <a:bodyPr/>
          <a:lstStyle>
            <a:lvl1pPr marL="0" indent="0" algn="ctr">
              <a:buFontTx/>
              <a:buNone/>
              <a:defRPr sz="3200" i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22237"/>
            <a:ext cx="8686800" cy="563563"/>
          </a:xfrm>
        </p:spPr>
        <p:txBody>
          <a:bodyPr/>
          <a:lstStyle>
            <a:lvl1pPr>
              <a:defRPr sz="36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382000" cy="4953000"/>
          </a:xfrm>
        </p:spPr>
        <p:txBody>
          <a:bodyPr/>
          <a:lstStyle>
            <a:lvl1pPr>
              <a:buClr>
                <a:schemeClr val="tx2"/>
              </a:buClr>
              <a:defRPr sz="3200">
                <a:latin typeface="Calibri" pitchFamily="34" charset="0"/>
              </a:defRPr>
            </a:lvl1pPr>
            <a:lvl2pPr>
              <a:buClr>
                <a:srgbClr val="C00000"/>
              </a:buClr>
              <a:buFont typeface="Wingdings" pitchFamily="2" charset="2"/>
              <a:buChar char="§"/>
              <a:defRPr sz="2800">
                <a:latin typeface="Calibri" pitchFamily="34" charset="0"/>
              </a:defRPr>
            </a:lvl2pPr>
            <a:lvl3pPr>
              <a:defRPr sz="2400">
                <a:latin typeface="Calibri" pitchFamily="34" charset="0"/>
              </a:defRPr>
            </a:lvl3pPr>
            <a:lvl4pPr>
              <a:defRPr sz="2400">
                <a:latin typeface="Calibri" pitchFamily="34" charset="0"/>
              </a:defRPr>
            </a:lvl4pPr>
            <a:lvl5pPr>
              <a:defRPr sz="2400"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86800" y="6400800"/>
            <a:ext cx="155575" cy="152400"/>
          </a:xfrm>
        </p:spPr>
        <p:txBody>
          <a:bodyPr/>
          <a:lstStyle>
            <a:lvl1pPr>
              <a:defRPr/>
            </a:lvl1pPr>
          </a:lstStyle>
          <a:p>
            <a:fld id="{1C0FA7A3-0FBF-4EC3-BE45-825983E95E5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800" b="1" cap="small" baseline="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86800" y="6400800"/>
            <a:ext cx="155575" cy="152400"/>
          </a:xfrm>
        </p:spPr>
        <p:txBody>
          <a:bodyPr/>
          <a:lstStyle>
            <a:lvl1pPr>
              <a:defRPr/>
            </a:lvl1pPr>
          </a:lstStyle>
          <a:p>
            <a:fld id="{340D0772-A24E-4F60-87C6-1B8FABEC81BE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24000"/>
            <a:ext cx="42672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2672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8686800" y="6400800"/>
            <a:ext cx="155575" cy="152400"/>
          </a:xfrm>
        </p:spPr>
        <p:txBody>
          <a:bodyPr/>
          <a:lstStyle>
            <a:lvl1pPr>
              <a:defRPr/>
            </a:lvl1pPr>
          </a:lstStyle>
          <a:p>
            <a:fld id="{30D1CA97-B344-4217-90AD-1773C9A60CA6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6038"/>
            <a:ext cx="8229600" cy="563562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14400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76400"/>
            <a:ext cx="4040188" cy="4449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914400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76400"/>
            <a:ext cx="4041775" cy="4449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8686800" y="6400800"/>
            <a:ext cx="155575" cy="152400"/>
          </a:xfrm>
        </p:spPr>
        <p:txBody>
          <a:bodyPr/>
          <a:lstStyle>
            <a:lvl1pPr>
              <a:defRPr/>
            </a:lvl1pPr>
          </a:lstStyle>
          <a:p>
            <a:fld id="{AA73854A-5C14-47C3-B598-1F673C68FB4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8686800" y="6400800"/>
            <a:ext cx="155575" cy="152400"/>
          </a:xfrm>
        </p:spPr>
        <p:txBody>
          <a:bodyPr/>
          <a:lstStyle>
            <a:lvl1pPr>
              <a:defRPr/>
            </a:lvl1pPr>
          </a:lstStyle>
          <a:p>
            <a:fld id="{CDC70ED7-27EA-4514-903C-D4A37184F7C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8686800" y="6400800"/>
            <a:ext cx="155575" cy="152400"/>
          </a:xfrm>
        </p:spPr>
        <p:txBody>
          <a:bodyPr/>
          <a:lstStyle>
            <a:lvl1pPr>
              <a:defRPr/>
            </a:lvl1pPr>
          </a:lstStyle>
          <a:p>
            <a:fld id="{8361A7F4-E54E-4223-9BAA-A5DFCE9EB1E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8686800" y="6400800"/>
            <a:ext cx="155575" cy="152400"/>
          </a:xfrm>
        </p:spPr>
        <p:txBody>
          <a:bodyPr/>
          <a:lstStyle>
            <a:lvl1pPr>
              <a:defRPr/>
            </a:lvl1pPr>
          </a:lstStyle>
          <a:p>
            <a:fld id="{C9188CC7-1F86-4711-BAA0-C20CBBAA9A13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8839200" y="6400800"/>
            <a:ext cx="155575" cy="152400"/>
          </a:xfrm>
        </p:spPr>
        <p:txBody>
          <a:bodyPr/>
          <a:lstStyle>
            <a:lvl1pPr>
              <a:defRPr/>
            </a:lvl1pPr>
          </a:lstStyle>
          <a:p>
            <a:fld id="{A23425AD-99C3-4D67-BAAA-9EF149E2BC6E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CAF9A4D-BF2E-454A-8E48-0BE3BF83C62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685800"/>
            <a:ext cx="2171700" cy="5181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685800"/>
            <a:ext cx="6362700" cy="5181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8D09FAD-2610-4BCF-8A6E-D3BAB9283AB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18207C-D3B4-4E49-8C59-E267A7D5C2C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1" descr="textpg_bkgrd2b2"/>
          <p:cNvPicPr>
            <a:picLocks noChangeAspect="1" noChangeArrowheads="1"/>
          </p:cNvPicPr>
          <p:nvPr userDrawn="1"/>
        </p:nvPicPr>
        <p:blipFill>
          <a:blip r:embed="rId2" cstate="print"/>
          <a:srcRect r="8560" b="856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gi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fol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245225" y="6400800"/>
            <a:ext cx="15557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spAutoFit/>
          </a:bodyPr>
          <a:lstStyle>
            <a:lvl1pPr>
              <a:defRPr sz="1000" b="0">
                <a:solidFill>
                  <a:schemeClr val="tx2"/>
                </a:solidFill>
              </a:defRPr>
            </a:lvl1pPr>
          </a:lstStyle>
          <a:p>
            <a:fld id="{0518207C-D3B4-4E49-8C59-E267A7D5C2C0}" type="slidenum">
              <a:rPr lang="en-US"/>
              <a:pPr/>
              <a:t>‹#›</a:t>
            </a:fld>
            <a:endParaRPr lang="en-US" dirty="0"/>
          </a:p>
        </p:txBody>
      </p:sp>
      <p:pic>
        <p:nvPicPr>
          <p:cNvPr id="1045" name="Picture 21" descr="textpg_bkgrd2b2"/>
          <p:cNvPicPr>
            <a:picLocks noChangeAspect="1" noChangeArrowheads="1"/>
          </p:cNvPicPr>
          <p:nvPr/>
        </p:nvPicPr>
        <p:blipFill>
          <a:blip r:embed="rId14" cstate="print"/>
          <a:srcRect r="5512" b="5512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0"/>
            <a:ext cx="8686800" cy="6397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838200"/>
            <a:ext cx="8686800" cy="5029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99" name="Rectangle 75"/>
          <p:cNvSpPr>
            <a:spLocks noChangeArrowheads="1"/>
          </p:cNvSpPr>
          <p:nvPr/>
        </p:nvSpPr>
        <p:spPr bwMode="auto">
          <a:xfrm>
            <a:off x="0" y="6248400"/>
            <a:ext cx="9144000" cy="609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1098" name="Picture 74"/>
          <p:cNvPicPr>
            <a:picLocks noChangeAspect="1" noChangeArrowheads="1"/>
          </p:cNvPicPr>
          <p:nvPr/>
        </p:nvPicPr>
        <p:blipFill>
          <a:blip r:embed="rId15" cstate="print"/>
          <a:stretch>
            <a:fillRect/>
          </a:stretch>
        </p:blipFill>
        <p:spPr bwMode="auto">
          <a:xfrm>
            <a:off x="127000" y="6324600"/>
            <a:ext cx="2971800" cy="460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200" cap="small" baseline="0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</a:defRPr>
      </a:lvl9pPr>
    </p:titleStyle>
    <p:bodyStyle>
      <a:lvl1pPr marL="228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565150" indent="-222250" algn="l" rtl="0" fontAlgn="base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–"/>
        <a:defRPr>
          <a:solidFill>
            <a:schemeClr val="tx1"/>
          </a:solidFill>
          <a:latin typeface="+mn-lt"/>
        </a:defRPr>
      </a:lvl2pPr>
      <a:lvl3pPr marL="908050" indent="-228600" algn="l" rtl="0" fontAlgn="base">
        <a:spcBef>
          <a:spcPct val="20000"/>
        </a:spcBef>
        <a:spcAft>
          <a:spcPct val="0"/>
        </a:spcAft>
        <a:buClr>
          <a:srgbClr val="918C5A"/>
        </a:buClr>
        <a:buChar char="•"/>
        <a:defRPr sz="1600">
          <a:solidFill>
            <a:schemeClr val="tx1"/>
          </a:solidFill>
          <a:latin typeface="+mn-lt"/>
        </a:defRPr>
      </a:lvl3pPr>
      <a:lvl4pPr marL="1250950" indent="-228600" algn="l" rtl="0" fontAlgn="base">
        <a:spcBef>
          <a:spcPct val="20000"/>
        </a:spcBef>
        <a:spcAft>
          <a:spcPct val="0"/>
        </a:spcAft>
        <a:buClr>
          <a:srgbClr val="918C5A"/>
        </a:buClr>
        <a:buChar char="•"/>
        <a:defRPr sz="1600">
          <a:solidFill>
            <a:schemeClr val="tx1"/>
          </a:solidFill>
          <a:latin typeface="+mn-lt"/>
        </a:defRPr>
      </a:lvl4pPr>
      <a:lvl5pPr marL="1593850" indent="-228600" algn="l" rtl="0" fontAlgn="base">
        <a:spcBef>
          <a:spcPct val="20000"/>
        </a:spcBef>
        <a:spcAft>
          <a:spcPct val="0"/>
        </a:spcAft>
        <a:buClr>
          <a:srgbClr val="918C5A"/>
        </a:buClr>
        <a:buChar char="•"/>
        <a:defRPr sz="1600">
          <a:solidFill>
            <a:schemeClr val="tx1"/>
          </a:solidFill>
          <a:latin typeface="+mn-lt"/>
        </a:defRPr>
      </a:lvl5pPr>
      <a:lvl6pPr marL="2051050" indent="-228600" algn="l" rtl="0" fontAlgn="base">
        <a:spcBef>
          <a:spcPct val="20000"/>
        </a:spcBef>
        <a:spcAft>
          <a:spcPct val="0"/>
        </a:spcAft>
        <a:buClr>
          <a:srgbClr val="918C5A"/>
        </a:buClr>
        <a:buChar char="•"/>
        <a:defRPr sz="1600">
          <a:solidFill>
            <a:schemeClr val="tx1"/>
          </a:solidFill>
          <a:latin typeface="+mn-lt"/>
        </a:defRPr>
      </a:lvl6pPr>
      <a:lvl7pPr marL="2508250" indent="-228600" algn="l" rtl="0" fontAlgn="base">
        <a:spcBef>
          <a:spcPct val="20000"/>
        </a:spcBef>
        <a:spcAft>
          <a:spcPct val="0"/>
        </a:spcAft>
        <a:buClr>
          <a:srgbClr val="918C5A"/>
        </a:buClr>
        <a:buChar char="•"/>
        <a:defRPr sz="1600">
          <a:solidFill>
            <a:schemeClr val="tx1"/>
          </a:solidFill>
          <a:latin typeface="+mn-lt"/>
        </a:defRPr>
      </a:lvl7pPr>
      <a:lvl8pPr marL="2965450" indent="-228600" algn="l" rtl="0" fontAlgn="base">
        <a:spcBef>
          <a:spcPct val="20000"/>
        </a:spcBef>
        <a:spcAft>
          <a:spcPct val="0"/>
        </a:spcAft>
        <a:buClr>
          <a:srgbClr val="918C5A"/>
        </a:buClr>
        <a:buChar char="•"/>
        <a:defRPr sz="1600">
          <a:solidFill>
            <a:schemeClr val="tx1"/>
          </a:solidFill>
          <a:latin typeface="+mn-lt"/>
        </a:defRPr>
      </a:lvl8pPr>
      <a:lvl9pPr marL="3422650" indent="-228600" algn="l" rtl="0" fontAlgn="base">
        <a:spcBef>
          <a:spcPct val="20000"/>
        </a:spcBef>
        <a:spcAft>
          <a:spcPct val="0"/>
        </a:spcAft>
        <a:buClr>
          <a:srgbClr val="918C5A"/>
        </a:buClr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42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1371600"/>
            <a:ext cx="7851775" cy="1725612"/>
          </a:xfrm>
        </p:spPr>
        <p:txBody>
          <a:bodyPr/>
          <a:lstStyle/>
          <a:p>
            <a:r>
              <a:rPr lang="en-US" sz="4000" dirty="0"/>
              <a:t>EETS </a:t>
            </a:r>
            <a:r>
              <a:rPr lang="en-US" sz="4000" dirty="0" smtClean="0"/>
              <a:t>8355: </a:t>
            </a:r>
            <a:r>
              <a:rPr lang="en-US" sz="4000" dirty="0"/>
              <a:t>data center network engineering</a:t>
            </a:r>
          </a:p>
        </p:txBody>
      </p:sp>
      <p:sp>
        <p:nvSpPr>
          <p:cNvPr id="44043" name="Rectangle 11"/>
          <p:cNvSpPr>
            <a:spLocks noGrp="1" noChangeArrowheads="1"/>
          </p:cNvSpPr>
          <p:nvPr>
            <p:ph type="subTitle" idx="1"/>
          </p:nvPr>
        </p:nvSpPr>
        <p:spPr>
          <a:xfrm>
            <a:off x="631825" y="3657600"/>
            <a:ext cx="7851775" cy="1597025"/>
          </a:xfrm>
        </p:spPr>
        <p:txBody>
          <a:bodyPr/>
          <a:lstStyle/>
          <a:p>
            <a:r>
              <a:rPr lang="en-US" sz="3600" i="0" dirty="0">
                <a:latin typeface="Calibri" pitchFamily="34" charset="0"/>
              </a:rPr>
              <a:t>M. Scott Kingsley</a:t>
            </a:r>
            <a:endParaRPr lang="en-US" i="0" dirty="0">
              <a:latin typeface="Calibri" pitchFamily="34" charset="0"/>
            </a:endParaRPr>
          </a:p>
          <a:p>
            <a:endParaRPr lang="en-US" sz="280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Calculating Max Number of Servers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0FA7A3-0FBF-4EC3-BE45-825983E95E5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838200"/>
            <a:ext cx="4953000" cy="4953000"/>
          </a:xfrm>
        </p:spPr>
        <p:txBody>
          <a:bodyPr/>
          <a:lstStyle/>
          <a:p>
            <a:r>
              <a:rPr lang="en-US" sz="2800" dirty="0"/>
              <a:t>Assumptions</a:t>
            </a:r>
          </a:p>
          <a:p>
            <a:pPr lvl="1"/>
            <a:r>
              <a:rPr lang="en-US" sz="2400" i="1" dirty="0"/>
              <a:t>n-</a:t>
            </a:r>
            <a:r>
              <a:rPr lang="en-US" sz="2400" dirty="0"/>
              <a:t>port switches for both leaf and spine</a:t>
            </a:r>
          </a:p>
          <a:p>
            <a:pPr lvl="1"/>
            <a:r>
              <a:rPr lang="en-US" sz="2400" dirty="0"/>
              <a:t>All </a:t>
            </a:r>
            <a:r>
              <a:rPr lang="en-US" sz="2400" i="1" dirty="0"/>
              <a:t>n-</a:t>
            </a:r>
            <a:r>
              <a:rPr lang="en-US" sz="2400" dirty="0"/>
              <a:t>ports have same bandwidth</a:t>
            </a:r>
          </a:p>
          <a:p>
            <a:pPr lvl="1"/>
            <a:r>
              <a:rPr lang="en-US" sz="2400" dirty="0"/>
              <a:t>1:1 (non-blocking) oversubscription</a:t>
            </a:r>
          </a:p>
          <a:p>
            <a:pPr lvl="1"/>
            <a:r>
              <a:rPr lang="en-US" sz="2400" dirty="0"/>
              <a:t>Max servers that can be connected in two tier Clos topology is </a:t>
            </a:r>
            <a:r>
              <a:rPr lang="en-US" sz="2400" i="1" dirty="0"/>
              <a:t>n</a:t>
            </a:r>
            <a:r>
              <a:rPr lang="en-US" sz="2400" i="1" baseline="30000" dirty="0"/>
              <a:t>2</a:t>
            </a:r>
            <a:r>
              <a:rPr lang="en-US" sz="2400" dirty="0"/>
              <a:t>/2.</a:t>
            </a:r>
          </a:p>
          <a:p>
            <a:pPr lvl="2"/>
            <a:r>
              <a:rPr lang="en-US" sz="2000" dirty="0"/>
              <a:t>4 ports: 4</a:t>
            </a:r>
            <a:r>
              <a:rPr lang="en-US" sz="2000" baseline="30000" dirty="0"/>
              <a:t>2</a:t>
            </a:r>
            <a:r>
              <a:rPr lang="en-US" sz="2000" dirty="0"/>
              <a:t>/2 = 8 servers</a:t>
            </a:r>
          </a:p>
          <a:p>
            <a:pPr lvl="2"/>
            <a:r>
              <a:rPr lang="en-US" sz="2000" dirty="0"/>
              <a:t>32 ports: 32</a:t>
            </a:r>
            <a:r>
              <a:rPr lang="en-US" sz="2000" baseline="30000" dirty="0"/>
              <a:t>2</a:t>
            </a:r>
            <a:r>
              <a:rPr lang="en-US" sz="2000" dirty="0"/>
              <a:t>/2 = 512 servers</a:t>
            </a:r>
          </a:p>
          <a:p>
            <a:pPr lvl="2"/>
            <a:r>
              <a:rPr lang="en-US" sz="2000" dirty="0"/>
              <a:t>64 ports: 62</a:t>
            </a:r>
            <a:r>
              <a:rPr lang="en-US" sz="2000" baseline="30000" dirty="0"/>
              <a:t>2</a:t>
            </a:r>
            <a:r>
              <a:rPr lang="en-US" sz="2000" dirty="0"/>
              <a:t>/2 = 2,048 servers</a:t>
            </a:r>
          </a:p>
          <a:p>
            <a:pPr lvl="2"/>
            <a:r>
              <a:rPr lang="en-US" sz="2000" dirty="0"/>
              <a:t>128 ports: 128</a:t>
            </a:r>
            <a:r>
              <a:rPr lang="en-US" sz="2000" baseline="30000" dirty="0"/>
              <a:t>2</a:t>
            </a:r>
            <a:r>
              <a:rPr lang="en-US" sz="2000" dirty="0"/>
              <a:t>/2 = 8,192 servers</a:t>
            </a:r>
          </a:p>
          <a:p>
            <a:pPr lvl="1"/>
            <a:r>
              <a:rPr lang="en-US" sz="2400" dirty="0"/>
              <a:t>40 servers per rack</a:t>
            </a:r>
          </a:p>
          <a:p>
            <a:pPr lvl="2"/>
            <a:endParaRPr lang="en-US" sz="2000" dirty="0"/>
          </a:p>
          <a:p>
            <a:endParaRPr lang="en-US" sz="2800" dirty="0"/>
          </a:p>
          <a:p>
            <a:endParaRPr lang="en-US" sz="2800" i="1" dirty="0"/>
          </a:p>
        </p:txBody>
      </p:sp>
      <p:pic>
        <p:nvPicPr>
          <p:cNvPr id="1026" name="Picture 2" descr="cdcn 020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1217" y="1676400"/>
            <a:ext cx="3516923" cy="2764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134436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Calculating Max Number Switches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0FA7A3-0FBF-4EC3-BE45-825983E95E5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0375" y="838200"/>
            <a:ext cx="8382000" cy="4953000"/>
          </a:xfrm>
        </p:spPr>
        <p:txBody>
          <a:bodyPr/>
          <a:lstStyle/>
          <a:p>
            <a:r>
              <a:rPr lang="en-US" sz="2400" dirty="0"/>
              <a:t>Assumptions</a:t>
            </a:r>
          </a:p>
          <a:p>
            <a:pPr lvl="1"/>
            <a:r>
              <a:rPr lang="en-US" sz="2000" dirty="0"/>
              <a:t>2-tier Clos</a:t>
            </a:r>
          </a:p>
          <a:p>
            <a:pPr lvl="1"/>
            <a:r>
              <a:rPr lang="en-US" sz="2000" i="1" dirty="0"/>
              <a:t>n-</a:t>
            </a:r>
            <a:r>
              <a:rPr lang="en-US" sz="2000" dirty="0"/>
              <a:t>port switches for both leaf and spine</a:t>
            </a:r>
          </a:p>
          <a:p>
            <a:pPr lvl="1"/>
            <a:r>
              <a:rPr lang="en-US" sz="2000" dirty="0"/>
              <a:t>All </a:t>
            </a:r>
            <a:r>
              <a:rPr lang="en-US" sz="2000" i="1" dirty="0"/>
              <a:t>n-</a:t>
            </a:r>
            <a:r>
              <a:rPr lang="en-US" sz="2000" dirty="0"/>
              <a:t>ports have same bandwidth</a:t>
            </a:r>
          </a:p>
          <a:p>
            <a:pPr lvl="1"/>
            <a:r>
              <a:rPr lang="en-US" sz="2000" dirty="0"/>
              <a:t>1:1 (non-blocking) oversubscription</a:t>
            </a:r>
          </a:p>
          <a:p>
            <a:pPr lvl="1"/>
            <a:r>
              <a:rPr lang="en-US" sz="2000" dirty="0"/>
              <a:t>Each leaf connects half of ports to spines, half to servers. </a:t>
            </a:r>
          </a:p>
          <a:p>
            <a:pPr lvl="1"/>
            <a:r>
              <a:rPr lang="en-US" sz="2000" dirty="0"/>
              <a:t>Spine switches only connect to leaves.</a:t>
            </a:r>
          </a:p>
          <a:p>
            <a:r>
              <a:rPr lang="en-US" sz="2400" dirty="0"/>
              <a:t>Max  switches is </a:t>
            </a:r>
            <a:r>
              <a:rPr lang="en-US" sz="2400" i="1" dirty="0"/>
              <a:t>n + (n</a:t>
            </a:r>
            <a:r>
              <a:rPr lang="en-US" sz="2400" dirty="0"/>
              <a:t>/2).</a:t>
            </a:r>
          </a:p>
          <a:p>
            <a:pPr lvl="1"/>
            <a:r>
              <a:rPr lang="en-US" sz="2000" dirty="0"/>
              <a:t>4 ports = 4 = (4/2) = 6</a:t>
            </a:r>
          </a:p>
          <a:p>
            <a:pPr lvl="1"/>
            <a:r>
              <a:rPr lang="en-US" sz="2000" dirty="0"/>
              <a:t>32 ports: 32</a:t>
            </a:r>
            <a:r>
              <a:rPr lang="en-US" sz="2000" baseline="30000" dirty="0"/>
              <a:t> </a:t>
            </a:r>
            <a:r>
              <a:rPr lang="en-US" sz="2000" dirty="0"/>
              <a:t> + (32/2) = 48 switches</a:t>
            </a:r>
          </a:p>
          <a:p>
            <a:pPr lvl="1"/>
            <a:r>
              <a:rPr lang="en-US" sz="2000" dirty="0"/>
              <a:t>64 ports: 64 + (64/2) = 96 switches</a:t>
            </a:r>
          </a:p>
          <a:p>
            <a:pPr lvl="1"/>
            <a:r>
              <a:rPr lang="en-US" sz="2000" dirty="0"/>
              <a:t>128 ports: 128 + (128/2) = 192 switches	</a:t>
            </a:r>
          </a:p>
          <a:p>
            <a:r>
              <a:rPr lang="en-US" sz="2400" dirty="0"/>
              <a:t>2x switches = 4x servers</a:t>
            </a:r>
          </a:p>
          <a:p>
            <a:endParaRPr lang="en-US" sz="2400" dirty="0"/>
          </a:p>
          <a:p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364201282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Interconnecting links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0FA7A3-0FBF-4EC3-BE45-825983E95E5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3400" y="1076848"/>
            <a:ext cx="8382000" cy="4953000"/>
          </a:xfrm>
        </p:spPr>
        <p:txBody>
          <a:bodyPr/>
          <a:lstStyle/>
          <a:p>
            <a:r>
              <a:rPr lang="en-US" dirty="0"/>
              <a:t>Common configurations</a:t>
            </a:r>
          </a:p>
          <a:p>
            <a:pPr lvl="1"/>
            <a:r>
              <a:rPr lang="en-US" dirty="0"/>
              <a:t>10 </a:t>
            </a:r>
            <a:r>
              <a:rPr lang="en-US" dirty="0" err="1"/>
              <a:t>GbE</a:t>
            </a:r>
            <a:r>
              <a:rPr lang="en-US" dirty="0"/>
              <a:t>/10 </a:t>
            </a:r>
            <a:r>
              <a:rPr lang="en-US" dirty="0" err="1"/>
              <a:t>GbE</a:t>
            </a:r>
            <a:endParaRPr lang="en-US" dirty="0"/>
          </a:p>
          <a:p>
            <a:pPr lvl="1"/>
            <a:r>
              <a:rPr lang="en-US" dirty="0"/>
              <a:t>10 </a:t>
            </a:r>
            <a:r>
              <a:rPr lang="en-US" dirty="0" err="1"/>
              <a:t>GbE</a:t>
            </a:r>
            <a:r>
              <a:rPr lang="en-US" dirty="0"/>
              <a:t>/40 </a:t>
            </a:r>
            <a:r>
              <a:rPr lang="en-US" dirty="0" err="1"/>
              <a:t>GbE</a:t>
            </a:r>
            <a:endParaRPr lang="en-US" dirty="0"/>
          </a:p>
          <a:p>
            <a:pPr lvl="1"/>
            <a:r>
              <a:rPr lang="en-US" dirty="0"/>
              <a:t>25 </a:t>
            </a:r>
            <a:r>
              <a:rPr lang="en-US" dirty="0" err="1"/>
              <a:t>GbE</a:t>
            </a:r>
            <a:r>
              <a:rPr lang="en-US" dirty="0"/>
              <a:t>/100 </a:t>
            </a:r>
            <a:r>
              <a:rPr lang="en-US" dirty="0" err="1"/>
              <a:t>GbE</a:t>
            </a:r>
            <a:r>
              <a:rPr lang="en-US" dirty="0"/>
              <a:t>* or higher</a:t>
            </a:r>
          </a:p>
          <a:p>
            <a:r>
              <a:rPr lang="en-US" dirty="0"/>
              <a:t>Higher ISL’s use fewer spine switches for same oversubscription rate.</a:t>
            </a:r>
          </a:p>
          <a:p>
            <a:pPr lvl="1"/>
            <a:r>
              <a:rPr lang="en-US" dirty="0"/>
              <a:t>40 servers connected with 10 </a:t>
            </a:r>
            <a:r>
              <a:rPr lang="en-US" dirty="0" err="1"/>
              <a:t>GbE</a:t>
            </a:r>
            <a:r>
              <a:rPr lang="en-US" dirty="0"/>
              <a:t> = 40 spines</a:t>
            </a:r>
          </a:p>
          <a:p>
            <a:pPr lvl="1"/>
            <a:r>
              <a:rPr lang="en-US" dirty="0"/>
              <a:t>40 server connected with 40 </a:t>
            </a:r>
            <a:r>
              <a:rPr lang="en-US" dirty="0" err="1"/>
              <a:t>GbE</a:t>
            </a:r>
            <a:r>
              <a:rPr lang="en-US" dirty="0"/>
              <a:t> = 10 spines</a:t>
            </a:r>
          </a:p>
          <a:p>
            <a:pPr marL="342900" lvl="1" indent="0">
              <a:buNone/>
            </a:pPr>
            <a:endParaRPr lang="en-US" dirty="0"/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79866837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Interconnecting links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0FA7A3-0FBF-4EC3-BE45-825983E95E5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37811" y="990600"/>
            <a:ext cx="8293902" cy="4953000"/>
          </a:xfrm>
        </p:spPr>
        <p:txBody>
          <a:bodyPr/>
          <a:lstStyle/>
          <a:p>
            <a:r>
              <a:rPr lang="en-US" sz="2800" dirty="0"/>
              <a:t>However, some data centers use low server and ISL’s (10 </a:t>
            </a:r>
            <a:r>
              <a:rPr lang="en-US" sz="2800" dirty="0" err="1"/>
              <a:t>GbE</a:t>
            </a:r>
            <a:r>
              <a:rPr lang="en-US" sz="2800" dirty="0"/>
              <a:t>/10GbE). Why?</a:t>
            </a:r>
          </a:p>
          <a:p>
            <a:pPr lvl="1"/>
            <a:r>
              <a:rPr lang="en-US" sz="2400" dirty="0"/>
              <a:t>Build larger networks</a:t>
            </a:r>
          </a:p>
          <a:p>
            <a:pPr lvl="2"/>
            <a:r>
              <a:rPr lang="en-US" sz="2000" dirty="0"/>
              <a:t>32-port switches with 40 </a:t>
            </a:r>
            <a:r>
              <a:rPr lang="en-US" sz="2000" dirty="0" err="1"/>
              <a:t>GbE</a:t>
            </a:r>
            <a:r>
              <a:rPr lang="en-US" sz="2000" dirty="0"/>
              <a:t> ISL’s = 32</a:t>
            </a:r>
            <a:r>
              <a:rPr lang="en-US" sz="2000" baseline="30000" dirty="0"/>
              <a:t>2</a:t>
            </a:r>
            <a:r>
              <a:rPr lang="en-US" sz="2000" dirty="0"/>
              <a:t>/2 = 512 servers</a:t>
            </a:r>
          </a:p>
          <a:p>
            <a:pPr lvl="2"/>
            <a:r>
              <a:rPr lang="en-US" sz="2000" dirty="0"/>
              <a:t>32-port switches with 4*10 </a:t>
            </a:r>
            <a:r>
              <a:rPr lang="en-US" sz="2000" dirty="0" err="1"/>
              <a:t>GbE</a:t>
            </a:r>
            <a:r>
              <a:rPr lang="en-US" sz="2000" dirty="0"/>
              <a:t> ISL’s = 128-20 = 108</a:t>
            </a:r>
            <a:r>
              <a:rPr lang="en-US" sz="2000" baseline="30000" dirty="0"/>
              <a:t>2</a:t>
            </a:r>
            <a:r>
              <a:rPr lang="en-US" sz="2000" dirty="0"/>
              <a:t>/2 = 5,832 servers</a:t>
            </a:r>
          </a:p>
          <a:p>
            <a:pPr lvl="1"/>
            <a:r>
              <a:rPr lang="en-US" sz="2400" dirty="0"/>
              <a:t>Better load balancing</a:t>
            </a:r>
          </a:p>
          <a:p>
            <a:pPr lvl="2"/>
            <a:r>
              <a:rPr lang="en-US" sz="2000" dirty="0"/>
              <a:t>Half of 32 40 </a:t>
            </a:r>
            <a:r>
              <a:rPr lang="en-US" sz="2000" dirty="0" err="1"/>
              <a:t>GbE</a:t>
            </a:r>
            <a:r>
              <a:rPr lang="en-US" sz="2000" dirty="0"/>
              <a:t> ports = 16 spine switches</a:t>
            </a:r>
          </a:p>
          <a:p>
            <a:pPr lvl="2"/>
            <a:r>
              <a:rPr lang="en-US" sz="2000" dirty="0"/>
              <a:t>Half of 32*4 10 </a:t>
            </a:r>
            <a:r>
              <a:rPr lang="en-US" sz="2000" dirty="0" err="1"/>
              <a:t>GbE</a:t>
            </a:r>
            <a:r>
              <a:rPr lang="en-US" sz="2000" dirty="0"/>
              <a:t> ports = 54 spine switches</a:t>
            </a:r>
          </a:p>
          <a:p>
            <a:pPr lvl="1"/>
            <a:r>
              <a:rPr lang="en-US" sz="2400" dirty="0"/>
              <a:t>Increased survivability</a:t>
            </a:r>
          </a:p>
          <a:p>
            <a:pPr lvl="2"/>
            <a:r>
              <a:rPr lang="en-US" sz="2000" dirty="0"/>
              <a:t>Failure of one link with 40 </a:t>
            </a:r>
            <a:r>
              <a:rPr lang="en-US" sz="2000" dirty="0" err="1"/>
              <a:t>GbE</a:t>
            </a:r>
            <a:r>
              <a:rPr lang="en-US" sz="2000" dirty="0"/>
              <a:t> = 1/16 bandwidth loss</a:t>
            </a:r>
          </a:p>
          <a:p>
            <a:pPr lvl="2"/>
            <a:r>
              <a:rPr lang="en-US" sz="2000" dirty="0"/>
              <a:t>Failure of one link with 10 </a:t>
            </a:r>
            <a:r>
              <a:rPr lang="en-US" sz="2000" dirty="0" err="1"/>
              <a:t>GbE</a:t>
            </a:r>
            <a:r>
              <a:rPr lang="en-US" sz="2000" dirty="0"/>
              <a:t> = 1/54 bandwidth loss</a:t>
            </a:r>
          </a:p>
          <a:p>
            <a:pPr lvl="1"/>
            <a:endParaRPr lang="en-US" sz="2400" dirty="0"/>
          </a:p>
          <a:p>
            <a:pPr marL="342900" lvl="1" indent="0">
              <a:buNone/>
            </a:pPr>
            <a:endParaRPr lang="en-US" sz="2400" dirty="0"/>
          </a:p>
          <a:p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171999236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Limitations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0FA7A3-0FBF-4EC3-BE45-825983E95E5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41377" y="1066800"/>
            <a:ext cx="8293902" cy="4953000"/>
          </a:xfrm>
        </p:spPr>
        <p:txBody>
          <a:bodyPr/>
          <a:lstStyle/>
          <a:p>
            <a:r>
              <a:rPr lang="en-US" sz="2800" dirty="0"/>
              <a:t>Power limitations</a:t>
            </a:r>
          </a:p>
          <a:p>
            <a:pPr lvl="1"/>
            <a:r>
              <a:rPr lang="en-US" sz="2400" dirty="0"/>
              <a:t>May limit number of servers in 40 server rack to 20 </a:t>
            </a:r>
            <a:endParaRPr lang="en-US" sz="1600" dirty="0"/>
          </a:p>
          <a:p>
            <a:r>
              <a:rPr lang="en-US" sz="2800" dirty="0"/>
              <a:t>Other engineering limitations</a:t>
            </a:r>
          </a:p>
          <a:p>
            <a:r>
              <a:rPr lang="en-US" sz="2800" dirty="0"/>
              <a:t>Moving from switching to routing architectures</a:t>
            </a:r>
          </a:p>
          <a:p>
            <a:pPr marL="342900" lvl="1" indent="0">
              <a:buNone/>
            </a:pPr>
            <a:endParaRPr lang="en-US" sz="2400" dirty="0"/>
          </a:p>
          <a:p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379049448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0FA7A3-0FBF-4EC3-BE45-825983E95E5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41377" y="1066800"/>
            <a:ext cx="4359223" cy="4953000"/>
          </a:xfrm>
        </p:spPr>
        <p:txBody>
          <a:bodyPr/>
          <a:lstStyle/>
          <a:p>
            <a:r>
              <a:rPr lang="en-US" sz="2400" dirty="0"/>
              <a:t>2-tier Clos (a) good for smaller enterprise data centers.</a:t>
            </a:r>
          </a:p>
          <a:p>
            <a:r>
              <a:rPr lang="en-US" sz="2400" dirty="0"/>
              <a:t>To scale to tens, even hundreds of thousands of servers requires a 3-tier architecture. </a:t>
            </a:r>
          </a:p>
          <a:p>
            <a:r>
              <a:rPr lang="en-US" sz="2400" dirty="0"/>
              <a:t>Two models:</a:t>
            </a:r>
          </a:p>
          <a:p>
            <a:pPr lvl="1"/>
            <a:r>
              <a:rPr lang="en-US" sz="2000" dirty="0"/>
              <a:t>Virtual chassis model (b)</a:t>
            </a:r>
          </a:p>
          <a:p>
            <a:pPr lvl="1"/>
            <a:r>
              <a:rPr lang="en-US" sz="2000" dirty="0"/>
              <a:t>Pod/cluster model (c)</a:t>
            </a:r>
          </a:p>
          <a:p>
            <a:r>
              <a:rPr lang="en-US" sz="2400" dirty="0"/>
              <a:t>Demonstrate using four port switches.</a:t>
            </a:r>
          </a:p>
          <a:p>
            <a:endParaRPr lang="en-US" sz="2400" dirty="0"/>
          </a:p>
          <a:p>
            <a:pPr lvl="1"/>
            <a:endParaRPr lang="en-US" sz="2000" dirty="0"/>
          </a:p>
          <a:p>
            <a:endParaRPr lang="en-US" sz="2400" dirty="0"/>
          </a:p>
          <a:p>
            <a:pPr marL="342900" lvl="1" indent="0">
              <a:buNone/>
            </a:pPr>
            <a:endParaRPr lang="en-US" sz="2000" dirty="0"/>
          </a:p>
          <a:p>
            <a:endParaRPr lang="en-US" sz="2400" i="1" dirty="0"/>
          </a:p>
        </p:txBody>
      </p:sp>
      <p:pic>
        <p:nvPicPr>
          <p:cNvPr id="5" name="Picture 2" descr="cdcn 020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1858" y="970648"/>
            <a:ext cx="3523673" cy="5190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727489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Scaling Clos: Virtual Chassis Model (b)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0FA7A3-0FBF-4EC3-BE45-825983E95E5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41377" y="1066800"/>
            <a:ext cx="4587823" cy="4953000"/>
          </a:xfrm>
        </p:spPr>
        <p:txBody>
          <a:bodyPr/>
          <a:lstStyle/>
          <a:p>
            <a:r>
              <a:rPr lang="en-US" sz="2800" dirty="0"/>
              <a:t>Called “virtual chassis” model because some vendors build chassis that contain dotted areas.</a:t>
            </a:r>
          </a:p>
          <a:p>
            <a:r>
              <a:rPr lang="en-US" sz="2800" dirty="0"/>
              <a:t>New row of leaf (T) switches.</a:t>
            </a:r>
          </a:p>
          <a:p>
            <a:pPr lvl="1"/>
            <a:r>
              <a:rPr lang="en-US" sz="2400" dirty="0"/>
              <a:t>Two ports to servers</a:t>
            </a:r>
          </a:p>
          <a:p>
            <a:pPr lvl="1"/>
            <a:r>
              <a:rPr lang="en-US" sz="2400" dirty="0"/>
              <a:t>Two ports to original leaf (L) switches</a:t>
            </a:r>
          </a:p>
          <a:p>
            <a:pPr lvl="1"/>
            <a:r>
              <a:rPr lang="en-US" sz="2400" dirty="0"/>
              <a:t>Get 16 servers versus 8 with 2-tier.</a:t>
            </a:r>
          </a:p>
          <a:p>
            <a:pPr lvl="1"/>
            <a:r>
              <a:rPr lang="en-US" sz="2400" dirty="0"/>
              <a:t>Used by Facebook</a:t>
            </a:r>
          </a:p>
          <a:p>
            <a:pPr lvl="1"/>
            <a:endParaRPr lang="en-US" sz="2400" dirty="0"/>
          </a:p>
          <a:p>
            <a:endParaRPr lang="en-US" sz="2800" dirty="0"/>
          </a:p>
          <a:p>
            <a:pPr marL="342900" lvl="1" indent="0">
              <a:buNone/>
            </a:pPr>
            <a:endParaRPr lang="en-US" sz="2400" dirty="0"/>
          </a:p>
          <a:p>
            <a:endParaRPr lang="en-US" sz="2800" i="1" dirty="0"/>
          </a:p>
        </p:txBody>
      </p:sp>
      <p:pic>
        <p:nvPicPr>
          <p:cNvPr id="10242" name="Picture 2" descr="cdcn 020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2197" y="838200"/>
            <a:ext cx="3523673" cy="5190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646312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Scaling Clos: Pod/Cluster Model (c)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0FA7A3-0FBF-4EC3-BE45-825983E95E5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41377" y="1066800"/>
            <a:ext cx="4587823" cy="4953000"/>
          </a:xfrm>
        </p:spPr>
        <p:txBody>
          <a:bodyPr/>
          <a:lstStyle/>
          <a:p>
            <a:r>
              <a:rPr lang="en-US" sz="2800" dirty="0"/>
              <a:t>Another layer above spine (S) switches called “</a:t>
            </a:r>
            <a:r>
              <a:rPr lang="en-US" sz="2800" dirty="0" err="1"/>
              <a:t>superspine</a:t>
            </a:r>
            <a:r>
              <a:rPr lang="en-US" sz="2800" dirty="0"/>
              <a:t>” (SS) switches.</a:t>
            </a:r>
          </a:p>
          <a:p>
            <a:r>
              <a:rPr lang="en-US" sz="2800" dirty="0"/>
              <a:t>Group of four “S” and “L” switches are a “pod.”</a:t>
            </a:r>
          </a:p>
          <a:p>
            <a:r>
              <a:rPr lang="en-US" sz="2800" dirty="0"/>
              <a:t>Two ports from “S” to “SS” switches. </a:t>
            </a:r>
          </a:p>
          <a:p>
            <a:r>
              <a:rPr lang="en-US" sz="2800" dirty="0"/>
              <a:t>Mid- to very large data center operators.</a:t>
            </a:r>
          </a:p>
          <a:p>
            <a:r>
              <a:rPr lang="en-US" sz="2800" dirty="0"/>
              <a:t>Used by Microsoft and AWS.</a:t>
            </a:r>
            <a:endParaRPr lang="en-US" sz="2400" dirty="0"/>
          </a:p>
          <a:p>
            <a:pPr lvl="1"/>
            <a:endParaRPr lang="en-US" sz="2400" dirty="0"/>
          </a:p>
          <a:p>
            <a:endParaRPr lang="en-US" sz="2800" dirty="0"/>
          </a:p>
          <a:p>
            <a:pPr marL="342900" lvl="1" indent="0">
              <a:buNone/>
            </a:pPr>
            <a:endParaRPr lang="en-US" sz="2400" dirty="0"/>
          </a:p>
          <a:p>
            <a:endParaRPr lang="en-US" sz="2800" i="1" dirty="0"/>
          </a:p>
        </p:txBody>
      </p:sp>
      <p:pic>
        <p:nvPicPr>
          <p:cNvPr id="10242" name="Picture 2" descr="cdcn 020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2197" y="838200"/>
            <a:ext cx="3523673" cy="5190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038160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/>
          <p:cNvSpPr>
            <a:spLocks noGrp="1"/>
          </p:cNvSpPr>
          <p:nvPr>
            <p:ph type="title"/>
          </p:nvPr>
        </p:nvSpPr>
        <p:spPr>
          <a:xfrm>
            <a:off x="146364" y="88598"/>
            <a:ext cx="8686800" cy="563563"/>
          </a:xfrm>
        </p:spPr>
        <p:txBody>
          <a:bodyPr/>
          <a:lstStyle/>
          <a:p>
            <a:r>
              <a:rPr lang="en-US" dirty="0">
                <a:effectLst/>
              </a:rPr>
              <a:t>3-tier Clos: Calculating Max Number of Servers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0FA7A3-0FBF-4EC3-BE45-825983E95E5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37153" y="1143000"/>
            <a:ext cx="5257800" cy="4953000"/>
          </a:xfrm>
        </p:spPr>
        <p:txBody>
          <a:bodyPr/>
          <a:lstStyle/>
          <a:p>
            <a:r>
              <a:rPr lang="en-US" sz="2800" dirty="0"/>
              <a:t>Number of servers in maximum buildout for number of ports.</a:t>
            </a:r>
          </a:p>
          <a:p>
            <a:r>
              <a:rPr lang="en-US" sz="2800" dirty="0"/>
              <a:t>Number of servers is </a:t>
            </a:r>
            <a:r>
              <a:rPr lang="en-US" sz="2800" i="1" dirty="0"/>
              <a:t>n</a:t>
            </a:r>
            <a:r>
              <a:rPr lang="en-US" sz="2800" baseline="30000" dirty="0"/>
              <a:t>3</a:t>
            </a:r>
            <a:r>
              <a:rPr lang="en-US" sz="2800" dirty="0"/>
              <a:t>/4 where </a:t>
            </a:r>
            <a:r>
              <a:rPr lang="en-US" sz="2800" i="1" dirty="0"/>
              <a:t>n = </a:t>
            </a:r>
            <a:r>
              <a:rPr lang="en-US" sz="2800" dirty="0"/>
              <a:t>number of switch ports.</a:t>
            </a:r>
          </a:p>
          <a:p>
            <a:pPr lvl="1"/>
            <a:r>
              <a:rPr lang="en-US" sz="2400" dirty="0"/>
              <a:t>4 port switches = 4</a:t>
            </a:r>
            <a:r>
              <a:rPr lang="en-US" sz="2400" baseline="30000" dirty="0"/>
              <a:t>3</a:t>
            </a:r>
            <a:r>
              <a:rPr lang="en-US" sz="2400" dirty="0"/>
              <a:t>/4 = 16</a:t>
            </a:r>
          </a:p>
          <a:p>
            <a:pPr lvl="1"/>
            <a:r>
              <a:rPr lang="en-US" sz="2400" dirty="0"/>
              <a:t>32 port switches = 32</a:t>
            </a:r>
            <a:r>
              <a:rPr lang="en-US" sz="2400" baseline="30000" dirty="0"/>
              <a:t>3</a:t>
            </a:r>
            <a:r>
              <a:rPr lang="en-US" sz="2400" dirty="0"/>
              <a:t>/4 = 8,192</a:t>
            </a:r>
          </a:p>
          <a:p>
            <a:pPr lvl="1"/>
            <a:r>
              <a:rPr lang="en-US" sz="2400" dirty="0"/>
              <a:t>64 port switches = 64</a:t>
            </a:r>
            <a:r>
              <a:rPr lang="en-US" sz="2400" baseline="30000" dirty="0"/>
              <a:t>3</a:t>
            </a:r>
            <a:r>
              <a:rPr lang="en-US" sz="2400" dirty="0"/>
              <a:t>/4 = 65,636</a:t>
            </a:r>
          </a:p>
          <a:p>
            <a:pPr lvl="1"/>
            <a:r>
              <a:rPr lang="en-US" sz="2400" dirty="0"/>
              <a:t>128 port switches = 128</a:t>
            </a:r>
            <a:r>
              <a:rPr lang="en-US" sz="2400" baseline="30000" dirty="0"/>
              <a:t>3</a:t>
            </a:r>
            <a:r>
              <a:rPr lang="en-US" sz="2400" dirty="0"/>
              <a:t>/4 = 524,288</a:t>
            </a:r>
          </a:p>
          <a:p>
            <a:pPr marL="342900" lvl="1" indent="0">
              <a:buNone/>
            </a:pPr>
            <a:r>
              <a:rPr lang="en-US" sz="2400" dirty="0"/>
              <a:t>	</a:t>
            </a:r>
          </a:p>
          <a:p>
            <a:endParaRPr lang="en-US" sz="2800" dirty="0"/>
          </a:p>
          <a:p>
            <a:pPr marL="342900" lvl="1" indent="0">
              <a:buNone/>
            </a:pPr>
            <a:endParaRPr lang="en-US" sz="2400" dirty="0"/>
          </a:p>
          <a:p>
            <a:endParaRPr lang="en-US" sz="2800" i="1" dirty="0"/>
          </a:p>
        </p:txBody>
      </p:sp>
      <p:pic>
        <p:nvPicPr>
          <p:cNvPr id="10242" name="Picture 2" descr="cdcn 020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838200"/>
            <a:ext cx="3389470" cy="5190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410458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/>
          <p:cNvSpPr>
            <a:spLocks noGrp="1"/>
          </p:cNvSpPr>
          <p:nvPr>
            <p:ph type="title"/>
          </p:nvPr>
        </p:nvSpPr>
        <p:spPr>
          <a:xfrm>
            <a:off x="339969" y="88598"/>
            <a:ext cx="8686800" cy="563563"/>
          </a:xfrm>
        </p:spPr>
        <p:txBody>
          <a:bodyPr/>
          <a:lstStyle/>
          <a:p>
            <a:r>
              <a:rPr lang="en-US" sz="3200" dirty="0">
                <a:effectLst/>
              </a:rPr>
              <a:t>3-tier Clos: Calculating Max Number of Switches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0FA7A3-0FBF-4EC3-BE45-825983E95E5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075722"/>
            <a:ext cx="4953000" cy="4953000"/>
          </a:xfrm>
        </p:spPr>
        <p:txBody>
          <a:bodyPr/>
          <a:lstStyle/>
          <a:p>
            <a:r>
              <a:rPr lang="en-US" sz="2800" dirty="0"/>
              <a:t>Number of switches in maximum buildout for number of ports.</a:t>
            </a:r>
          </a:p>
          <a:p>
            <a:r>
              <a:rPr lang="en-US" sz="2800" dirty="0"/>
              <a:t>Number of switches </a:t>
            </a:r>
            <a:r>
              <a:rPr lang="en-US" sz="2800" i="1" dirty="0"/>
              <a:t>n + n</a:t>
            </a:r>
            <a:r>
              <a:rPr lang="en-US" sz="2800" baseline="30000" dirty="0"/>
              <a:t>2</a:t>
            </a:r>
            <a:r>
              <a:rPr lang="en-US" sz="2800" dirty="0"/>
              <a:t> where </a:t>
            </a:r>
            <a:r>
              <a:rPr lang="en-US" sz="2800" i="1" dirty="0"/>
              <a:t>n = </a:t>
            </a:r>
            <a:r>
              <a:rPr lang="en-US" sz="2800" dirty="0"/>
              <a:t>number of switch ports.</a:t>
            </a:r>
          </a:p>
          <a:p>
            <a:pPr lvl="1"/>
            <a:r>
              <a:rPr lang="en-US" sz="2400" dirty="0"/>
              <a:t>4 port switches = 4 + 4</a:t>
            </a:r>
            <a:r>
              <a:rPr lang="en-US" sz="2400" baseline="30000" dirty="0"/>
              <a:t>2</a:t>
            </a:r>
            <a:r>
              <a:rPr lang="en-US" sz="2400" dirty="0"/>
              <a:t> = 20</a:t>
            </a:r>
          </a:p>
          <a:p>
            <a:pPr lvl="1"/>
            <a:r>
              <a:rPr lang="en-US" sz="2400" dirty="0"/>
              <a:t>32 port switches = 32 + 32</a:t>
            </a:r>
            <a:r>
              <a:rPr lang="en-US" sz="2400" baseline="30000" dirty="0"/>
              <a:t>2</a:t>
            </a:r>
            <a:r>
              <a:rPr lang="en-US" sz="2400" dirty="0"/>
              <a:t> = 1,056</a:t>
            </a:r>
          </a:p>
          <a:p>
            <a:pPr lvl="1"/>
            <a:r>
              <a:rPr lang="en-US" sz="2400" dirty="0"/>
              <a:t>64 port switches = 64 + 64</a:t>
            </a:r>
            <a:r>
              <a:rPr lang="en-US" sz="2400" baseline="30000" dirty="0"/>
              <a:t>2</a:t>
            </a:r>
            <a:r>
              <a:rPr lang="en-US" sz="2400" dirty="0"/>
              <a:t> = 4,160</a:t>
            </a:r>
          </a:p>
          <a:p>
            <a:pPr lvl="1"/>
            <a:r>
              <a:rPr lang="en-US" sz="2400" dirty="0"/>
              <a:t>128 port switches = 128 + 128</a:t>
            </a:r>
            <a:r>
              <a:rPr lang="en-US" sz="2400" baseline="30000" dirty="0"/>
              <a:t>2 </a:t>
            </a:r>
            <a:r>
              <a:rPr lang="en-US" sz="2400" dirty="0"/>
              <a:t>= 37,056</a:t>
            </a:r>
          </a:p>
          <a:p>
            <a:pPr lvl="1"/>
            <a:endParaRPr lang="en-US" sz="2400" dirty="0"/>
          </a:p>
          <a:p>
            <a:pPr marL="342900" lvl="1" indent="0">
              <a:buNone/>
            </a:pPr>
            <a:r>
              <a:rPr lang="en-US" sz="2400" dirty="0"/>
              <a:t>	</a:t>
            </a:r>
          </a:p>
          <a:p>
            <a:endParaRPr lang="en-US" sz="2800" dirty="0"/>
          </a:p>
          <a:p>
            <a:pPr marL="342900" lvl="1" indent="0">
              <a:buNone/>
            </a:pPr>
            <a:endParaRPr lang="en-US" sz="2400" dirty="0"/>
          </a:p>
          <a:p>
            <a:endParaRPr lang="en-US" sz="2800" i="1" dirty="0"/>
          </a:p>
        </p:txBody>
      </p:sp>
      <p:pic>
        <p:nvPicPr>
          <p:cNvPr id="10242" name="Picture 2" descr="cdcn 020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2197" y="838200"/>
            <a:ext cx="3523673" cy="5190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937854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/>
          <p:cNvSpPr>
            <a:spLocks noGrp="1"/>
          </p:cNvSpPr>
          <p:nvPr>
            <p:ph type="title"/>
          </p:nvPr>
        </p:nvSpPr>
        <p:spPr>
          <a:xfrm>
            <a:off x="339969" y="88598"/>
            <a:ext cx="8686800" cy="563563"/>
          </a:xfrm>
        </p:spPr>
        <p:txBody>
          <a:bodyPr/>
          <a:lstStyle/>
          <a:p>
            <a:r>
              <a:rPr lang="en-US" sz="3200" dirty="0">
                <a:effectLst/>
              </a:rPr>
              <a:t>Comparison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0FA7A3-0FBF-4EC3-BE45-825983E95E58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690473"/>
              </p:ext>
            </p:extLst>
          </p:nvPr>
        </p:nvGraphicFramePr>
        <p:xfrm>
          <a:off x="2854569" y="1209153"/>
          <a:ext cx="3657600" cy="167640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4553583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84518005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92790680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Servers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2-tier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3-tier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85223978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4-port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4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16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1014806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32-port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512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8,192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29019519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64-port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2,048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65,636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6172893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128-port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8,192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524,288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05644349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822188"/>
              </p:ext>
            </p:extLst>
          </p:nvPr>
        </p:nvGraphicFramePr>
        <p:xfrm>
          <a:off x="2880527" y="3442545"/>
          <a:ext cx="3657600" cy="1608324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27777135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69574811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2262968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Switches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2-tier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3-tier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15262651"/>
                  </a:ext>
                </a:extLst>
              </a:tr>
              <a:tr h="33159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4-port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6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20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34306707"/>
                  </a:ext>
                </a:extLst>
              </a:tr>
              <a:tr h="33159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effectLst/>
                        </a:rPr>
                        <a:t>32-port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48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1,056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57358241"/>
                  </a:ext>
                </a:extLst>
              </a:tr>
              <a:tr h="33159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effectLst/>
                        </a:rPr>
                        <a:t>64-port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96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4,160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57281016"/>
                  </a:ext>
                </a:extLst>
              </a:tr>
              <a:tr h="33159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128-port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192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37,056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3628407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43000" y="5601162"/>
            <a:ext cx="7319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Mathematical possibilities. Actual implementation has limitations.</a:t>
            </a:r>
          </a:p>
        </p:txBody>
      </p:sp>
    </p:spTree>
    <p:extLst>
      <p:ext uri="{BB962C8B-B14F-4D97-AF65-F5344CB8AC3E}">
        <p14:creationId xmlns:p14="http://schemas.microsoft.com/office/powerpoint/2010/main" val="3143988714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/>
          <p:cNvSpPr>
            <a:spLocks noGrp="1"/>
          </p:cNvSpPr>
          <p:nvPr>
            <p:ph type="title"/>
          </p:nvPr>
        </p:nvSpPr>
        <p:spPr>
          <a:xfrm>
            <a:off x="339969" y="88598"/>
            <a:ext cx="8686800" cy="563563"/>
          </a:xfrm>
        </p:spPr>
        <p:txBody>
          <a:bodyPr/>
          <a:lstStyle/>
          <a:p>
            <a:r>
              <a:rPr lang="en-US" sz="3200" dirty="0">
                <a:effectLst/>
              </a:rPr>
              <a:t>Compare VC to Pod/Cluster: Latency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0FA7A3-0FBF-4EC3-BE45-825983E95E5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075722"/>
            <a:ext cx="8077200" cy="4953000"/>
          </a:xfrm>
        </p:spPr>
        <p:txBody>
          <a:bodyPr/>
          <a:lstStyle/>
          <a:p>
            <a:r>
              <a:rPr lang="en-US" sz="2800" b="1" dirty="0"/>
              <a:t>Virtual chassis model </a:t>
            </a:r>
          </a:p>
          <a:p>
            <a:pPr lvl="1"/>
            <a:r>
              <a:rPr lang="en-US" sz="2400" dirty="0"/>
              <a:t>Average of three hops from any server to another in the same pod.</a:t>
            </a:r>
          </a:p>
          <a:p>
            <a:pPr lvl="1"/>
            <a:r>
              <a:rPr lang="en-US" sz="2400" dirty="0"/>
              <a:t>Average of five hops from any server in one pod to a server in another pod. </a:t>
            </a:r>
          </a:p>
          <a:p>
            <a:pPr lvl="1"/>
            <a:r>
              <a:rPr lang="en-US" sz="2400" dirty="0"/>
              <a:t>Two different latencies.</a:t>
            </a:r>
          </a:p>
          <a:p>
            <a:pPr lvl="1"/>
            <a:r>
              <a:rPr lang="en-US" sz="2400" dirty="0"/>
              <a:t>Best for data centers that run a single application: Facebook</a:t>
            </a:r>
          </a:p>
          <a:p>
            <a:r>
              <a:rPr lang="en-US" sz="2800" dirty="0"/>
              <a:t> </a:t>
            </a:r>
            <a:r>
              <a:rPr lang="en-US" sz="2800" b="1" dirty="0"/>
              <a:t>Pod model</a:t>
            </a:r>
          </a:p>
          <a:p>
            <a:pPr lvl="1"/>
            <a:r>
              <a:rPr lang="en-US" sz="2400" dirty="0"/>
              <a:t>Every server is five hops from any other server. </a:t>
            </a:r>
          </a:p>
          <a:p>
            <a:pPr lvl="1"/>
            <a:r>
              <a:rPr lang="en-US" sz="2400" dirty="0"/>
              <a:t>Latency is more uniform.</a:t>
            </a:r>
          </a:p>
          <a:p>
            <a:pPr marL="342900" lvl="1" indent="0">
              <a:buNone/>
            </a:pPr>
            <a:endParaRPr lang="en-US" sz="2400" dirty="0"/>
          </a:p>
          <a:p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13051297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/>
          <p:cNvSpPr>
            <a:spLocks noGrp="1"/>
          </p:cNvSpPr>
          <p:nvPr>
            <p:ph type="title"/>
          </p:nvPr>
        </p:nvSpPr>
        <p:spPr>
          <a:xfrm>
            <a:off x="339969" y="88598"/>
            <a:ext cx="8686800" cy="563563"/>
          </a:xfrm>
        </p:spPr>
        <p:txBody>
          <a:bodyPr/>
          <a:lstStyle/>
          <a:p>
            <a:r>
              <a:rPr lang="en-US" sz="3200" dirty="0">
                <a:effectLst/>
              </a:rPr>
              <a:t>Compare VC to Pod/Cluster: Data center expansion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0FA7A3-0FBF-4EC3-BE45-825983E95E5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075722"/>
            <a:ext cx="8077200" cy="4953000"/>
          </a:xfrm>
        </p:spPr>
        <p:txBody>
          <a:bodyPr/>
          <a:lstStyle/>
          <a:p>
            <a:r>
              <a:rPr lang="en-US" sz="2800" dirty="0"/>
              <a:t>Incremental build out usually desired.</a:t>
            </a:r>
          </a:p>
          <a:p>
            <a:pPr lvl="1"/>
            <a:r>
              <a:rPr lang="en-US" sz="2400" dirty="0"/>
              <a:t> Install only as many switches and servers needed now and add more later.</a:t>
            </a:r>
          </a:p>
          <a:p>
            <a:r>
              <a:rPr lang="en-US" sz="2800" dirty="0"/>
              <a:t>Initially need fewer switches and servers with pod model, up front investment is higher for virtual channel model.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342900" lvl="1" indent="0">
              <a:buNone/>
            </a:pPr>
            <a:endParaRPr lang="en-US" sz="2400" dirty="0"/>
          </a:p>
          <a:p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37265995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/>
          <p:cNvSpPr>
            <a:spLocks noGrp="1"/>
          </p:cNvSpPr>
          <p:nvPr>
            <p:ph type="title"/>
          </p:nvPr>
        </p:nvSpPr>
        <p:spPr>
          <a:xfrm>
            <a:off x="339969" y="88598"/>
            <a:ext cx="8686800" cy="563563"/>
          </a:xfrm>
        </p:spPr>
        <p:txBody>
          <a:bodyPr/>
          <a:lstStyle/>
          <a:p>
            <a:r>
              <a:rPr lang="en-US" sz="3200" dirty="0">
                <a:effectLst/>
              </a:rPr>
              <a:t>Compare VC to Pod/Cluster: Data center expansion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0FA7A3-0FBF-4EC3-BE45-825983E95E5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075722"/>
            <a:ext cx="8077200" cy="4953000"/>
          </a:xfrm>
        </p:spPr>
        <p:txBody>
          <a:bodyPr/>
          <a:lstStyle/>
          <a:p>
            <a:r>
              <a:rPr lang="en-US" sz="2800" dirty="0"/>
              <a:t>Pod model can start with fewer switches. </a:t>
            </a:r>
          </a:p>
          <a:p>
            <a:r>
              <a:rPr lang="en-US" sz="2800" dirty="0"/>
              <a:t>Virtual channel model requires more switches and therefore up front investment.</a:t>
            </a:r>
          </a:p>
          <a:p>
            <a:r>
              <a:rPr lang="en-US" sz="2800" dirty="0"/>
              <a:t>With complete build out both models use the same number of switches. </a:t>
            </a:r>
          </a:p>
          <a:p>
            <a:r>
              <a:rPr lang="en-US" sz="2800" dirty="0"/>
              <a:t>Virtual channel model is preferred if you:</a:t>
            </a:r>
          </a:p>
          <a:p>
            <a:pPr lvl="1"/>
            <a:r>
              <a:rPr lang="en-US" sz="2400" dirty="0"/>
              <a:t>Know expansion estimates will be met.</a:t>
            </a:r>
          </a:p>
          <a:p>
            <a:pPr lvl="1"/>
            <a:r>
              <a:rPr lang="en-US" sz="2400" dirty="0"/>
              <a:t>Don’t mind paying CAPEX costs now, or </a:t>
            </a:r>
          </a:p>
          <a:p>
            <a:pPr lvl="1"/>
            <a:r>
              <a:rPr lang="en-US" sz="2400" dirty="0"/>
              <a:t>want to be able to turn up capacity quickly when needed. </a:t>
            </a:r>
          </a:p>
          <a:p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342900" lvl="1" indent="0">
              <a:buNone/>
            </a:pPr>
            <a:endParaRPr lang="en-US" sz="2400" dirty="0"/>
          </a:p>
          <a:p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274182026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B3D91"/>
      </a:dk2>
      <a:lt2>
        <a:srgbClr val="000066"/>
      </a:lt2>
      <a:accent1>
        <a:srgbClr val="97A8D9"/>
      </a:accent1>
      <a:accent2>
        <a:srgbClr val="C7D2F5"/>
      </a:accent2>
      <a:accent3>
        <a:srgbClr val="FFFFFF"/>
      </a:accent3>
      <a:accent4>
        <a:srgbClr val="000000"/>
      </a:accent4>
      <a:accent5>
        <a:srgbClr val="C9D1E9"/>
      </a:accent5>
      <a:accent6>
        <a:srgbClr val="B4BEDE"/>
      </a:accent6>
      <a:hlink>
        <a:srgbClr val="DC241F"/>
      </a:hlink>
      <a:folHlink>
        <a:srgbClr val="CCCC99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alpha val="50000"/>
          </a:schemeClr>
        </a:solidFill>
        <a:ln w="9525" cap="flat" cmpd="sng" algn="ctr">
          <a:solidFill>
            <a:srgbClr val="FFFF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3">
        <a:dk1>
          <a:srgbClr val="000000"/>
        </a:dk1>
        <a:lt1>
          <a:srgbClr val="FFFFFF"/>
        </a:lt1>
        <a:dk2>
          <a:srgbClr val="000066"/>
        </a:dk2>
        <a:lt2>
          <a:srgbClr val="808080"/>
        </a:lt2>
        <a:accent1>
          <a:srgbClr val="CCCC99"/>
        </a:accent1>
        <a:accent2>
          <a:srgbClr val="DC241F"/>
        </a:accent2>
        <a:accent3>
          <a:srgbClr val="FFFFFF"/>
        </a:accent3>
        <a:accent4>
          <a:srgbClr val="000000"/>
        </a:accent4>
        <a:accent5>
          <a:srgbClr val="E2E2CA"/>
        </a:accent5>
        <a:accent6>
          <a:srgbClr val="C7201B"/>
        </a:accent6>
        <a:hlink>
          <a:srgbClr val="0035AD"/>
        </a:hlink>
        <a:folHlink>
          <a:srgbClr val="918C5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4">
        <a:dk1>
          <a:srgbClr val="000000"/>
        </a:dk1>
        <a:lt1>
          <a:srgbClr val="FFFFFF"/>
        </a:lt1>
        <a:dk2>
          <a:srgbClr val="0B3D91"/>
        </a:dk2>
        <a:lt2>
          <a:srgbClr val="000066"/>
        </a:lt2>
        <a:accent1>
          <a:srgbClr val="70B2F4"/>
        </a:accent1>
        <a:accent2>
          <a:srgbClr val="C3EAFD"/>
        </a:accent2>
        <a:accent3>
          <a:srgbClr val="FFFFFF"/>
        </a:accent3>
        <a:accent4>
          <a:srgbClr val="000000"/>
        </a:accent4>
        <a:accent5>
          <a:srgbClr val="BBD5F8"/>
        </a:accent5>
        <a:accent6>
          <a:srgbClr val="B0D4E5"/>
        </a:accent6>
        <a:hlink>
          <a:srgbClr val="DC241F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5">
        <a:dk1>
          <a:srgbClr val="000000"/>
        </a:dk1>
        <a:lt1>
          <a:srgbClr val="FFFFFF"/>
        </a:lt1>
        <a:dk2>
          <a:srgbClr val="0B3D91"/>
        </a:dk2>
        <a:lt2>
          <a:srgbClr val="000066"/>
        </a:lt2>
        <a:accent1>
          <a:srgbClr val="70B2F4"/>
        </a:accent1>
        <a:accent2>
          <a:srgbClr val="C3DCFD"/>
        </a:accent2>
        <a:accent3>
          <a:srgbClr val="FFFFFF"/>
        </a:accent3>
        <a:accent4>
          <a:srgbClr val="000000"/>
        </a:accent4>
        <a:accent5>
          <a:srgbClr val="BBD5F8"/>
        </a:accent5>
        <a:accent6>
          <a:srgbClr val="B0C7E5"/>
        </a:accent6>
        <a:hlink>
          <a:srgbClr val="DC241F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6">
        <a:dk1>
          <a:srgbClr val="000000"/>
        </a:dk1>
        <a:lt1>
          <a:srgbClr val="FFFFFF"/>
        </a:lt1>
        <a:dk2>
          <a:srgbClr val="0B3D91"/>
        </a:dk2>
        <a:lt2>
          <a:srgbClr val="000066"/>
        </a:lt2>
        <a:accent1>
          <a:srgbClr val="70B2F4"/>
        </a:accent1>
        <a:accent2>
          <a:srgbClr val="C3E4FD"/>
        </a:accent2>
        <a:accent3>
          <a:srgbClr val="FFFFFF"/>
        </a:accent3>
        <a:accent4>
          <a:srgbClr val="000000"/>
        </a:accent4>
        <a:accent5>
          <a:srgbClr val="BBD5F8"/>
        </a:accent5>
        <a:accent6>
          <a:srgbClr val="B0CFE5"/>
        </a:accent6>
        <a:hlink>
          <a:srgbClr val="DC241F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18969</TotalTime>
  <Words>898</Words>
  <Application>Microsoft Office PowerPoint</Application>
  <PresentationFormat>On-screen Show (4:3)</PresentationFormat>
  <Paragraphs>175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Wingdings</vt:lpstr>
      <vt:lpstr>Default Design</vt:lpstr>
      <vt:lpstr>EETS 8355: data center network engineering</vt:lpstr>
      <vt:lpstr>Calculating Max Number of Servers</vt:lpstr>
      <vt:lpstr>Calculating Max Number Switches</vt:lpstr>
      <vt:lpstr>Interconnecting links</vt:lpstr>
      <vt:lpstr>Interconnecting links</vt:lpstr>
      <vt:lpstr>Limitations</vt:lpstr>
      <vt:lpstr>PowerPoint Presentation</vt:lpstr>
      <vt:lpstr>Scaling Clos: Virtual Chassis Model (b)</vt:lpstr>
      <vt:lpstr>Scaling Clos: Pod/Cluster Model (c)</vt:lpstr>
      <vt:lpstr>3-tier Clos: Calculating Max Number of Servers</vt:lpstr>
      <vt:lpstr>3-tier Clos: Calculating Max Number of Switches</vt:lpstr>
      <vt:lpstr>Comparison</vt:lpstr>
      <vt:lpstr>Compare VC to Pod/Cluster: Latency</vt:lpstr>
      <vt:lpstr>Compare VC to Pod/Cluster: Data center expansion</vt:lpstr>
      <vt:lpstr>Compare VC to Pod/Cluster: Data center expansion</vt:lpstr>
    </vt:vector>
  </TitlesOfParts>
  <Company>SMU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SMU Generic Template: Blue</dc:title>
  <dc:creator>Marlin Kingsley</dc:creator>
  <cp:lastModifiedBy>Kingsley, Scott</cp:lastModifiedBy>
  <cp:revision>856</cp:revision>
  <dcterms:created xsi:type="dcterms:W3CDTF">2004-08-08T18:58:35Z</dcterms:created>
  <dcterms:modified xsi:type="dcterms:W3CDTF">2022-10-02T03:08:36Z</dcterms:modified>
</cp:coreProperties>
</file>